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4"/>
    <p:sldMasterId id="2147483972" r:id="rId5"/>
  </p:sldMasterIdLst>
  <p:notesMasterIdLst>
    <p:notesMasterId r:id="rId52"/>
  </p:notesMasterIdLst>
  <p:sldIdLst>
    <p:sldId id="317" r:id="rId6"/>
    <p:sldId id="385" r:id="rId7"/>
    <p:sldId id="361" r:id="rId8"/>
    <p:sldId id="366" r:id="rId9"/>
    <p:sldId id="356" r:id="rId10"/>
    <p:sldId id="372" r:id="rId11"/>
    <p:sldId id="273" r:id="rId12"/>
    <p:sldId id="275" r:id="rId13"/>
    <p:sldId id="367" r:id="rId14"/>
    <p:sldId id="312" r:id="rId15"/>
    <p:sldId id="277" r:id="rId16"/>
    <p:sldId id="278" r:id="rId17"/>
    <p:sldId id="279" r:id="rId18"/>
    <p:sldId id="313" r:id="rId19"/>
    <p:sldId id="315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345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14" r:id="rId41"/>
    <p:sldId id="370" r:id="rId42"/>
    <p:sldId id="302" r:id="rId43"/>
    <p:sldId id="265" r:id="rId44"/>
    <p:sldId id="306" r:id="rId45"/>
    <p:sldId id="307" r:id="rId46"/>
    <p:sldId id="260" r:id="rId47"/>
    <p:sldId id="263" r:id="rId48"/>
    <p:sldId id="311" r:id="rId49"/>
    <p:sldId id="371" r:id="rId50"/>
    <p:sldId id="267" r:id="rId51"/>
  </p:sldIdLst>
  <p:sldSz cx="9144000" cy="6858000" type="screen4x3"/>
  <p:notesSz cx="6858000" cy="9144000"/>
  <p:custDataLst>
    <p:tags r:id="rId5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90355" autoAdjust="0"/>
  </p:normalViewPr>
  <p:slideViewPr>
    <p:cSldViewPr>
      <p:cViewPr>
        <p:scale>
          <a:sx n="129" d="100"/>
          <a:sy n="129" d="100"/>
        </p:scale>
        <p:origin x="1760" y="-3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8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gs" Target="tags/tag1.xml"/><Relationship Id="rId58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heme" Target="theme/theme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ableStyles" Target="tableStyle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yda Oğuz" userId="84bc0a04-df01-4c62-bf4b-b758d8f4fb09" providerId="ADAL" clId="{A211DA50-6AA6-4EC6-A1B3-98BD765E710E}"/>
    <pc:docChg chg="delSld">
      <pc:chgData name="Ceyda Oğuz" userId="84bc0a04-df01-4c62-bf4b-b758d8f4fb09" providerId="ADAL" clId="{A211DA50-6AA6-4EC6-A1B3-98BD765E710E}" dt="2025-07-25T12:47:00.385" v="6" actId="2696"/>
      <pc:docMkLst>
        <pc:docMk/>
      </pc:docMkLst>
      <pc:sldChg chg="del">
        <pc:chgData name="Ceyda Oğuz" userId="84bc0a04-df01-4c62-bf4b-b758d8f4fb09" providerId="ADAL" clId="{A211DA50-6AA6-4EC6-A1B3-98BD765E710E}" dt="2025-07-25T12:45:25.146" v="1" actId="2696"/>
        <pc:sldMkLst>
          <pc:docMk/>
          <pc:sldMk cId="4042752236" sldId="269"/>
        </pc:sldMkLst>
      </pc:sldChg>
      <pc:sldChg chg="del">
        <pc:chgData name="Ceyda Oğuz" userId="84bc0a04-df01-4c62-bf4b-b758d8f4fb09" providerId="ADAL" clId="{A211DA50-6AA6-4EC6-A1B3-98BD765E710E}" dt="2025-07-25T12:45:04.609" v="0" actId="2696"/>
        <pc:sldMkLst>
          <pc:docMk/>
          <pc:sldMk cId="980117309" sldId="270"/>
        </pc:sldMkLst>
      </pc:sldChg>
      <pc:sldChg chg="del">
        <pc:chgData name="Ceyda Oğuz" userId="84bc0a04-df01-4c62-bf4b-b758d8f4fb09" providerId="ADAL" clId="{A211DA50-6AA6-4EC6-A1B3-98BD765E710E}" dt="2025-07-25T12:45:36.451" v="2" actId="2696"/>
        <pc:sldMkLst>
          <pc:docMk/>
          <pc:sldMk cId="2650010073" sldId="274"/>
        </pc:sldMkLst>
      </pc:sldChg>
      <pc:sldChg chg="del">
        <pc:chgData name="Ceyda Oğuz" userId="84bc0a04-df01-4c62-bf4b-b758d8f4fb09" providerId="ADAL" clId="{A211DA50-6AA6-4EC6-A1B3-98BD765E710E}" dt="2025-07-25T12:45:25.146" v="1" actId="2696"/>
        <pc:sldMkLst>
          <pc:docMk/>
          <pc:sldMk cId="2388976268" sldId="339"/>
        </pc:sldMkLst>
      </pc:sldChg>
      <pc:sldChg chg="del">
        <pc:chgData name="Ceyda Oğuz" userId="84bc0a04-df01-4c62-bf4b-b758d8f4fb09" providerId="ADAL" clId="{A211DA50-6AA6-4EC6-A1B3-98BD765E710E}" dt="2025-07-25T12:45:25.146" v="1" actId="2696"/>
        <pc:sldMkLst>
          <pc:docMk/>
          <pc:sldMk cId="1395779517" sldId="340"/>
        </pc:sldMkLst>
      </pc:sldChg>
      <pc:sldChg chg="del">
        <pc:chgData name="Ceyda Oğuz" userId="84bc0a04-df01-4c62-bf4b-b758d8f4fb09" providerId="ADAL" clId="{A211DA50-6AA6-4EC6-A1B3-98BD765E710E}" dt="2025-07-25T12:45:36.451" v="2" actId="2696"/>
        <pc:sldMkLst>
          <pc:docMk/>
          <pc:sldMk cId="1020785516" sldId="344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4117954570" sldId="346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862907057" sldId="347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2669157513" sldId="348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3857475077" sldId="349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3188484780" sldId="350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2271985151" sldId="351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3474896084" sldId="352"/>
        </pc:sldMkLst>
      </pc:sldChg>
      <pc:sldChg chg="del">
        <pc:chgData name="Ceyda Oğuz" userId="84bc0a04-df01-4c62-bf4b-b758d8f4fb09" providerId="ADAL" clId="{A211DA50-6AA6-4EC6-A1B3-98BD765E710E}" dt="2025-07-25T12:46:46.624" v="5" actId="2696"/>
        <pc:sldMkLst>
          <pc:docMk/>
          <pc:sldMk cId="4073962006" sldId="353"/>
        </pc:sldMkLst>
      </pc:sldChg>
      <pc:sldChg chg="del">
        <pc:chgData name="Ceyda Oğuz" userId="84bc0a04-df01-4c62-bf4b-b758d8f4fb09" providerId="ADAL" clId="{A211DA50-6AA6-4EC6-A1B3-98BD765E710E}" dt="2025-07-25T12:46:46.624" v="5" actId="2696"/>
        <pc:sldMkLst>
          <pc:docMk/>
          <pc:sldMk cId="2952246935" sldId="354"/>
        </pc:sldMkLst>
      </pc:sldChg>
      <pc:sldChg chg="del">
        <pc:chgData name="Ceyda Oğuz" userId="84bc0a04-df01-4c62-bf4b-b758d8f4fb09" providerId="ADAL" clId="{A211DA50-6AA6-4EC6-A1B3-98BD765E710E}" dt="2025-07-25T12:45:25.146" v="1" actId="2696"/>
        <pc:sldMkLst>
          <pc:docMk/>
          <pc:sldMk cId="3618562479" sldId="357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712171456" sldId="362"/>
        </pc:sldMkLst>
      </pc:sldChg>
      <pc:sldChg chg="del">
        <pc:chgData name="Ceyda Oğuz" userId="84bc0a04-df01-4c62-bf4b-b758d8f4fb09" providerId="ADAL" clId="{A211DA50-6AA6-4EC6-A1B3-98BD765E710E}" dt="2025-07-25T12:45:25.146" v="1" actId="2696"/>
        <pc:sldMkLst>
          <pc:docMk/>
          <pc:sldMk cId="3580003937" sldId="365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2379148999" sldId="368"/>
        </pc:sldMkLst>
      </pc:sldChg>
      <pc:sldChg chg="del">
        <pc:chgData name="Ceyda Oğuz" userId="84bc0a04-df01-4c62-bf4b-b758d8f4fb09" providerId="ADAL" clId="{A211DA50-6AA6-4EC6-A1B3-98BD765E710E}" dt="2025-07-25T12:47:00.385" v="6" actId="2696"/>
        <pc:sldMkLst>
          <pc:docMk/>
          <pc:sldMk cId="959958540" sldId="369"/>
        </pc:sldMkLst>
      </pc:sldChg>
      <pc:sldChg chg="del">
        <pc:chgData name="Ceyda Oğuz" userId="84bc0a04-df01-4c62-bf4b-b758d8f4fb09" providerId="ADAL" clId="{A211DA50-6AA6-4EC6-A1B3-98BD765E710E}" dt="2025-07-25T12:45:25.146" v="1" actId="2696"/>
        <pc:sldMkLst>
          <pc:docMk/>
          <pc:sldMk cId="2700484716" sldId="373"/>
        </pc:sldMkLst>
      </pc:sldChg>
      <pc:sldChg chg="del">
        <pc:chgData name="Ceyda Oğuz" userId="84bc0a04-df01-4c62-bf4b-b758d8f4fb09" providerId="ADAL" clId="{A211DA50-6AA6-4EC6-A1B3-98BD765E710E}" dt="2025-07-25T12:45:50.477" v="3" actId="2696"/>
        <pc:sldMkLst>
          <pc:docMk/>
          <pc:sldMk cId="2945291090" sldId="386"/>
        </pc:sldMkLst>
      </pc:sldChg>
      <pc:sldChg chg="del">
        <pc:chgData name="Ceyda Oğuz" userId="84bc0a04-df01-4c62-bf4b-b758d8f4fb09" providerId="ADAL" clId="{A211DA50-6AA6-4EC6-A1B3-98BD765E710E}" dt="2025-07-25T12:45:50.477" v="3" actId="2696"/>
        <pc:sldMkLst>
          <pc:docMk/>
          <pc:sldMk cId="2830098437" sldId="387"/>
        </pc:sldMkLst>
      </pc:sldChg>
      <pc:sldChg chg="del">
        <pc:chgData name="Ceyda Oğuz" userId="84bc0a04-df01-4c62-bf4b-b758d8f4fb09" providerId="ADAL" clId="{A211DA50-6AA6-4EC6-A1B3-98BD765E710E}" dt="2025-07-25T12:45:04.609" v="0" actId="2696"/>
        <pc:sldMkLst>
          <pc:docMk/>
          <pc:sldMk cId="1112517004" sldId="388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588780411" sldId="389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3951561582" sldId="390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2283990588" sldId="392"/>
        </pc:sldMkLst>
      </pc:sldChg>
      <pc:sldChg chg="del">
        <pc:chgData name="Ceyda Oğuz" userId="84bc0a04-df01-4c62-bf4b-b758d8f4fb09" providerId="ADAL" clId="{A211DA50-6AA6-4EC6-A1B3-98BD765E710E}" dt="2025-07-25T12:46:38.828" v="4" actId="2696"/>
        <pc:sldMkLst>
          <pc:docMk/>
          <pc:sldMk cId="1024070708" sldId="393"/>
        </pc:sldMkLst>
      </pc:sldChg>
      <pc:sldChg chg="del">
        <pc:chgData name="Ceyda Oğuz" userId="84bc0a04-df01-4c62-bf4b-b758d8f4fb09" providerId="ADAL" clId="{A211DA50-6AA6-4EC6-A1B3-98BD765E710E}" dt="2025-07-25T12:45:04.609" v="0" actId="2696"/>
        <pc:sldMkLst>
          <pc:docMk/>
          <pc:sldMk cId="1632555430" sldId="3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885DB-7F15-4976-AE6E-3BBB5BF401EB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A4165-1098-4092-9B16-0A59B253C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06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Class Exercise: </a:t>
            </a:r>
            <a:r>
              <a:rPr lang="en-US" dirty="0"/>
              <a:t>F</a:t>
            </a:r>
            <a:r>
              <a:rPr lang="tr-TR" dirty="0"/>
              <a:t>i</a:t>
            </a:r>
            <a:r>
              <a:rPr lang="en-US" dirty="0"/>
              <a:t>ls</a:t>
            </a:r>
            <a:r>
              <a:rPr lang="tr-TR" dirty="0"/>
              <a:t>i</a:t>
            </a:r>
            <a:r>
              <a:rPr lang="en-US" dirty="0"/>
              <a:t>z </a:t>
            </a:r>
            <a:r>
              <a:rPr lang="en-US" dirty="0" err="1"/>
              <a:t>Boya</a:t>
            </a:r>
            <a:r>
              <a:rPr lang="en-US" dirty="0"/>
              <a:t> </a:t>
            </a:r>
            <a:r>
              <a:rPr lang="tr-TR" dirty="0"/>
              <a:t>C</a:t>
            </a:r>
            <a:r>
              <a:rPr lang="en-US" dirty="0" err="1"/>
              <a:t>ompany</a:t>
            </a:r>
            <a:endParaRPr lang="tr-TR" dirty="0"/>
          </a:p>
          <a:p>
            <a:pPr marL="0" indent="0">
              <a:buNone/>
            </a:pPr>
            <a:endParaRPr lang="tr-TR" dirty="0"/>
          </a:p>
          <a:p>
            <a:r>
              <a:rPr lang="tr-TR" dirty="0"/>
              <a:t>Bir önceki derste anlattım, buradan çıkarttım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A4165-1098-4092-9B16-0A59B253C6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3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funcPr>
                      <m:fName/>
                      <m:e>
                        <m:r>
                          <a:rPr lang="tr-TR" i="1">
                            <a:latin typeface="Cambria Math"/>
                          </a:rPr>
                          <m:t>3000</m:t>
                        </m:r>
                      </m:e>
                    </m:func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tr-TR" i="1">
                        <a:latin typeface="Cambria Math"/>
                      </a:rPr>
                      <m:t>+2000 </m:t>
                    </m:r>
                    <m:sSub>
                      <m:sSubPr>
                        <m:ctrlPr>
                          <a:rPr lang="tr-T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tr-TR" dirty="0"/>
                  <a:t> = 6000 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tr-TR" dirty="0"/>
                  <a:t>=0,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tr-TR" dirty="0"/>
                  <a:t>=3;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tr-TR" dirty="0"/>
                  <a:t>=2,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tr-TR" dirty="0"/>
                  <a:t>=0:</a:t>
                </a:r>
                <a:r>
                  <a:rPr lang="tr-TR" baseline="0" dirty="0"/>
                  <a:t> draw the line that passes these two points.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tr-TR" i="0" smtClean="0">
                    <a:latin typeface="Cambria Math" panose="02040503050406030204" pitchFamily="18" charset="0"/>
                  </a:rPr>
                  <a:t>⁡</a:t>
                </a:r>
                <a:r>
                  <a:rPr lang="tr-TR" i="0">
                    <a:latin typeface="Cambria Math"/>
                  </a:rPr>
                  <a:t>3000</a:t>
                </a:r>
                <a:r>
                  <a:rPr lang="tr-TR" i="0">
                    <a:latin typeface="Cambria Math" panose="02040503050406030204" pitchFamily="18" charset="0"/>
                  </a:rPr>
                  <a:t> </a:t>
                </a:r>
                <a:r>
                  <a:rPr lang="tr-TR" i="0">
                    <a:latin typeface="Cambria Math"/>
                  </a:rPr>
                  <a:t>𝑥</a:t>
                </a:r>
                <a:r>
                  <a:rPr lang="tr-TR" i="0">
                    <a:latin typeface="Cambria Math" panose="02040503050406030204" pitchFamily="18" charset="0"/>
                  </a:rPr>
                  <a:t>_</a:t>
                </a:r>
                <a:r>
                  <a:rPr lang="tr-TR" i="0">
                    <a:latin typeface="Cambria Math"/>
                  </a:rPr>
                  <a:t>1+2000 𝑥</a:t>
                </a:r>
                <a:r>
                  <a:rPr lang="tr-TR" i="0">
                    <a:latin typeface="Cambria Math" panose="02040503050406030204" pitchFamily="18" charset="0"/>
                  </a:rPr>
                  <a:t>_</a:t>
                </a:r>
                <a:r>
                  <a:rPr lang="tr-TR" i="0">
                    <a:latin typeface="Cambria Math"/>
                  </a:rPr>
                  <a:t>2</a:t>
                </a:r>
                <a:r>
                  <a:rPr lang="tr-TR" dirty="0" smtClean="0"/>
                  <a:t> = 6000 =&gt; </a:t>
                </a:r>
                <a:r>
                  <a:rPr lang="tr-TR" i="0">
                    <a:latin typeface="Cambria Math"/>
                  </a:rPr>
                  <a:t>𝑥</a:t>
                </a:r>
                <a:r>
                  <a:rPr lang="tr-TR" i="0" smtClean="0">
                    <a:latin typeface="Cambria Math" panose="02040503050406030204" pitchFamily="18" charset="0"/>
                  </a:rPr>
                  <a:t>_</a:t>
                </a:r>
                <a:r>
                  <a:rPr lang="tr-TR" i="0">
                    <a:latin typeface="Cambria Math"/>
                  </a:rPr>
                  <a:t>1</a:t>
                </a:r>
                <a:r>
                  <a:rPr lang="tr-TR" dirty="0" smtClean="0"/>
                  <a:t>=0, </a:t>
                </a:r>
                <a:r>
                  <a:rPr lang="tr-TR" i="0">
                    <a:latin typeface="Cambria Math"/>
                  </a:rPr>
                  <a:t>𝑥</a:t>
                </a:r>
                <a:r>
                  <a:rPr lang="tr-TR" i="0" smtClean="0">
                    <a:latin typeface="Cambria Math" panose="02040503050406030204" pitchFamily="18" charset="0"/>
                  </a:rPr>
                  <a:t>_</a:t>
                </a:r>
                <a:r>
                  <a:rPr lang="tr-TR" i="0">
                    <a:latin typeface="Cambria Math"/>
                  </a:rPr>
                  <a:t>2</a:t>
                </a:r>
                <a:r>
                  <a:rPr lang="tr-TR" dirty="0" smtClean="0"/>
                  <a:t>=3; </a:t>
                </a:r>
                <a:r>
                  <a:rPr lang="tr-TR" i="0">
                    <a:latin typeface="Cambria Math"/>
                  </a:rPr>
                  <a:t>𝑥</a:t>
                </a:r>
                <a:r>
                  <a:rPr lang="tr-TR" i="0" smtClean="0">
                    <a:latin typeface="Cambria Math" panose="02040503050406030204" pitchFamily="18" charset="0"/>
                  </a:rPr>
                  <a:t>_</a:t>
                </a:r>
                <a:r>
                  <a:rPr lang="tr-TR" i="0">
                    <a:latin typeface="Cambria Math"/>
                  </a:rPr>
                  <a:t>1</a:t>
                </a:r>
                <a:r>
                  <a:rPr lang="tr-TR" dirty="0" smtClean="0"/>
                  <a:t>=2, </a:t>
                </a:r>
                <a:r>
                  <a:rPr lang="tr-TR" i="0">
                    <a:latin typeface="Cambria Math"/>
                  </a:rPr>
                  <a:t>𝑥</a:t>
                </a:r>
                <a:r>
                  <a:rPr lang="tr-TR" i="0" smtClean="0">
                    <a:latin typeface="Cambria Math" panose="02040503050406030204" pitchFamily="18" charset="0"/>
                  </a:rPr>
                  <a:t>_</a:t>
                </a:r>
                <a:r>
                  <a:rPr lang="tr-TR" i="0">
                    <a:latin typeface="Cambria Math"/>
                  </a:rPr>
                  <a:t>2</a:t>
                </a:r>
                <a:r>
                  <a:rPr lang="tr-TR" dirty="0" smtClean="0"/>
                  <a:t>=0:</a:t>
                </a:r>
                <a:r>
                  <a:rPr lang="tr-TR" baseline="0" dirty="0" smtClean="0"/>
                  <a:t> draw the line that passes these two points.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A4165-1098-4092-9B16-0A59B253C66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325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B8908A-96B5-4889-8D82-B82D415E7B1B}" type="slidenum">
              <a:rPr lang="en-US" smtClean="0"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INDR 100</a:t>
            </a:r>
          </a:p>
        </p:txBody>
      </p:sp>
    </p:spTree>
    <p:extLst>
      <p:ext uri="{BB962C8B-B14F-4D97-AF65-F5344CB8AC3E}">
        <p14:creationId xmlns:p14="http://schemas.microsoft.com/office/powerpoint/2010/main" val="4081864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We are looking for combination because order is not important.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A4165-1098-4092-9B16-0A59B253C6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93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BA4165-1098-4092-9B16-0A59B253C6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4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6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252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66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01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0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4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73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748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4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34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2586AB-583C-4ED1-9C26-A1AB3CC688F2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2662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5930EE-3348-477B-AF5E-98386206D29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7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A0C0C4-74CF-4C80-AB86-CA62A4B1ED1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307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0F54BB-B7A2-4F96-AB97-69E9CDD48CA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189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7285B1-85F7-4040-9EA9-3F5042BBC00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162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39AE3-4E91-4384-A142-CEBE9D86C5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48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9C554E-21B7-484B-AFEF-B478EEFE7FD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17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B83043-F2C2-4C95-AE7D-6EAEF2DF1E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685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A32ABE-DBCB-4254-81D4-05CCB37D06F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769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D0520A-9775-4F05-94A3-70663C4891D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0543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4DB37-FA15-4B20-AC30-674F326F105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683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C6B182-9BA6-4EB0-B233-C27C15F43D3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32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Online Image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6: Quantitatve Methods in Health Care Management</a:t>
            </a:r>
          </a:p>
        </p:txBody>
      </p:sp>
      <p:sp>
        <p:nvSpPr>
          <p:cNvPr id="6" name="Rectangle 2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Yasar A. Ozcan</a:t>
            </a:r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3750E8-8556-43B6-8336-44DFF8B125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37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INDR 100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C189D-BDFE-4396-970F-5D7218EBAA1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INDR 100</a:t>
            </a:r>
          </a:p>
        </p:txBody>
      </p:sp>
    </p:spTree>
    <p:extLst>
      <p:ext uri="{BB962C8B-B14F-4D97-AF65-F5344CB8AC3E}">
        <p14:creationId xmlns:p14="http://schemas.microsoft.com/office/powerpoint/2010/main" val="32297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9DA0F5B-E0A9-4BE9-A1B6-9215DCC175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69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  <p:sldLayoutId id="2147483984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3300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000099"/>
        </a:buClr>
        <a:buSzPct val="65000"/>
        <a:buFont typeface="Wingdings" pitchFamily="2" charset="2"/>
        <a:buChar char="q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92063" y="609600"/>
            <a:ext cx="8001000" cy="3124200"/>
          </a:xfrm>
        </p:spPr>
        <p:txBody>
          <a:bodyPr/>
          <a:lstStyle/>
          <a:p>
            <a:r>
              <a:rPr lang="tr-TR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INDR 100</a:t>
            </a:r>
            <a:br>
              <a:rPr lang="tr-TR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</a:t>
            </a:r>
            <a:r>
              <a:rPr lang="en-US" sz="4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INDUSTRIAL ENGINEERING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733800"/>
            <a:ext cx="8001000" cy="1066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</a:pPr>
            <a:r>
              <a:rPr lang="tr-T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r>
              <a:rPr lang="tr-T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Programming - 2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643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tr-TR" dirty="0"/>
              <a:t>Agenda of the 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1"/>
            <a:ext cx="8001000" cy="4572000"/>
          </a:xfrm>
        </p:spPr>
        <p:txBody>
          <a:bodyPr/>
          <a:lstStyle/>
          <a:p>
            <a:r>
              <a:rPr lang="tr-TR" dirty="0"/>
              <a:t>Corner Point Solutions</a:t>
            </a:r>
          </a:p>
          <a:p>
            <a:endParaRPr lang="tr-TR" dirty="0"/>
          </a:p>
          <a:p>
            <a:r>
              <a:rPr lang="tr-TR" dirty="0"/>
              <a:t>Solving Linear Programming model with Corner Point Solution methodology: Example</a:t>
            </a:r>
          </a:p>
          <a:p>
            <a:pPr lvl="6"/>
            <a:endParaRPr lang="tr-TR" dirty="0"/>
          </a:p>
          <a:p>
            <a:endParaRPr lang="tr-TR" dirty="0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4C189D-BDFE-4396-970F-5D7218EBAA16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charset="0"/>
              </a:rPr>
              <a:t>INDR 100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515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85" y="16268"/>
            <a:ext cx="8697246" cy="1143000"/>
          </a:xfrm>
        </p:spPr>
        <p:txBody>
          <a:bodyPr>
            <a:normAutofit fontScale="90000"/>
          </a:bodyPr>
          <a:lstStyle/>
          <a:p>
            <a:r>
              <a:rPr lang="tr-TR" dirty="0">
                <a:solidFill>
                  <a:srgbClr val="FF0000"/>
                </a:solidFill>
              </a:rPr>
              <a:t>Graphical Representation</a:t>
            </a:r>
            <a:r>
              <a:rPr lang="en-US" dirty="0">
                <a:solidFill>
                  <a:srgbClr val="FF0000"/>
                </a:solidFill>
              </a:rPr>
              <a:t> of </a:t>
            </a:r>
            <a:r>
              <a:rPr lang="tr-TR" dirty="0">
                <a:solidFill>
                  <a:srgbClr val="FF0000"/>
                </a:solidFill>
              </a:rPr>
              <a:t>the </a:t>
            </a:r>
            <a:r>
              <a:rPr lang="en-US" dirty="0">
                <a:solidFill>
                  <a:srgbClr val="FF0000"/>
                </a:solidFill>
              </a:rPr>
              <a:t>Problem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10" name="Group 9"/>
          <p:cNvGrpSpPr/>
          <p:nvPr/>
        </p:nvGrpSpPr>
        <p:grpSpPr>
          <a:xfrm>
            <a:off x="3384167" y="2391252"/>
            <a:ext cx="4388232" cy="4251049"/>
            <a:chOff x="2810454" y="2790344"/>
            <a:chExt cx="3584024" cy="3206795"/>
          </a:xfrm>
        </p:grpSpPr>
        <p:sp>
          <p:nvSpPr>
            <p:cNvPr id="48" name="object 44"/>
            <p:cNvSpPr/>
            <p:nvPr/>
          </p:nvSpPr>
          <p:spPr>
            <a:xfrm>
              <a:off x="4428560" y="3065009"/>
              <a:ext cx="104507" cy="2915716"/>
            </a:xfrm>
            <a:custGeom>
              <a:avLst/>
              <a:gdLst/>
              <a:ahLst/>
              <a:cxnLst/>
              <a:rect l="l" t="t" r="r" b="b"/>
              <a:pathLst>
                <a:path w="104507" h="2915716">
                  <a:moveTo>
                    <a:pt x="0" y="0"/>
                  </a:moveTo>
                  <a:lnTo>
                    <a:pt x="0" y="2915716"/>
                  </a:lnTo>
                  <a:lnTo>
                    <a:pt x="104507" y="2915716"/>
                  </a:lnTo>
                  <a:lnTo>
                    <a:pt x="1045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4" name="object 47"/>
            <p:cNvSpPr/>
            <p:nvPr/>
          </p:nvSpPr>
          <p:spPr>
            <a:xfrm>
              <a:off x="2923196" y="4147991"/>
              <a:ext cx="2102108" cy="1674414"/>
            </a:xfrm>
            <a:custGeom>
              <a:avLst/>
              <a:gdLst/>
              <a:ahLst/>
              <a:cxnLst/>
              <a:rect l="l" t="t" r="r" b="b"/>
              <a:pathLst>
                <a:path w="2643987" h="2644002">
                  <a:moveTo>
                    <a:pt x="0" y="74645"/>
                  </a:moveTo>
                  <a:lnTo>
                    <a:pt x="2569342" y="2644002"/>
                  </a:lnTo>
                  <a:lnTo>
                    <a:pt x="2643987" y="2569357"/>
                  </a:lnTo>
                  <a:lnTo>
                    <a:pt x="74645" y="0"/>
                  </a:lnTo>
                  <a:lnTo>
                    <a:pt x="0" y="74645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5" name="object 54"/>
            <p:cNvSpPr/>
            <p:nvPr/>
          </p:nvSpPr>
          <p:spPr>
            <a:xfrm>
              <a:off x="2890584" y="4147991"/>
              <a:ext cx="2134720" cy="1696869"/>
            </a:xfrm>
            <a:custGeom>
              <a:avLst/>
              <a:gdLst/>
              <a:ahLst/>
              <a:cxnLst/>
              <a:rect l="l" t="t" r="r" b="b"/>
              <a:pathLst>
                <a:path w="2546954" h="2546954">
                  <a:moveTo>
                    <a:pt x="0" y="0"/>
                  </a:moveTo>
                  <a:lnTo>
                    <a:pt x="2546954" y="2546954"/>
                  </a:lnTo>
                </a:path>
              </a:pathLst>
            </a:custGeom>
            <a:ln w="12441">
              <a:solidFill>
                <a:srgbClr val="0070C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56" name="object 55"/>
            <p:cNvSpPr/>
            <p:nvPr/>
          </p:nvSpPr>
          <p:spPr>
            <a:xfrm>
              <a:off x="4415119" y="3042606"/>
              <a:ext cx="4480" cy="2954533"/>
            </a:xfrm>
            <a:custGeom>
              <a:avLst/>
              <a:gdLst/>
              <a:ahLst/>
              <a:cxnLst/>
              <a:rect l="l" t="t" r="r" b="b"/>
              <a:pathLst>
                <a:path w="4480" h="2954533">
                  <a:moveTo>
                    <a:pt x="4480" y="2954533"/>
                  </a:moveTo>
                  <a:lnTo>
                    <a:pt x="0" y="0"/>
                  </a:lnTo>
                </a:path>
              </a:pathLst>
            </a:custGeom>
            <a:ln w="12441">
              <a:solidFill>
                <a:srgbClr val="00B05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grpSp>
          <p:nvGrpSpPr>
            <p:cNvPr id="57" name="Group 56"/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58" name="object 45"/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59" name="object 46"/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0" name="object 48"/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1" name="object 49"/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2" name="object 50"/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3" name="object 51"/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4" name="object 52"/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5" name="object 53"/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66" name="object 24"/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67" name="object 23"/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8" name="object 21"/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69" name="object 20"/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0" name="object 19"/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1" name="object 18"/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2" name="object 17"/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73" name="object 15"/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74" name="object 14"/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5" name="object 13"/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6" name="object 12"/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77" name="object 11"/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8" name="object 10"/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79" name="object 9"/>
              <p:cNvSpPr txBox="1"/>
              <p:nvPr/>
            </p:nvSpPr>
            <p:spPr>
              <a:xfrm>
                <a:off x="4533067" y="3065009"/>
                <a:ext cx="1634773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0" name="object 8"/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81" name="object 7"/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82" name="object 5"/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83" name="object 4"/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5569513" y="5362948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Constraint 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628316" y="3818311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70C0"/>
                </a:solidFill>
              </a:rPr>
              <a:t>Constraint 2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04284" y="3022473"/>
            <a:ext cx="1321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00B050"/>
                </a:solidFill>
              </a:rPr>
              <a:t>Constraint 3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200400" y="4571999"/>
            <a:ext cx="390883" cy="6096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H="1">
            <a:off x="6952730" y="6548804"/>
            <a:ext cx="211753" cy="3178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3089822" y="4292365"/>
            <a:ext cx="507869" cy="56193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5775941" y="6374395"/>
            <a:ext cx="285339" cy="30948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endCxn id="77" idx="0"/>
          </p:cNvCxnSpPr>
          <p:nvPr/>
        </p:nvCxnSpPr>
        <p:spPr>
          <a:xfrm flipH="1" flipV="1">
            <a:off x="4487109" y="2755358"/>
            <a:ext cx="840358" cy="33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 flipV="1">
            <a:off x="4493230" y="6359890"/>
            <a:ext cx="840358" cy="335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608090" y="5398757"/>
            <a:ext cx="914400" cy="9144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3627897" y="5128463"/>
            <a:ext cx="1305142" cy="126281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3629911" y="4692180"/>
            <a:ext cx="1717302" cy="166938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412054" y="5068835"/>
            <a:ext cx="914400" cy="9144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3623400" y="5774081"/>
            <a:ext cx="615078" cy="604997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3599562" y="6143229"/>
            <a:ext cx="262851" cy="21312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55148" y="5291630"/>
            <a:ext cx="1596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Feasible region</a:t>
            </a:r>
            <a:endParaRPr lang="en-US" dirty="0"/>
          </a:p>
        </p:txBody>
      </p:sp>
      <p:sp>
        <p:nvSpPr>
          <p:cNvPr id="21" name="Line Callout 3 20"/>
          <p:cNvSpPr/>
          <p:nvPr/>
        </p:nvSpPr>
        <p:spPr>
          <a:xfrm>
            <a:off x="1480613" y="5244231"/>
            <a:ext cx="1675633" cy="563607"/>
          </a:xfrm>
          <a:prstGeom prst="borderCallout3">
            <a:avLst>
              <a:gd name="adj1" fmla="val 26125"/>
              <a:gd name="adj2" fmla="val -65"/>
              <a:gd name="adj3" fmla="val 67914"/>
              <a:gd name="adj4" fmla="val -16667"/>
              <a:gd name="adj5" fmla="val 146706"/>
              <a:gd name="adj6" fmla="val -8399"/>
              <a:gd name="adj7" fmla="val 164585"/>
              <a:gd name="adj8" fmla="val 142149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417196" y="908444"/>
                <a:ext cx="324999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240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6 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   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10 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tr-TR" sz="2400" i="1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≤480 </m:t>
                      </m:r>
                    </m:oMath>
                  </m:oMathPara>
                </a14:m>
                <a:endParaRPr lang="tr-TR" sz="2400" i="1" dirty="0">
                  <a:solidFill>
                    <a:srgbClr val="FF0000"/>
                  </a:solidFill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tr-TR" sz="240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8 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  <m:r>
                            <a:rPr lang="tr-TR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 </m:t>
                          </m:r>
                        </m:sub>
                      </m:sSub>
                      <m:r>
                        <a:rPr lang="tr-TR" sz="240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tr-TR" sz="2400" b="0" i="1" smtClean="0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  </m:t>
                      </m:r>
                      <m:r>
                        <a:rPr lang="tr-TR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     </m:t>
                      </m:r>
                      <m:r>
                        <a:rPr lang="tr-TR" sz="2400" i="1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8 </m:t>
                      </m:r>
                      <m:sSub>
                        <m:sSubPr>
                          <m:ctrlPr>
                            <a:rPr lang="tr-TR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solidFill>
                                <a:srgbClr val="0070C0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i="1">
                          <a:solidFill>
                            <a:srgbClr val="0070C0"/>
                          </a:solidFill>
                          <a:latin typeface="Cambria Math"/>
                          <a:ea typeface="Cambria Math"/>
                        </a:rPr>
                        <m:t> ≤480</m:t>
                      </m:r>
                    </m:oMath>
                  </m:oMathPara>
                </a14:m>
                <a:endParaRPr lang="tr-TR" sz="2400" i="1" dirty="0">
                  <a:solidFill>
                    <a:srgbClr val="0070C0"/>
                  </a:solidFill>
                  <a:latin typeface="Cambria Math"/>
                  <a:ea typeface="Cambria Math"/>
                </a:endParaRPr>
              </a:p>
              <a:p>
                <a:r>
                  <a:rPr lang="tr-TR" sz="2400" i="1" dirty="0">
                    <a:solidFill>
                      <a:srgbClr val="00B050"/>
                    </a:solidFill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  </m:t>
                        </m:r>
                        <m:r>
                          <a:rPr lang="tr-TR" sz="2400" i="1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>
                            <a:solidFill>
                              <a:srgbClr val="00B050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tr-TR" sz="2400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tr-TR" sz="2400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                     </m:t>
                    </m:r>
                    <m:r>
                      <a:rPr lang="tr-TR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tr-TR" sz="2400" i="1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≤40</m:t>
                    </m:r>
                  </m:oMath>
                </a14:m>
                <a:endParaRPr lang="tr-TR" sz="2400" i="1" dirty="0">
                  <a:solidFill>
                    <a:srgbClr val="00B050"/>
                  </a:solidFill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/>
                        </a:rPr>
                        <m:t>     </m:t>
                      </m:r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,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/>
                        </a:rPr>
                        <m:t>  </m:t>
                      </m:r>
                      <m:sSub>
                        <m:sSubPr>
                          <m:ctrlPr>
                            <a:rPr lang="tr-TR" sz="24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  <a:ea typeface="Cambria Math"/>
                        </a:rPr>
                        <m:t>  </m:t>
                      </m:r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0</m:t>
                      </m:r>
                    </m:oMath>
                  </m:oMathPara>
                </a14:m>
                <a:endParaRPr lang="tr-TR" sz="2400" b="0" i="1" dirty="0">
                  <a:latin typeface="Cambria Math"/>
                  <a:ea typeface="Cambria Math"/>
                </a:endParaRPr>
              </a:p>
              <a:p>
                <a:endParaRPr lang="tr-TR" sz="2400" i="1" dirty="0"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96" y="908444"/>
                <a:ext cx="3249999" cy="1938992"/>
              </a:xfrm>
              <a:prstGeom prst="rect">
                <a:avLst/>
              </a:prstGeom>
              <a:blipFill>
                <a:blip r:embed="rId2"/>
                <a:stretch>
                  <a:fillRect l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/>
          <p:cNvCxnSpPr/>
          <p:nvPr/>
        </p:nvCxnSpPr>
        <p:spPr>
          <a:xfrm flipV="1">
            <a:off x="3627897" y="2935279"/>
            <a:ext cx="707250" cy="86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 flipV="1">
            <a:off x="7284361" y="5679703"/>
            <a:ext cx="4564" cy="7053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19564" y="3782916"/>
            <a:ext cx="2692019" cy="14219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rgbClr val="FFC000"/>
                </a:solidFill>
              </a:rPr>
              <a:t>The set of all points </a:t>
            </a:r>
            <a:endParaRPr lang="tr-TR" altLang="en-US" sz="2400" dirty="0">
              <a:solidFill>
                <a:srgbClr val="FFC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rgbClr val="FFC000"/>
                </a:solidFill>
              </a:rPr>
              <a:t>that satisfy all the </a:t>
            </a:r>
            <a:endParaRPr lang="tr-TR" altLang="en-US" sz="2400" dirty="0">
              <a:solidFill>
                <a:srgbClr val="FFC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rgbClr val="FFC000"/>
                </a:solidFill>
              </a:rPr>
              <a:t>constraints of the </a:t>
            </a:r>
            <a:endParaRPr lang="tr-TR" altLang="en-US" sz="2400" dirty="0">
              <a:solidFill>
                <a:srgbClr val="FFC000"/>
              </a:solidFill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>
                <a:solidFill>
                  <a:srgbClr val="FFC000"/>
                </a:solidFill>
              </a:rPr>
              <a:t>model is called </a:t>
            </a:r>
            <a:r>
              <a:rPr lang="tr-TR" altLang="en-US" sz="2400" dirty="0">
                <a:solidFill>
                  <a:srgbClr val="FFC000"/>
                </a:solidFill>
              </a:rPr>
              <a:t>a</a:t>
            </a:r>
            <a:endParaRPr lang="en-US" altLang="en-US" sz="24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573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0" grpId="0"/>
      <p:bldP spid="41" grpId="0"/>
      <p:bldP spid="20" grpId="0"/>
      <p:bldP spid="21" grpId="0" animBg="1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tr-TR" sz="4000" dirty="0">
                <a:solidFill>
                  <a:srgbClr val="FF0000"/>
                </a:solidFill>
              </a:rPr>
              <a:t>How can we find the optimal solution for a linear programming model?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21930"/>
            <a:ext cx="8686800" cy="1426395"/>
          </a:xfrm>
        </p:spPr>
        <p:txBody>
          <a:bodyPr>
            <a:noAutofit/>
          </a:bodyPr>
          <a:lstStyle/>
          <a:p>
            <a:r>
              <a:rPr lang="en-US" sz="1800" dirty="0"/>
              <a:t>Create </a:t>
            </a:r>
            <a:r>
              <a:rPr lang="tr-TR" sz="1800" dirty="0"/>
              <a:t>an</a:t>
            </a:r>
            <a:r>
              <a:rPr lang="en-US" sz="1800" dirty="0"/>
              <a:t> </a:t>
            </a:r>
            <a:r>
              <a:rPr lang="en-US" sz="1800" dirty="0" err="1"/>
              <a:t>iso</a:t>
            </a:r>
            <a:r>
              <a:rPr lang="en-US" sz="1800" dirty="0"/>
              <a:t>-value line from the objective function, by setting the objective function to any number.</a:t>
            </a:r>
            <a:endParaRPr lang="tr-TR" sz="1800" dirty="0"/>
          </a:p>
          <a:p>
            <a:r>
              <a:rPr lang="tr-TR" sz="1800" dirty="0"/>
              <a:t>An </a:t>
            </a:r>
            <a:r>
              <a:rPr lang="en-US" sz="1800" dirty="0" err="1"/>
              <a:t>iso</a:t>
            </a:r>
            <a:r>
              <a:rPr lang="tr-TR" sz="1800" dirty="0"/>
              <a:t>-</a:t>
            </a:r>
            <a:r>
              <a:rPr lang="en-US" sz="1800" dirty="0"/>
              <a:t>value line</a:t>
            </a:r>
            <a:r>
              <a:rPr lang="tr-TR" sz="1800" dirty="0"/>
              <a:t> is </a:t>
            </a:r>
            <a:r>
              <a:rPr lang="en-US" sz="1800" dirty="0"/>
              <a:t>a line in which all points have the same objective function value</a:t>
            </a:r>
            <a:endParaRPr lang="tr-TR" sz="1800" dirty="0"/>
          </a:p>
          <a:p>
            <a:r>
              <a:rPr lang="en-US" sz="1800" dirty="0"/>
              <a:t>Graph the resulting line. By moving the line parallel, you will find the optimal </a:t>
            </a:r>
            <a:r>
              <a:rPr lang="tr-TR" sz="1800" dirty="0"/>
              <a:t>solution</a:t>
            </a:r>
            <a:r>
              <a:rPr lang="en-US" sz="1800" dirty="0"/>
              <a:t> (extreme point), if it exist</a:t>
            </a:r>
            <a:r>
              <a:rPr lang="tr-TR" sz="1800" dirty="0"/>
              <a:t>s.</a:t>
            </a:r>
            <a:endParaRPr lang="fr-FR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54469" y="3360003"/>
                <a:ext cx="286856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u="sng" dirty="0"/>
                  <a:t>Optimal Solution</a:t>
                </a:r>
                <a:r>
                  <a:rPr lang="en-US" sz="2400" dirty="0"/>
                  <a:t>:</a:t>
                </a:r>
                <a:endParaRPr lang="tr-TR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= 40,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4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= 20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69" y="3360003"/>
                <a:ext cx="2868562" cy="830997"/>
              </a:xfrm>
              <a:prstGeom prst="rect">
                <a:avLst/>
              </a:prstGeom>
              <a:blipFill>
                <a:blip r:embed="rId3"/>
                <a:stretch>
                  <a:fillRect l="-3404"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/>
          <p:cNvGrpSpPr/>
          <p:nvPr/>
        </p:nvGrpSpPr>
        <p:grpSpPr>
          <a:xfrm>
            <a:off x="3384167" y="2391252"/>
            <a:ext cx="4388232" cy="4251049"/>
            <a:chOff x="2810454" y="2790344"/>
            <a:chExt cx="3584024" cy="3206795"/>
          </a:xfrm>
        </p:grpSpPr>
        <p:sp>
          <p:nvSpPr>
            <p:cNvPr id="7" name="object 44"/>
            <p:cNvSpPr/>
            <p:nvPr/>
          </p:nvSpPr>
          <p:spPr>
            <a:xfrm>
              <a:off x="4428560" y="3065009"/>
              <a:ext cx="104507" cy="2915716"/>
            </a:xfrm>
            <a:custGeom>
              <a:avLst/>
              <a:gdLst/>
              <a:ahLst/>
              <a:cxnLst/>
              <a:rect l="l" t="t" r="r" b="b"/>
              <a:pathLst>
                <a:path w="104507" h="2915716">
                  <a:moveTo>
                    <a:pt x="0" y="0"/>
                  </a:moveTo>
                  <a:lnTo>
                    <a:pt x="0" y="2915716"/>
                  </a:lnTo>
                  <a:lnTo>
                    <a:pt x="104507" y="2915716"/>
                  </a:lnTo>
                  <a:lnTo>
                    <a:pt x="1045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" name="object 47"/>
            <p:cNvSpPr/>
            <p:nvPr/>
          </p:nvSpPr>
          <p:spPr>
            <a:xfrm>
              <a:off x="2923196" y="4147991"/>
              <a:ext cx="2102108" cy="1674414"/>
            </a:xfrm>
            <a:custGeom>
              <a:avLst/>
              <a:gdLst/>
              <a:ahLst/>
              <a:cxnLst/>
              <a:rect l="l" t="t" r="r" b="b"/>
              <a:pathLst>
                <a:path w="2643987" h="2644002">
                  <a:moveTo>
                    <a:pt x="0" y="74645"/>
                  </a:moveTo>
                  <a:lnTo>
                    <a:pt x="2569342" y="2644002"/>
                  </a:lnTo>
                  <a:lnTo>
                    <a:pt x="2643987" y="2569357"/>
                  </a:lnTo>
                  <a:lnTo>
                    <a:pt x="74645" y="0"/>
                  </a:lnTo>
                  <a:lnTo>
                    <a:pt x="0" y="74645"/>
                  </a:lnTo>
                  <a:close/>
                </a:path>
              </a:pathLst>
            </a:custGeom>
            <a:solidFill>
              <a:srgbClr val="E2DDDB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" name="object 54"/>
            <p:cNvSpPr/>
            <p:nvPr/>
          </p:nvSpPr>
          <p:spPr>
            <a:xfrm>
              <a:off x="2890584" y="4147991"/>
              <a:ext cx="2134720" cy="1696869"/>
            </a:xfrm>
            <a:custGeom>
              <a:avLst/>
              <a:gdLst/>
              <a:ahLst/>
              <a:cxnLst/>
              <a:rect l="l" t="t" r="r" b="b"/>
              <a:pathLst>
                <a:path w="2546954" h="2546954">
                  <a:moveTo>
                    <a:pt x="0" y="0"/>
                  </a:moveTo>
                  <a:lnTo>
                    <a:pt x="2546954" y="2546954"/>
                  </a:lnTo>
                </a:path>
              </a:pathLst>
            </a:custGeom>
            <a:ln w="12441">
              <a:solidFill>
                <a:srgbClr val="0070C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" name="object 55"/>
            <p:cNvSpPr/>
            <p:nvPr/>
          </p:nvSpPr>
          <p:spPr>
            <a:xfrm>
              <a:off x="4415119" y="3042606"/>
              <a:ext cx="4480" cy="2954533"/>
            </a:xfrm>
            <a:custGeom>
              <a:avLst/>
              <a:gdLst/>
              <a:ahLst/>
              <a:cxnLst/>
              <a:rect l="l" t="t" r="r" b="b"/>
              <a:pathLst>
                <a:path w="4480" h="2954533">
                  <a:moveTo>
                    <a:pt x="4480" y="2954533"/>
                  </a:moveTo>
                  <a:lnTo>
                    <a:pt x="0" y="0"/>
                  </a:lnTo>
                </a:path>
              </a:pathLst>
            </a:custGeom>
            <a:ln w="12441">
              <a:solidFill>
                <a:srgbClr val="00B05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2810454" y="2790344"/>
              <a:ext cx="3584024" cy="3184407"/>
              <a:chOff x="2810454" y="2790344"/>
              <a:chExt cx="3584024" cy="3184407"/>
            </a:xfrm>
          </p:grpSpPr>
          <p:sp>
            <p:nvSpPr>
              <p:cNvPr id="14" name="object 45"/>
              <p:cNvSpPr/>
              <p:nvPr/>
            </p:nvSpPr>
            <p:spPr>
              <a:xfrm>
                <a:off x="2881868" y="2979908"/>
                <a:ext cx="104507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w="104507" h="2994842">
                    <a:moveTo>
                      <a:pt x="0" y="0"/>
                    </a:moveTo>
                    <a:lnTo>
                      <a:pt x="0" y="2994842"/>
                    </a:lnTo>
                    <a:lnTo>
                      <a:pt x="104507" y="2994842"/>
                    </a:lnTo>
                    <a:lnTo>
                      <a:pt x="10450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5" name="object 46"/>
              <p:cNvSpPr/>
              <p:nvPr/>
            </p:nvSpPr>
            <p:spPr>
              <a:xfrm>
                <a:off x="2819171" y="5798577"/>
                <a:ext cx="3348669" cy="111968"/>
              </a:xfrm>
              <a:custGeom>
                <a:avLst/>
                <a:gdLst/>
                <a:ahLst/>
                <a:cxnLst/>
                <a:rect l="l" t="t" r="r" b="b"/>
                <a:pathLst>
                  <a:path w="3348669" h="111968">
                    <a:moveTo>
                      <a:pt x="0" y="111968"/>
                    </a:moveTo>
                    <a:lnTo>
                      <a:pt x="3348669" y="105994"/>
                    </a:lnTo>
                    <a:lnTo>
                      <a:pt x="3348669" y="0"/>
                    </a:lnTo>
                    <a:lnTo>
                      <a:pt x="0" y="5974"/>
                    </a:lnTo>
                    <a:lnTo>
                      <a:pt x="0" y="111968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6" name="object 48"/>
              <p:cNvSpPr/>
              <p:nvPr/>
            </p:nvSpPr>
            <p:spPr>
              <a:xfrm>
                <a:off x="2948297" y="4376469"/>
                <a:ext cx="2948300" cy="1595749"/>
              </a:xfrm>
              <a:custGeom>
                <a:avLst/>
                <a:gdLst/>
                <a:ahLst/>
                <a:cxnLst/>
                <a:rect l="l" t="t" r="r" b="b"/>
                <a:pathLst>
                  <a:path w="3288944" h="2042342">
                    <a:moveTo>
                      <a:pt x="0" y="91074"/>
                    </a:moveTo>
                    <a:lnTo>
                      <a:pt x="3233699" y="2042342"/>
                    </a:lnTo>
                    <a:lnTo>
                      <a:pt x="3288944" y="1951268"/>
                    </a:lnTo>
                    <a:lnTo>
                      <a:pt x="55229" y="0"/>
                    </a:lnTo>
                    <a:lnTo>
                      <a:pt x="0" y="91074"/>
                    </a:lnTo>
                    <a:close/>
                  </a:path>
                </a:pathLst>
              </a:custGeom>
              <a:solidFill>
                <a:srgbClr val="E2DDDB"/>
              </a:solidFill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7" name="object 49"/>
              <p:cNvSpPr/>
              <p:nvPr/>
            </p:nvSpPr>
            <p:spPr>
              <a:xfrm>
                <a:off x="2995345" y="2979908"/>
                <a:ext cx="0" cy="2994842"/>
              </a:xfrm>
              <a:custGeom>
                <a:avLst/>
                <a:gdLst/>
                <a:ahLst/>
                <a:cxnLst/>
                <a:rect l="l" t="t" r="r" b="b"/>
                <a:pathLst>
                  <a:path h="2994842">
                    <a:moveTo>
                      <a:pt x="0" y="0"/>
                    </a:moveTo>
                    <a:lnTo>
                      <a:pt x="0" y="2994842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8" name="object 50"/>
              <p:cNvSpPr/>
              <p:nvPr/>
            </p:nvSpPr>
            <p:spPr>
              <a:xfrm>
                <a:off x="2949061" y="2979908"/>
                <a:ext cx="92552" cy="46283"/>
              </a:xfrm>
              <a:custGeom>
                <a:avLst/>
                <a:gdLst/>
                <a:ahLst/>
                <a:cxnLst/>
                <a:rect l="l" t="t" r="r" b="b"/>
                <a:pathLst>
                  <a:path w="92552" h="46283">
                    <a:moveTo>
                      <a:pt x="92552" y="46283"/>
                    </a:moveTo>
                    <a:lnTo>
                      <a:pt x="46283" y="0"/>
                    </a:lnTo>
                    <a:lnTo>
                      <a:pt x="0" y="46283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19" name="object 51"/>
              <p:cNvSpPr/>
              <p:nvPr/>
            </p:nvSpPr>
            <p:spPr>
              <a:xfrm>
                <a:off x="2819171" y="5798577"/>
                <a:ext cx="3348669" cy="0"/>
              </a:xfrm>
              <a:custGeom>
                <a:avLst/>
                <a:gdLst/>
                <a:ahLst/>
                <a:cxnLst/>
                <a:rect l="l" t="t" r="r" b="b"/>
                <a:pathLst>
                  <a:path w="3348669">
                    <a:moveTo>
                      <a:pt x="3348669" y="0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20" name="object 52"/>
              <p:cNvSpPr/>
              <p:nvPr/>
            </p:nvSpPr>
            <p:spPr>
              <a:xfrm>
                <a:off x="6121557" y="5752293"/>
                <a:ext cx="46283" cy="92567"/>
              </a:xfrm>
              <a:custGeom>
                <a:avLst/>
                <a:gdLst/>
                <a:ahLst/>
                <a:cxnLst/>
                <a:rect l="l" t="t" r="r" b="b"/>
                <a:pathLst>
                  <a:path w="46283" h="92567">
                    <a:moveTo>
                      <a:pt x="0" y="92567"/>
                    </a:moveTo>
                    <a:lnTo>
                      <a:pt x="46283" y="46283"/>
                    </a:ln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363435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21" name="object 53"/>
              <p:cNvSpPr/>
              <p:nvPr/>
            </p:nvSpPr>
            <p:spPr>
              <a:xfrm>
                <a:off x="2979613" y="4435399"/>
                <a:ext cx="2916984" cy="1487091"/>
              </a:xfrm>
              <a:custGeom>
                <a:avLst/>
                <a:gdLst/>
                <a:ahLst/>
                <a:cxnLst/>
                <a:rect l="l" t="t" r="r" b="b"/>
                <a:pathLst>
                  <a:path w="3241167" h="1957242">
                    <a:moveTo>
                      <a:pt x="3241167" y="1957242"/>
                    </a:moveTo>
                    <a:lnTo>
                      <a:pt x="0" y="0"/>
                    </a:lnTo>
                  </a:path>
                </a:pathLst>
              </a:custGeom>
              <a:ln w="12441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noAutofit/>
              </a:bodyPr>
              <a:lstStyle/>
              <a:p>
                <a:endParaRPr/>
              </a:p>
            </p:txBody>
          </p:sp>
          <p:sp>
            <p:nvSpPr>
              <p:cNvPr id="22" name="object 24"/>
              <p:cNvSpPr txBox="1"/>
              <p:nvPr/>
            </p:nvSpPr>
            <p:spPr>
              <a:xfrm>
                <a:off x="2948297" y="2790344"/>
                <a:ext cx="122440" cy="174693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295"/>
                  </a:lnSpc>
                  <a:spcBef>
                    <a:spcPts val="64"/>
                  </a:spcBef>
                </a:pPr>
                <a:r>
                  <a:rPr sz="1150" b="1" i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endParaRPr sz="1150">
                  <a:latin typeface="Times New Roman"/>
                  <a:cs typeface="Times New Roman"/>
                </a:endParaRPr>
              </a:p>
            </p:txBody>
          </p:sp>
          <p:sp>
            <p:nvSpPr>
              <p:cNvPr id="23" name="object 23"/>
              <p:cNvSpPr txBox="1"/>
              <p:nvPr/>
            </p:nvSpPr>
            <p:spPr>
              <a:xfrm>
                <a:off x="3022948" y="2881150"/>
                <a:ext cx="90093" cy="12492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30"/>
                  </a:spcBef>
                </a:pPr>
                <a:r>
                  <a:rPr sz="750" b="1" spc="0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2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24" name="object 21"/>
              <p:cNvSpPr txBox="1"/>
              <p:nvPr/>
            </p:nvSpPr>
            <p:spPr>
              <a:xfrm>
                <a:off x="6216349" y="5697093"/>
                <a:ext cx="178129" cy="214249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ts val="1610"/>
                  </a:lnSpc>
                  <a:spcBef>
                    <a:spcPts val="80"/>
                  </a:spcBef>
                </a:pPr>
                <a:r>
                  <a:rPr sz="1725" b="1" i="1" baseline="12603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x</a:t>
                </a:r>
                <a:r>
                  <a:rPr sz="1125" b="1" baseline="-11595" dirty="0">
                    <a:solidFill>
                      <a:srgbClr val="363435"/>
                    </a:solidFill>
                    <a:latin typeface="Times New Roman"/>
                    <a:cs typeface="Times New Roman"/>
                  </a:rPr>
                  <a:t>1</a:t>
                </a:r>
                <a:endParaRPr sz="750">
                  <a:latin typeface="Times New Roman"/>
                  <a:cs typeface="Times New Roman"/>
                </a:endParaRPr>
              </a:p>
            </p:txBody>
          </p:sp>
          <p:sp>
            <p:nvSpPr>
              <p:cNvPr id="25" name="object 20"/>
              <p:cNvSpPr txBox="1"/>
              <p:nvPr/>
            </p:nvSpPr>
            <p:spPr>
              <a:xfrm>
                <a:off x="3278243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6" name="object 19"/>
              <p:cNvSpPr txBox="1"/>
              <p:nvPr/>
            </p:nvSpPr>
            <p:spPr>
              <a:xfrm>
                <a:off x="3624107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7" name="object 18"/>
              <p:cNvSpPr txBox="1"/>
              <p:nvPr/>
            </p:nvSpPr>
            <p:spPr>
              <a:xfrm>
                <a:off x="3969972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8" name="object 17"/>
              <p:cNvSpPr txBox="1"/>
              <p:nvPr/>
            </p:nvSpPr>
            <p:spPr>
              <a:xfrm>
                <a:off x="4315836" y="5822407"/>
                <a:ext cx="182407" cy="149811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</a:t>
                </a:r>
                <a:endParaRPr sz="950">
                  <a:latin typeface="Arial"/>
                  <a:cs typeface="Arial"/>
                </a:endParaRPr>
              </a:p>
            </p:txBody>
          </p:sp>
          <p:sp>
            <p:nvSpPr>
              <p:cNvPr id="29" name="object 15"/>
              <p:cNvSpPr txBox="1"/>
              <p:nvPr/>
            </p:nvSpPr>
            <p:spPr>
              <a:xfrm rot="16200000">
                <a:off x="1713594" y="4317706"/>
                <a:ext cx="2314370" cy="12065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12700">
                  <a:lnSpc>
                    <a:spcPct val="95825"/>
                  </a:lnSpc>
                  <a:spcBef>
                    <a:spcPts val="10"/>
                  </a:spcBef>
                </a:pP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10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20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30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40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50     </a:t>
                </a:r>
                <a:r>
                  <a:rPr sz="950" b="1" spc="8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60       </a:t>
                </a:r>
                <a:r>
                  <a:rPr sz="950" b="1" spc="106" dirty="0">
                    <a:solidFill>
                      <a:srgbClr val="363435"/>
                    </a:solidFill>
                    <a:latin typeface="Arial"/>
                    <a:cs typeface="Arial"/>
                  </a:rPr>
                  <a:t> </a:t>
                </a:r>
                <a:r>
                  <a:rPr sz="950" b="1" spc="0" dirty="0">
                    <a:solidFill>
                      <a:srgbClr val="363435"/>
                    </a:solidFill>
                    <a:latin typeface="Arial"/>
                    <a:cs typeface="Arial"/>
                  </a:rPr>
                  <a:t>70</a:t>
                </a:r>
                <a:endParaRPr sz="950" dirty="0">
                  <a:latin typeface="Arial"/>
                  <a:cs typeface="Arial"/>
                </a:endParaRPr>
              </a:p>
            </p:txBody>
          </p:sp>
          <p:sp>
            <p:nvSpPr>
              <p:cNvPr id="30" name="object 14"/>
              <p:cNvSpPr txBox="1"/>
              <p:nvPr/>
            </p:nvSpPr>
            <p:spPr>
              <a:xfrm>
                <a:off x="2819171" y="2979908"/>
                <a:ext cx="62697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1" name="object 13"/>
              <p:cNvSpPr txBox="1"/>
              <p:nvPr/>
            </p:nvSpPr>
            <p:spPr>
              <a:xfrm>
                <a:off x="2881868" y="2979908"/>
                <a:ext cx="112102" cy="28186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2" name="object 12"/>
              <p:cNvSpPr txBox="1"/>
              <p:nvPr/>
            </p:nvSpPr>
            <p:spPr>
              <a:xfrm>
                <a:off x="2993970" y="2979908"/>
                <a:ext cx="3173870" cy="85100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650"/>
                  </a:lnSpc>
                  <a:spcBef>
                    <a:spcPts val="20"/>
                  </a:spcBef>
                </a:pPr>
                <a:endParaRPr sz="650"/>
              </a:p>
            </p:txBody>
          </p:sp>
          <p:sp>
            <p:nvSpPr>
              <p:cNvPr id="33" name="object 11"/>
              <p:cNvSpPr txBox="1"/>
              <p:nvPr/>
            </p:nvSpPr>
            <p:spPr>
              <a:xfrm>
                <a:off x="2993970" y="3065009"/>
                <a:ext cx="1434590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4" name="object 10"/>
              <p:cNvSpPr txBox="1"/>
              <p:nvPr/>
            </p:nvSpPr>
            <p:spPr>
              <a:xfrm>
                <a:off x="4428560" y="3065009"/>
                <a:ext cx="104507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5" name="object 9"/>
              <p:cNvSpPr txBox="1"/>
              <p:nvPr/>
            </p:nvSpPr>
            <p:spPr>
              <a:xfrm>
                <a:off x="4533067" y="3065009"/>
                <a:ext cx="1634773" cy="2733568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6" name="object 8"/>
              <p:cNvSpPr txBox="1"/>
              <p:nvPr/>
            </p:nvSpPr>
            <p:spPr>
              <a:xfrm>
                <a:off x="2819171" y="5798577"/>
                <a:ext cx="62697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  <p:sp>
            <p:nvSpPr>
              <p:cNvPr id="37" name="object 7"/>
              <p:cNvSpPr txBox="1"/>
              <p:nvPr/>
            </p:nvSpPr>
            <p:spPr>
              <a:xfrm>
                <a:off x="2881868" y="5798577"/>
                <a:ext cx="112102" cy="176174"/>
              </a:xfrm>
              <a:prstGeom prst="rect">
                <a:avLst/>
              </a:prstGeom>
            </p:spPr>
            <p:txBody>
              <a:bodyPr wrap="square" lIns="0" tIns="0" rIns="0" bIns="0" rtlCol="0">
                <a:noAutofit/>
              </a:bodyPr>
              <a:lstStyle/>
              <a:p>
                <a:pPr marL="25400">
                  <a:lnSpc>
                    <a:spcPts val="1000"/>
                  </a:lnSpc>
                </a:pPr>
                <a:endParaRPr sz="1000"/>
              </a:p>
            </p:txBody>
          </p:sp>
        </p:grpSp>
        <p:sp>
          <p:nvSpPr>
            <p:cNvPr id="12" name="object 5"/>
            <p:cNvSpPr txBox="1"/>
            <p:nvPr/>
          </p:nvSpPr>
          <p:spPr>
            <a:xfrm>
              <a:off x="4428560" y="5798577"/>
              <a:ext cx="104507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25400">
                <a:lnSpc>
                  <a:spcPts val="1000"/>
                </a:lnSpc>
              </a:pPr>
              <a:endParaRPr sz="1000"/>
            </a:p>
          </p:txBody>
        </p:sp>
        <p:sp>
          <p:nvSpPr>
            <p:cNvPr id="13" name="object 4"/>
            <p:cNvSpPr txBox="1"/>
            <p:nvPr/>
          </p:nvSpPr>
          <p:spPr>
            <a:xfrm>
              <a:off x="4533067" y="5798577"/>
              <a:ext cx="1634773" cy="182148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41332">
                <a:lnSpc>
                  <a:spcPct val="95825"/>
                </a:lnSpc>
                <a:spcBef>
                  <a:spcPts val="190"/>
                </a:spcBef>
              </a:pP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50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60     </a:t>
              </a:r>
              <a:r>
                <a:rPr sz="950" b="1" spc="8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70       </a:t>
              </a:r>
              <a:r>
                <a:rPr sz="950" b="1" spc="106" dirty="0">
                  <a:solidFill>
                    <a:srgbClr val="363435"/>
                  </a:solidFill>
                  <a:latin typeface="Arial"/>
                  <a:cs typeface="Arial"/>
                </a:rPr>
                <a:t> </a:t>
              </a:r>
              <a:r>
                <a:rPr sz="950" b="1" spc="0" dirty="0">
                  <a:solidFill>
                    <a:srgbClr val="363435"/>
                  </a:solidFill>
                  <a:latin typeface="Arial"/>
                  <a:cs typeface="Arial"/>
                </a:rPr>
                <a:t>80</a:t>
              </a:r>
              <a:endParaRPr sz="950">
                <a:latin typeface="Arial"/>
                <a:cs typeface="Arial"/>
              </a:endParaRPr>
            </a:p>
          </p:txBody>
        </p:sp>
      </p:grpSp>
      <p:sp>
        <p:nvSpPr>
          <p:cNvPr id="38" name="Star: 5 Points 4">
            <a:extLst>
              <a:ext uri="{FF2B5EF4-FFF2-40B4-BE49-F238E27FC236}">
                <a16:creationId xmlns:a16="http://schemas.microsoft.com/office/drawing/2014/main" id="{C5B22155-52E5-4322-A1E9-5CB2D57C4884}"/>
              </a:ext>
            </a:extLst>
          </p:cNvPr>
          <p:cNvSpPr/>
          <p:nvPr/>
        </p:nvSpPr>
        <p:spPr>
          <a:xfrm>
            <a:off x="5212955" y="5657598"/>
            <a:ext cx="304800" cy="28762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F2EB500-9FE1-4DEF-AD4E-9049E323CACA}"/>
              </a:ext>
            </a:extLst>
          </p:cNvPr>
          <p:cNvCxnSpPr>
            <a:cxnSpLocks/>
          </p:cNvCxnSpPr>
          <p:nvPr/>
        </p:nvCxnSpPr>
        <p:spPr>
          <a:xfrm>
            <a:off x="3190100" y="4771978"/>
            <a:ext cx="1702325" cy="2228166"/>
          </a:xfrm>
          <a:prstGeom prst="line">
            <a:avLst/>
          </a:prstGeom>
          <a:ln w="3492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9486" y="2945652"/>
            <a:ext cx="1417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92D050"/>
                </a:solidFill>
              </a:rPr>
              <a:t>iso-value line</a:t>
            </a:r>
            <a:endParaRPr lang="en-US" dirty="0">
              <a:solidFill>
                <a:srgbClr val="92D050"/>
              </a:solidFill>
            </a:endParaRP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F2EB500-9FE1-4DEF-AD4E-9049E323CACA}"/>
              </a:ext>
            </a:extLst>
          </p:cNvPr>
          <p:cNvCxnSpPr>
            <a:cxnSpLocks/>
          </p:cNvCxnSpPr>
          <p:nvPr/>
        </p:nvCxnSpPr>
        <p:spPr>
          <a:xfrm>
            <a:off x="3505106" y="4427227"/>
            <a:ext cx="1702325" cy="2228166"/>
          </a:xfrm>
          <a:prstGeom prst="line">
            <a:avLst/>
          </a:prstGeom>
          <a:ln w="3492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F2EB500-9FE1-4DEF-AD4E-9049E323CACA}"/>
              </a:ext>
            </a:extLst>
          </p:cNvPr>
          <p:cNvCxnSpPr>
            <a:cxnSpLocks/>
          </p:cNvCxnSpPr>
          <p:nvPr/>
        </p:nvCxnSpPr>
        <p:spPr>
          <a:xfrm>
            <a:off x="3923867" y="4401505"/>
            <a:ext cx="1702325" cy="2228166"/>
          </a:xfrm>
          <a:prstGeom prst="line">
            <a:avLst/>
          </a:prstGeom>
          <a:ln w="3492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F2EB500-9FE1-4DEF-AD4E-9049E323CACA}"/>
              </a:ext>
            </a:extLst>
          </p:cNvPr>
          <p:cNvCxnSpPr>
            <a:cxnSpLocks/>
          </p:cNvCxnSpPr>
          <p:nvPr/>
        </p:nvCxnSpPr>
        <p:spPr>
          <a:xfrm>
            <a:off x="4158771" y="4281801"/>
            <a:ext cx="1702325" cy="2228166"/>
          </a:xfrm>
          <a:prstGeom prst="line">
            <a:avLst/>
          </a:prstGeom>
          <a:ln w="3492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5560268" y="3530029"/>
                <a:ext cx="32268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tr-TR">
                              <a:latin typeface="Cambria Math"/>
                            </a:rPr>
                            <m:t>max</m:t>
                          </m:r>
                          <m:r>
                            <m:rPr>
                              <m:sty m:val="p"/>
                            </m:rPr>
                            <a:rPr lang="tr-TR" b="0" i="0" smtClean="0">
                              <a:latin typeface="Cambria Math" panose="02040503050406030204" pitchFamily="18" charset="0"/>
                            </a:rPr>
                            <m:t>imize</m:t>
                          </m:r>
                          <m:r>
                            <a:rPr lang="tr-TR" i="1">
                              <a:latin typeface="Cambria Math"/>
                            </a:rPr>
                            <m:t>   </m:t>
                          </m:r>
                        </m:fName>
                        <m:e>
                          <m:r>
                            <a:rPr lang="tr-TR" i="1">
                              <a:latin typeface="Cambria Math"/>
                            </a:rPr>
                            <m:t>3000</m:t>
                          </m:r>
                        </m:e>
                      </m:func>
                      <m:sSub>
                        <m:sSub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tr-TR" i="1">
                          <a:latin typeface="Cambria Math"/>
                        </a:rPr>
                        <m:t>+2000 </m:t>
                      </m:r>
                      <m:sSub>
                        <m:sSubPr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268" y="3530029"/>
                <a:ext cx="322684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F2EB500-9FE1-4DEF-AD4E-9049E323CACA}"/>
              </a:ext>
            </a:extLst>
          </p:cNvPr>
          <p:cNvCxnSpPr>
            <a:cxnSpLocks/>
          </p:cNvCxnSpPr>
          <p:nvPr/>
        </p:nvCxnSpPr>
        <p:spPr>
          <a:xfrm>
            <a:off x="4427002" y="4196687"/>
            <a:ext cx="1702325" cy="2228166"/>
          </a:xfrm>
          <a:prstGeom prst="line">
            <a:avLst/>
          </a:prstGeom>
          <a:ln w="3492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3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7" grpId="0"/>
      <p:bldP spid="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How to Find the Optimal Solution?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143000"/>
                <a:ext cx="8610600" cy="495300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Theorem: </a:t>
                </a:r>
                <a:r>
                  <a:rPr lang="en-US" dirty="0"/>
                  <a:t>If a linear programming problem has a unique</a:t>
                </a:r>
                <a:r>
                  <a:rPr lang="tr-TR" dirty="0"/>
                  <a:t> </a:t>
                </a:r>
                <a:r>
                  <a:rPr lang="en-US" dirty="0"/>
                  <a:t>optimal solution, then it must be located at the intersection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tr-TR" dirty="0"/>
                  <a:t> </a:t>
                </a:r>
                <a:r>
                  <a:rPr lang="en-US" dirty="0"/>
                  <a:t>constraints 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is the number of decision variables.</a:t>
                </a:r>
                <a:endParaRPr lang="tr-TR" dirty="0"/>
              </a:p>
              <a:p>
                <a:pPr lvl="3"/>
                <a:endParaRPr lang="en-US" dirty="0"/>
              </a:p>
              <a:p>
                <a:r>
                  <a:rPr lang="en-US" dirty="0"/>
                  <a:t>An algebraic proof will be covered in INDR 262!</a:t>
                </a:r>
              </a:p>
              <a:p>
                <a:endParaRPr lang="tr-TR" dirty="0"/>
              </a:p>
              <a:p>
                <a:r>
                  <a:rPr lang="tr-TR" dirty="0"/>
                  <a:t>T</a:t>
                </a:r>
                <a:r>
                  <a:rPr lang="en-US" dirty="0"/>
                  <a:t>he optimal</a:t>
                </a:r>
                <a:r>
                  <a:rPr lang="tr-TR" dirty="0"/>
                  <a:t> </a:t>
                </a:r>
                <a:r>
                  <a:rPr lang="en-US" dirty="0"/>
                  <a:t>solution (when there is a unique optimal solution) is located at</a:t>
                </a:r>
                <a:r>
                  <a:rPr lang="tr-TR" dirty="0"/>
                  <a:t> </a:t>
                </a:r>
                <a:r>
                  <a:rPr lang="en-US" dirty="0"/>
                  <a:t>a </a:t>
                </a:r>
                <a:r>
                  <a:rPr lang="en-US" i="1" dirty="0"/>
                  <a:t>corner point</a:t>
                </a:r>
                <a:r>
                  <a:rPr lang="tr-TR" i="1" dirty="0"/>
                  <a:t> (extreme point)</a:t>
                </a:r>
                <a:r>
                  <a:rPr lang="en-US" i="1" dirty="0"/>
                  <a:t> of the feasible region</a:t>
                </a:r>
                <a:r>
                  <a:rPr lang="en-US" dirty="0"/>
                  <a:t>. A corner point of the</a:t>
                </a:r>
                <a:r>
                  <a:rPr lang="tr-TR" dirty="0"/>
                  <a:t> </a:t>
                </a:r>
                <a:r>
                  <a:rPr lang="en-US" dirty="0"/>
                  <a:t>feasible region is located at the intersection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constraints</a:t>
                </a:r>
                <a:r>
                  <a:rPr lang="tr-TR" dirty="0"/>
                  <a:t>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 is the number of decision variables.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143000"/>
                <a:ext cx="8610600" cy="4953000"/>
              </a:xfrm>
              <a:blipFill>
                <a:blip r:embed="rId2"/>
                <a:stretch>
                  <a:fillRect l="-1203" t="-1970" r="-162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02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437738"/>
                <a:ext cx="8229600" cy="4918612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sz="3600" b="1" dirty="0">
                    <a:solidFill>
                      <a:srgbClr val="0070C0"/>
                    </a:solidFill>
                  </a:rPr>
                  <a:t>Property</a:t>
                </a:r>
                <a:r>
                  <a:rPr lang="en-US" sz="3600" dirty="0"/>
                  <a:t>: </a:t>
                </a:r>
                <a:r>
                  <a:rPr lang="tr-TR" sz="3600" dirty="0"/>
                  <a:t>I</a:t>
                </a:r>
                <a:r>
                  <a:rPr lang="en-US" sz="3600" dirty="0"/>
                  <a:t>n a linear programming problem, the number of Corner Point Solutions is finite.</a:t>
                </a:r>
                <a:endParaRPr lang="tr-TR" sz="3600" dirty="0"/>
              </a:p>
              <a:p>
                <a:pPr lvl="4"/>
                <a:endParaRPr lang="en-US" dirty="0"/>
              </a:p>
              <a:p>
                <a:r>
                  <a:rPr lang="en-US" sz="3600" dirty="0"/>
                  <a:t>The number of decision variables and constraints in a linear programming problem are given </a:t>
                </a:r>
                <a:r>
                  <a:rPr lang="tr-TR" sz="3600" dirty="0"/>
                  <a:t>in </a:t>
                </a:r>
                <a:r>
                  <a:rPr lang="tr-TR" sz="3600" dirty="0" err="1"/>
                  <a:t>terms</a:t>
                </a:r>
                <a:r>
                  <a:rPr lang="tr-TR" sz="3600" dirty="0"/>
                  <a:t> of</a:t>
                </a:r>
                <a:r>
                  <a:rPr lang="en-US" sz="3600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31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100" dirty="0"/>
                  <a:t>: the number of decision variables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31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100" dirty="0"/>
                  <a:t>: the number of constraints</a:t>
                </a:r>
                <a:endParaRPr lang="tr-TR" sz="3100" dirty="0"/>
              </a:p>
              <a:p>
                <a:pPr lvl="4"/>
                <a:endParaRPr lang="en-US" dirty="0"/>
              </a:p>
              <a:p>
                <a:pPr algn="just"/>
                <a:r>
                  <a:rPr lang="en-US" sz="3600" dirty="0"/>
                  <a:t>Corner Point Solutions are obtained by simultaneous solution of a system of </a:t>
                </a:r>
                <a14:m>
                  <m:oMath xmlns:m="http://schemas.openxmlformats.org/officeDocument/2006/math">
                    <m:r>
                      <a:rPr lang="en-US" sz="36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600" dirty="0"/>
                  <a:t> out of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400" dirty="0"/>
                  <a:t> equations</a:t>
                </a:r>
                <a:r>
                  <a:rPr lang="tr-TR" sz="3400" dirty="0"/>
                  <a:t> (including the non-negativity constraints)</a:t>
                </a:r>
                <a:r>
                  <a:rPr lang="en-US" sz="3400" dirty="0"/>
                  <a:t>. Therefore, the number of different combinations of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400" dirty="0"/>
                  <a:t> equations taken at </a:t>
                </a:r>
                <a14:m>
                  <m:oMath xmlns:m="http://schemas.openxmlformats.org/officeDocument/2006/math">
                    <m:r>
                      <a:rPr lang="en-US" sz="34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400" dirty="0"/>
                  <a:t> at a time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tr-TR" sz="2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tr-TR" sz="2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tr-TR" sz="2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tr-TR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tr-TR" sz="2600" b="0" i="1" smtClean="0">
                              <a:latin typeface="Cambria Math" panose="02040503050406030204" pitchFamily="18" charset="0"/>
                            </a:rPr>
                            <m:t>)!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437738"/>
                <a:ext cx="8229600" cy="4918612"/>
              </a:xfrm>
              <a:blipFill>
                <a:blip r:embed="rId3"/>
                <a:stretch>
                  <a:fillRect l="-1111" t="-2354" r="-140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INDR 100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4C189D-BDFE-4396-970F-5D7218EBAA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30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8382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How to Find the Optimal Solution?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990600"/>
                <a:ext cx="8610600" cy="5638800"/>
              </a:xfrm>
            </p:spPr>
            <p:txBody>
              <a:bodyPr>
                <a:noAutofit/>
              </a:bodyPr>
              <a:lstStyle/>
              <a:p>
                <a:r>
                  <a:rPr lang="en-US" sz="2000" dirty="0"/>
                  <a:t>LP Problem:</a:t>
                </a:r>
                <a:r>
                  <a:rPr lang="tr-TR" sz="2000" dirty="0"/>
                  <a:t> </a:t>
                </a:r>
                <a14:m>
                  <m:oMath xmlns:m="http://schemas.openxmlformats.org/officeDocument/2006/math">
                    <m:r>
                      <a:rPr lang="tr-TR" sz="2000" b="0" i="0" smtClean="0">
                        <a:latin typeface="Cambria Math"/>
                      </a:rPr>
                      <m:t>  </m:t>
                    </m:r>
                    <m:func>
                      <m:funcPr>
                        <m:ctrlPr>
                          <a:rPr lang="tr-TR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tr-TR" sz="2000" b="0" i="0" smtClean="0">
                            <a:latin typeface="Cambria Math"/>
                          </a:rPr>
                          <m:t>max</m:t>
                        </m:r>
                        <m:r>
                          <m:rPr>
                            <m:sty m:val="p"/>
                          </m:rPr>
                          <a:rPr lang="tr-TR" sz="2000" b="0" i="0" smtClean="0">
                            <a:latin typeface="Cambria Math" panose="02040503050406030204" pitchFamily="18" charset="0"/>
                          </a:rPr>
                          <m:t>imize</m:t>
                        </m:r>
                      </m:fName>
                      <m:e>
                        <m:r>
                          <a:rPr lang="tr-TR" sz="2000" b="0" i="1" smtClean="0">
                            <a:latin typeface="Cambria Math"/>
                          </a:rPr>
                          <m:t>    </m:t>
                        </m:r>
                        <m:r>
                          <a:rPr lang="tr-TR" sz="2000" b="0" i="1" smtClean="0">
                            <a:latin typeface="Cambria Math"/>
                          </a:rPr>
                          <m:t>𝑧</m:t>
                        </m:r>
                        <m:r>
                          <a:rPr lang="tr-TR" sz="2000" b="0" i="1" smtClean="0">
                            <a:latin typeface="Cambria Math"/>
                            <a:ea typeface="Cambria Math"/>
                          </a:rPr>
                          <m:t>=</m:t>
                        </m:r>
                        <m:sSup>
                          <m:sSupPr>
                            <m:ctrlPr>
                              <a:rPr lang="tr-TR" sz="20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tr-TR" sz="2000" b="0" i="1" smtClean="0">
                                <a:latin typeface="Cambria Math"/>
                                <a:ea typeface="Cambria Math"/>
                              </a:rPr>
                              <m:t>𝑐</m:t>
                            </m:r>
                          </m:e>
                          <m:sup>
                            <m:r>
                              <a:rPr lang="tr-TR" sz="2000" b="0" i="1" smtClean="0">
                                <a:latin typeface="Cambria Math"/>
                                <a:ea typeface="Cambria Math"/>
                              </a:rPr>
                              <m:t>𝑇</m:t>
                            </m:r>
                          </m:sup>
                        </m:sSup>
                        <m:r>
                          <a:rPr lang="tr-TR" sz="2000" b="0" i="1" smtClean="0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func>
                    <m:r>
                      <a:rPr lang="tr-TR" sz="2000" b="0" i="1" smtClean="0">
                        <a:latin typeface="Cambria Math"/>
                      </a:rPr>
                      <m:t>  </m:t>
                    </m:r>
                  </m:oMath>
                </a14:m>
                <a:endParaRPr lang="tr-TR" sz="2000" b="0" dirty="0"/>
              </a:p>
              <a:p>
                <a:pPr marL="0" indent="0">
                  <a:buNone/>
                </a:pPr>
                <a:r>
                  <a:rPr lang="tr-TR" sz="2000" dirty="0"/>
                  <a:t>		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/>
                      </a:rPr>
                      <m:t>𝑠</m:t>
                    </m:r>
                    <m:r>
                      <a:rPr lang="tr-TR" sz="2000" b="0" i="1" smtClean="0">
                        <a:latin typeface="Cambria Math"/>
                      </a:rPr>
                      <m:t>.</m:t>
                    </m:r>
                    <m:r>
                      <a:rPr lang="tr-TR" sz="2000" b="0" i="1" smtClean="0">
                        <a:latin typeface="Cambria Math"/>
                      </a:rPr>
                      <m:t>𝑡</m:t>
                    </m:r>
                    <m:r>
                      <a:rPr lang="tr-TR" sz="2000" b="0" i="1" smtClean="0">
                        <a:latin typeface="Cambria Math"/>
                      </a:rPr>
                      <m:t>. </m:t>
                    </m:r>
                  </m:oMath>
                </a14:m>
                <a:endParaRPr lang="tr-TR" sz="2000" b="0" dirty="0"/>
              </a:p>
              <a:p>
                <a:pPr marL="0" indent="0">
                  <a:buNone/>
                </a:pPr>
                <a:r>
                  <a:rPr lang="tr-TR" sz="2000" dirty="0"/>
                  <a:t>			 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/>
                      </a:rPr>
                      <m:t>𝐴𝑥</m:t>
                    </m:r>
                    <m:r>
                      <a:rPr lang="tr-TR" sz="2000" b="0" i="1" smtClean="0">
                        <a:latin typeface="Cambria Math"/>
                      </a:rPr>
                      <m:t> ≤</m:t>
                    </m:r>
                    <m:r>
                      <a:rPr lang="tr-TR" sz="20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endParaRPr lang="tr-TR" sz="2000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tr-TR" sz="2000" dirty="0"/>
                  <a:t>			   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/>
                      </a:rPr>
                      <m:t>𝑥</m:t>
                    </m:r>
                    <m:r>
                      <a:rPr lang="tr-TR" sz="2000" b="0" i="1" smtClean="0">
                        <a:latin typeface="Cambria Math"/>
                      </a:rPr>
                      <m:t>  ≥0</m:t>
                    </m:r>
                  </m:oMath>
                </a14:m>
                <a:endParaRPr lang="tr-TR" sz="2000" dirty="0"/>
              </a:p>
              <a:p>
                <a:pPr marL="1257300" lvl="3" indent="0">
                  <a:buNone/>
                </a:pPr>
                <a:endParaRPr lang="tr-TR" sz="800" dirty="0"/>
              </a:p>
              <a:p>
                <a:r>
                  <a:rPr lang="tr-TR" sz="2000" dirty="0"/>
                  <a:t>A</a:t>
                </a:r>
                <a:r>
                  <a:rPr lang="en-US" sz="2000" dirty="0"/>
                  <a:t> solution is obtained by solving</a:t>
                </a:r>
                <a:r>
                  <a:rPr lang="tr-TR" sz="2000" dirty="0"/>
                  <a:t> </a:t>
                </a:r>
                <a14:m>
                  <m:oMath xmlns:m="http://schemas.openxmlformats.org/officeDocument/2006/math">
                    <m:r>
                      <a:rPr lang="tr-TR" sz="2000" b="0" i="0" smtClean="0">
                        <a:latin typeface="Cambria Math"/>
                      </a:rPr>
                      <m:t> </m:t>
                    </m:r>
                    <m:r>
                      <a:rPr lang="tr-TR" sz="2000" b="0" i="1" smtClean="0">
                        <a:latin typeface="Cambria Math"/>
                      </a:rPr>
                      <m:t>𝐴𝑥</m:t>
                    </m:r>
                    <m:r>
                      <a:rPr lang="tr-TR" sz="2000" b="0" i="1" smtClean="0">
                        <a:latin typeface="Cambria Math"/>
                      </a:rPr>
                      <m:t> ≤</m:t>
                    </m:r>
                    <m:r>
                      <a:rPr lang="tr-TR" sz="2000" b="0" i="1" smtClean="0">
                        <a:latin typeface="Cambria Math"/>
                        <a:ea typeface="Cambria Math"/>
                      </a:rPr>
                      <m:t>𝑏</m:t>
                    </m:r>
                  </m:oMath>
                </a14:m>
                <a:r>
                  <a:rPr lang="en-US" sz="2000" dirty="0"/>
                  <a:t>. Since we have</a:t>
                </a:r>
                <a:r>
                  <a:rPr lang="tr-TR" sz="2000" dirty="0"/>
                  <a:t> </a:t>
                </a:r>
                <a:r>
                  <a:rPr lang="en-US" sz="2000" dirty="0"/>
                  <a:t>inequalities, we convert this system to system of linear</a:t>
                </a:r>
                <a:r>
                  <a:rPr lang="tr-TR" sz="2000" dirty="0"/>
                  <a:t> </a:t>
                </a:r>
                <a:r>
                  <a:rPr lang="en-US" sz="2000" dirty="0"/>
                  <a:t>equations.</a:t>
                </a:r>
                <a:endParaRPr lang="tr-TR" sz="2000" dirty="0"/>
              </a:p>
              <a:p>
                <a:pPr lvl="3"/>
                <a:endParaRPr lang="en-US" sz="800" dirty="0"/>
              </a:p>
              <a:p>
                <a:r>
                  <a:rPr lang="en-US" sz="2000" dirty="0"/>
                  <a:t>Solve the system</a:t>
                </a:r>
                <a:r>
                  <a:rPr lang="tr-TR" sz="2000" dirty="0"/>
                  <a:t>  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tr-TR" sz="2000" b="0" i="1" smtClean="0">
                        <a:latin typeface="Cambria Math"/>
                      </a:rPr>
                      <m:t>𝐴𝑥</m:t>
                    </m:r>
                    <m:r>
                      <a:rPr lang="tr-TR" sz="2000" b="0" i="1" smtClean="0">
                        <a:latin typeface="Cambria Math"/>
                      </a:rPr>
                      <m:t> =</m:t>
                    </m:r>
                    <m:r>
                      <a:rPr lang="tr-TR" sz="2000" b="0" i="1" smtClean="0">
                        <a:latin typeface="Cambria Math"/>
                        <a:ea typeface="Cambria Math"/>
                      </a:rPr>
                      <m:t>𝑏</m:t>
                    </m:r>
                    <m:r>
                      <a:rPr lang="tr-TR" sz="2000" b="0" i="1" smtClean="0">
                        <a:latin typeface="Cambria Math"/>
                        <a:ea typeface="Cambria Math"/>
                      </a:rPr>
                      <m:t>  </m:t>
                    </m:r>
                  </m:oMath>
                </a14:m>
                <a:endParaRPr lang="tr-TR" sz="2000" b="0" i="1" dirty="0">
                  <a:latin typeface="Cambria Math"/>
                  <a:ea typeface="Cambria Math"/>
                </a:endParaRPr>
              </a:p>
              <a:p>
                <a:r>
                  <a:rPr lang="en-US" sz="2000" dirty="0"/>
                  <a:t>There are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tr-T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tr-TR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tr-TR" sz="2000" i="1">
                                <a:latin typeface="Cambria Math"/>
                              </a:rPr>
                              <m:t>𝑚</m:t>
                            </m:r>
                          </m:num>
                          <m:den>
                            <m:r>
                              <a:rPr lang="tr-TR" sz="2000" i="1">
                                <a:latin typeface="Cambria Math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2000" dirty="0"/>
                  <a:t>Corner</a:t>
                </a:r>
                <a:r>
                  <a:rPr lang="tr-TR" sz="2000" dirty="0"/>
                  <a:t> </a:t>
                </a:r>
                <a:r>
                  <a:rPr lang="en-US" sz="2000" dirty="0"/>
                  <a:t>Point Solutions.</a:t>
                </a:r>
              </a:p>
              <a:p>
                <a:pPr lvl="1"/>
                <a:r>
                  <a:rPr lang="en-US" sz="2000" dirty="0"/>
                  <a:t>some of the solutions will be infeasible (it may not satisfy at least one of the constraints)</a:t>
                </a:r>
              </a:p>
              <a:p>
                <a:pPr lvl="1"/>
                <a:r>
                  <a:rPr lang="en-US" sz="2000" dirty="0"/>
                  <a:t>some of the solutions will be feasible</a:t>
                </a:r>
                <a:r>
                  <a:rPr lang="tr-TR" sz="2000" dirty="0"/>
                  <a:t> </a:t>
                </a:r>
                <a:r>
                  <a:rPr lang="en-US" sz="2000" dirty="0"/>
                  <a:t>(it satisfies all constraints).</a:t>
                </a:r>
                <a:endParaRPr lang="tr-TR" sz="2000" dirty="0"/>
              </a:p>
              <a:p>
                <a:r>
                  <a:rPr lang="en-US" sz="2000" dirty="0"/>
                  <a:t>Consider all possible sets of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sz="2000" dirty="0"/>
                  <a:t> binding constraints and evaluate the corresponding corner solution.</a:t>
                </a:r>
                <a:endParaRPr lang="tr-TR" sz="2000" dirty="0"/>
              </a:p>
              <a:p>
                <a:r>
                  <a:rPr lang="tr-TR" sz="2000" dirty="0"/>
                  <a:t>E</a:t>
                </a:r>
                <a:r>
                  <a:rPr lang="en-US" sz="2000" dirty="0"/>
                  <a:t>valuate the objective function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/>
                  <a:t> for feasible solutions</a:t>
                </a:r>
                <a:endParaRPr lang="tr-TR" sz="2000" dirty="0"/>
              </a:p>
              <a:p>
                <a:r>
                  <a:rPr lang="tr-TR" sz="2000" dirty="0"/>
                  <a:t>S</a:t>
                </a:r>
                <a:r>
                  <a:rPr lang="en-US" sz="2000" dirty="0"/>
                  <a:t>elect the solution with the best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𝑧</m:t>
                    </m:r>
                  </m:oMath>
                </a14:m>
                <a:r>
                  <a:rPr lang="en-US" sz="2000" dirty="0"/>
                  <a:t> value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990600"/>
                <a:ext cx="8610600" cy="5638800"/>
              </a:xfrm>
              <a:blipFill>
                <a:blip r:embed="rId2"/>
                <a:stretch>
                  <a:fillRect l="-637" t="-649" b="-2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80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00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914400"/>
                <a:ext cx="8382000" cy="4495800"/>
              </a:xfrm>
            </p:spPr>
            <p:txBody>
              <a:bodyPr>
                <a:noAutofit/>
              </a:bodyPr>
              <a:lstStyle/>
              <a:p>
                <a:r>
                  <a:rPr lang="en-US" sz="2000" b="1" dirty="0"/>
                  <a:t>Decision Variables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000" i="1" dirty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: number of trucks produced per day [unit/day]</a:t>
                </a:r>
              </a:p>
              <a:p>
                <a:pPr marL="0" indent="0">
                  <a:buNone/>
                </a:pPr>
                <a:r>
                  <a:rPr lang="en-US" sz="2000" dirty="0"/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0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20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: number of cars produced per day [unit/day]</a:t>
                </a:r>
                <a:endParaRPr lang="tr-TR" sz="2000" dirty="0"/>
              </a:p>
              <a:p>
                <a:pPr marL="1714500" lvl="4" indent="0">
                  <a:buNone/>
                </a:pPr>
                <a:endParaRPr lang="en-US" sz="1100" dirty="0"/>
              </a:p>
              <a:p>
                <a:r>
                  <a:rPr lang="en-US" sz="2000" b="1" dirty="0"/>
                  <a:t>Constraints</a:t>
                </a:r>
                <a:r>
                  <a:rPr lang="en-US" sz="2000" dirty="0"/>
                  <a:t>:</a:t>
                </a:r>
                <a:r>
                  <a:rPr lang="tr-TR" sz="2000" dirty="0"/>
                  <a:t> 		</a:t>
                </a:r>
                <a:r>
                  <a:rPr lang="tr-TR" sz="2000" dirty="0">
                    <a:ea typeface="Cambria Math"/>
                  </a:rPr>
                  <a:t>1.</a:t>
                </a:r>
                <a14:m>
                  <m:oMath xmlns:m="http://schemas.openxmlformats.org/officeDocument/2006/math">
                    <m:r>
                      <a:rPr lang="tr-TR" sz="2000" i="1">
                        <a:latin typeface="Cambria Math"/>
                        <a:ea typeface="Cambria Math"/>
                      </a:rPr>
                      <m:t> 6 </m:t>
                    </m:r>
                    <m:sSub>
                      <m:sSubPr>
                        <m:ctrlPr>
                          <a:rPr lang="tr-TR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1  </m:t>
                        </m:r>
                      </m:sub>
                    </m:sSub>
                    <m:r>
                      <a:rPr lang="tr-TR" sz="2000" i="1">
                        <a:latin typeface="Cambria Math"/>
                        <a:ea typeface="Cambria Math"/>
                      </a:rPr>
                      <m:t>+10 </m:t>
                    </m:r>
                    <m:sSub>
                      <m:sSubPr>
                        <m:ctrlPr>
                          <a:rPr lang="tr-TR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tr-TR" sz="2000" i="1">
                        <a:latin typeface="Cambria Math"/>
                        <a:ea typeface="Cambria Math"/>
                      </a:rPr>
                      <m:t>     ≤480 </m:t>
                    </m:r>
                  </m:oMath>
                </a14:m>
                <a:endParaRPr lang="tr-TR" sz="200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tr-TR" sz="2000" dirty="0">
                    <a:ea typeface="Cambria Math"/>
                  </a:rPr>
                  <a:t> 			2. </a:t>
                </a:r>
                <a14:m>
                  <m:oMath xmlns:m="http://schemas.openxmlformats.org/officeDocument/2006/math">
                    <m:r>
                      <a:rPr lang="tr-TR" sz="2000" i="1">
                        <a:latin typeface="Cambria Math"/>
                        <a:ea typeface="Cambria Math"/>
                      </a:rPr>
                      <m:t>8 </m:t>
                    </m:r>
                    <m:sSub>
                      <m:sSubPr>
                        <m:ctrlPr>
                          <a:rPr lang="tr-TR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tr-TR" sz="2000" i="1">
                        <a:latin typeface="Cambria Math"/>
                        <a:ea typeface="Cambria Math"/>
                      </a:rPr>
                      <m:t> +  8 </m:t>
                    </m:r>
                    <m:sSub>
                      <m:sSubPr>
                        <m:ctrlPr>
                          <a:rPr lang="tr-TR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tr-TR" sz="2000" i="1">
                        <a:latin typeface="Cambria Math"/>
                        <a:ea typeface="Cambria Math"/>
                      </a:rPr>
                      <m:t>     ≤480</m:t>
                    </m:r>
                  </m:oMath>
                </a14:m>
                <a:endParaRPr lang="tr-TR" sz="200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tr-TR" sz="2000" i="1" dirty="0">
                    <a:latin typeface="Cambria Math"/>
                    <a:ea typeface="Cambria Math"/>
                  </a:rPr>
                  <a:t> 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3.    </m:t>
                        </m:r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tr-TR" sz="2000" i="1">
                        <a:latin typeface="Cambria Math"/>
                        <a:ea typeface="Cambria Math"/>
                      </a:rPr>
                      <m:t>  </m:t>
                    </m:r>
                    <m:r>
                      <a:rPr lang="tr-TR" sz="20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tr-TR" sz="2000" i="1">
                        <a:latin typeface="Cambria Math"/>
                        <a:ea typeface="Cambria Math"/>
                      </a:rPr>
                      <m:t>                   ≤40    </m:t>
                    </m:r>
                  </m:oMath>
                </a14:m>
                <a:endParaRPr lang="tr-TR" sz="200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tr-TR" sz="2000" dirty="0">
                    <a:ea typeface="Cambria Math"/>
                  </a:rPr>
                  <a:t> 			</a:t>
                </a:r>
                <a14:m>
                  <m:oMath xmlns:m="http://schemas.openxmlformats.org/officeDocument/2006/math">
                    <m:r>
                      <a:rPr lang="tr-TR" sz="2000">
                        <a:latin typeface="Cambria Math"/>
                        <a:ea typeface="Cambria Math"/>
                      </a:rPr>
                      <m:t>4.    </m:t>
                    </m:r>
                    <m:sSub>
                      <m:sSubPr>
                        <m:ctrlPr>
                          <a:rPr lang="tr-TR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tr-TR" sz="2000" i="1">
                        <a:latin typeface="Cambria Math"/>
                        <a:ea typeface="Cambria Math"/>
                      </a:rPr>
                      <m:t> </m:t>
                    </m:r>
                    <m:r>
                      <a:rPr lang="tr-TR" sz="2000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tr-TR" sz="2000" i="1">
                        <a:latin typeface="Cambria Math"/>
                        <a:ea typeface="Cambria Math"/>
                      </a:rPr>
                      <m:t>                    ≥0</m:t>
                    </m:r>
                  </m:oMath>
                </a14:m>
                <a:endParaRPr lang="tr-TR" sz="200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tr-TR" sz="2000" dirty="0">
                    <a:ea typeface="Cambria Math"/>
                  </a:rPr>
                  <a:t> 			5.   </a:t>
                </a:r>
                <a14:m>
                  <m:oMath xmlns:m="http://schemas.openxmlformats.org/officeDocument/2006/math">
                    <m:r>
                      <a:rPr lang="tr-TR" sz="2000">
                        <a:latin typeface="Cambria Math"/>
                        <a:ea typeface="Cambria Math"/>
                      </a:rPr>
                      <m:t>  </m:t>
                    </m:r>
                    <m:r>
                      <a:rPr lang="tr-TR" sz="2000" i="1">
                        <a:latin typeface="Cambria Math"/>
                        <a:ea typeface="Cambria Math"/>
                      </a:rPr>
                      <m:t>               </m:t>
                    </m:r>
                    <m:sSub>
                      <m:sSubPr>
                        <m:ctrlPr>
                          <a:rPr lang="tr-TR" sz="20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  <m:sub>
                        <m:r>
                          <a:rPr lang="tr-TR" sz="2000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tr-TR" sz="2000" i="1">
                        <a:latin typeface="Cambria Math"/>
                        <a:ea typeface="Cambria Math"/>
                      </a:rPr>
                      <m:t>      ≥0</m:t>
                    </m:r>
                  </m:oMath>
                </a14:m>
                <a:endParaRPr lang="tr-TR" sz="2000" i="1" dirty="0">
                  <a:latin typeface="Cambria Math"/>
                  <a:ea typeface="Cambria Math"/>
                </a:endParaRPr>
              </a:p>
              <a:p>
                <a:r>
                  <a:rPr lang="en-US" sz="2000" dirty="0"/>
                  <a:t>Corner Point Solutions are obtained at the intersection of</a:t>
                </a:r>
                <a:r>
                  <a:rPr lang="tr-TR" sz="2000" dirty="0"/>
                  <a:t> </a:t>
                </a:r>
                <a:r>
                  <a:rPr lang="en-US" sz="2000" dirty="0"/>
                  <a:t>constraints</a:t>
                </a:r>
              </a:p>
              <a:p>
                <a:r>
                  <a:rPr lang="en-US" sz="2000" dirty="0"/>
                  <a:t>We have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 = 2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 = 5</a:t>
                </a:r>
                <a:r>
                  <a:rPr lang="tr-TR" sz="2000" dirty="0"/>
                  <a:t>, so </a:t>
                </a:r>
                <a:r>
                  <a:rPr lang="tr-TR" sz="2000" dirty="0">
                    <a:cs typeface="Arial" panose="020B0604020202020204" pitchFamily="34" charset="0"/>
                  </a:rPr>
                  <a:t>n</a:t>
                </a:r>
                <a:r>
                  <a:rPr lang="en-US" sz="2000" dirty="0">
                    <a:cs typeface="Arial" panose="020B0604020202020204" pitchFamily="34" charset="0"/>
                  </a:rPr>
                  <a:t>umber of corner </a:t>
                </a:r>
                <a:r>
                  <a:rPr lang="tr-TR" sz="2000" dirty="0" err="1">
                    <a:cs typeface="Arial" panose="020B0604020202020204" pitchFamily="34" charset="0"/>
                  </a:rPr>
                  <a:t>point</a:t>
                </a:r>
                <a:r>
                  <a:rPr lang="tr-TR" sz="2000" dirty="0">
                    <a:cs typeface="Arial" panose="020B0604020202020204" pitchFamily="34" charset="0"/>
                  </a:rPr>
                  <a:t> </a:t>
                </a:r>
                <a:r>
                  <a:rPr lang="en-US" sz="2000" dirty="0">
                    <a:cs typeface="Arial" panose="020B0604020202020204" pitchFamily="34" charset="0"/>
                  </a:rPr>
                  <a:t>solutions:</a:t>
                </a:r>
                <a:endParaRPr lang="tr-TR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914400"/>
                <a:ext cx="8382000" cy="4495800"/>
              </a:xfrm>
              <a:blipFill>
                <a:blip r:embed="rId3"/>
                <a:stretch>
                  <a:fillRect l="-727" t="-67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F8434FC-DF34-41E5-8268-9230F153AE79}"/>
                  </a:ext>
                </a:extLst>
              </p:cNvPr>
              <p:cNvSpPr/>
              <p:nvPr/>
            </p:nvSpPr>
            <p:spPr>
              <a:xfrm>
                <a:off x="2438400" y="5181600"/>
                <a:ext cx="4682307" cy="10881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tr-T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tr-TR" sz="2400" i="1">
                                  <a:latin typeface="Cambria Math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tr-TR" sz="2400" i="1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tr-TR" sz="2400" i="1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tr-TR" sz="2400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tr-TR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  <m:t>5</m:t>
                          </m:r>
                          <m:r>
                            <a:rPr lang="tr-TR" sz="2400" i="1">
                              <a:latin typeface="Cambria Math"/>
                              <a:ea typeface="Cambria Math"/>
                            </a:rPr>
                            <m:t>!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  <m:t>3</m:t>
                          </m:r>
                          <m:r>
                            <a:rPr lang="tr-TR" sz="2400" i="1">
                              <a:latin typeface="Cambria Math"/>
                              <a:ea typeface="Cambria Math"/>
                            </a:rPr>
                            <m:t>!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  <m:r>
                            <a:rPr lang="tr-TR" sz="2400" i="1">
                              <a:latin typeface="Cambria Math"/>
                              <a:ea typeface="Cambria Math"/>
                            </a:rPr>
                            <m:t>!</m:t>
                          </m:r>
                        </m:den>
                      </m:f>
                      <m:r>
                        <m:rPr>
                          <m:nor/>
                        </m:rPr>
                        <a:rPr lang="tr-TR" sz="2400" dirty="0">
                          <a:ea typeface="Cambria Math"/>
                        </a:rPr>
                        <m:t> </m:t>
                      </m:r>
                      <m:r>
                        <a:rPr lang="tr-TR" sz="2400" i="1"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tr-TR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  <m:t>5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×4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  <a:ea typeface="Cambria Math"/>
                        </a:rPr>
                        <m:t>=10</m:t>
                      </m:r>
                    </m:oMath>
                  </m:oMathPara>
                </a14:m>
                <a:endParaRPr lang="tr-TR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F8434FC-DF34-41E5-8268-9230F153AE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5181600"/>
                <a:ext cx="4682307" cy="1088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50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There is an alternative to the </a:t>
            </a:r>
            <a:r>
              <a:rPr lang="tr-TR" dirty="0" err="1"/>
              <a:t>i</a:t>
            </a:r>
            <a:r>
              <a:rPr lang="en-US" dirty="0"/>
              <a:t>so-value objective function approach with problems that have few constraints and a bounded feasible region. </a:t>
            </a:r>
            <a:endParaRPr lang="tr-TR" dirty="0"/>
          </a:p>
          <a:p>
            <a:r>
              <a:rPr lang="en-US" dirty="0"/>
              <a:t>First, find all the corner points, which </a:t>
            </a:r>
            <a:r>
              <a:rPr lang="tr-TR" dirty="0" err="1"/>
              <a:t>will</a:t>
            </a:r>
            <a:r>
              <a:rPr lang="tr-TR" dirty="0"/>
              <a:t> </a:t>
            </a:r>
            <a:r>
              <a:rPr lang="tr-TR" dirty="0" err="1"/>
              <a:t>include</a:t>
            </a:r>
            <a:r>
              <a:rPr lang="tr-TR" dirty="0"/>
              <a:t> </a:t>
            </a:r>
            <a:r>
              <a:rPr lang="en-US" dirty="0"/>
              <a:t>extreme points. </a:t>
            </a:r>
            <a:endParaRPr lang="tr-TR" dirty="0"/>
          </a:p>
          <a:p>
            <a:r>
              <a:rPr lang="en-US" dirty="0"/>
              <a:t>Then, evaluate the objective function at the extreme points</a:t>
            </a:r>
            <a:r>
              <a:rPr lang="tr-TR" dirty="0"/>
              <a:t>.</a:t>
            </a:r>
          </a:p>
          <a:p>
            <a:r>
              <a:rPr lang="tr-TR" dirty="0"/>
              <a:t>Next,</a:t>
            </a:r>
            <a:r>
              <a:rPr lang="en-US" dirty="0"/>
              <a:t> find the optimal value and the optimal solution.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How to Find the Optimal Solution?</a:t>
            </a:r>
            <a:endParaRPr lang="en-US" dirty="0"/>
          </a:p>
        </p:txBody>
      </p:sp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2755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" name="Freeform 6143"/>
          <p:cNvSpPr/>
          <p:nvPr/>
        </p:nvSpPr>
        <p:spPr>
          <a:xfrm>
            <a:off x="2080928" y="3428999"/>
            <a:ext cx="1699947" cy="2114512"/>
          </a:xfrm>
          <a:custGeom>
            <a:avLst/>
            <a:gdLst>
              <a:gd name="connsiteX0" fmla="*/ 0 w 1781175"/>
              <a:gd name="connsiteY0" fmla="*/ 2133600 h 2152650"/>
              <a:gd name="connsiteX1" fmla="*/ 0 w 1781175"/>
              <a:gd name="connsiteY1" fmla="*/ 0 h 2152650"/>
              <a:gd name="connsiteX2" fmla="*/ 1266825 w 1781175"/>
              <a:gd name="connsiteY2" fmla="*/ 781050 h 2152650"/>
              <a:gd name="connsiteX3" fmla="*/ 1781175 w 1781175"/>
              <a:gd name="connsiteY3" fmla="*/ 1285875 h 2152650"/>
              <a:gd name="connsiteX4" fmla="*/ 1771650 w 1781175"/>
              <a:gd name="connsiteY4" fmla="*/ 2152650 h 2152650"/>
              <a:gd name="connsiteX5" fmla="*/ 0 w 1781175"/>
              <a:gd name="connsiteY5" fmla="*/ 2133600 h 215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81175" h="2152650">
                <a:moveTo>
                  <a:pt x="0" y="2133600"/>
                </a:moveTo>
                <a:lnTo>
                  <a:pt x="0" y="0"/>
                </a:lnTo>
                <a:lnTo>
                  <a:pt x="1266825" y="781050"/>
                </a:lnTo>
                <a:lnTo>
                  <a:pt x="1781175" y="1285875"/>
                </a:lnTo>
                <a:lnTo>
                  <a:pt x="1771650" y="215265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5791200" cy="90794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rgbClr val="FF0000"/>
                </a:solidFill>
              </a:rPr>
              <a:t>Example: Feasible Region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2057400" y="1905000"/>
            <a:ext cx="0" cy="365760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057400" y="5562600"/>
            <a:ext cx="3733800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rot="16200000">
            <a:off x="-723900" y="2819400"/>
            <a:ext cx="5105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    10    20    30    40    50    60    70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209800" y="6400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057400" y="5600700"/>
            <a:ext cx="5105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    10    20    30    40    50    60    70    80</a:t>
            </a:r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3810000" y="2133600"/>
            <a:ext cx="0" cy="365760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828800" y="2743200"/>
            <a:ext cx="3124200" cy="304800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790700" y="3276598"/>
            <a:ext cx="4191000" cy="259080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981200" y="3352800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733800" y="5486400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3276975" y="4174353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3714571" y="4629893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981200" y="5486400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110053" y="5277505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(0,0)</a:t>
            </a:r>
            <a:endParaRPr lang="en-US" sz="1100" dirty="0"/>
          </a:p>
        </p:txBody>
      </p:sp>
      <p:sp>
        <p:nvSpPr>
          <p:cNvPr id="44" name="TextBox 43"/>
          <p:cNvSpPr txBox="1"/>
          <p:nvPr/>
        </p:nvSpPr>
        <p:spPr>
          <a:xfrm>
            <a:off x="2930902" y="4267200"/>
            <a:ext cx="5950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(30,30)</a:t>
            </a:r>
            <a:endParaRPr lang="en-US" sz="1100" dirty="0"/>
          </a:p>
        </p:txBody>
      </p:sp>
      <p:sp>
        <p:nvSpPr>
          <p:cNvPr id="45" name="TextBox 44"/>
          <p:cNvSpPr txBox="1"/>
          <p:nvPr/>
        </p:nvSpPr>
        <p:spPr>
          <a:xfrm>
            <a:off x="3287100" y="5310515"/>
            <a:ext cx="5229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(40,0)</a:t>
            </a:r>
            <a:endParaRPr lang="en-US" sz="1100" dirty="0"/>
          </a:p>
        </p:txBody>
      </p:sp>
      <p:sp>
        <p:nvSpPr>
          <p:cNvPr id="46" name="TextBox 45"/>
          <p:cNvSpPr txBox="1"/>
          <p:nvPr/>
        </p:nvSpPr>
        <p:spPr>
          <a:xfrm>
            <a:off x="3329265" y="4800599"/>
            <a:ext cx="5950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(40,20)</a:t>
            </a:r>
            <a:endParaRPr lang="en-US" sz="1100" dirty="0"/>
          </a:p>
        </p:txBody>
      </p:sp>
      <p:sp>
        <p:nvSpPr>
          <p:cNvPr id="47" name="TextBox 46"/>
          <p:cNvSpPr txBox="1"/>
          <p:nvPr/>
        </p:nvSpPr>
        <p:spPr>
          <a:xfrm>
            <a:off x="2040715" y="3586490"/>
            <a:ext cx="5229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(0,48)</a:t>
            </a:r>
            <a:endParaRPr lang="en-US" sz="1100" dirty="0"/>
          </a:p>
        </p:txBody>
      </p:sp>
      <p:cxnSp>
        <p:nvCxnSpPr>
          <p:cNvPr id="48" name="Straight Arrow Connector 47"/>
          <p:cNvCxnSpPr/>
          <p:nvPr/>
        </p:nvCxnSpPr>
        <p:spPr>
          <a:xfrm flipH="1" flipV="1">
            <a:off x="2029838" y="1638656"/>
            <a:ext cx="51090" cy="384774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2062965" y="5543510"/>
            <a:ext cx="4343400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598113" y="5315552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x</a:t>
            </a:r>
            <a:r>
              <a:rPr lang="tr-TR" baseline="-25000" dirty="0"/>
              <a:t>1</a:t>
            </a:r>
            <a:endParaRPr lang="en-US" baseline="-25000" dirty="0"/>
          </a:p>
        </p:txBody>
      </p:sp>
      <p:sp>
        <p:nvSpPr>
          <p:cNvPr id="56" name="TextBox 55"/>
          <p:cNvSpPr txBox="1"/>
          <p:nvPr/>
        </p:nvSpPr>
        <p:spPr>
          <a:xfrm>
            <a:off x="1872466" y="128583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x</a:t>
            </a:r>
            <a:r>
              <a:rPr lang="tr-TR" baseline="-25000" dirty="0"/>
              <a:t>2</a:t>
            </a:r>
            <a:endParaRPr lang="en-US" baseline="-25000" dirty="0"/>
          </a:p>
        </p:txBody>
      </p:sp>
      <p:sp>
        <p:nvSpPr>
          <p:cNvPr id="32" name="TextBox 31"/>
          <p:cNvSpPr txBox="1"/>
          <p:nvPr/>
        </p:nvSpPr>
        <p:spPr>
          <a:xfrm>
            <a:off x="4558374" y="2856010"/>
            <a:ext cx="1461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FEASIBLE REGION</a:t>
            </a:r>
            <a:endParaRPr lang="en-US" sz="1400" dirty="0"/>
          </a:p>
        </p:txBody>
      </p:sp>
      <p:cxnSp>
        <p:nvCxnSpPr>
          <p:cNvPr id="33" name="Straight Arrow Connector 32"/>
          <p:cNvCxnSpPr>
            <a:stCxn id="32" idx="2"/>
          </p:cNvCxnSpPr>
          <p:nvPr/>
        </p:nvCxnSpPr>
        <p:spPr>
          <a:xfrm flipH="1">
            <a:off x="3009171" y="3163787"/>
            <a:ext cx="2279916" cy="188002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924955" y="3882931"/>
            <a:ext cx="12638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>
                <a:solidFill>
                  <a:srgbClr val="0070C0"/>
                </a:solidFill>
              </a:rPr>
              <a:t>CONSTRAINT 1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4953001" y="4192906"/>
            <a:ext cx="777642" cy="963721"/>
          </a:xfrm>
          <a:prstGeom prst="straightConnector1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422805" y="1979711"/>
            <a:ext cx="12638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>
                <a:solidFill>
                  <a:srgbClr val="00B050"/>
                </a:solidFill>
              </a:rPr>
              <a:t>CONSTRAINT 2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2232185" y="2287488"/>
            <a:ext cx="822556" cy="856860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321064" y="1405920"/>
            <a:ext cx="12638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>
                <a:solidFill>
                  <a:srgbClr val="FFC000"/>
                </a:solidFill>
              </a:rPr>
              <a:t>CONSTRAINT 3</a:t>
            </a:r>
            <a:endParaRPr lang="en-US" sz="1400" dirty="0">
              <a:solidFill>
                <a:srgbClr val="FFC000"/>
              </a:solidFill>
            </a:endParaRPr>
          </a:p>
        </p:txBody>
      </p:sp>
      <p:cxnSp>
        <p:nvCxnSpPr>
          <p:cNvPr id="36" name="Straight Arrow Connector 35"/>
          <p:cNvCxnSpPr/>
          <p:nvPr/>
        </p:nvCxnSpPr>
        <p:spPr>
          <a:xfrm flipH="1">
            <a:off x="3895771" y="1638656"/>
            <a:ext cx="822556" cy="856860"/>
          </a:xfrm>
          <a:prstGeom prst="straightConnector1">
            <a:avLst/>
          </a:prstGeom>
          <a:ln w="19050">
            <a:solidFill>
              <a:srgbClr val="FFC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B013DCC-527E-4783-AF5C-7760DC12DB9F}"/>
                  </a:ext>
                </a:extLst>
              </p:cNvPr>
              <p:cNvSpPr/>
              <p:nvPr/>
            </p:nvSpPr>
            <p:spPr>
              <a:xfrm>
                <a:off x="5861866" y="198096"/>
                <a:ext cx="3282134" cy="22294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tr-TR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sz="160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tr-TR" sz="1600" b="0" i="0" dirty="0" smtClean="0">
                        <a:latin typeface="Cambria Math" panose="02040503050406030204" pitchFamily="18" charset="0"/>
                      </a:rPr>
                      <m:t>imize</m:t>
                    </m:r>
                    <m:r>
                      <a:rPr lang="tr-TR" sz="16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i="1" dirty="0">
                        <a:latin typeface="Cambria Math" panose="02040503050406030204" pitchFamily="18" charset="0"/>
                      </a:rPr>
                      <m:t>3000  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i="1" dirty="0">
                        <a:latin typeface="Cambria Math" panose="02040503050406030204" pitchFamily="18" charset="0"/>
                      </a:rPr>
                      <m:t>+ 2000 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fr-FR" sz="1600" dirty="0"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AutoNum type="arabicPeriod"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6 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+     10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≤480</m:t>
                    </m:r>
                  </m:oMath>
                </a14:m>
                <a:endParaRPr lang="tr-TR" sz="16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AutoNum type="arabicPeriod"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8 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+       8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≤480</m:t>
                    </m:r>
                  </m:oMath>
                </a14:m>
                <a:endParaRPr lang="tr-TR" sz="16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  ≤40</m:t>
                    </m:r>
                  </m:oMath>
                </a14:m>
                <a:endParaRPr lang="tr-TR" sz="16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AutoNum type="arabicPeriod"/>
                </a:pPr>
                <a:r>
                  <a:rPr lang="tr-TR" sz="16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endParaRPr lang="tr-TR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AutoNum type="arabicPeriod"/>
                </a:pP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tr-TR" sz="1600" dirty="0"/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B013DCC-527E-4783-AF5C-7760DC12DB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866" y="198096"/>
                <a:ext cx="3282134" cy="2229456"/>
              </a:xfrm>
              <a:prstGeom prst="rect">
                <a:avLst/>
              </a:prstGeom>
              <a:blipFill>
                <a:blip r:embed="rId2"/>
                <a:stretch>
                  <a:fillRect l="-929" b="-1913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>
            <a:extLst>
              <a:ext uri="{FF2B5EF4-FFF2-40B4-BE49-F238E27FC236}">
                <a16:creationId xmlns:a16="http://schemas.microsoft.com/office/drawing/2014/main" id="{A32E5668-7BEE-4A2F-ACD3-0C0484773B73}"/>
              </a:ext>
            </a:extLst>
          </p:cNvPr>
          <p:cNvSpPr/>
          <p:nvPr/>
        </p:nvSpPr>
        <p:spPr>
          <a:xfrm>
            <a:off x="5772675" y="198096"/>
            <a:ext cx="3142725" cy="23610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7" name="Oval 36"/>
          <p:cNvSpPr/>
          <p:nvPr/>
        </p:nvSpPr>
        <p:spPr>
          <a:xfrm>
            <a:off x="1951937" y="2846383"/>
            <a:ext cx="152400" cy="15239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3733800" y="4459187"/>
            <a:ext cx="152400" cy="15239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4628665" y="5486399"/>
            <a:ext cx="152400" cy="15239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/>
          <p:cNvSpPr/>
          <p:nvPr/>
        </p:nvSpPr>
        <p:spPr>
          <a:xfrm>
            <a:off x="5452193" y="5507629"/>
            <a:ext cx="152400" cy="152399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Oval 56"/>
          <p:cNvSpPr/>
          <p:nvPr/>
        </p:nvSpPr>
        <p:spPr>
          <a:xfrm flipH="1">
            <a:off x="6406951" y="2737326"/>
            <a:ext cx="193267" cy="1965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 flipH="1">
            <a:off x="6394294" y="3904590"/>
            <a:ext cx="193267" cy="196580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/>
          <p:cNvSpPr txBox="1"/>
          <p:nvPr/>
        </p:nvSpPr>
        <p:spPr>
          <a:xfrm>
            <a:off x="6688043" y="2551474"/>
            <a:ext cx="24637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i="1" dirty="0">
                <a:solidFill>
                  <a:srgbClr val="FF0000"/>
                </a:solidFill>
              </a:rPr>
              <a:t>Corner Point, which is an Extreme Point, </a:t>
            </a:r>
            <a:r>
              <a:rPr lang="tr-TR" i="1" dirty="0" err="1">
                <a:solidFill>
                  <a:srgbClr val="FF0000"/>
                </a:solidFill>
              </a:rPr>
              <a:t>that</a:t>
            </a:r>
            <a:r>
              <a:rPr lang="tr-TR" i="1" dirty="0">
                <a:solidFill>
                  <a:srgbClr val="FF0000"/>
                </a:solidFill>
              </a:rPr>
              <a:t> </a:t>
            </a:r>
            <a:r>
              <a:rPr lang="tr-TR" i="1" dirty="0" err="1">
                <a:solidFill>
                  <a:srgbClr val="FF0000"/>
                </a:solidFill>
              </a:rPr>
              <a:t>indicates</a:t>
            </a:r>
            <a:r>
              <a:rPr lang="tr-TR" i="1" dirty="0">
                <a:solidFill>
                  <a:srgbClr val="FF0000"/>
                </a:solidFill>
              </a:rPr>
              <a:t> a </a:t>
            </a:r>
            <a:r>
              <a:rPr lang="tr-TR" i="1" dirty="0" err="1">
                <a:solidFill>
                  <a:srgbClr val="FF0000"/>
                </a:solidFill>
              </a:rPr>
              <a:t>feasible</a:t>
            </a:r>
            <a:r>
              <a:rPr lang="tr-TR" i="1" dirty="0">
                <a:solidFill>
                  <a:srgbClr val="FF0000"/>
                </a:solidFill>
              </a:rPr>
              <a:t> </a:t>
            </a:r>
            <a:r>
              <a:rPr lang="tr-TR" i="1" dirty="0" err="1">
                <a:solidFill>
                  <a:srgbClr val="FF0000"/>
                </a:solidFill>
              </a:rPr>
              <a:t>solution</a:t>
            </a:r>
            <a:endParaRPr lang="tr-TR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626808" y="3672497"/>
            <a:ext cx="246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i="1" dirty="0">
                <a:solidFill>
                  <a:srgbClr val="7030A0"/>
                </a:solidFill>
              </a:rPr>
              <a:t>Corner Point, which is infeasible</a:t>
            </a:r>
            <a:endParaRPr lang="tr-TR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916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" grpId="0" animBg="1"/>
      <p:bldP spid="27" grpId="0" animBg="1"/>
      <p:bldP spid="38" grpId="0" animBg="1"/>
      <p:bldP spid="39" grpId="0" animBg="1"/>
      <p:bldP spid="40" grpId="0" animBg="1"/>
      <p:bldP spid="41" grpId="0" animBg="1"/>
      <p:bldP spid="28" grpId="0"/>
      <p:bldP spid="44" grpId="0"/>
      <p:bldP spid="45" grpId="0"/>
      <p:bldP spid="46" grpId="0"/>
      <p:bldP spid="47" grpId="0"/>
      <p:bldP spid="32" grpId="0"/>
      <p:bldP spid="3" grpId="0"/>
      <p:bldP spid="31" grpId="0"/>
      <p:bldP spid="35" grpId="0"/>
      <p:bldP spid="37" grpId="0" animBg="1"/>
      <p:bldP spid="42" grpId="0" animBg="1"/>
      <p:bldP spid="43" grpId="0" animBg="1"/>
      <p:bldP spid="51" grpId="0" animBg="1"/>
      <p:bldP spid="57" grpId="0" animBg="1"/>
      <p:bldP spid="58" grpId="0" animBg="1"/>
      <p:bldP spid="59" grpId="0"/>
      <p:bldP spid="6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Corner Point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295400"/>
            <a:ext cx="7772400" cy="4800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We have the following corner point solutions:</a:t>
            </a:r>
            <a:endParaRPr lang="tr-TR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1. constraint </a:t>
            </a:r>
            <a:r>
              <a:rPr lang="en-US" b="1" dirty="0"/>
              <a:t>1 </a:t>
            </a:r>
            <a:r>
              <a:rPr lang="en-US" dirty="0"/>
              <a:t>and constraint </a:t>
            </a:r>
            <a:r>
              <a:rPr lang="en-US" b="1" dirty="0"/>
              <a:t>2</a:t>
            </a:r>
          </a:p>
          <a:p>
            <a:pPr marL="0" indent="0">
              <a:buNone/>
            </a:pPr>
            <a:r>
              <a:rPr lang="en-US" dirty="0"/>
              <a:t>2. constraint </a:t>
            </a:r>
            <a:r>
              <a:rPr lang="en-US" b="1" dirty="0"/>
              <a:t>1 </a:t>
            </a:r>
            <a:r>
              <a:rPr lang="en-US" dirty="0"/>
              <a:t>and constraint </a:t>
            </a:r>
            <a:r>
              <a:rPr lang="en-US" b="1" dirty="0"/>
              <a:t>3</a:t>
            </a:r>
            <a:r>
              <a:rPr lang="tr-TR" b="1" dirty="0"/>
              <a:t> 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3. constraint </a:t>
            </a:r>
            <a:r>
              <a:rPr lang="en-US" b="1" dirty="0"/>
              <a:t>1 </a:t>
            </a:r>
            <a:r>
              <a:rPr lang="en-US" dirty="0"/>
              <a:t>and constraint </a:t>
            </a:r>
            <a:r>
              <a:rPr lang="en-US" b="1" dirty="0"/>
              <a:t>4</a:t>
            </a:r>
          </a:p>
          <a:p>
            <a:pPr marL="0" indent="0">
              <a:buNone/>
            </a:pPr>
            <a:r>
              <a:rPr lang="en-US" dirty="0"/>
              <a:t>4. constraint </a:t>
            </a:r>
            <a:r>
              <a:rPr lang="en-US" b="1" dirty="0"/>
              <a:t>1 </a:t>
            </a:r>
            <a:r>
              <a:rPr lang="en-US" dirty="0"/>
              <a:t>and constraint </a:t>
            </a:r>
            <a:r>
              <a:rPr lang="en-US" b="1" dirty="0"/>
              <a:t>5</a:t>
            </a:r>
          </a:p>
          <a:p>
            <a:pPr marL="0" indent="0">
              <a:buNone/>
            </a:pPr>
            <a:r>
              <a:rPr lang="en-US" dirty="0"/>
              <a:t>5. constraint </a:t>
            </a:r>
            <a:r>
              <a:rPr lang="en-US" b="1" dirty="0"/>
              <a:t>2 </a:t>
            </a:r>
            <a:r>
              <a:rPr lang="en-US" dirty="0"/>
              <a:t>and constraint </a:t>
            </a:r>
            <a:r>
              <a:rPr lang="en-US" b="1" dirty="0"/>
              <a:t>3</a:t>
            </a:r>
          </a:p>
          <a:p>
            <a:pPr marL="0" indent="0">
              <a:buNone/>
            </a:pPr>
            <a:r>
              <a:rPr lang="en-US" dirty="0"/>
              <a:t>6. constraint </a:t>
            </a:r>
            <a:r>
              <a:rPr lang="en-US" b="1" dirty="0"/>
              <a:t>2 </a:t>
            </a:r>
            <a:r>
              <a:rPr lang="en-US" dirty="0"/>
              <a:t>and constraint </a:t>
            </a:r>
            <a:r>
              <a:rPr lang="en-US" b="1" dirty="0"/>
              <a:t>4</a:t>
            </a:r>
          </a:p>
          <a:p>
            <a:pPr marL="0" indent="0">
              <a:buNone/>
            </a:pPr>
            <a:r>
              <a:rPr lang="en-US" dirty="0"/>
              <a:t>7. constraint </a:t>
            </a:r>
            <a:r>
              <a:rPr lang="en-US" b="1" dirty="0"/>
              <a:t>2 </a:t>
            </a:r>
            <a:r>
              <a:rPr lang="en-US" dirty="0"/>
              <a:t>and constraint </a:t>
            </a:r>
            <a:r>
              <a:rPr lang="en-US" b="1" dirty="0"/>
              <a:t>5</a:t>
            </a:r>
          </a:p>
          <a:p>
            <a:pPr marL="0" indent="0">
              <a:buNone/>
            </a:pPr>
            <a:r>
              <a:rPr lang="en-US" dirty="0"/>
              <a:t>8. constraint </a:t>
            </a:r>
            <a:r>
              <a:rPr lang="en-US" b="1" dirty="0"/>
              <a:t>3 </a:t>
            </a:r>
            <a:r>
              <a:rPr lang="en-US" dirty="0"/>
              <a:t>and constraint </a:t>
            </a:r>
            <a:r>
              <a:rPr lang="en-US" b="1" dirty="0"/>
              <a:t>4</a:t>
            </a:r>
          </a:p>
          <a:p>
            <a:pPr marL="0" indent="0">
              <a:buNone/>
            </a:pPr>
            <a:r>
              <a:rPr lang="en-US" dirty="0"/>
              <a:t>9. constraint </a:t>
            </a:r>
            <a:r>
              <a:rPr lang="en-US" b="1" dirty="0"/>
              <a:t>3 </a:t>
            </a:r>
            <a:r>
              <a:rPr lang="en-US" dirty="0"/>
              <a:t>and constraint </a:t>
            </a:r>
            <a:r>
              <a:rPr lang="en-US" b="1" dirty="0"/>
              <a:t>5</a:t>
            </a:r>
          </a:p>
          <a:p>
            <a:pPr marL="0" indent="0">
              <a:buNone/>
            </a:pPr>
            <a:r>
              <a:rPr lang="en-US" dirty="0"/>
              <a:t>10. constraint </a:t>
            </a:r>
            <a:r>
              <a:rPr lang="en-US" b="1" dirty="0"/>
              <a:t>4 </a:t>
            </a:r>
            <a:r>
              <a:rPr lang="en-US" dirty="0"/>
              <a:t>and constraint </a:t>
            </a:r>
            <a:r>
              <a:rPr lang="en-US" b="1" dirty="0"/>
              <a:t>5</a:t>
            </a:r>
            <a:endParaRPr lang="en-US" dirty="0"/>
          </a:p>
        </p:txBody>
      </p:sp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E7FB04-CC6F-4A8C-952D-36037D865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495" y="1828800"/>
            <a:ext cx="3356305" cy="320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4B834F-01D2-4F1A-9606-70B03FF3CA12}"/>
              </a:ext>
            </a:extLst>
          </p:cNvPr>
          <p:cNvSpPr txBox="1"/>
          <p:nvPr/>
        </p:nvSpPr>
        <p:spPr>
          <a:xfrm>
            <a:off x="6402357" y="35324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43D44A-9E39-42D6-A93E-931BFCAC1491}"/>
              </a:ext>
            </a:extLst>
          </p:cNvPr>
          <p:cNvSpPr txBox="1"/>
          <p:nvPr/>
        </p:nvSpPr>
        <p:spPr>
          <a:xfrm>
            <a:off x="6781800" y="3810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D7A4B-F646-45CB-A8E7-8E049F0982DC}"/>
              </a:ext>
            </a:extLst>
          </p:cNvPr>
          <p:cNvSpPr txBox="1"/>
          <p:nvPr/>
        </p:nvSpPr>
        <p:spPr>
          <a:xfrm>
            <a:off x="7926357" y="441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7030A0"/>
                </a:solidFill>
              </a:rPr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D709B-4173-40F1-83ED-5D86A892F567}"/>
              </a:ext>
            </a:extLst>
          </p:cNvPr>
          <p:cNvSpPr txBox="1"/>
          <p:nvPr/>
        </p:nvSpPr>
        <p:spPr>
          <a:xfrm>
            <a:off x="5486400" y="2590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7030A0"/>
                </a:solidFill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2E8848-C5A5-4A5B-9A36-AB4323EDBFC4}"/>
              </a:ext>
            </a:extLst>
          </p:cNvPr>
          <p:cNvSpPr txBox="1"/>
          <p:nvPr/>
        </p:nvSpPr>
        <p:spPr>
          <a:xfrm>
            <a:off x="6711068" y="41956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D0D581-E338-4A08-90DA-86B02C087323}"/>
              </a:ext>
            </a:extLst>
          </p:cNvPr>
          <p:cNvSpPr txBox="1"/>
          <p:nvPr/>
        </p:nvSpPr>
        <p:spPr>
          <a:xfrm>
            <a:off x="7318712" y="44196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7030A0"/>
                </a:solidFill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9CB635-BAAB-47B8-9628-9F48883E46C5}"/>
              </a:ext>
            </a:extLst>
          </p:cNvPr>
          <p:cNvSpPr txBox="1"/>
          <p:nvPr/>
        </p:nvSpPr>
        <p:spPr>
          <a:xfrm>
            <a:off x="5486400" y="29601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AFBB18-4792-4973-82BC-8D85382ABCEA}"/>
              </a:ext>
            </a:extLst>
          </p:cNvPr>
          <p:cNvSpPr txBox="1"/>
          <p:nvPr/>
        </p:nvSpPr>
        <p:spPr>
          <a:xfrm>
            <a:off x="6781800" y="47881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E2DDD2-AE6F-4ED7-8435-A735EE8E56DA}"/>
              </a:ext>
            </a:extLst>
          </p:cNvPr>
          <p:cNvSpPr txBox="1"/>
          <p:nvPr/>
        </p:nvSpPr>
        <p:spPr>
          <a:xfrm>
            <a:off x="5492824" y="47848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08173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371600"/>
                <a:ext cx="8229600" cy="5029200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1:</a:t>
                </a:r>
              </a:p>
              <a:p>
                <a:pPr lvl="1"/>
                <a:r>
                  <a:rPr lang="en-US" sz="2600" dirty="0"/>
                  <a:t>constraint </a:t>
                </a:r>
                <a:r>
                  <a:rPr lang="en-US" sz="2600" b="1" dirty="0"/>
                  <a:t>1 </a:t>
                </a:r>
                <a:r>
                  <a:rPr lang="en-US" sz="2600" dirty="0"/>
                  <a:t>and constraint </a:t>
                </a:r>
                <a:r>
                  <a:rPr lang="en-US" sz="2600" b="1" dirty="0"/>
                  <a:t>2</a:t>
                </a:r>
                <a:r>
                  <a:rPr lang="en-US" sz="2600" dirty="0"/>
                  <a:t>:</a:t>
                </a:r>
                <a:endParaRPr lang="tr-TR" sz="2600" dirty="0"/>
              </a:p>
              <a:p>
                <a:pPr lvl="1"/>
                <a:r>
                  <a:rPr lang="tr-TR" sz="2400" b="1" dirty="0"/>
                  <a:t>[x</a:t>
                </a:r>
                <a:r>
                  <a:rPr lang="tr-TR" sz="2400" b="1" baseline="-25000" dirty="0"/>
                  <a:t>1</a:t>
                </a:r>
                <a:r>
                  <a:rPr lang="tr-TR" sz="2400" b="1" dirty="0"/>
                  <a:t>, x</a:t>
                </a:r>
                <a:r>
                  <a:rPr lang="tr-TR" sz="2400" b="1" baseline="-25000" dirty="0"/>
                  <a:t>2</a:t>
                </a:r>
                <a:r>
                  <a:rPr lang="tr-TR" sz="2400" b="1" dirty="0"/>
                  <a:t>] = [30, 30]</a:t>
                </a:r>
                <a:endParaRPr lang="en-US" sz="2400" b="1" dirty="0"/>
              </a:p>
              <a:p>
                <a:pPr marL="0" indent="0">
                  <a:buNone/>
                </a:pPr>
                <a:endParaRPr lang="en-US" sz="800" b="1" dirty="0"/>
              </a:p>
              <a:p>
                <a:endParaRPr lang="tr-TR" sz="700" dirty="0"/>
              </a:p>
              <a:p>
                <a:pPr lvl="1"/>
                <a:r>
                  <a:rPr lang="en-US" sz="2600" dirty="0"/>
                  <a:t>this solution is feasible since it satisfies all constraints.</a:t>
                </a:r>
                <a:endParaRPr lang="tr-TR" sz="2600" dirty="0"/>
              </a:p>
              <a:p>
                <a:pPr lvl="4"/>
                <a:endParaRPr lang="en-US" sz="1800" dirty="0"/>
              </a:p>
              <a:p>
                <a:pPr lvl="1"/>
                <a:r>
                  <a:rPr lang="en-US" sz="2600" dirty="0"/>
                  <a:t>the objective function value:</a:t>
                </a:r>
                <a:endParaRPr lang="tr-TR" sz="2600" dirty="0"/>
              </a:p>
              <a:p>
                <a:pPr lvl="4"/>
                <a:endParaRPr lang="tr-TR" sz="1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/>
                        </a:rPr>
                        <m:t>𝑧</m:t>
                      </m:r>
                      <m:r>
                        <a:rPr lang="tr-TR" sz="2400" i="1">
                          <a:latin typeface="Cambria Math"/>
                        </a:rPr>
                        <m:t>=3000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24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sz="2400" i="1" dirty="0">
                          <a:latin typeface="Cambria Math"/>
                        </a:rPr>
                        <m:t>+ 2000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24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i="1">
                          <a:latin typeface="Cambria Math"/>
                        </a:rPr>
                        <m:t>=150,000</m:t>
                      </m:r>
                    </m:oMath>
                  </m:oMathPara>
                </a14:m>
                <a:endParaRPr lang="en-US" sz="2400" i="1" dirty="0">
                  <a:latin typeface="Cambria Math"/>
                </a:endParaRPr>
              </a:p>
              <a:p>
                <a:pPr marL="457200" lvl="1" indent="0">
                  <a:buNone/>
                </a:pPr>
                <a:endParaRPr lang="tr-T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371600"/>
                <a:ext cx="8229600" cy="5029200"/>
              </a:xfrm>
              <a:blipFill>
                <a:blip r:embed="rId2"/>
                <a:stretch>
                  <a:fillRect l="-1704" t="-1576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89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19200"/>
                <a:ext cx="8534400" cy="4906963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</a:t>
                </a:r>
                <a:r>
                  <a:rPr lang="tr-TR" i="1" dirty="0"/>
                  <a:t>2</a:t>
                </a:r>
                <a:r>
                  <a:rPr lang="en-US" i="1" dirty="0"/>
                  <a:t>:</a:t>
                </a:r>
              </a:p>
              <a:p>
                <a:pPr lvl="1"/>
                <a:r>
                  <a:rPr lang="en-US" sz="2600" dirty="0"/>
                  <a:t>constraint </a:t>
                </a:r>
                <a:r>
                  <a:rPr lang="en-US" sz="2600" b="1" dirty="0"/>
                  <a:t>1 </a:t>
                </a:r>
                <a:r>
                  <a:rPr lang="en-US" sz="2600" dirty="0"/>
                  <a:t>and constraint </a:t>
                </a:r>
                <a:r>
                  <a:rPr lang="tr-TR" sz="2600" b="1" dirty="0"/>
                  <a:t>3</a:t>
                </a:r>
                <a:r>
                  <a:rPr lang="en-US" sz="2600" dirty="0"/>
                  <a:t>:</a:t>
                </a:r>
                <a:endParaRPr lang="tr-TR" sz="2600" dirty="0"/>
              </a:p>
              <a:p>
                <a:pPr lvl="1"/>
                <a:r>
                  <a:rPr lang="tr-TR" sz="2600" b="1" dirty="0"/>
                  <a:t>[x</a:t>
                </a:r>
                <a:r>
                  <a:rPr lang="tr-TR" sz="2600" b="1" baseline="-25000" dirty="0"/>
                  <a:t>1</a:t>
                </a:r>
                <a:r>
                  <a:rPr lang="tr-TR" sz="2600" b="1" dirty="0"/>
                  <a:t>, x</a:t>
                </a:r>
                <a:r>
                  <a:rPr lang="tr-TR" sz="2600" b="1" baseline="-25000" dirty="0"/>
                  <a:t>2</a:t>
                </a:r>
                <a:r>
                  <a:rPr lang="tr-TR" sz="2600" b="1" dirty="0"/>
                  <a:t>] = [40, 24]</a:t>
                </a:r>
                <a:endParaRPr lang="tr-TR" sz="2600" dirty="0"/>
              </a:p>
              <a:p>
                <a:pPr lvl="1"/>
                <a:endParaRPr lang="tr-TR" sz="2600" dirty="0"/>
              </a:p>
              <a:p>
                <a:pPr lvl="1"/>
                <a:r>
                  <a:rPr lang="en-US" sz="2600" dirty="0"/>
                  <a:t>this solution is not feasible since it violates constraint 2</a:t>
                </a:r>
                <a:r>
                  <a:rPr lang="tr-TR" sz="2600" dirty="0"/>
                  <a:t>.</a:t>
                </a:r>
              </a:p>
              <a:p>
                <a:pPr marL="457200" lvl="1" indent="0">
                  <a:buNone/>
                </a:pPr>
                <a:endParaRPr lang="tr-TR" sz="24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/>
                        </a:rPr>
                        <m:t>8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i="1">
                          <a:latin typeface="Cambria Math"/>
                        </a:rPr>
                        <m:t>+8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i="1">
                          <a:latin typeface="Cambria Math"/>
                        </a:rPr>
                        <m:t>≤480? → 8</m:t>
                      </m:r>
                      <m:d>
                        <m:d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2400" i="1">
                              <a:latin typeface="Cambria Math"/>
                            </a:rPr>
                            <m:t>40</m:t>
                          </m:r>
                        </m:e>
                      </m:d>
                      <m:r>
                        <a:rPr lang="tr-TR" sz="2400" i="1">
                          <a:latin typeface="Cambria Math"/>
                        </a:rPr>
                        <m:t>+8</m:t>
                      </m:r>
                      <m:d>
                        <m:d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sz="2400" i="1">
                              <a:latin typeface="Cambria Math"/>
                            </a:rPr>
                            <m:t>24</m:t>
                          </m:r>
                        </m:e>
                      </m:d>
                      <m:r>
                        <a:rPr lang="tr-TR" sz="2400" i="1">
                          <a:latin typeface="Cambria Math"/>
                        </a:rPr>
                        <m:t>≤480? → </m:t>
                      </m:r>
                      <m:r>
                        <a:rPr lang="tr-TR" sz="2400" i="1">
                          <a:latin typeface="Cambria Math"/>
                        </a:rPr>
                        <m:t>𝟓𝟏𝟐</m:t>
                      </m:r>
                      <m:r>
                        <a:rPr lang="tr-TR" sz="2400" i="1">
                          <a:latin typeface="Cambria Math"/>
                        </a:rPr>
                        <m:t>&gt;</m:t>
                      </m:r>
                      <m:r>
                        <a:rPr lang="tr-TR" sz="2400" i="1">
                          <a:latin typeface="Cambria Math"/>
                        </a:rPr>
                        <m:t>𝟒𝟖𝟎</m:t>
                      </m:r>
                    </m:oMath>
                  </m:oMathPara>
                </a14:m>
                <a:endParaRPr lang="tr-TR" sz="2400" i="1" dirty="0">
                  <a:latin typeface="Cambria Math"/>
                </a:endParaRPr>
              </a:p>
              <a:p>
                <a:pPr marL="457200" lvl="1" indent="0">
                  <a:buNone/>
                </a:pPr>
                <a:endParaRPr lang="tr-TR" sz="2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19200"/>
                <a:ext cx="8534400" cy="4906963"/>
              </a:xfrm>
              <a:blipFill>
                <a:blip r:embed="rId2"/>
                <a:stretch>
                  <a:fillRect l="-1643" t="-1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69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990600"/>
                <a:ext cx="8229600" cy="5029200"/>
              </a:xfrm>
            </p:spPr>
            <p:txBody>
              <a:bodyPr>
                <a:noAutofit/>
              </a:bodyPr>
              <a:lstStyle/>
              <a:p>
                <a:r>
                  <a:rPr lang="en-US" i="1" dirty="0"/>
                  <a:t>Corner Point Solution </a:t>
                </a:r>
                <a:r>
                  <a:rPr lang="tr-TR" i="1" dirty="0"/>
                  <a:t>3</a:t>
                </a:r>
                <a:r>
                  <a:rPr lang="en-US" i="1" dirty="0"/>
                  <a:t>:</a:t>
                </a:r>
              </a:p>
              <a:p>
                <a:pPr lvl="1"/>
                <a:r>
                  <a:rPr lang="en-US" sz="2600" dirty="0"/>
                  <a:t>constraint </a:t>
                </a:r>
                <a:r>
                  <a:rPr lang="en-US" sz="2600" b="1" dirty="0"/>
                  <a:t>1 </a:t>
                </a:r>
                <a:r>
                  <a:rPr lang="en-US" sz="2600" dirty="0"/>
                  <a:t>and constraint </a:t>
                </a:r>
                <a:r>
                  <a:rPr lang="tr-TR" sz="2600" b="1" dirty="0"/>
                  <a:t>4</a:t>
                </a:r>
                <a:r>
                  <a:rPr lang="en-US" sz="2600" dirty="0"/>
                  <a:t>:</a:t>
                </a:r>
                <a:endParaRPr lang="tr-TR" sz="2600" dirty="0"/>
              </a:p>
              <a:p>
                <a:pPr lvl="1"/>
                <a:r>
                  <a:rPr lang="tr-TR" sz="2600" b="1" dirty="0"/>
                  <a:t>[x</a:t>
                </a:r>
                <a:r>
                  <a:rPr lang="tr-TR" sz="2600" b="1" baseline="-25000" dirty="0"/>
                  <a:t>1</a:t>
                </a:r>
                <a:r>
                  <a:rPr lang="tr-TR" sz="2600" b="1" dirty="0"/>
                  <a:t>, x</a:t>
                </a:r>
                <a:r>
                  <a:rPr lang="tr-TR" sz="2600" b="1" baseline="-25000" dirty="0"/>
                  <a:t>2</a:t>
                </a:r>
                <a:r>
                  <a:rPr lang="tr-TR" sz="2600" b="1" dirty="0"/>
                  <a:t>] = [0, 48]</a:t>
                </a:r>
                <a:endParaRPr lang="tr-TR" sz="2600" dirty="0"/>
              </a:p>
              <a:p>
                <a:pPr marL="457200" lvl="1" indent="0" algn="ctr">
                  <a:buNone/>
                </a:pPr>
                <a:endParaRPr lang="tr-TR" sz="2600" dirty="0"/>
              </a:p>
              <a:p>
                <a:pPr lvl="1"/>
                <a:r>
                  <a:rPr lang="en-US" sz="2600" dirty="0"/>
                  <a:t>this solution is feasible since it satisfies all constraints.</a:t>
                </a:r>
                <a:endParaRPr lang="tr-TR" sz="2600" dirty="0"/>
              </a:p>
              <a:p>
                <a:pPr lvl="3"/>
                <a:endParaRPr lang="en-US" sz="2600" dirty="0"/>
              </a:p>
              <a:p>
                <a:pPr lvl="1"/>
                <a:r>
                  <a:rPr lang="en-US" sz="2600" dirty="0"/>
                  <a:t>the objective function value:</a:t>
                </a:r>
                <a:endParaRPr lang="tr-TR" sz="2600" dirty="0"/>
              </a:p>
              <a:p>
                <a:pPr lvl="4"/>
                <a:endParaRPr lang="tr-TR" sz="12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/>
                        </a:rPr>
                        <m:t>𝑧</m:t>
                      </m:r>
                      <m:r>
                        <a:rPr lang="tr-TR" sz="2400" i="1">
                          <a:latin typeface="Cambria Math"/>
                        </a:rPr>
                        <m:t>=3000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24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sz="2400" i="1" dirty="0">
                          <a:latin typeface="Cambria Math"/>
                        </a:rPr>
                        <m:t>+ 2000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24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i="1">
                          <a:latin typeface="Cambria Math"/>
                        </a:rPr>
                        <m:t>=96,000</m:t>
                      </m:r>
                    </m:oMath>
                  </m:oMathPara>
                </a14:m>
                <a:endParaRPr lang="en-US" sz="2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990600"/>
                <a:ext cx="8229600" cy="5029200"/>
              </a:xfrm>
              <a:blipFill>
                <a:blip r:embed="rId2"/>
                <a:stretch>
                  <a:fillRect l="-1704" t="-1576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36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417638"/>
                <a:ext cx="8458200" cy="4953000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</a:t>
                </a:r>
                <a:r>
                  <a:rPr lang="tr-TR" i="1" dirty="0"/>
                  <a:t>4</a:t>
                </a:r>
                <a:r>
                  <a:rPr lang="en-US" i="1" dirty="0"/>
                  <a:t>:</a:t>
                </a:r>
              </a:p>
              <a:p>
                <a:pPr lvl="1"/>
                <a:r>
                  <a:rPr lang="en-US" sz="2600" dirty="0"/>
                  <a:t>constraint </a:t>
                </a:r>
                <a:r>
                  <a:rPr lang="en-US" sz="2600" b="1" dirty="0"/>
                  <a:t>1 </a:t>
                </a:r>
                <a:r>
                  <a:rPr lang="en-US" sz="2600" dirty="0"/>
                  <a:t>and constraint </a:t>
                </a:r>
                <a:r>
                  <a:rPr lang="tr-TR" sz="2600" b="1" dirty="0"/>
                  <a:t>5</a:t>
                </a:r>
                <a:r>
                  <a:rPr lang="en-US" sz="2600" dirty="0"/>
                  <a:t>:</a:t>
                </a:r>
                <a:endParaRPr lang="tr-TR" sz="2600" dirty="0"/>
              </a:p>
              <a:p>
                <a:pPr lvl="1"/>
                <a:r>
                  <a:rPr lang="tr-TR" sz="2600" b="1" dirty="0"/>
                  <a:t>[x</a:t>
                </a:r>
                <a:r>
                  <a:rPr lang="tr-TR" sz="2600" b="1" baseline="-25000" dirty="0"/>
                  <a:t>1</a:t>
                </a:r>
                <a:r>
                  <a:rPr lang="tr-TR" sz="2600" b="1" dirty="0"/>
                  <a:t>, x</a:t>
                </a:r>
                <a:r>
                  <a:rPr lang="tr-TR" sz="2600" b="1" baseline="-25000" dirty="0"/>
                  <a:t>2</a:t>
                </a:r>
                <a:r>
                  <a:rPr lang="tr-TR" sz="2600" b="1" dirty="0"/>
                  <a:t>] = [80, 0]</a:t>
                </a:r>
                <a:endParaRPr lang="tr-TR" sz="2600" dirty="0"/>
              </a:p>
              <a:p>
                <a:pPr marL="1314450" lvl="3" indent="0">
                  <a:buNone/>
                </a:pPr>
                <a:endParaRPr lang="tr-TR" sz="2600" dirty="0"/>
              </a:p>
              <a:p>
                <a:pPr lvl="1"/>
                <a:r>
                  <a:rPr lang="en-US" sz="2600" dirty="0"/>
                  <a:t>this solution is not feasible since it violates constraints 2</a:t>
                </a:r>
                <a:r>
                  <a:rPr lang="tr-TR" sz="2600" dirty="0"/>
                  <a:t> and</a:t>
                </a:r>
                <a:r>
                  <a:rPr lang="en-US" sz="2600" dirty="0"/>
                  <a:t> 3.</a:t>
                </a:r>
                <a:endParaRPr lang="tr-TR" sz="2600" dirty="0"/>
              </a:p>
              <a:p>
                <a:pPr marL="457200" lvl="1" indent="0">
                  <a:buNone/>
                </a:pPr>
                <a:endParaRPr lang="tr-TR" sz="24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/>
                        </a:rPr>
                        <m:t>8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i="1">
                          <a:latin typeface="Cambria Math"/>
                        </a:rPr>
                        <m:t>+8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i="1">
                          <a:latin typeface="Cambria Math"/>
                          <a:ea typeface="Cambria Math"/>
                        </a:rPr>
                        <m:t>≤480?</m:t>
                      </m:r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?</m:t>
                      </m:r>
                      <m:r>
                        <a:rPr lang="tr-TR" sz="2400" i="1">
                          <a:latin typeface="Cambria Math"/>
                          <a:ea typeface="Cambria Math"/>
                        </a:rPr>
                        <m:t> → 8</m:t>
                      </m:r>
                      <m:d>
                        <m:dPr>
                          <m:ctrlPr>
                            <a:rPr lang="tr-TR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80</m:t>
                          </m:r>
                        </m:e>
                      </m:d>
                      <m:r>
                        <a:rPr lang="tr-TR" sz="2400" i="1">
                          <a:latin typeface="Cambria Math"/>
                          <a:ea typeface="Cambria Math"/>
                        </a:rPr>
                        <m:t>+8</m:t>
                      </m:r>
                      <m:d>
                        <m:dPr>
                          <m:ctrlPr>
                            <a:rPr lang="tr-TR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  <m:r>
                        <a:rPr lang="tr-TR" sz="2400" i="1">
                          <a:latin typeface="Cambria Math"/>
                          <a:ea typeface="Cambria Math"/>
                        </a:rPr>
                        <m:t>≤480? →</m:t>
                      </m:r>
                      <m:r>
                        <a:rPr lang="tr-TR" sz="2400" b="1" i="1" smtClean="0">
                          <a:latin typeface="Cambria Math"/>
                          <a:ea typeface="Cambria Math"/>
                        </a:rPr>
                        <m:t>𝟔𝟒𝟎</m:t>
                      </m:r>
                      <m:r>
                        <a:rPr lang="tr-TR" sz="2400" b="1" i="1">
                          <a:latin typeface="Cambria Math"/>
                          <a:ea typeface="Cambria Math"/>
                        </a:rPr>
                        <m:t>&gt;</m:t>
                      </m:r>
                      <m:r>
                        <a:rPr lang="tr-TR" sz="2400" b="1" i="1">
                          <a:latin typeface="Cambria Math"/>
                          <a:ea typeface="Cambria Math"/>
                        </a:rPr>
                        <m:t>𝟒𝟖𝟎</m:t>
                      </m:r>
                    </m:oMath>
                  </m:oMathPara>
                </a14:m>
                <a:endParaRPr lang="tr-TR" sz="2400" b="1" dirty="0">
                  <a:ea typeface="Cambria Math"/>
                </a:endParaRPr>
              </a:p>
              <a:p>
                <a:pPr marL="457200" lvl="1" indent="0">
                  <a:buNone/>
                </a:pPr>
                <a:endParaRPr lang="tr-TR" sz="2400" b="1" dirty="0">
                  <a:ea typeface="Cambria Math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≤40? → </m:t>
                      </m:r>
                      <m:r>
                        <a:rPr lang="tr-TR" sz="2400" b="1" i="1" smtClean="0">
                          <a:latin typeface="Cambria Math"/>
                          <a:ea typeface="Cambria Math"/>
                        </a:rPr>
                        <m:t>𝟖𝟎</m:t>
                      </m:r>
                      <m:r>
                        <a:rPr lang="tr-TR" sz="2400" b="1" i="1" smtClean="0">
                          <a:latin typeface="Cambria Math"/>
                          <a:ea typeface="Cambria Math"/>
                        </a:rPr>
                        <m:t>&gt;</m:t>
                      </m:r>
                      <m:r>
                        <a:rPr lang="tr-TR" sz="2400" b="1" i="1" smtClean="0">
                          <a:latin typeface="Cambria Math"/>
                          <a:ea typeface="Cambria Math"/>
                        </a:rPr>
                        <m:t>𝟒𝟎</m:t>
                      </m:r>
                    </m:oMath>
                  </m:oMathPara>
                </a14:m>
                <a:endParaRPr lang="tr-TR" sz="2400" b="1" dirty="0">
                  <a:ea typeface="Cambria Math"/>
                </a:endParaRPr>
              </a:p>
              <a:p>
                <a:pPr marL="457200" lvl="1" indent="0">
                  <a:buNone/>
                </a:pPr>
                <a:endParaRPr lang="tr-TR" sz="2400" dirty="0"/>
              </a:p>
              <a:p>
                <a:pPr marL="457200" lvl="1" indent="0">
                  <a:buNone/>
                </a:pPr>
                <a:endParaRPr lang="tr-TR" dirty="0"/>
              </a:p>
            </p:txBody>
          </p:sp>
        </mc:Choice>
        <mc:Fallback xmlns="">
          <p:sp>
            <p:nvSpPr>
              <p:cNvPr id="4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417638"/>
                <a:ext cx="8458200" cy="4953000"/>
              </a:xfrm>
              <a:blipFill>
                <a:blip r:embed="rId2"/>
                <a:stretch>
                  <a:fillRect l="-1658" t="-1601" r="-6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625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990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85800" y="1066800"/>
                <a:ext cx="8153400" cy="4572000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</a:t>
                </a:r>
                <a:r>
                  <a:rPr lang="tr-TR" i="1" dirty="0"/>
                  <a:t>5</a:t>
                </a:r>
                <a:r>
                  <a:rPr lang="en-US" i="1" dirty="0"/>
                  <a:t>:</a:t>
                </a:r>
              </a:p>
              <a:p>
                <a:pPr lvl="1"/>
                <a:r>
                  <a:rPr lang="en-US" sz="2600" dirty="0"/>
                  <a:t>constraint </a:t>
                </a:r>
                <a:r>
                  <a:rPr lang="tr-TR" sz="2600" b="1" dirty="0"/>
                  <a:t>2</a:t>
                </a:r>
                <a:r>
                  <a:rPr lang="en-US" sz="2600" b="1" dirty="0"/>
                  <a:t> </a:t>
                </a:r>
                <a:r>
                  <a:rPr lang="en-US" sz="2600" dirty="0"/>
                  <a:t>and constraint </a:t>
                </a:r>
                <a:r>
                  <a:rPr lang="tr-TR" sz="2600" b="1" dirty="0"/>
                  <a:t>3</a:t>
                </a:r>
                <a:r>
                  <a:rPr lang="en-US" sz="2600" dirty="0"/>
                  <a:t>:</a:t>
                </a:r>
                <a:endParaRPr lang="tr-TR" sz="2600" dirty="0"/>
              </a:p>
              <a:p>
                <a:pPr lvl="1"/>
                <a:r>
                  <a:rPr lang="tr-TR" sz="2600" b="1" dirty="0"/>
                  <a:t>[x</a:t>
                </a:r>
                <a:r>
                  <a:rPr lang="tr-TR" sz="2600" b="1" baseline="-25000" dirty="0"/>
                  <a:t>1</a:t>
                </a:r>
                <a:r>
                  <a:rPr lang="tr-TR" sz="2600" b="1" dirty="0"/>
                  <a:t>, x</a:t>
                </a:r>
                <a:r>
                  <a:rPr lang="tr-TR" sz="2600" b="1" baseline="-25000" dirty="0"/>
                  <a:t>2</a:t>
                </a:r>
                <a:r>
                  <a:rPr lang="tr-TR" sz="2600" b="1" dirty="0"/>
                  <a:t>] = [40, 20]</a:t>
                </a:r>
                <a:endParaRPr lang="tr-TR" sz="2600" dirty="0"/>
              </a:p>
              <a:p>
                <a:pPr marL="0" indent="0">
                  <a:buNone/>
                </a:pPr>
                <a:endParaRPr lang="tr-TR" sz="2600" dirty="0"/>
              </a:p>
              <a:p>
                <a:pPr lvl="1"/>
                <a:r>
                  <a:rPr lang="en-US" sz="2600" dirty="0"/>
                  <a:t>this solution is feasible since it satisfies all constraints.</a:t>
                </a:r>
              </a:p>
              <a:p>
                <a:pPr lvl="1"/>
                <a:r>
                  <a:rPr lang="en-US" sz="2600" dirty="0"/>
                  <a:t>the objective function value:</a:t>
                </a:r>
                <a:endParaRPr lang="tr-TR" sz="2600" dirty="0"/>
              </a:p>
              <a:p>
                <a:pPr lvl="1"/>
                <a:endParaRPr lang="tr-TR" sz="20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/>
                        </a:rPr>
                        <m:t>𝑧</m:t>
                      </m:r>
                      <m:r>
                        <a:rPr lang="tr-TR" sz="2400" i="1">
                          <a:latin typeface="Cambria Math"/>
                        </a:rPr>
                        <m:t>=3000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24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sz="2400" i="1" dirty="0">
                          <a:latin typeface="Cambria Math"/>
                        </a:rPr>
                        <m:t>+ 2000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24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i="1">
                          <a:latin typeface="Cambria Math"/>
                        </a:rPr>
                        <m:t>=160,000</m:t>
                      </m:r>
                    </m:oMath>
                  </m:oMathPara>
                </a14:m>
                <a:endParaRPr lang="en-US" sz="2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1066800"/>
                <a:ext cx="8153400" cy="4572000"/>
              </a:xfrm>
              <a:blipFill>
                <a:blip r:embed="rId2"/>
                <a:stretch>
                  <a:fillRect l="-1720" t="-1733" r="-10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683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Corner Point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153400" cy="2133600"/>
          </a:xfrm>
        </p:spPr>
        <p:txBody>
          <a:bodyPr>
            <a:normAutofit/>
          </a:bodyPr>
          <a:lstStyle/>
          <a:p>
            <a:r>
              <a:rPr lang="en-US" i="1" dirty="0"/>
              <a:t>Corner Point Solution </a:t>
            </a:r>
            <a:r>
              <a:rPr lang="tr-TR" i="1" dirty="0"/>
              <a:t>6</a:t>
            </a:r>
            <a:r>
              <a:rPr lang="en-US" i="1" dirty="0"/>
              <a:t>:</a:t>
            </a:r>
          </a:p>
          <a:p>
            <a:pPr lvl="1"/>
            <a:r>
              <a:rPr lang="en-US" sz="2600" dirty="0"/>
              <a:t>constraint </a:t>
            </a:r>
            <a:r>
              <a:rPr lang="tr-TR" sz="2600" b="1" dirty="0"/>
              <a:t>2</a:t>
            </a:r>
            <a:r>
              <a:rPr lang="en-US" sz="2600" b="1" dirty="0"/>
              <a:t> </a:t>
            </a:r>
            <a:r>
              <a:rPr lang="en-US" sz="2600" dirty="0"/>
              <a:t>and constraint </a:t>
            </a:r>
            <a:r>
              <a:rPr lang="tr-TR" sz="2600" b="1" dirty="0"/>
              <a:t>4</a:t>
            </a:r>
            <a:r>
              <a:rPr lang="en-US" sz="2600" dirty="0"/>
              <a:t>:</a:t>
            </a:r>
            <a:endParaRPr lang="tr-TR" sz="2600" dirty="0"/>
          </a:p>
          <a:p>
            <a:pPr lvl="1"/>
            <a:r>
              <a:rPr lang="tr-TR" sz="2600" b="1" dirty="0"/>
              <a:t>[x</a:t>
            </a:r>
            <a:r>
              <a:rPr lang="tr-TR" sz="2600" b="1" baseline="-25000" dirty="0"/>
              <a:t>1</a:t>
            </a:r>
            <a:r>
              <a:rPr lang="tr-TR" sz="2600" b="1" dirty="0"/>
              <a:t>, x</a:t>
            </a:r>
            <a:r>
              <a:rPr lang="tr-TR" sz="2600" b="1" baseline="-25000" dirty="0"/>
              <a:t>2</a:t>
            </a:r>
            <a:r>
              <a:rPr lang="tr-TR" sz="2600" b="1" dirty="0"/>
              <a:t>] = [0, 60]</a:t>
            </a:r>
            <a:endParaRPr lang="tr-TR" sz="2600" dirty="0"/>
          </a:p>
          <a:p>
            <a:pPr marL="457200" lvl="1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28600" y="3200400"/>
                <a:ext cx="8686800" cy="160043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Tx/>
                  <a:buChar char="-"/>
                </a:pPr>
                <a:r>
                  <a:rPr lang="en-US" sz="2600" dirty="0"/>
                  <a:t>this solution is not feasible since it violates constraint 1.</a:t>
                </a:r>
                <a:endParaRPr lang="tr-TR" sz="2600" dirty="0"/>
              </a:p>
              <a:p>
                <a:endParaRPr lang="tr-TR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b="0" i="1" smtClean="0">
                          <a:latin typeface="Cambria Math"/>
                        </a:rPr>
                        <m:t>6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i="1">
                          <a:latin typeface="Cambria Math"/>
                        </a:rPr>
                        <m:t>+</m:t>
                      </m:r>
                      <m:r>
                        <a:rPr lang="tr-TR" sz="2400" b="0" i="1" smtClean="0">
                          <a:latin typeface="Cambria Math"/>
                        </a:rPr>
                        <m:t>10</m:t>
                      </m:r>
                      <m:sSub>
                        <m:sSub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i="1">
                          <a:latin typeface="Cambria Math"/>
                          <a:ea typeface="Cambria Math"/>
                        </a:rPr>
                        <m:t>≤480?? →</m:t>
                      </m:r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6</m:t>
                      </m:r>
                      <m:d>
                        <m:dPr>
                          <m:ctrlPr>
                            <a:rPr lang="tr-TR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tr-TR" sz="2400" i="1"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  <m:r>
                        <a:rPr lang="tr-TR" sz="2400" i="1">
                          <a:latin typeface="Cambria Math"/>
                          <a:ea typeface="Cambria Math"/>
                        </a:rPr>
                        <m:t>+</m:t>
                      </m:r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10</m:t>
                      </m:r>
                      <m:d>
                        <m:dPr>
                          <m:ctrlPr>
                            <a:rPr lang="tr-TR" sz="24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tr-TR" sz="2400" b="0" i="1" smtClean="0">
                              <a:latin typeface="Cambria Math"/>
                              <a:ea typeface="Cambria Math"/>
                            </a:rPr>
                            <m:t>6</m:t>
                          </m:r>
                          <m:r>
                            <a:rPr lang="tr-TR" sz="2400" i="1"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  <m:r>
                        <a:rPr lang="tr-TR" sz="2400" i="1">
                          <a:latin typeface="Cambria Math"/>
                          <a:ea typeface="Cambria Math"/>
                        </a:rPr>
                        <m:t>≤480? →</m:t>
                      </m:r>
                      <m:r>
                        <a:rPr lang="tr-TR" sz="2400" b="1" i="1">
                          <a:latin typeface="Cambria Math"/>
                          <a:ea typeface="Cambria Math"/>
                        </a:rPr>
                        <m:t>𝟔</m:t>
                      </m:r>
                      <m:r>
                        <a:rPr lang="tr-TR" sz="2400" b="1" i="1" smtClean="0"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tr-TR" sz="2400" b="1" i="1">
                          <a:latin typeface="Cambria Math"/>
                          <a:ea typeface="Cambria Math"/>
                        </a:rPr>
                        <m:t>𝟎</m:t>
                      </m:r>
                      <m:r>
                        <a:rPr lang="tr-TR" sz="2400" b="1" i="1">
                          <a:latin typeface="Cambria Math"/>
                          <a:ea typeface="Cambria Math"/>
                        </a:rPr>
                        <m:t>&gt;</m:t>
                      </m:r>
                      <m:r>
                        <a:rPr lang="tr-TR" sz="2400" b="1" i="1">
                          <a:latin typeface="Cambria Math"/>
                          <a:ea typeface="Cambria Math"/>
                        </a:rPr>
                        <m:t>𝟒𝟖𝟎</m:t>
                      </m:r>
                    </m:oMath>
                  </m:oMathPara>
                </a14:m>
                <a:endParaRPr lang="tr-TR" sz="2400" b="1" dirty="0">
                  <a:ea typeface="Cambria Math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3200400"/>
                <a:ext cx="8686800" cy="1600438"/>
              </a:xfrm>
              <a:prstGeom prst="rect">
                <a:avLst/>
              </a:prstGeom>
              <a:blipFill>
                <a:blip r:embed="rId2"/>
                <a:stretch>
                  <a:fillRect l="-1333" t="-3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818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405580"/>
                <a:ext cx="8534400" cy="4309420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</a:t>
                </a:r>
                <a:r>
                  <a:rPr lang="tr-TR" i="1" dirty="0"/>
                  <a:t>7</a:t>
                </a:r>
                <a:r>
                  <a:rPr lang="en-US" i="1" dirty="0"/>
                  <a:t>:</a:t>
                </a:r>
              </a:p>
              <a:p>
                <a:pPr lvl="1"/>
                <a:r>
                  <a:rPr lang="en-US" sz="2600" dirty="0"/>
                  <a:t>constraint </a:t>
                </a:r>
                <a:r>
                  <a:rPr lang="tr-TR" sz="2600" b="1" dirty="0"/>
                  <a:t>2</a:t>
                </a:r>
                <a:r>
                  <a:rPr lang="en-US" sz="2600" b="1" dirty="0"/>
                  <a:t> </a:t>
                </a:r>
                <a:r>
                  <a:rPr lang="en-US" sz="2600" dirty="0"/>
                  <a:t>and constraint </a:t>
                </a:r>
                <a:r>
                  <a:rPr lang="tr-TR" sz="2600" b="1" dirty="0"/>
                  <a:t>5</a:t>
                </a:r>
                <a:r>
                  <a:rPr lang="en-US" sz="2600" dirty="0"/>
                  <a:t>:</a:t>
                </a:r>
                <a:endParaRPr lang="tr-TR" sz="2600" dirty="0"/>
              </a:p>
              <a:p>
                <a:pPr lvl="1"/>
                <a:r>
                  <a:rPr lang="tr-TR" sz="2600" b="1" dirty="0"/>
                  <a:t>[x</a:t>
                </a:r>
                <a:r>
                  <a:rPr lang="tr-TR" sz="2600" b="1" baseline="-25000" dirty="0"/>
                  <a:t>1</a:t>
                </a:r>
                <a:r>
                  <a:rPr lang="tr-TR" sz="2600" b="1" dirty="0"/>
                  <a:t>, x</a:t>
                </a:r>
                <a:r>
                  <a:rPr lang="tr-TR" sz="2600" b="1" baseline="-25000" dirty="0"/>
                  <a:t>2</a:t>
                </a:r>
                <a:r>
                  <a:rPr lang="tr-TR" sz="2600" b="1" dirty="0"/>
                  <a:t>] = [60, 0]</a:t>
                </a:r>
                <a:endParaRPr lang="tr-TR" sz="2600" dirty="0"/>
              </a:p>
              <a:p>
                <a:pPr lvl="1"/>
                <a:endParaRPr lang="tr-TR" sz="2600" dirty="0"/>
              </a:p>
              <a:p>
                <a:pPr lvl="1"/>
                <a:r>
                  <a:rPr lang="en-US" sz="2600" dirty="0"/>
                  <a:t>this solution is not feasible since it violates constraint 3.</a:t>
                </a:r>
                <a:endParaRPr lang="tr-TR" sz="2600" dirty="0"/>
              </a:p>
              <a:p>
                <a:pPr marL="2286000" lvl="5" indent="0">
                  <a:buNone/>
                </a:pPr>
                <a:endParaRPr lang="tr-TR" sz="23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sz="24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sz="24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tr-TR" sz="2400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tr-TR" sz="2400" b="0" i="1" smtClean="0">
                          <a:latin typeface="Cambria Math"/>
                          <a:ea typeface="Cambria Math"/>
                        </a:rPr>
                        <m:t>40?→</m:t>
                      </m:r>
                      <m:r>
                        <a:rPr lang="tr-TR" sz="2400" b="1" i="1" smtClean="0">
                          <a:latin typeface="Cambria Math"/>
                          <a:ea typeface="Cambria Math"/>
                        </a:rPr>
                        <m:t>𝟔𝟎</m:t>
                      </m:r>
                      <m:r>
                        <a:rPr lang="tr-TR" sz="2400" b="1" i="1" smtClean="0">
                          <a:latin typeface="Cambria Math"/>
                          <a:ea typeface="Cambria Math"/>
                        </a:rPr>
                        <m:t>&gt;</m:t>
                      </m:r>
                      <m:r>
                        <a:rPr lang="tr-TR" sz="2400" b="1" i="1" smtClean="0">
                          <a:latin typeface="Cambria Math"/>
                          <a:ea typeface="Cambria Math"/>
                        </a:rPr>
                        <m:t>𝟒𝟎</m:t>
                      </m:r>
                    </m:oMath>
                  </m:oMathPara>
                </a14:m>
                <a:endParaRPr lang="tr-TR" sz="2400" b="1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405580"/>
                <a:ext cx="8534400" cy="4309420"/>
              </a:xfrm>
              <a:blipFill>
                <a:blip r:embed="rId2"/>
                <a:stretch>
                  <a:fillRect l="-1643" t="-1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936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Corner Point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1"/>
            <a:ext cx="8229600" cy="3733800"/>
          </a:xfrm>
        </p:spPr>
        <p:txBody>
          <a:bodyPr>
            <a:normAutofit/>
          </a:bodyPr>
          <a:lstStyle/>
          <a:p>
            <a:r>
              <a:rPr lang="en-US" i="1" dirty="0"/>
              <a:t>Corner Point Solution </a:t>
            </a:r>
            <a:r>
              <a:rPr lang="tr-TR" i="1" dirty="0"/>
              <a:t>8</a:t>
            </a:r>
            <a:r>
              <a:rPr lang="en-US" i="1" dirty="0"/>
              <a:t>:</a:t>
            </a:r>
          </a:p>
          <a:p>
            <a:pPr lvl="1"/>
            <a:r>
              <a:rPr lang="en-US" sz="2600" dirty="0"/>
              <a:t>constraint </a:t>
            </a:r>
            <a:r>
              <a:rPr lang="tr-TR" sz="2600" b="1" dirty="0"/>
              <a:t>3</a:t>
            </a:r>
            <a:r>
              <a:rPr lang="en-US" sz="2600" b="1" dirty="0"/>
              <a:t> </a:t>
            </a:r>
            <a:r>
              <a:rPr lang="en-US" sz="2600" dirty="0"/>
              <a:t>and constraint </a:t>
            </a:r>
            <a:r>
              <a:rPr lang="tr-TR" sz="2600" b="1" dirty="0"/>
              <a:t>4</a:t>
            </a:r>
            <a:r>
              <a:rPr lang="en-US" sz="2600" dirty="0"/>
              <a:t>:</a:t>
            </a:r>
            <a:endParaRPr lang="tr-TR" sz="2600" dirty="0"/>
          </a:p>
          <a:p>
            <a:pPr lvl="1"/>
            <a:r>
              <a:rPr lang="tr-TR" sz="2600" b="1" dirty="0"/>
              <a:t>[x</a:t>
            </a:r>
            <a:r>
              <a:rPr lang="tr-TR" sz="2600" b="1" baseline="-25000" dirty="0"/>
              <a:t>1</a:t>
            </a:r>
            <a:r>
              <a:rPr lang="tr-TR" sz="2600" b="1" dirty="0"/>
              <a:t>, x</a:t>
            </a:r>
            <a:r>
              <a:rPr lang="tr-TR" sz="2600" b="1" baseline="-25000" dirty="0"/>
              <a:t>2</a:t>
            </a:r>
            <a:r>
              <a:rPr lang="tr-TR" sz="2600" b="1" dirty="0"/>
              <a:t>] = not defined</a:t>
            </a:r>
            <a:endParaRPr lang="tr-TR" sz="2600" dirty="0"/>
          </a:p>
          <a:p>
            <a:pPr marL="1771650" lvl="4" indent="0">
              <a:buNone/>
            </a:pPr>
            <a:endParaRPr lang="tr-TR" sz="2600" dirty="0"/>
          </a:p>
          <a:p>
            <a:pPr lvl="1"/>
            <a:r>
              <a:rPr lang="tr-TR" sz="2600" dirty="0" err="1"/>
              <a:t>There</a:t>
            </a:r>
            <a:r>
              <a:rPr lang="tr-TR" sz="2600" dirty="0"/>
              <a:t> is </a:t>
            </a:r>
            <a:r>
              <a:rPr lang="tr-TR" sz="2600" dirty="0" err="1"/>
              <a:t>no</a:t>
            </a:r>
            <a:r>
              <a:rPr lang="tr-TR" sz="2600" dirty="0"/>
              <a:t> </a:t>
            </a:r>
            <a:r>
              <a:rPr lang="tr-TR" sz="2600" dirty="0" err="1"/>
              <a:t>solution</a:t>
            </a:r>
            <a:r>
              <a:rPr lang="tr-TR" sz="2600" dirty="0"/>
              <a:t>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276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458200" cy="4419600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</a:t>
                </a:r>
                <a:r>
                  <a:rPr lang="tr-TR" i="1" dirty="0"/>
                  <a:t>9</a:t>
                </a:r>
                <a:r>
                  <a:rPr lang="en-US" i="1" dirty="0"/>
                  <a:t>:</a:t>
                </a:r>
              </a:p>
              <a:p>
                <a:pPr lvl="1"/>
                <a:r>
                  <a:rPr lang="en-US" sz="2600" dirty="0"/>
                  <a:t>constraint </a:t>
                </a:r>
                <a:r>
                  <a:rPr lang="tr-TR" sz="2600" b="1" dirty="0"/>
                  <a:t>3</a:t>
                </a:r>
                <a:r>
                  <a:rPr lang="en-US" sz="2600" b="1" dirty="0"/>
                  <a:t> </a:t>
                </a:r>
                <a:r>
                  <a:rPr lang="en-US" sz="2600" dirty="0"/>
                  <a:t>and constraint </a:t>
                </a:r>
                <a:r>
                  <a:rPr lang="tr-TR" sz="2600" b="1" dirty="0"/>
                  <a:t>5</a:t>
                </a:r>
                <a:r>
                  <a:rPr lang="en-US" sz="2600" dirty="0"/>
                  <a:t>:</a:t>
                </a:r>
                <a:endParaRPr lang="tr-TR" sz="2600" dirty="0"/>
              </a:p>
              <a:p>
                <a:pPr lvl="1"/>
                <a:r>
                  <a:rPr lang="tr-TR" sz="2600" b="1" dirty="0"/>
                  <a:t>[x</a:t>
                </a:r>
                <a:r>
                  <a:rPr lang="tr-TR" sz="2600" b="1" baseline="-25000" dirty="0"/>
                  <a:t>1</a:t>
                </a:r>
                <a:r>
                  <a:rPr lang="tr-TR" sz="2600" b="1" dirty="0"/>
                  <a:t>, x</a:t>
                </a:r>
                <a:r>
                  <a:rPr lang="tr-TR" sz="2600" b="1" baseline="-25000" dirty="0"/>
                  <a:t>2</a:t>
                </a:r>
                <a:r>
                  <a:rPr lang="tr-TR" sz="2600" b="1" dirty="0"/>
                  <a:t>] = [40, 0]</a:t>
                </a:r>
                <a:endParaRPr lang="tr-TR" sz="2600" dirty="0"/>
              </a:p>
              <a:p>
                <a:pPr marL="0" indent="0">
                  <a:buNone/>
                </a:pPr>
                <a:endParaRPr lang="tr-TR" sz="2600" dirty="0"/>
              </a:p>
              <a:p>
                <a:pPr lvl="1"/>
                <a:r>
                  <a:rPr lang="en-US" sz="2600" dirty="0"/>
                  <a:t>this solution is feasible since it satisfies all constraints.</a:t>
                </a:r>
              </a:p>
              <a:p>
                <a:pPr lvl="1"/>
                <a:r>
                  <a:rPr lang="en-US" sz="2600" dirty="0"/>
                  <a:t>the objective function value:</a:t>
                </a:r>
                <a:endParaRPr lang="tr-TR" sz="2600" dirty="0"/>
              </a:p>
              <a:p>
                <a:pPr lvl="4"/>
                <a:endParaRPr lang="tr-TR" sz="1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/>
                        </a:rPr>
                        <m:t>𝑧</m:t>
                      </m:r>
                      <m:r>
                        <a:rPr lang="tr-TR" sz="2400" i="1">
                          <a:latin typeface="Cambria Math"/>
                        </a:rPr>
                        <m:t>=3000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24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sz="2400" i="1" dirty="0">
                          <a:latin typeface="Cambria Math"/>
                        </a:rPr>
                        <m:t>+ 2000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24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i="1">
                          <a:latin typeface="Cambria Math"/>
                        </a:rPr>
                        <m:t>=1</m:t>
                      </m:r>
                      <m:r>
                        <a:rPr lang="tr-TR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tr-TR" sz="2400" i="1">
                          <a:latin typeface="Cambria Math"/>
                        </a:rPr>
                        <m:t>0,000</m:t>
                      </m:r>
                    </m:oMath>
                  </m:oMathPara>
                </a14:m>
                <a:endParaRPr lang="en-US" sz="2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458200" cy="4419600"/>
              </a:xfrm>
              <a:blipFill>
                <a:blip r:embed="rId2"/>
                <a:stretch>
                  <a:fillRect l="-1657" t="-1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531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458200" cy="4876800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1</a:t>
                </a:r>
                <a:r>
                  <a:rPr lang="tr-TR" i="1" dirty="0"/>
                  <a:t>0</a:t>
                </a:r>
                <a:r>
                  <a:rPr lang="en-US" i="1" dirty="0"/>
                  <a:t>:</a:t>
                </a:r>
              </a:p>
              <a:p>
                <a:pPr lvl="1"/>
                <a:r>
                  <a:rPr lang="en-US" sz="2600" dirty="0"/>
                  <a:t>constraint </a:t>
                </a:r>
                <a:r>
                  <a:rPr lang="tr-TR" sz="2600" b="1" dirty="0"/>
                  <a:t>4</a:t>
                </a:r>
                <a:r>
                  <a:rPr lang="en-US" sz="2600" b="1" dirty="0"/>
                  <a:t> </a:t>
                </a:r>
                <a:r>
                  <a:rPr lang="en-US" sz="2600" dirty="0"/>
                  <a:t>and constraint </a:t>
                </a:r>
                <a:r>
                  <a:rPr lang="tr-TR" sz="2600" b="1" dirty="0"/>
                  <a:t>5</a:t>
                </a:r>
                <a:r>
                  <a:rPr lang="en-US" sz="2600" dirty="0"/>
                  <a:t>:</a:t>
                </a:r>
                <a:endParaRPr lang="tr-TR" sz="2600" dirty="0"/>
              </a:p>
              <a:p>
                <a:pPr lvl="1"/>
                <a:r>
                  <a:rPr lang="tr-TR" sz="2600" b="1" dirty="0"/>
                  <a:t>[x</a:t>
                </a:r>
                <a:r>
                  <a:rPr lang="tr-TR" sz="2600" b="1" baseline="-25000" dirty="0"/>
                  <a:t>1</a:t>
                </a:r>
                <a:r>
                  <a:rPr lang="tr-TR" sz="2600" b="1" dirty="0"/>
                  <a:t>, x</a:t>
                </a:r>
                <a:r>
                  <a:rPr lang="tr-TR" sz="2600" b="1" baseline="-25000" dirty="0"/>
                  <a:t>2</a:t>
                </a:r>
                <a:r>
                  <a:rPr lang="tr-TR" sz="2600" b="1" dirty="0"/>
                  <a:t>] = [0, 0]</a:t>
                </a:r>
                <a:endParaRPr lang="tr-TR" sz="2600" dirty="0"/>
              </a:p>
              <a:p>
                <a:pPr marL="1828800" lvl="4" indent="0">
                  <a:buNone/>
                </a:pPr>
                <a:endParaRPr lang="tr-TR" sz="2600" dirty="0"/>
              </a:p>
              <a:p>
                <a:pPr lvl="1"/>
                <a:r>
                  <a:rPr lang="en-US" sz="2600" dirty="0"/>
                  <a:t>this solution is feasible since it satisfies all constraints.</a:t>
                </a:r>
              </a:p>
              <a:p>
                <a:pPr lvl="1"/>
                <a:r>
                  <a:rPr lang="en-US" sz="2600" dirty="0"/>
                  <a:t>the objective function value:</a:t>
                </a:r>
                <a:endParaRPr lang="tr-TR" sz="2600" dirty="0"/>
              </a:p>
              <a:p>
                <a:pPr lvl="4"/>
                <a:endParaRPr lang="tr-TR" sz="1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>
                          <a:latin typeface="Cambria Math"/>
                        </a:rPr>
                        <m:t>𝑧</m:t>
                      </m:r>
                      <m:r>
                        <a:rPr lang="tr-TR" sz="2400" i="1">
                          <a:latin typeface="Cambria Math"/>
                        </a:rPr>
                        <m:t>=3000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24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sz="2400" i="1" dirty="0">
                          <a:latin typeface="Cambria Math"/>
                        </a:rPr>
                        <m:t>+ 2000  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24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400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sz="24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458200" cy="4876800"/>
              </a:xfrm>
              <a:blipFill>
                <a:blip r:embed="rId2"/>
                <a:stretch>
                  <a:fillRect l="-1657" t="-1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361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Example: Summary of Solutions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600200"/>
            <a:ext cx="6031342" cy="443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2"/>
          <p:cNvSpPr/>
          <p:nvPr/>
        </p:nvSpPr>
        <p:spPr>
          <a:xfrm>
            <a:off x="1066800" y="3581400"/>
            <a:ext cx="6705600" cy="533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16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ED4C189D-BDFE-4396-970F-5D7218EBAA16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33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4572000" cy="115345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US" sz="4000" dirty="0">
                <a:solidFill>
                  <a:srgbClr val="FF0000"/>
                </a:solidFill>
              </a:rPr>
              <a:t>Example: </a:t>
            </a:r>
            <a:br>
              <a:rPr lang="en-US" sz="4000" dirty="0">
                <a:solidFill>
                  <a:srgbClr val="FF0000"/>
                </a:solidFill>
              </a:rPr>
            </a:br>
            <a:r>
              <a:rPr lang="en-US" sz="4000" dirty="0">
                <a:solidFill>
                  <a:srgbClr val="FF0000"/>
                </a:solidFill>
              </a:rPr>
              <a:t>Summary of Solutions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756" y="4432300"/>
            <a:ext cx="331335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Freeform 6143">
            <a:extLst>
              <a:ext uri="{FF2B5EF4-FFF2-40B4-BE49-F238E27FC236}">
                <a16:creationId xmlns:a16="http://schemas.microsoft.com/office/drawing/2014/main" id="{B8223498-21DC-417A-896D-5C0B2FCBA49C}"/>
              </a:ext>
            </a:extLst>
          </p:cNvPr>
          <p:cNvSpPr/>
          <p:nvPr/>
        </p:nvSpPr>
        <p:spPr>
          <a:xfrm>
            <a:off x="328328" y="4152899"/>
            <a:ext cx="1699947" cy="2114512"/>
          </a:xfrm>
          <a:custGeom>
            <a:avLst/>
            <a:gdLst>
              <a:gd name="connsiteX0" fmla="*/ 0 w 1781175"/>
              <a:gd name="connsiteY0" fmla="*/ 2133600 h 2152650"/>
              <a:gd name="connsiteX1" fmla="*/ 0 w 1781175"/>
              <a:gd name="connsiteY1" fmla="*/ 0 h 2152650"/>
              <a:gd name="connsiteX2" fmla="*/ 1266825 w 1781175"/>
              <a:gd name="connsiteY2" fmla="*/ 781050 h 2152650"/>
              <a:gd name="connsiteX3" fmla="*/ 1781175 w 1781175"/>
              <a:gd name="connsiteY3" fmla="*/ 1285875 h 2152650"/>
              <a:gd name="connsiteX4" fmla="*/ 1771650 w 1781175"/>
              <a:gd name="connsiteY4" fmla="*/ 2152650 h 2152650"/>
              <a:gd name="connsiteX5" fmla="*/ 0 w 1781175"/>
              <a:gd name="connsiteY5" fmla="*/ 2133600 h 2152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81175" h="2152650">
                <a:moveTo>
                  <a:pt x="0" y="2133600"/>
                </a:moveTo>
                <a:lnTo>
                  <a:pt x="0" y="0"/>
                </a:lnTo>
                <a:lnTo>
                  <a:pt x="1266825" y="781050"/>
                </a:lnTo>
                <a:lnTo>
                  <a:pt x="1781175" y="1285875"/>
                </a:lnTo>
                <a:lnTo>
                  <a:pt x="1771650" y="2152650"/>
                </a:lnTo>
                <a:lnTo>
                  <a:pt x="0" y="2133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3F08F8-5B79-4B69-A816-6E92FC84EA39}"/>
              </a:ext>
            </a:extLst>
          </p:cNvPr>
          <p:cNvCxnSpPr/>
          <p:nvPr/>
        </p:nvCxnSpPr>
        <p:spPr>
          <a:xfrm>
            <a:off x="304800" y="2628900"/>
            <a:ext cx="0" cy="365760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29AA4B8-8E4A-4AB1-8D56-0F27F36BF4BD}"/>
              </a:ext>
            </a:extLst>
          </p:cNvPr>
          <p:cNvCxnSpPr/>
          <p:nvPr/>
        </p:nvCxnSpPr>
        <p:spPr>
          <a:xfrm>
            <a:off x="304800" y="6286500"/>
            <a:ext cx="3733800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B8D9F2-495A-4AD1-B3E6-D48E6AC502C9}"/>
              </a:ext>
            </a:extLst>
          </p:cNvPr>
          <p:cNvSpPr txBox="1"/>
          <p:nvPr/>
        </p:nvSpPr>
        <p:spPr>
          <a:xfrm>
            <a:off x="457200" y="6400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7A613-A7F7-4482-B34C-1802DD3D761C}"/>
              </a:ext>
            </a:extLst>
          </p:cNvPr>
          <p:cNvSpPr txBox="1"/>
          <p:nvPr/>
        </p:nvSpPr>
        <p:spPr>
          <a:xfrm>
            <a:off x="304800" y="6324600"/>
            <a:ext cx="5105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    10    20    30    40    50    60    70    80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5B4549-BEEC-40A7-A46E-18CD87E2E942}"/>
              </a:ext>
            </a:extLst>
          </p:cNvPr>
          <p:cNvCxnSpPr/>
          <p:nvPr/>
        </p:nvCxnSpPr>
        <p:spPr>
          <a:xfrm>
            <a:off x="2057400" y="2857500"/>
            <a:ext cx="0" cy="365760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CCD9E0-B0DB-4B97-8651-62179C437B68}"/>
              </a:ext>
            </a:extLst>
          </p:cNvPr>
          <p:cNvCxnSpPr/>
          <p:nvPr/>
        </p:nvCxnSpPr>
        <p:spPr>
          <a:xfrm>
            <a:off x="76200" y="3467100"/>
            <a:ext cx="3124200" cy="304800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9256FDC-6AFC-4322-91F2-0296662C4173}"/>
              </a:ext>
            </a:extLst>
          </p:cNvPr>
          <p:cNvCxnSpPr/>
          <p:nvPr/>
        </p:nvCxnSpPr>
        <p:spPr>
          <a:xfrm>
            <a:off x="76200" y="4000500"/>
            <a:ext cx="4191000" cy="259080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533EEC7-C72B-4DFB-BA63-51144EE82419}"/>
              </a:ext>
            </a:extLst>
          </p:cNvPr>
          <p:cNvSpPr/>
          <p:nvPr/>
        </p:nvSpPr>
        <p:spPr>
          <a:xfrm>
            <a:off x="228600" y="4076700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C93D459-5B51-42E4-80A1-16D2C378E153}"/>
              </a:ext>
            </a:extLst>
          </p:cNvPr>
          <p:cNvSpPr/>
          <p:nvPr/>
        </p:nvSpPr>
        <p:spPr>
          <a:xfrm>
            <a:off x="1981200" y="6210300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55BECF6-EF56-465E-82C3-E5F7D0782A6A}"/>
              </a:ext>
            </a:extLst>
          </p:cNvPr>
          <p:cNvSpPr/>
          <p:nvPr/>
        </p:nvSpPr>
        <p:spPr>
          <a:xfrm>
            <a:off x="1485900" y="4838701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2DA9476-6833-42EB-86F4-892AB6AB8A7A}"/>
              </a:ext>
            </a:extLst>
          </p:cNvPr>
          <p:cNvSpPr/>
          <p:nvPr/>
        </p:nvSpPr>
        <p:spPr>
          <a:xfrm>
            <a:off x="1981200" y="5372100"/>
            <a:ext cx="152400" cy="15239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CB30F0F-B044-4066-A5C0-61CC26E4ABAB}"/>
              </a:ext>
            </a:extLst>
          </p:cNvPr>
          <p:cNvSpPr/>
          <p:nvPr/>
        </p:nvSpPr>
        <p:spPr>
          <a:xfrm>
            <a:off x="228600" y="6210300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0CE3E6-99D0-40A1-B6B7-CC9E59F232F5}"/>
              </a:ext>
            </a:extLst>
          </p:cNvPr>
          <p:cNvSpPr txBox="1"/>
          <p:nvPr/>
        </p:nvSpPr>
        <p:spPr>
          <a:xfrm>
            <a:off x="357453" y="6001405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(0,0)</a:t>
            </a:r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2539B8-87BA-4A4B-8D49-55C31A839E50}"/>
              </a:ext>
            </a:extLst>
          </p:cNvPr>
          <p:cNvSpPr txBox="1"/>
          <p:nvPr/>
        </p:nvSpPr>
        <p:spPr>
          <a:xfrm>
            <a:off x="1178302" y="4991100"/>
            <a:ext cx="5950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(30,30)</a:t>
            </a:r>
            <a:endParaRPr 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F8FFF4-40F2-401F-B85C-CCEA585CD508}"/>
              </a:ext>
            </a:extLst>
          </p:cNvPr>
          <p:cNvSpPr txBox="1"/>
          <p:nvPr/>
        </p:nvSpPr>
        <p:spPr>
          <a:xfrm>
            <a:off x="1534500" y="6034415"/>
            <a:ext cx="5229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(40,0)</a:t>
            </a:r>
            <a:endParaRPr lang="en-US" sz="11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F90999F-B035-461B-BE90-C3724C2CFBFB}"/>
              </a:ext>
            </a:extLst>
          </p:cNvPr>
          <p:cNvSpPr txBox="1"/>
          <p:nvPr/>
        </p:nvSpPr>
        <p:spPr>
          <a:xfrm>
            <a:off x="1576665" y="5524499"/>
            <a:ext cx="5950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(40,20)</a:t>
            </a:r>
            <a:endParaRPr lang="en-US" sz="11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C7AA44-7B7A-447E-B382-3CF6DF0B72DA}"/>
              </a:ext>
            </a:extLst>
          </p:cNvPr>
          <p:cNvSpPr txBox="1"/>
          <p:nvPr/>
        </p:nvSpPr>
        <p:spPr>
          <a:xfrm>
            <a:off x="288115" y="4310390"/>
            <a:ext cx="5229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(0,48)</a:t>
            </a:r>
            <a:endParaRPr lang="en-US" sz="11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2CE7032-5807-4C00-91B8-FD32A201C02F}"/>
              </a:ext>
            </a:extLst>
          </p:cNvPr>
          <p:cNvCxnSpPr/>
          <p:nvPr/>
        </p:nvCxnSpPr>
        <p:spPr>
          <a:xfrm flipH="1" flipV="1">
            <a:off x="277238" y="2362556"/>
            <a:ext cx="51090" cy="384774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40C6F25-C615-46B6-9731-F0B50F0D13AD}"/>
              </a:ext>
            </a:extLst>
          </p:cNvPr>
          <p:cNvCxnSpPr/>
          <p:nvPr/>
        </p:nvCxnSpPr>
        <p:spPr>
          <a:xfrm>
            <a:off x="310365" y="6267410"/>
            <a:ext cx="4343400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7E4E986-FDE6-41EC-A51A-340B8B55C86D}"/>
              </a:ext>
            </a:extLst>
          </p:cNvPr>
          <p:cNvSpPr txBox="1"/>
          <p:nvPr/>
        </p:nvSpPr>
        <p:spPr>
          <a:xfrm>
            <a:off x="4845513" y="6039452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x</a:t>
            </a:r>
            <a:r>
              <a:rPr lang="tr-TR" baseline="-25000" dirty="0"/>
              <a:t>1</a:t>
            </a:r>
            <a:endParaRPr lang="en-US" baseline="-25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F8580D-79A6-4611-ABDD-0B87A170A33E}"/>
              </a:ext>
            </a:extLst>
          </p:cNvPr>
          <p:cNvSpPr txBox="1"/>
          <p:nvPr/>
        </p:nvSpPr>
        <p:spPr>
          <a:xfrm>
            <a:off x="119866" y="2009731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/>
              <a:t>x</a:t>
            </a:r>
            <a:r>
              <a:rPr lang="tr-TR" baseline="-25000" dirty="0"/>
              <a:t>2</a:t>
            </a:r>
            <a:endParaRPr lang="en-US" baseline="-25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E741779-068C-41FE-AB4D-0CBAB20DAE61}"/>
              </a:ext>
            </a:extLst>
          </p:cNvPr>
          <p:cNvSpPr txBox="1"/>
          <p:nvPr/>
        </p:nvSpPr>
        <p:spPr>
          <a:xfrm>
            <a:off x="2805774" y="3579910"/>
            <a:ext cx="1461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FEASIBLE REGION</a:t>
            </a:r>
            <a:endParaRPr lang="en-US" sz="14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EBAE008-5B45-4264-853F-B9876CA74F85}"/>
              </a:ext>
            </a:extLst>
          </p:cNvPr>
          <p:cNvCxnSpPr>
            <a:stCxn id="30" idx="2"/>
          </p:cNvCxnSpPr>
          <p:nvPr/>
        </p:nvCxnSpPr>
        <p:spPr>
          <a:xfrm flipH="1">
            <a:off x="1256571" y="3887687"/>
            <a:ext cx="2279916" cy="188002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18B7C8C-07AB-4E41-B161-10D6C58BE890}"/>
              </a:ext>
            </a:extLst>
          </p:cNvPr>
          <p:cNvSpPr txBox="1"/>
          <p:nvPr/>
        </p:nvSpPr>
        <p:spPr>
          <a:xfrm>
            <a:off x="4495800" y="4229099"/>
            <a:ext cx="12638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>
                <a:solidFill>
                  <a:srgbClr val="0070C0"/>
                </a:solidFill>
              </a:rPr>
              <a:t>CONSTRAINT 1</a:t>
            </a:r>
            <a:endParaRPr lang="en-US" sz="1400" dirty="0">
              <a:solidFill>
                <a:srgbClr val="0070C0"/>
              </a:solidFill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5CCB648-A769-4B4A-AF7D-617F1EF32CC1}"/>
              </a:ext>
            </a:extLst>
          </p:cNvPr>
          <p:cNvCxnSpPr/>
          <p:nvPr/>
        </p:nvCxnSpPr>
        <p:spPr>
          <a:xfrm flipH="1">
            <a:off x="3200400" y="4572000"/>
            <a:ext cx="1645113" cy="1308527"/>
          </a:xfrm>
          <a:prstGeom prst="straightConnector1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C8702B5-FB60-49A4-B48A-4B028EC7C541}"/>
              </a:ext>
            </a:extLst>
          </p:cNvPr>
          <p:cNvSpPr txBox="1"/>
          <p:nvPr/>
        </p:nvSpPr>
        <p:spPr>
          <a:xfrm>
            <a:off x="670205" y="2703611"/>
            <a:ext cx="12638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>
                <a:solidFill>
                  <a:srgbClr val="00B050"/>
                </a:solidFill>
              </a:rPr>
              <a:t>CONSTRAINT 2</a:t>
            </a:r>
            <a:endParaRPr lang="en-US" sz="1400" dirty="0">
              <a:solidFill>
                <a:srgbClr val="00B050"/>
              </a:solidFill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3FB178B-B33E-4CEF-9A16-E4695066FDFC}"/>
              </a:ext>
            </a:extLst>
          </p:cNvPr>
          <p:cNvCxnSpPr/>
          <p:nvPr/>
        </p:nvCxnSpPr>
        <p:spPr>
          <a:xfrm flipH="1">
            <a:off x="479585" y="3011388"/>
            <a:ext cx="822556" cy="856860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045CAE9-7343-4A15-B6BC-C07893A58457}"/>
              </a:ext>
            </a:extLst>
          </p:cNvPr>
          <p:cNvSpPr txBox="1"/>
          <p:nvPr/>
        </p:nvSpPr>
        <p:spPr>
          <a:xfrm>
            <a:off x="2568464" y="2129820"/>
            <a:ext cx="12638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>
                <a:solidFill>
                  <a:srgbClr val="FFC000"/>
                </a:solidFill>
              </a:rPr>
              <a:t>CONSTRAINT 3</a:t>
            </a:r>
            <a:endParaRPr lang="en-US" sz="1400" dirty="0">
              <a:solidFill>
                <a:srgbClr val="FFC000"/>
              </a:solidFill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D36A441-B5DD-4EE9-8D3D-BF46DFA23E8F}"/>
              </a:ext>
            </a:extLst>
          </p:cNvPr>
          <p:cNvCxnSpPr/>
          <p:nvPr/>
        </p:nvCxnSpPr>
        <p:spPr>
          <a:xfrm flipH="1">
            <a:off x="2143171" y="2362556"/>
            <a:ext cx="822556" cy="856860"/>
          </a:xfrm>
          <a:prstGeom prst="straightConnector1">
            <a:avLst/>
          </a:prstGeom>
          <a:ln w="19050">
            <a:solidFill>
              <a:srgbClr val="FFC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CEDB2B2F-6B2D-4744-92C9-6F127A04C28C}"/>
              </a:ext>
            </a:extLst>
          </p:cNvPr>
          <p:cNvSpPr/>
          <p:nvPr/>
        </p:nvSpPr>
        <p:spPr>
          <a:xfrm>
            <a:off x="5855756" y="5519167"/>
            <a:ext cx="3288244" cy="24854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2E5668-7BEE-4A2F-ACD3-0C0484773B73}"/>
              </a:ext>
            </a:extLst>
          </p:cNvPr>
          <p:cNvSpPr/>
          <p:nvPr/>
        </p:nvSpPr>
        <p:spPr>
          <a:xfrm>
            <a:off x="5772675" y="0"/>
            <a:ext cx="3371325" cy="255919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B013DCC-527E-4783-AF5C-7760DC12DB9F}"/>
                  </a:ext>
                </a:extLst>
              </p:cNvPr>
              <p:cNvSpPr/>
              <p:nvPr/>
            </p:nvSpPr>
            <p:spPr>
              <a:xfrm>
                <a:off x="5861866" y="198096"/>
                <a:ext cx="3282134" cy="22294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  <a:spcBef>
                    <a:spcPts val="1200"/>
                  </a:spcBef>
                </a:pPr>
                <a:r>
                  <a:rPr lang="tr-TR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tr-TR" sz="1600" dirty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tr-TR" sz="1600" b="0" i="0" dirty="0" smtClean="0">
                        <a:latin typeface="Cambria Math" panose="02040503050406030204" pitchFamily="18" charset="0"/>
                      </a:rPr>
                      <m:t>imize</m:t>
                    </m:r>
                    <m:r>
                      <a:rPr lang="tr-TR" sz="16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600" i="1" dirty="0">
                        <a:latin typeface="Cambria Math" panose="02040503050406030204" pitchFamily="18" charset="0"/>
                      </a:rPr>
                      <m:t>3000  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600" i="1" dirty="0">
                        <a:latin typeface="Cambria Math" panose="02040503050406030204" pitchFamily="18" charset="0"/>
                      </a:rPr>
                      <m:t>+ 2000 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fr-FR" sz="1600" dirty="0">
                  <a:cs typeface="Arial" panose="020B0604020202020204" pitchFamily="34" charset="0"/>
                </a:endParaRP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AutoNum type="arabicPeriod"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6 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+     10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≤480</m:t>
                    </m:r>
                  </m:oMath>
                </a14:m>
                <a:endParaRPr lang="tr-TR" sz="16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AutoNum type="arabicPeriod"/>
                </a:pP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8 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+       8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≤480</m:t>
                    </m:r>
                  </m:oMath>
                </a14:m>
                <a:endParaRPr lang="tr-TR" sz="16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                      ≤40</m:t>
                    </m:r>
                  </m:oMath>
                </a14:m>
                <a:endParaRPr lang="tr-TR" sz="1600" dirty="0"/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AutoNum type="arabicPeriod"/>
                </a:pPr>
                <a:r>
                  <a:rPr lang="tr-TR" sz="160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tr-TR" sz="16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lnSpc>
                    <a:spcPct val="120000"/>
                  </a:lnSpc>
                  <a:spcBef>
                    <a:spcPts val="600"/>
                  </a:spcBef>
                  <a:buAutoNum type="arabicPeriod"/>
                </a:pP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                      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 dirty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tr-TR" sz="1600" dirty="0"/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B013DCC-527E-4783-AF5C-7760DC12DB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1866" y="198096"/>
                <a:ext cx="3282134" cy="2229456"/>
              </a:xfrm>
              <a:prstGeom prst="rect">
                <a:avLst/>
              </a:prstGeom>
              <a:blipFill>
                <a:blip r:embed="rId3"/>
                <a:stretch>
                  <a:fillRect l="-1115" b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583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Paint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 paint company produces two types of paints from two raw</a:t>
            </a:r>
            <a:r>
              <a:rPr lang="tr-TR" dirty="0"/>
              <a:t> </a:t>
            </a:r>
            <a:r>
              <a:rPr lang="en-US" dirty="0"/>
              <a:t>materials.</a:t>
            </a:r>
          </a:p>
          <a:p>
            <a:r>
              <a:rPr lang="en-US" dirty="0"/>
              <a:t>Paint 1 requires 6 tons of raw material 1 per ton.</a:t>
            </a:r>
          </a:p>
          <a:p>
            <a:r>
              <a:rPr lang="en-US" dirty="0"/>
              <a:t>Paint 1 requires 1 ton of raw material 2 per ton.</a:t>
            </a:r>
          </a:p>
          <a:p>
            <a:r>
              <a:rPr lang="en-US" dirty="0"/>
              <a:t>Paint 2 requires 4 tons of raw material 1 per ton.</a:t>
            </a:r>
          </a:p>
          <a:p>
            <a:r>
              <a:rPr lang="en-US" dirty="0"/>
              <a:t>Paint 2 requires 2 tons of raw material 2 per ton.</a:t>
            </a:r>
          </a:p>
          <a:p>
            <a:r>
              <a:rPr lang="en-US" dirty="0"/>
              <a:t>A total of 24 tons of raw material 1 is available.</a:t>
            </a:r>
          </a:p>
          <a:p>
            <a:r>
              <a:rPr lang="en-US" dirty="0"/>
              <a:t>A total of 6 tons of raw material 2 is available.</a:t>
            </a:r>
          </a:p>
          <a:p>
            <a:r>
              <a:rPr lang="en-US" dirty="0"/>
              <a:t>Maximum daily sales for paint 2 is 2 tons per day.</a:t>
            </a:r>
          </a:p>
          <a:p>
            <a:r>
              <a:rPr lang="en-US" dirty="0"/>
              <a:t>The daily sales for paint 2 cannot exceed that of paint 1 by</a:t>
            </a:r>
            <a:r>
              <a:rPr lang="tr-TR" dirty="0"/>
              <a:t> </a:t>
            </a:r>
            <a:r>
              <a:rPr lang="en-US" dirty="0"/>
              <a:t>more than 1 ton.</a:t>
            </a:r>
          </a:p>
          <a:p>
            <a:r>
              <a:rPr lang="en-US" dirty="0"/>
              <a:t>Each ton of paint 1 contributes 5,000 TL to profit.</a:t>
            </a:r>
          </a:p>
          <a:p>
            <a:r>
              <a:rPr lang="en-US" dirty="0"/>
              <a:t>Each ton of paint 2 contributes 4,000 TL to profit.</a:t>
            </a:r>
          </a:p>
        </p:txBody>
      </p:sp>
    </p:spTree>
    <p:extLst>
      <p:ext uri="{BB962C8B-B14F-4D97-AF65-F5344CB8AC3E}">
        <p14:creationId xmlns:p14="http://schemas.microsoft.com/office/powerpoint/2010/main" val="182995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Process Diagram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Process</a:t>
            </a:r>
            <a:r>
              <a:rPr lang="tr-TR" dirty="0"/>
              <a:t> </a:t>
            </a:r>
            <a:r>
              <a:rPr lang="tr-TR" dirty="0" err="1"/>
              <a:t>Flow</a:t>
            </a:r>
            <a:r>
              <a:rPr lang="tr-TR" dirty="0"/>
              <a:t> </a:t>
            </a:r>
            <a:r>
              <a:rPr lang="tr-TR" dirty="0" err="1"/>
              <a:t>Diagram</a:t>
            </a:r>
            <a:r>
              <a:rPr lang="tr-TR" dirty="0"/>
              <a:t>:</a:t>
            </a:r>
          </a:p>
          <a:p>
            <a:endParaRPr lang="tr-TR" dirty="0"/>
          </a:p>
          <a:p>
            <a:endParaRPr lang="tr-TR" sz="2800" dirty="0"/>
          </a:p>
          <a:p>
            <a:endParaRPr lang="tr-TR" sz="1000" dirty="0"/>
          </a:p>
          <a:p>
            <a:endParaRPr lang="tr-TR" sz="800" dirty="0"/>
          </a:p>
          <a:p>
            <a:r>
              <a:rPr lang="tr-TR" dirty="0"/>
              <a:t>Problem Data: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080573"/>
            <a:ext cx="5657984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196699"/>
            <a:ext cx="4419600" cy="205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27810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Guidelines for 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a verbal description of the objective</a:t>
            </a:r>
          </a:p>
          <a:p>
            <a:r>
              <a:rPr lang="en-US" dirty="0"/>
              <a:t>Write a verbal description of each constraints</a:t>
            </a:r>
          </a:p>
          <a:p>
            <a:r>
              <a:rPr lang="en-US" dirty="0"/>
              <a:t>Define the decision variables</a:t>
            </a:r>
          </a:p>
          <a:p>
            <a:r>
              <a:rPr lang="en-US" dirty="0"/>
              <a:t>Express the objective in terms of the decision variables</a:t>
            </a:r>
          </a:p>
          <a:p>
            <a:r>
              <a:rPr lang="en-US" dirty="0"/>
              <a:t>Express the constraints in terms of the decision variables</a:t>
            </a:r>
          </a:p>
        </p:txBody>
      </p:sp>
    </p:spTree>
    <p:extLst>
      <p:ext uri="{BB962C8B-B14F-4D97-AF65-F5344CB8AC3E}">
        <p14:creationId xmlns:p14="http://schemas.microsoft.com/office/powerpoint/2010/main" val="39261160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Example: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What could be a proper objective for this problem?</a:t>
            </a:r>
          </a:p>
          <a:p>
            <a:r>
              <a:rPr lang="en-US" dirty="0"/>
              <a:t>Review the facts:</a:t>
            </a:r>
          </a:p>
          <a:p>
            <a:pPr marL="857250" lvl="1" indent="-457200">
              <a:buFont typeface="Wingdings" panose="05000000000000000000" pitchFamily="2" charset="2"/>
              <a:buChar char="§"/>
            </a:pPr>
            <a:r>
              <a:rPr lang="en-US" dirty="0"/>
              <a:t>the factory produces two types of paints,</a:t>
            </a:r>
            <a:endParaRPr lang="tr-TR" dirty="0"/>
          </a:p>
          <a:p>
            <a:pPr marL="857250" lvl="1" indent="-457200">
              <a:buFont typeface="Wingdings" panose="05000000000000000000" pitchFamily="2" charset="2"/>
              <a:buChar char="§"/>
            </a:pPr>
            <a:r>
              <a:rPr lang="en-US" dirty="0"/>
              <a:t>two types of ingredients are required for production,</a:t>
            </a:r>
            <a:endParaRPr lang="tr-TR" dirty="0"/>
          </a:p>
          <a:p>
            <a:pPr marL="857250" lvl="1" indent="-457200">
              <a:buFont typeface="Wingdings" panose="05000000000000000000" pitchFamily="2" charset="2"/>
              <a:buChar char="§"/>
            </a:pPr>
            <a:r>
              <a:rPr lang="en-US" dirty="0"/>
              <a:t>the factory exists (survives) by making profit.</a:t>
            </a:r>
          </a:p>
          <a:p>
            <a:pPr marL="400050" lvl="1" indent="0">
              <a:buNone/>
            </a:pPr>
            <a:endParaRPr lang="en-US" dirty="0"/>
          </a:p>
          <a:p>
            <a:r>
              <a:rPr lang="en-US" b="1" dirty="0"/>
              <a:t>Objective: </a:t>
            </a:r>
            <a:r>
              <a:rPr lang="en-US" i="1" dirty="0"/>
              <a:t>maximize the total daily profit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35901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Example: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Raw Material 1</a:t>
            </a:r>
            <a:r>
              <a:rPr lang="en-US" dirty="0"/>
              <a:t>:</a:t>
            </a:r>
            <a:endParaRPr lang="tr-T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paint 1 and paint 2 requires raw material 1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maximum daily availability of raw material 1 is limited to</a:t>
            </a:r>
            <a:r>
              <a:rPr lang="tr-TR" dirty="0"/>
              <a:t> </a:t>
            </a:r>
            <a:r>
              <a:rPr lang="en-US" dirty="0"/>
              <a:t>24 [ton/day]</a:t>
            </a:r>
          </a:p>
          <a:p>
            <a:r>
              <a:rPr lang="en-US" b="1" dirty="0"/>
              <a:t>Constraint 1</a:t>
            </a:r>
            <a:r>
              <a:rPr lang="en-US" dirty="0"/>
              <a:t>: </a:t>
            </a:r>
            <a:r>
              <a:rPr lang="en-US" i="1" dirty="0"/>
              <a:t>We can use a maximum of 24 tons of raw</a:t>
            </a:r>
            <a:r>
              <a:rPr lang="tr-TR" i="1" dirty="0"/>
              <a:t> </a:t>
            </a:r>
            <a:r>
              <a:rPr lang="en-US" i="1" dirty="0"/>
              <a:t>material 1.</a:t>
            </a:r>
            <a:endParaRPr lang="tr-TR" i="1" dirty="0"/>
          </a:p>
          <a:p>
            <a:endParaRPr lang="en-US" i="1" dirty="0"/>
          </a:p>
          <a:p>
            <a:r>
              <a:rPr lang="en-US" b="1" dirty="0"/>
              <a:t>Raw Material 2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paint 1 and paint 2 requires raw material 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the maximum daily availability of raw material 2 is limited to 6</a:t>
            </a:r>
            <a:r>
              <a:rPr lang="tr-TR" dirty="0"/>
              <a:t> </a:t>
            </a:r>
            <a:r>
              <a:rPr lang="en-US" dirty="0"/>
              <a:t>[ton/day]</a:t>
            </a:r>
          </a:p>
          <a:p>
            <a:r>
              <a:rPr lang="en-US" b="1" dirty="0"/>
              <a:t>Constraint 2</a:t>
            </a:r>
            <a:r>
              <a:rPr lang="en-US" dirty="0"/>
              <a:t>: </a:t>
            </a:r>
            <a:r>
              <a:rPr lang="en-US" i="1" dirty="0"/>
              <a:t>We can use a maximum of 6 tons of raw</a:t>
            </a:r>
            <a:r>
              <a:rPr lang="tr-TR" i="1" dirty="0"/>
              <a:t> </a:t>
            </a:r>
            <a:r>
              <a:rPr lang="en-US" i="1" dirty="0"/>
              <a:t>material 2.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1910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Example: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Sales Limit on Paint 2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sales of paint 2 to is limited to 2 tons a day</a:t>
            </a:r>
          </a:p>
          <a:p>
            <a:r>
              <a:rPr lang="tr-TR" b="1" dirty="0"/>
              <a:t>C</a:t>
            </a:r>
            <a:r>
              <a:rPr lang="en-US" b="1" dirty="0" err="1"/>
              <a:t>onstraint</a:t>
            </a:r>
            <a:r>
              <a:rPr lang="en-US" b="1" dirty="0"/>
              <a:t> 3</a:t>
            </a:r>
            <a:r>
              <a:rPr lang="en-US" dirty="0"/>
              <a:t>: </a:t>
            </a:r>
            <a:r>
              <a:rPr lang="en-US" i="1" dirty="0"/>
              <a:t>It is not possible to sell more than 2 tons of paint</a:t>
            </a:r>
            <a:r>
              <a:rPr lang="tr-TR" i="1" dirty="0"/>
              <a:t> </a:t>
            </a:r>
            <a:r>
              <a:rPr lang="en-US" i="1" dirty="0"/>
              <a:t>2 a day.</a:t>
            </a:r>
            <a:endParaRPr lang="tr-TR" i="1" dirty="0"/>
          </a:p>
          <a:p>
            <a:endParaRPr lang="en-US" i="1" dirty="0"/>
          </a:p>
          <a:p>
            <a:r>
              <a:rPr lang="en-US" b="1" dirty="0"/>
              <a:t>Sales Limit on Paint 2 </a:t>
            </a:r>
            <a:r>
              <a:rPr lang="en-US" b="1" dirty="0" err="1"/>
              <a:t>wrt</a:t>
            </a:r>
            <a:r>
              <a:rPr lang="en-US" b="1" dirty="0"/>
              <a:t> the Sales of Paint 1</a:t>
            </a:r>
            <a:r>
              <a:rPr lang="en-US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sales of paint 2 cannot exceed that of paint 1 by 1 ton a day</a:t>
            </a:r>
          </a:p>
          <a:p>
            <a:r>
              <a:rPr lang="en-US" b="1" dirty="0"/>
              <a:t>Constraint 4</a:t>
            </a:r>
            <a:r>
              <a:rPr lang="en-US" dirty="0"/>
              <a:t>: </a:t>
            </a:r>
            <a:r>
              <a:rPr lang="en-US" i="1" dirty="0"/>
              <a:t>The sales of paint 2 cannot exceed that of paint</a:t>
            </a:r>
            <a:r>
              <a:rPr lang="tr-TR" i="1" dirty="0"/>
              <a:t> </a:t>
            </a:r>
            <a:r>
              <a:rPr lang="en-US" i="1" dirty="0"/>
              <a:t>1 by more than 1 ton.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931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Decision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to select decision variables?</a:t>
                </a:r>
              </a:p>
              <a:p>
                <a:r>
                  <a:rPr lang="en-US" dirty="0"/>
                  <a:t>Decision variables will be used to:</a:t>
                </a:r>
              </a:p>
              <a:p>
                <a:pPr marL="0" indent="0">
                  <a:buNone/>
                </a:pPr>
                <a:r>
                  <a:rPr lang="en-US" dirty="0"/>
                  <a:t>1. express the objective function</a:t>
                </a:r>
              </a:p>
              <a:p>
                <a:pPr marL="0" indent="0">
                  <a:buNone/>
                </a:pPr>
                <a:r>
                  <a:rPr lang="en-US" dirty="0"/>
                  <a:t>2. express the constraints</a:t>
                </a:r>
              </a:p>
              <a:p>
                <a:r>
                  <a:rPr lang="en-US" dirty="0"/>
                  <a:t>Remark: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objective function (total profit) is related to the tons of paint 1</a:t>
                </a:r>
                <a:r>
                  <a:rPr lang="tr-TR" dirty="0"/>
                  <a:t> </a:t>
                </a:r>
                <a:r>
                  <a:rPr lang="en-US" dirty="0"/>
                  <a:t>and paint 2 produced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producing paint 1 and/or paint 2 consumes raw material 2</a:t>
                </a:r>
                <a:r>
                  <a:rPr lang="tr-TR" dirty="0"/>
                  <a:t> </a:t>
                </a:r>
                <a:r>
                  <a:rPr lang="en-US" dirty="0"/>
                  <a:t>and raw material 1</a:t>
                </a:r>
              </a:p>
              <a:p>
                <a:r>
                  <a:rPr lang="en-US" b="1" dirty="0"/>
                  <a:t>Decision Variables </a:t>
                </a:r>
                <a:r>
                  <a:rPr lang="en-US" dirty="0"/>
                  <a:t>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: tons of paint 1 produced per day [ton/day]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: tons of paint 2 produced per day [ton/day]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85" t="-2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0149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Objective Function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b="1" dirty="0"/>
                  <a:t>Objective </a:t>
                </a:r>
                <a:r>
                  <a:rPr lang="en-US" dirty="0"/>
                  <a:t>: </a:t>
                </a:r>
                <a:r>
                  <a:rPr lang="en-US" i="1" dirty="0"/>
                  <a:t>maximize the total daily profit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Objective </a:t>
                </a:r>
                <a:r>
                  <a:rPr lang="en-US" dirty="0"/>
                  <a:t>: profit generated by producing paint 1</a:t>
                </a:r>
                <a:r>
                  <a:rPr lang="tr-TR" dirty="0"/>
                  <a:t> </a:t>
                </a:r>
                <a:r>
                  <a:rPr lang="en-US" dirty="0"/>
                  <a:t>+ profit generated by producing paint 2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profit generated by producing paint 1 [TL/day]:</a:t>
                </a:r>
                <a:r>
                  <a:rPr lang="tr-TR" dirty="0"/>
                  <a:t> </a:t>
                </a:r>
              </a:p>
              <a:p>
                <a:pPr marL="457200" lvl="1" indent="0">
                  <a:buNone/>
                </a:pPr>
                <a:r>
                  <a:rPr lang="tr-TR" dirty="0"/>
                  <a:t>	</a:t>
                </a:r>
                <a:r>
                  <a:rPr lang="en-US" dirty="0"/>
                  <a:t>profit per ton of paint 1 [TL/ton] × tons of paint 1 produced</a:t>
                </a:r>
                <a:r>
                  <a:rPr lang="tr-TR" dirty="0"/>
                  <a:t>   	</a:t>
                </a:r>
                <a:r>
                  <a:rPr lang="en-US" dirty="0"/>
                  <a:t>[ton/day]</a:t>
                </a:r>
              </a:p>
              <a:p>
                <a:pPr marL="0" indent="0">
                  <a:buNone/>
                </a:pPr>
                <a:r>
                  <a:rPr lang="tr-TR" dirty="0"/>
                  <a:t>	</a:t>
                </a:r>
                <a:r>
                  <a:rPr lang="en-US" dirty="0"/>
                  <a:t>5,000 [TL/ton] 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[ton/day] </a:t>
                </a:r>
                <a:r>
                  <a:rPr lang="tr-TR" dirty="0">
                    <a:sym typeface="Wingdings" pitchFamily="2" charset="2"/>
                  </a:rPr>
                  <a:t></a:t>
                </a:r>
                <a:r>
                  <a:rPr lang="en-US" dirty="0"/>
                  <a:t> [TL/day]</a:t>
                </a:r>
                <a:endParaRPr lang="tr-TR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profit generated by producing paint 2 [TL/day]:</a:t>
                </a:r>
              </a:p>
              <a:p>
                <a:pPr marL="0" indent="0">
                  <a:buNone/>
                </a:pPr>
                <a:r>
                  <a:rPr lang="tr-TR" dirty="0"/>
                  <a:t>	</a:t>
                </a:r>
                <a:r>
                  <a:rPr lang="en-US" dirty="0"/>
                  <a:t>profit per ton of paint 2 [TL/ton] × tons of paint 2 produced</a:t>
                </a:r>
              </a:p>
              <a:p>
                <a:pPr marL="0" indent="0">
                  <a:buNone/>
                </a:pPr>
                <a:r>
                  <a:rPr lang="tr-TR" dirty="0"/>
                  <a:t>	</a:t>
                </a:r>
                <a:r>
                  <a:rPr lang="en-US" dirty="0"/>
                  <a:t>[ton/day]</a:t>
                </a:r>
              </a:p>
              <a:p>
                <a:pPr marL="0" indent="0">
                  <a:buNone/>
                </a:pPr>
                <a:r>
                  <a:rPr lang="tr-TR" dirty="0"/>
                  <a:t>	</a:t>
                </a:r>
                <a:r>
                  <a:rPr lang="en-US"/>
                  <a:t>4,000 </a:t>
                </a:r>
                <a:r>
                  <a:rPr lang="en-US" dirty="0"/>
                  <a:t>[TL/ton] 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[ton/day] </a:t>
                </a:r>
                <a:r>
                  <a:rPr lang="tr-TR" dirty="0">
                    <a:sym typeface="Wingdings" pitchFamily="2" charset="2"/>
                  </a:rPr>
                  <a:t></a:t>
                </a:r>
                <a:r>
                  <a:rPr lang="en-US" dirty="0"/>
                  <a:t> [TL/day]</a:t>
                </a:r>
                <a:endParaRPr lang="tr-TR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1" dirty="0"/>
                  <a:t>Objective </a:t>
                </a:r>
                <a:r>
                  <a:rPr lang="en-US" dirty="0"/>
                  <a:t>: </a:t>
                </a:r>
                <a:r>
                  <a:rPr lang="en-US" i="1" dirty="0"/>
                  <a:t>maximize </a:t>
                </a:r>
                <a:r>
                  <a:rPr lang="en-US" dirty="0"/>
                  <a:t>5,000 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+ 4,000 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[TL/day]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t="-2291" r="-1037" b="-1617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79953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Constraint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b="1" dirty="0"/>
                  <a:t>Constraint 1 </a:t>
                </a:r>
                <a:r>
                  <a:rPr lang="en-US" dirty="0"/>
                  <a:t>: </a:t>
                </a:r>
                <a:r>
                  <a:rPr lang="en-US" i="1" dirty="0"/>
                  <a:t>We can use a maximum of 24 tons of raw</a:t>
                </a:r>
                <a:r>
                  <a:rPr lang="tr-TR" i="1" dirty="0"/>
                  <a:t> </a:t>
                </a:r>
                <a:r>
                  <a:rPr lang="en-US" i="1" dirty="0"/>
                  <a:t>material 1.</a:t>
                </a:r>
              </a:p>
              <a:p>
                <a:r>
                  <a:rPr lang="en-US" b="1" dirty="0"/>
                  <a:t>Constraint 1 </a:t>
                </a:r>
                <a:r>
                  <a:rPr lang="en-US" dirty="0"/>
                  <a:t>: raw material 1 used to produce paint 1</a:t>
                </a:r>
                <a:r>
                  <a:rPr lang="tr-TR" dirty="0"/>
                  <a:t> </a:t>
                </a:r>
                <a:r>
                  <a:rPr lang="en-US" dirty="0"/>
                  <a:t>+ raw material 1 used to produce paint 2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tr-TR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total available raw material 1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raw material 1 used to produce paint 1 [ton/day]:</a:t>
                </a:r>
              </a:p>
              <a:p>
                <a:pPr marL="0" indent="0">
                  <a:buNone/>
                </a:pPr>
                <a:r>
                  <a:rPr lang="tr-TR" dirty="0"/>
                  <a:t>	</a:t>
                </a:r>
                <a:r>
                  <a:rPr lang="en-US" dirty="0"/>
                  <a:t>tons</a:t>
                </a:r>
                <a:r>
                  <a:rPr lang="tr-TR" dirty="0"/>
                  <a:t> of</a:t>
                </a:r>
                <a:r>
                  <a:rPr lang="en-US" dirty="0"/>
                  <a:t> raw material 1 required per ton of paint 1 [ton/ton] ×</a:t>
                </a:r>
                <a:r>
                  <a:rPr lang="tr-TR" dirty="0"/>
                  <a:t> 	</a:t>
                </a:r>
                <a:r>
                  <a:rPr lang="en-US" dirty="0"/>
                  <a:t>tons of </a:t>
                </a:r>
                <a:r>
                  <a:rPr lang="tr-TR" dirty="0"/>
                  <a:t>paint </a:t>
                </a:r>
                <a:r>
                  <a:rPr lang="en-US" dirty="0"/>
                  <a:t>1 produced [ton/day]</a:t>
                </a:r>
              </a:p>
              <a:p>
                <a:pPr marL="0" indent="0">
                  <a:buNone/>
                </a:pPr>
                <a:r>
                  <a:rPr lang="tr-TR" dirty="0"/>
                  <a:t>	</a:t>
                </a:r>
                <a:r>
                  <a:rPr lang="fr-FR" dirty="0"/>
                  <a:t>6 [ton/ton] ×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dirty="0"/>
                  <a:t> [ton/</a:t>
                </a:r>
                <a:r>
                  <a:rPr lang="fr-FR" dirty="0" err="1"/>
                  <a:t>day</a:t>
                </a:r>
                <a:r>
                  <a:rPr lang="fr-FR" dirty="0"/>
                  <a:t>] </a:t>
                </a:r>
                <a:r>
                  <a:rPr lang="tr-TR" dirty="0">
                    <a:sym typeface="Wingdings" pitchFamily="2" charset="2"/>
                  </a:rPr>
                  <a:t></a:t>
                </a:r>
                <a:r>
                  <a:rPr lang="fr-FR" dirty="0"/>
                  <a:t> [ton/</a:t>
                </a:r>
                <a:r>
                  <a:rPr lang="fr-FR" dirty="0" err="1"/>
                  <a:t>day</a:t>
                </a:r>
                <a:r>
                  <a:rPr lang="fr-FR" dirty="0"/>
                  <a:t>]</a:t>
                </a:r>
                <a:endParaRPr lang="tr-TR" dirty="0"/>
              </a:p>
              <a:p>
                <a:pPr marL="0" indent="0">
                  <a:buNone/>
                </a:pPr>
                <a:endParaRPr lang="fr-F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raw material 1 used to produce paint 2 [ton/day]:</a:t>
                </a:r>
              </a:p>
              <a:p>
                <a:pPr marL="0" indent="0">
                  <a:buNone/>
                </a:pPr>
                <a:r>
                  <a:rPr lang="tr-TR" dirty="0"/>
                  <a:t>	</a:t>
                </a:r>
                <a:r>
                  <a:rPr lang="en-US" dirty="0"/>
                  <a:t>tons </a:t>
                </a:r>
                <a:r>
                  <a:rPr lang="tr-TR" dirty="0"/>
                  <a:t>of </a:t>
                </a:r>
                <a:r>
                  <a:rPr lang="en-US" dirty="0"/>
                  <a:t>raw material 1 required per ton of paint 2 [ton/ton] ×</a:t>
                </a:r>
              </a:p>
              <a:p>
                <a:pPr marL="0" indent="0">
                  <a:buNone/>
                </a:pPr>
                <a:r>
                  <a:rPr lang="tr-TR" dirty="0"/>
                  <a:t>	</a:t>
                </a:r>
                <a:r>
                  <a:rPr lang="en-US" dirty="0"/>
                  <a:t>tons of </a:t>
                </a:r>
                <a:r>
                  <a:rPr lang="tr-TR" dirty="0"/>
                  <a:t>paint </a:t>
                </a:r>
                <a:r>
                  <a:rPr lang="en-US" dirty="0"/>
                  <a:t>2 produced [ton/day]</a:t>
                </a:r>
              </a:p>
              <a:p>
                <a:pPr marL="0" indent="0">
                  <a:buNone/>
                </a:pPr>
                <a:r>
                  <a:rPr lang="tr-TR" dirty="0"/>
                  <a:t>	</a:t>
                </a:r>
                <a:r>
                  <a:rPr lang="fr-FR" dirty="0"/>
                  <a:t>4 [ton/ton] ×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/>
                  <a:t> [ton/</a:t>
                </a:r>
                <a:r>
                  <a:rPr lang="fr-FR" dirty="0" err="1"/>
                  <a:t>day</a:t>
                </a:r>
                <a:r>
                  <a:rPr lang="fr-FR" dirty="0"/>
                  <a:t>] </a:t>
                </a:r>
                <a:r>
                  <a:rPr lang="tr-TR" dirty="0">
                    <a:sym typeface="Wingdings" pitchFamily="2" charset="2"/>
                  </a:rPr>
                  <a:t></a:t>
                </a:r>
                <a:r>
                  <a:rPr lang="fr-FR" dirty="0"/>
                  <a:t> [ton/</a:t>
                </a:r>
                <a:r>
                  <a:rPr lang="fr-FR" dirty="0" err="1"/>
                  <a:t>day</a:t>
                </a:r>
                <a:r>
                  <a:rPr lang="fr-FR" dirty="0"/>
                  <a:t>]</a:t>
                </a:r>
                <a:endParaRPr lang="tr-TR" dirty="0"/>
              </a:p>
              <a:p>
                <a:pPr marL="0" indent="0">
                  <a:buNone/>
                </a:pPr>
                <a:endParaRPr lang="fr-FR" dirty="0"/>
              </a:p>
              <a:p>
                <a:r>
                  <a:rPr lang="fr-FR" b="1" dirty="0" err="1"/>
                  <a:t>Constraint</a:t>
                </a:r>
                <a:r>
                  <a:rPr lang="fr-FR" b="1" dirty="0"/>
                  <a:t> 1 </a:t>
                </a:r>
                <a:r>
                  <a:rPr lang="fr-FR" dirty="0"/>
                  <a:t>: 6 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dirty="0"/>
                  <a:t> + 4 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tr-TR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fr-FR" dirty="0"/>
                  <a:t> 24 [ton/</a:t>
                </a:r>
                <a:r>
                  <a:rPr lang="fr-FR" dirty="0" err="1"/>
                  <a:t>day</a:t>
                </a:r>
                <a:r>
                  <a:rPr lang="fr-FR" dirty="0"/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 t="-2022" r="-1259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5771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Constraint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b="1" dirty="0"/>
                  <a:t>Constraint 2 </a:t>
                </a:r>
                <a:r>
                  <a:rPr lang="en-US" dirty="0"/>
                  <a:t>: </a:t>
                </a:r>
                <a:r>
                  <a:rPr lang="en-US" i="1" dirty="0"/>
                  <a:t>We can use a maximum of 6 tons of raw</a:t>
                </a:r>
                <a:r>
                  <a:rPr lang="tr-TR" i="1" dirty="0"/>
                  <a:t> </a:t>
                </a:r>
                <a:r>
                  <a:rPr lang="en-US" i="1" dirty="0"/>
                  <a:t>material 2.</a:t>
                </a:r>
              </a:p>
              <a:p>
                <a:r>
                  <a:rPr lang="en-US" b="1" dirty="0"/>
                  <a:t>Constraint 2 </a:t>
                </a:r>
                <a:r>
                  <a:rPr lang="en-US" dirty="0"/>
                  <a:t>: raw material 2 used to produce paint 1</a:t>
                </a:r>
                <a:r>
                  <a:rPr lang="tr-TR" dirty="0"/>
                  <a:t> </a:t>
                </a:r>
                <a:r>
                  <a:rPr lang="en-US" dirty="0"/>
                  <a:t>+ raw material 2 used to produce paint 2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tr-TR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total available raw material 2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b="1" dirty="0"/>
                  <a:t> </a:t>
                </a:r>
                <a:r>
                  <a:rPr lang="en-US" dirty="0"/>
                  <a:t>raw material 2 used to produce paint 1 [ton/day]:</a:t>
                </a:r>
                <a:endParaRPr lang="tr-TR" dirty="0"/>
              </a:p>
              <a:p>
                <a:pPr marL="457200" lvl="1" indent="0">
                  <a:buNone/>
                </a:pPr>
                <a:r>
                  <a:rPr lang="tr-TR" dirty="0"/>
                  <a:t>	</a:t>
                </a:r>
                <a:r>
                  <a:rPr lang="en-US" dirty="0"/>
                  <a:t>tons </a:t>
                </a:r>
                <a:r>
                  <a:rPr lang="tr-TR" dirty="0"/>
                  <a:t>of </a:t>
                </a:r>
                <a:r>
                  <a:rPr lang="en-US" dirty="0"/>
                  <a:t>raw material 2 required per ton of paint 1 [ton/ton] ×</a:t>
                </a:r>
                <a:endParaRPr lang="tr-TR" dirty="0"/>
              </a:p>
              <a:p>
                <a:pPr marL="457200" lvl="1" indent="0">
                  <a:buNone/>
                </a:pPr>
                <a:r>
                  <a:rPr lang="tr-TR" dirty="0"/>
                  <a:t>	t</a:t>
                </a:r>
                <a:r>
                  <a:rPr lang="en-US" dirty="0" err="1"/>
                  <a:t>ons</a:t>
                </a:r>
                <a:r>
                  <a:rPr lang="en-US" dirty="0"/>
                  <a:t> of </a:t>
                </a:r>
                <a:r>
                  <a:rPr lang="tr-TR" dirty="0"/>
                  <a:t>paint </a:t>
                </a:r>
                <a:r>
                  <a:rPr lang="en-US" dirty="0"/>
                  <a:t>1 produced [ton/day]</a:t>
                </a:r>
              </a:p>
              <a:p>
                <a:pPr marL="0" indent="0">
                  <a:buNone/>
                </a:pPr>
                <a:r>
                  <a:rPr lang="tr-TR" dirty="0"/>
                  <a:t>	</a:t>
                </a:r>
                <a:r>
                  <a:rPr lang="fr-FR" dirty="0"/>
                  <a:t>1 [ton/ton] ×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dirty="0"/>
                  <a:t> [ton/</a:t>
                </a:r>
                <a:r>
                  <a:rPr lang="fr-FR" dirty="0" err="1"/>
                  <a:t>day</a:t>
                </a:r>
                <a:r>
                  <a:rPr lang="fr-FR" dirty="0"/>
                  <a:t>] </a:t>
                </a:r>
                <a:r>
                  <a:rPr lang="tr-TR" dirty="0">
                    <a:sym typeface="Wingdings" pitchFamily="2" charset="2"/>
                  </a:rPr>
                  <a:t></a:t>
                </a:r>
                <a:r>
                  <a:rPr lang="fr-FR" dirty="0"/>
                  <a:t> [ton/</a:t>
                </a:r>
                <a:r>
                  <a:rPr lang="fr-FR" dirty="0" err="1"/>
                  <a:t>day</a:t>
                </a:r>
                <a:r>
                  <a:rPr lang="fr-FR" dirty="0"/>
                  <a:t>]</a:t>
                </a:r>
                <a:endParaRPr lang="tr-TR" dirty="0"/>
              </a:p>
              <a:p>
                <a:pPr marL="0" indent="0">
                  <a:buNone/>
                </a:pPr>
                <a:endParaRPr lang="fr-FR" dirty="0"/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b="1" dirty="0"/>
                  <a:t> </a:t>
                </a:r>
                <a:r>
                  <a:rPr lang="en-US" dirty="0"/>
                  <a:t>raw material 2 used to produce paint 2 [ton/day]:</a:t>
                </a:r>
                <a:endParaRPr lang="tr-TR" dirty="0"/>
              </a:p>
              <a:p>
                <a:pPr marL="457200" lvl="1" indent="0">
                  <a:buNone/>
                </a:pPr>
                <a:r>
                  <a:rPr lang="tr-TR" dirty="0"/>
                  <a:t>	</a:t>
                </a:r>
                <a:r>
                  <a:rPr lang="en-US" dirty="0"/>
                  <a:t>tons </a:t>
                </a:r>
                <a:r>
                  <a:rPr lang="tr-TR" dirty="0"/>
                  <a:t>of </a:t>
                </a:r>
                <a:r>
                  <a:rPr lang="en-US" dirty="0"/>
                  <a:t>raw material 1 required per ton of paint 2 [ton/ton] ×</a:t>
                </a:r>
                <a:r>
                  <a:rPr lang="tr-TR" dirty="0"/>
                  <a:t> </a:t>
                </a:r>
                <a:r>
                  <a:rPr lang="en-US" dirty="0"/>
                  <a:t>tons of </a:t>
                </a:r>
                <a:r>
                  <a:rPr lang="tr-TR" dirty="0"/>
                  <a:t>	paint </a:t>
                </a:r>
                <a:r>
                  <a:rPr lang="en-US" dirty="0"/>
                  <a:t>2 produced [ton/day]</a:t>
                </a:r>
              </a:p>
              <a:p>
                <a:pPr marL="0" indent="0">
                  <a:buNone/>
                </a:pPr>
                <a:r>
                  <a:rPr lang="tr-TR" dirty="0"/>
                  <a:t>	</a:t>
                </a:r>
                <a:r>
                  <a:rPr lang="fr-FR" dirty="0"/>
                  <a:t>2 [ton/ton] ×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/>
                  <a:t> [ton/</a:t>
                </a:r>
                <a:r>
                  <a:rPr lang="fr-FR" dirty="0" err="1"/>
                  <a:t>day</a:t>
                </a:r>
                <a:r>
                  <a:rPr lang="fr-FR" dirty="0"/>
                  <a:t>] </a:t>
                </a:r>
                <a:r>
                  <a:rPr lang="tr-TR" dirty="0">
                    <a:sym typeface="Wingdings" pitchFamily="2" charset="2"/>
                  </a:rPr>
                  <a:t></a:t>
                </a:r>
                <a:r>
                  <a:rPr lang="fr-FR" dirty="0"/>
                  <a:t> [ton/</a:t>
                </a:r>
                <a:r>
                  <a:rPr lang="fr-FR" dirty="0" err="1"/>
                  <a:t>day</a:t>
                </a:r>
                <a:r>
                  <a:rPr lang="fr-FR" dirty="0"/>
                  <a:t>]</a:t>
                </a:r>
                <a:endParaRPr lang="tr-TR" dirty="0"/>
              </a:p>
              <a:p>
                <a:pPr marL="0" indent="0">
                  <a:buNone/>
                </a:pPr>
                <a:endParaRPr lang="fr-FR" dirty="0"/>
              </a:p>
              <a:p>
                <a:r>
                  <a:rPr lang="fr-FR" b="1" dirty="0" err="1"/>
                  <a:t>Constraint</a:t>
                </a:r>
                <a:r>
                  <a:rPr lang="fr-FR" b="1" dirty="0"/>
                  <a:t> 2 </a:t>
                </a:r>
                <a:r>
                  <a:rPr lang="fr-F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dirty="0"/>
                  <a:t> + 2 ×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/>
                  <a:t> 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tr-TR" b="0" i="1" dirty="0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fr-FR" dirty="0"/>
                  <a:t>6 [ton/</a:t>
                </a:r>
                <a:r>
                  <a:rPr lang="fr-FR" dirty="0" err="1"/>
                  <a:t>day</a:t>
                </a:r>
                <a:r>
                  <a:rPr lang="fr-FR" dirty="0"/>
                  <a:t>]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5" t="-2291" r="-1481" b="-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20889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Constraint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71600"/>
                <a:ext cx="8458200" cy="495300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b="1" dirty="0"/>
                  <a:t>Constraint 3 </a:t>
                </a:r>
                <a:r>
                  <a:rPr lang="en-US" dirty="0"/>
                  <a:t>: </a:t>
                </a:r>
                <a:r>
                  <a:rPr lang="en-US" i="1" dirty="0"/>
                  <a:t>It is not possible to sell more than 2 tons of</a:t>
                </a:r>
                <a:r>
                  <a:rPr lang="tr-TR" i="1" dirty="0"/>
                  <a:t> </a:t>
                </a:r>
                <a:r>
                  <a:rPr lang="en-US" i="1" dirty="0"/>
                  <a:t>paint 2 a day.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tons of paint 2 produced [ton/day]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tr-TR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dirty="0"/>
                  <a:t>2 [ton/day]</a:t>
                </a:r>
                <a:endParaRPr lang="tr-TR" dirty="0"/>
              </a:p>
              <a:p>
                <a:pPr lvl="3"/>
                <a:endParaRPr lang="en-US" dirty="0"/>
              </a:p>
              <a:p>
                <a:r>
                  <a:rPr lang="fr-FR" b="1" dirty="0" err="1"/>
                  <a:t>Constraint</a:t>
                </a:r>
                <a:r>
                  <a:rPr lang="fr-FR" b="1" dirty="0"/>
                  <a:t> 3 </a:t>
                </a:r>
                <a:r>
                  <a:rPr lang="fr-FR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fr-FR" dirty="0"/>
                  <a:t> 2 [ton/</a:t>
                </a:r>
                <a:r>
                  <a:rPr lang="fr-FR" dirty="0" err="1"/>
                  <a:t>day</a:t>
                </a:r>
                <a:r>
                  <a:rPr lang="fr-FR" dirty="0"/>
                  <a:t>]</a:t>
                </a:r>
                <a:endParaRPr lang="tr-TR" dirty="0"/>
              </a:p>
              <a:p>
                <a:endParaRPr lang="fr-FR" dirty="0"/>
              </a:p>
              <a:p>
                <a:r>
                  <a:rPr lang="en-US" b="1" dirty="0"/>
                  <a:t>Constraint 4 </a:t>
                </a:r>
                <a:r>
                  <a:rPr lang="en-US" dirty="0"/>
                  <a:t>: </a:t>
                </a:r>
                <a:r>
                  <a:rPr lang="en-US" i="1" dirty="0"/>
                  <a:t>The sales of paint 2 cannot exceed that of paint</a:t>
                </a:r>
                <a:r>
                  <a:rPr lang="tr-TR" i="1" dirty="0"/>
                  <a:t> </a:t>
                </a:r>
                <a:r>
                  <a:rPr lang="en-US" i="1" dirty="0"/>
                  <a:t>1 by more than 1 ton.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dirty="0"/>
                  <a:t>tons of paint 2 produced [ton/day]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en-US" dirty="0"/>
                  <a:t> tons of paint 1 produced</a:t>
                </a:r>
                <a:r>
                  <a:rPr lang="tr-TR" dirty="0"/>
                  <a:t> </a:t>
                </a:r>
                <a:r>
                  <a:rPr lang="en-US" dirty="0"/>
                  <a:t>[ton/day] + 1 [ton/day]</a:t>
                </a:r>
                <a:endParaRPr lang="tr-TR" dirty="0"/>
              </a:p>
              <a:p>
                <a:pPr lvl="3"/>
                <a:endParaRPr lang="en-US" dirty="0"/>
              </a:p>
              <a:p>
                <a:r>
                  <a:rPr lang="fr-FR" b="1" dirty="0" err="1"/>
                  <a:t>Constraint</a:t>
                </a:r>
                <a:r>
                  <a:rPr lang="fr-FR" b="1" dirty="0"/>
                  <a:t> 4 </a:t>
                </a:r>
                <a:r>
                  <a:rPr lang="fr-FR" dirty="0"/>
                  <a:t>: −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/>
                  <a:t> </a:t>
                </a:r>
                <a14:m>
                  <m:oMath xmlns:m="http://schemas.openxmlformats.org/officeDocument/2006/math">
                    <m:r>
                      <a:rPr lang="fr-FR" i="1" smtClean="0">
                        <a:latin typeface="Cambria Math"/>
                        <a:ea typeface="Cambria Math"/>
                      </a:rPr>
                      <m:t>≤</m:t>
                    </m:r>
                  </m:oMath>
                </a14:m>
                <a:r>
                  <a:rPr lang="fr-FR" dirty="0"/>
                  <a:t> 1 [ton/</a:t>
                </a:r>
                <a:r>
                  <a:rPr lang="fr-FR" dirty="0" err="1"/>
                  <a:t>day</a:t>
                </a:r>
                <a:r>
                  <a:rPr lang="fr-FR" dirty="0"/>
                  <a:t>]</a:t>
                </a:r>
                <a:endParaRPr lang="tr-TR" dirty="0"/>
              </a:p>
              <a:p>
                <a:pPr lvl="3"/>
                <a:endParaRPr lang="fr-FR" dirty="0"/>
              </a:p>
              <a:p>
                <a:r>
                  <a:rPr lang="en-US" dirty="0"/>
                  <a:t>Is it possible to have negative production of trucks or cars?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dirty="0"/>
                  <a:t> 0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≥</m:t>
                    </m:r>
                  </m:oMath>
                </a14:m>
                <a:r>
                  <a:rPr lang="en-US" dirty="0"/>
                  <a:t> 0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71600"/>
                <a:ext cx="8458200" cy="4953000"/>
              </a:xfrm>
              <a:blipFill>
                <a:blip r:embed="rId2"/>
                <a:stretch>
                  <a:fillRect l="-1009" t="-2214" r="-576" b="-18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64150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Complete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rgbClr val="0070C0"/>
                    </a:solidFill>
                  </a:rPr>
                  <a:t>complete mathematical model </a:t>
                </a:r>
                <a:r>
                  <a:rPr lang="en-US" dirty="0"/>
                  <a:t>for the paint production:</a:t>
                </a:r>
                <a:endParaRPr lang="tr-T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tr-TR" b="0" i="0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m:rPr>
                              <m:sty m:val="p"/>
                            </m:rPr>
                            <a:rPr lang="tr-TR" b="0" i="0" smtClean="0">
                              <a:latin typeface="Cambria Math"/>
                            </a:rPr>
                            <m:t>max</m:t>
                          </m:r>
                          <m:r>
                            <m:rPr>
                              <m:sty m:val="p"/>
                            </m:rPr>
                            <a:rPr lang="tr-TR" b="0" i="0" smtClean="0">
                              <a:latin typeface="Cambria Math" panose="02040503050406030204" pitchFamily="18" charset="0"/>
                            </a:rPr>
                            <m:t>imize</m:t>
                          </m:r>
                          <m:r>
                            <a:rPr lang="tr-TR" b="0" i="1" smtClean="0">
                              <a:latin typeface="Cambria Math"/>
                            </a:rPr>
                            <m:t> </m:t>
                          </m:r>
                        </m:fName>
                        <m:e>
                          <m:r>
                            <a:rPr lang="tr-TR" b="0" i="1" smtClean="0">
                              <a:latin typeface="Cambria Math"/>
                            </a:rPr>
                            <m:t>5000</m:t>
                          </m:r>
                          <m:sSub>
                            <m:sSubPr>
                              <m:ctrlP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tr-TR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tr-TR" b="0" i="1" smtClean="0">
                              <a:latin typeface="Cambria Math"/>
                            </a:rPr>
                            <m:t>+4000</m:t>
                          </m:r>
                          <m:sSub>
                            <m:sSubPr>
                              <m:ctrlPr>
                                <a:rPr lang="tr-T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tr-TR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tr-TR" dirty="0"/>
              </a:p>
              <a:p>
                <a:pPr marL="0" indent="0">
                  <a:buNone/>
                </a:pPr>
                <a:r>
                  <a:rPr lang="tr-TR" dirty="0"/>
                  <a:t>	  s.t.</a:t>
                </a:r>
              </a:p>
              <a:p>
                <a:pPr marL="0" indent="0">
                  <a:buNone/>
                </a:pPr>
                <a:r>
                  <a:rPr lang="tr-TR" b="0" dirty="0"/>
                  <a:t>                                </a:t>
                </a:r>
                <a14:m>
                  <m:oMath xmlns:m="http://schemas.openxmlformats.org/officeDocument/2006/math">
                    <m:r>
                      <a:rPr lang="tr-TR" b="0" i="1" smtClean="0">
                        <a:latin typeface="Cambria Math"/>
                      </a:rPr>
                      <m:t>6</m:t>
                    </m:r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tr-TR" b="0" i="1" smtClean="0">
                        <a:latin typeface="Cambria Math"/>
                      </a:rPr>
                      <m:t>+</m:t>
                    </m:r>
                    <m:r>
                      <a:rPr lang="tr-TR" b="0" i="1" smtClean="0">
                        <a:latin typeface="Cambria Math" panose="02040503050406030204" pitchFamily="18" charset="0"/>
                      </a:rPr>
                      <m:t>        </m:t>
                    </m:r>
                    <m:r>
                      <a:rPr lang="tr-TR" b="0" i="1" smtClean="0">
                        <a:latin typeface="Cambria Math"/>
                      </a:rPr>
                      <m:t>4</m:t>
                    </m:r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tr-TR" b="0" i="1" smtClean="0">
                        <a:latin typeface="Cambria Math"/>
                        <a:ea typeface="Cambria Math"/>
                      </a:rPr>
                      <m:t>≤24</m:t>
                    </m:r>
                  </m:oMath>
                </a14:m>
                <a:endParaRPr lang="tr-T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tr-T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tr-TR" b="0" i="1" smtClean="0">
                          <a:latin typeface="Cambria Math"/>
                        </a:rPr>
                        <m:t>+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tr-TR" b="0" i="1" smtClean="0">
                          <a:latin typeface="Cambria Math"/>
                        </a:rPr>
                        <m:t>2</m:t>
                      </m:r>
                      <m:sSub>
                        <m:sSubPr>
                          <m:ctrlPr>
                            <a:rPr lang="tr-T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tr-T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tr-TR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b="0" i="1" smtClean="0">
                          <a:latin typeface="Cambria Math"/>
                          <a:ea typeface="Cambria Math"/>
                        </a:rPr>
                        <m:t>≤6</m:t>
                      </m:r>
                    </m:oMath>
                  </m:oMathPara>
                </a14:m>
                <a:endParaRPr lang="tr-TR" b="0" dirty="0">
                  <a:ea typeface="Cambria Math"/>
                </a:endParaRPr>
              </a:p>
              <a:p>
                <a:pPr marL="0" indent="0">
                  <a:buNone/>
                </a:pPr>
                <a:r>
                  <a:rPr lang="tr-TR" b="0" dirty="0"/>
                  <a:t>     			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tr-T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b="0" i="1" smtClean="0">
                        <a:latin typeface="Cambria Math"/>
                        <a:ea typeface="Cambria Math"/>
                      </a:rPr>
                      <m:t>≤2</m:t>
                    </m:r>
                  </m:oMath>
                </a14:m>
                <a:endParaRPr lang="tr-TR" b="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tr-TR" b="0" dirty="0"/>
                  <a:t>		        </a:t>
                </a:r>
                <a14:m>
                  <m:oMath xmlns:m="http://schemas.openxmlformats.org/officeDocument/2006/math">
                    <m:r>
                      <a:rPr lang="tr-T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tr-TR" b="0" i="1" smtClean="0">
                        <a:latin typeface="Cambria Math"/>
                      </a:rPr>
                      <m:t>−</m:t>
                    </m:r>
                    <m:r>
                      <a:rPr lang="tr-T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tr-TR" b="0" i="1" smtClean="0">
                        <a:latin typeface="Cambria Math"/>
                      </a:rPr>
                      <m:t>+   </m:t>
                    </m:r>
                    <m:sSub>
                      <m:sSub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tr-T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tr-TR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tr-TR" b="0" i="1" smtClean="0">
                        <a:latin typeface="Cambria Math"/>
                        <a:ea typeface="Cambria Math"/>
                      </a:rPr>
                      <m:t>≤1</m:t>
                    </m:r>
                  </m:oMath>
                </a14:m>
                <a:endParaRPr lang="tr-TR" b="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tr-TR" dirty="0"/>
                  <a:t>			</a:t>
                </a:r>
                <a14:m>
                  <m:oMath xmlns:m="http://schemas.openxmlformats.org/officeDocument/2006/math">
                    <m:r>
                      <a:rPr lang="tr-TR" b="0" i="0" smtClean="0">
                        <a:latin typeface="Cambria Math"/>
                      </a:rPr>
                      <m:t>  </m:t>
                    </m:r>
                    <m:r>
                      <a:rPr lang="tr-TR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tr-TR" b="0" i="1" smtClean="0">
                        <a:latin typeface="Cambria Math"/>
                      </a:rPr>
                      <m:t> ,</m:t>
                    </m:r>
                    <m:sSub>
                      <m:sSubPr>
                        <m:ctrlPr>
                          <a:rPr lang="tr-T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b="0" i="1" smtClean="0">
                            <a:latin typeface="Cambria Math"/>
                          </a:rPr>
                          <m:t>      </m:t>
                        </m:r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tr-TR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tr-TR" b="0" i="1" smtClean="0">
                        <a:latin typeface="Cambria Math"/>
                      </a:rPr>
                      <m:t> </m:t>
                    </m:r>
                    <m:r>
                      <a:rPr lang="tr-TR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tr-TR" b="0" i="1" smtClean="0">
                        <a:latin typeface="Cambria Math"/>
                        <a:ea typeface="Cambria Math"/>
                      </a:rPr>
                      <m:t>0</m:t>
                    </m:r>
                  </m:oMath>
                </a14:m>
                <a:endParaRPr lang="tr-TR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81" t="-2695"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20435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tr-TR" dirty="0" err="1">
                <a:solidFill>
                  <a:srgbClr val="FF0000"/>
                </a:solidFill>
              </a:rPr>
              <a:t>Example</a:t>
            </a:r>
            <a:r>
              <a:rPr lang="tr-TR" dirty="0">
                <a:solidFill>
                  <a:srgbClr val="FF0000"/>
                </a:solidFill>
              </a:rPr>
              <a:t>: </a:t>
            </a:r>
            <a:r>
              <a:rPr lang="tr-TR" dirty="0" err="1">
                <a:solidFill>
                  <a:srgbClr val="FF0000"/>
                </a:solidFill>
              </a:rPr>
              <a:t>Feasible</a:t>
            </a:r>
            <a:r>
              <a:rPr lang="tr-TR" dirty="0">
                <a:solidFill>
                  <a:srgbClr val="FF0000"/>
                </a:solidFill>
              </a:rPr>
              <a:t> </a:t>
            </a:r>
            <a:r>
              <a:rPr lang="tr-TR" dirty="0" err="1">
                <a:solidFill>
                  <a:srgbClr val="FF0000"/>
                </a:solidFill>
              </a:rPr>
              <a:t>Region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2040715" y="2133600"/>
            <a:ext cx="16685" cy="342900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2057400" y="5562600"/>
            <a:ext cx="3733800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 rot="16200000">
            <a:off x="-702485" y="2895599"/>
            <a:ext cx="5105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        1          2          3          4         5         6 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70299" y="4398005"/>
            <a:ext cx="4335491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endCxn id="54" idx="2"/>
          </p:cNvCxnSpPr>
          <p:nvPr/>
        </p:nvCxnSpPr>
        <p:spPr>
          <a:xfrm>
            <a:off x="1809410" y="1880349"/>
            <a:ext cx="2743200" cy="407499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524000" y="3559514"/>
            <a:ext cx="4592860" cy="219358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16860" y="5420053"/>
            <a:ext cx="2936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x</a:t>
            </a:r>
            <a:r>
              <a:rPr lang="tr-TR" sz="1100" baseline="-25000" dirty="0"/>
              <a:t>1</a:t>
            </a:r>
            <a:endParaRPr lang="en-US" sz="1100" baseline="-25000" dirty="0"/>
          </a:p>
        </p:txBody>
      </p:sp>
      <p:sp>
        <p:nvSpPr>
          <p:cNvPr id="26" name="TextBox 25"/>
          <p:cNvSpPr txBox="1"/>
          <p:nvPr/>
        </p:nvSpPr>
        <p:spPr>
          <a:xfrm>
            <a:off x="1893880" y="1294819"/>
            <a:ext cx="2936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x</a:t>
            </a:r>
            <a:r>
              <a:rPr lang="tr-TR" sz="1100" baseline="-25000" dirty="0"/>
              <a:t>2</a:t>
            </a:r>
            <a:endParaRPr lang="en-US" sz="1100" baseline="-25000" dirty="0"/>
          </a:p>
        </p:txBody>
      </p:sp>
      <p:sp>
        <p:nvSpPr>
          <p:cNvPr id="27" name="TextBox 26"/>
          <p:cNvSpPr txBox="1"/>
          <p:nvPr/>
        </p:nvSpPr>
        <p:spPr>
          <a:xfrm>
            <a:off x="4802269" y="3122711"/>
            <a:ext cx="14614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400" dirty="0"/>
              <a:t>FEASIBLE REGION</a:t>
            </a:r>
            <a:endParaRPr lang="en-US" sz="1400" dirty="0"/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1734732" y="3086098"/>
            <a:ext cx="2209800" cy="2058889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999910" y="5574344"/>
            <a:ext cx="5105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        1          2          3          4         5         6 </a:t>
            </a:r>
            <a:endParaRPr lang="en-US" dirty="0"/>
          </a:p>
        </p:txBody>
      </p:sp>
      <p:sp>
        <p:nvSpPr>
          <p:cNvPr id="46" name="Freeform 45"/>
          <p:cNvSpPr/>
          <p:nvPr/>
        </p:nvSpPr>
        <p:spPr>
          <a:xfrm>
            <a:off x="2040160" y="4402769"/>
            <a:ext cx="2228850" cy="1171575"/>
          </a:xfrm>
          <a:custGeom>
            <a:avLst/>
            <a:gdLst>
              <a:gd name="connsiteX0" fmla="*/ 0 w 2228850"/>
              <a:gd name="connsiteY0" fmla="*/ 457200 h 1171575"/>
              <a:gd name="connsiteX1" fmla="*/ 19050 w 2228850"/>
              <a:gd name="connsiteY1" fmla="*/ 1171575 h 1171575"/>
              <a:gd name="connsiteX2" fmla="*/ 2228850 w 2228850"/>
              <a:gd name="connsiteY2" fmla="*/ 1162050 h 1171575"/>
              <a:gd name="connsiteX3" fmla="*/ 1590675 w 2228850"/>
              <a:gd name="connsiteY3" fmla="*/ 190500 h 1171575"/>
              <a:gd name="connsiteX4" fmla="*/ 1219200 w 2228850"/>
              <a:gd name="connsiteY4" fmla="*/ 0 h 1171575"/>
              <a:gd name="connsiteX5" fmla="*/ 504825 w 2228850"/>
              <a:gd name="connsiteY5" fmla="*/ 0 h 1171575"/>
              <a:gd name="connsiteX6" fmla="*/ 0 w 2228850"/>
              <a:gd name="connsiteY6" fmla="*/ 457200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28850" h="1171575">
                <a:moveTo>
                  <a:pt x="0" y="457200"/>
                </a:moveTo>
                <a:lnTo>
                  <a:pt x="19050" y="1171575"/>
                </a:lnTo>
                <a:lnTo>
                  <a:pt x="2228850" y="1162050"/>
                </a:lnTo>
                <a:lnTo>
                  <a:pt x="1590675" y="190500"/>
                </a:lnTo>
                <a:lnTo>
                  <a:pt x="1219200" y="0"/>
                </a:lnTo>
                <a:lnTo>
                  <a:pt x="504825" y="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176865" y="4321805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3616407" y="4521174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4230910" y="5474658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981200" y="5486400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964515" y="4772891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457110" y="4321805"/>
            <a:ext cx="152400" cy="1523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999910" y="4849955"/>
            <a:ext cx="533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100" dirty="0"/>
              <a:t>(0,1)</a:t>
            </a:r>
            <a:endParaRPr lang="en-US" sz="1100" dirty="0"/>
          </a:p>
        </p:txBody>
      </p:sp>
      <p:sp>
        <p:nvSpPr>
          <p:cNvPr id="24" name="TextBox 23"/>
          <p:cNvSpPr txBox="1"/>
          <p:nvPr/>
        </p:nvSpPr>
        <p:spPr>
          <a:xfrm>
            <a:off x="2350428" y="4466569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(1,2)</a:t>
            </a:r>
            <a:endParaRPr lang="en-US" sz="1100" dirty="0"/>
          </a:p>
        </p:txBody>
      </p:sp>
      <p:sp>
        <p:nvSpPr>
          <p:cNvPr id="18" name="TextBox 17"/>
          <p:cNvSpPr txBox="1"/>
          <p:nvPr/>
        </p:nvSpPr>
        <p:spPr>
          <a:xfrm>
            <a:off x="3076283" y="4466569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(2,2)</a:t>
            </a:r>
            <a:endParaRPr lang="en-US" sz="1100" dirty="0"/>
          </a:p>
        </p:txBody>
      </p:sp>
      <p:sp>
        <p:nvSpPr>
          <p:cNvPr id="20" name="TextBox 19"/>
          <p:cNvSpPr txBox="1"/>
          <p:nvPr/>
        </p:nvSpPr>
        <p:spPr>
          <a:xfrm>
            <a:off x="3337324" y="4673206"/>
            <a:ext cx="5581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(3,1.5)</a:t>
            </a:r>
            <a:endParaRPr lang="en-US" sz="1100" dirty="0"/>
          </a:p>
        </p:txBody>
      </p:sp>
      <p:sp>
        <p:nvSpPr>
          <p:cNvPr id="19" name="TextBox 18"/>
          <p:cNvSpPr txBox="1"/>
          <p:nvPr/>
        </p:nvSpPr>
        <p:spPr>
          <a:xfrm>
            <a:off x="3820430" y="5310515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(4,0)</a:t>
            </a:r>
            <a:endParaRPr lang="en-US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1998100" y="5277505"/>
            <a:ext cx="4507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/>
              <a:t>(0,0)</a:t>
            </a:r>
            <a:endParaRPr lang="en-US" sz="1100" dirty="0"/>
          </a:p>
        </p:txBody>
      </p:sp>
      <p:cxnSp>
        <p:nvCxnSpPr>
          <p:cNvPr id="41" name="Straight Arrow Connector 40"/>
          <p:cNvCxnSpPr>
            <a:stCxn id="27" idx="2"/>
          </p:cNvCxnSpPr>
          <p:nvPr/>
        </p:nvCxnSpPr>
        <p:spPr>
          <a:xfrm flipH="1">
            <a:off x="3253066" y="3430488"/>
            <a:ext cx="2279916" cy="188002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2040715" y="1522434"/>
            <a:ext cx="8342" cy="40061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25" idx="1"/>
          </p:cNvCxnSpPr>
          <p:nvPr/>
        </p:nvCxnSpPr>
        <p:spPr>
          <a:xfrm flipV="1">
            <a:off x="2049057" y="5550858"/>
            <a:ext cx="4067803" cy="2348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2243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How many corner points are there?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Class Exercise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3580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Corner Point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2578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We have the following corner point solutions:</a:t>
            </a:r>
          </a:p>
          <a:p>
            <a:pPr marL="0" indent="0">
              <a:buNone/>
            </a:pPr>
            <a:r>
              <a:rPr lang="en-US" dirty="0"/>
              <a:t>1. constraint </a:t>
            </a:r>
            <a:r>
              <a:rPr lang="en-US" b="1" dirty="0"/>
              <a:t>1 </a:t>
            </a:r>
            <a:r>
              <a:rPr lang="en-US" dirty="0"/>
              <a:t>and constraint </a:t>
            </a:r>
            <a:r>
              <a:rPr lang="en-US" b="1" dirty="0"/>
              <a:t>2</a:t>
            </a:r>
          </a:p>
          <a:p>
            <a:pPr marL="0" indent="0">
              <a:buNone/>
            </a:pPr>
            <a:r>
              <a:rPr lang="en-US" dirty="0"/>
              <a:t>2. constraint </a:t>
            </a:r>
            <a:r>
              <a:rPr lang="en-US" b="1" dirty="0"/>
              <a:t>1 </a:t>
            </a:r>
            <a:r>
              <a:rPr lang="en-US" dirty="0"/>
              <a:t>and constraint </a:t>
            </a:r>
            <a:r>
              <a:rPr lang="en-US" b="1" dirty="0"/>
              <a:t>3</a:t>
            </a:r>
          </a:p>
          <a:p>
            <a:pPr marL="0" indent="0">
              <a:buNone/>
            </a:pPr>
            <a:r>
              <a:rPr lang="en-US" dirty="0"/>
              <a:t>3. constraint </a:t>
            </a:r>
            <a:r>
              <a:rPr lang="en-US" b="1" dirty="0"/>
              <a:t>1 </a:t>
            </a:r>
            <a:r>
              <a:rPr lang="en-US" dirty="0"/>
              <a:t>and constraint </a:t>
            </a:r>
            <a:r>
              <a:rPr lang="en-US" b="1" dirty="0"/>
              <a:t>4</a:t>
            </a:r>
          </a:p>
          <a:p>
            <a:pPr marL="0" indent="0">
              <a:buNone/>
            </a:pPr>
            <a:r>
              <a:rPr lang="en-US" dirty="0"/>
              <a:t>4. constraint </a:t>
            </a:r>
            <a:r>
              <a:rPr lang="en-US" b="1" dirty="0"/>
              <a:t>1 </a:t>
            </a:r>
            <a:r>
              <a:rPr lang="en-US" dirty="0"/>
              <a:t>and constraint </a:t>
            </a:r>
            <a:r>
              <a:rPr lang="en-US" b="1" dirty="0"/>
              <a:t>5</a:t>
            </a:r>
          </a:p>
          <a:p>
            <a:pPr marL="0" indent="0">
              <a:buNone/>
            </a:pPr>
            <a:r>
              <a:rPr lang="en-US" dirty="0"/>
              <a:t>5. constraint </a:t>
            </a:r>
            <a:r>
              <a:rPr lang="en-US" b="1" dirty="0"/>
              <a:t>1 </a:t>
            </a:r>
            <a:r>
              <a:rPr lang="en-US" dirty="0"/>
              <a:t>and constraint </a:t>
            </a:r>
            <a:r>
              <a:rPr lang="en-US" b="1" dirty="0"/>
              <a:t>6</a:t>
            </a:r>
          </a:p>
          <a:p>
            <a:pPr marL="0" indent="0">
              <a:buNone/>
            </a:pPr>
            <a:r>
              <a:rPr lang="en-US" dirty="0"/>
              <a:t>6. constraint </a:t>
            </a:r>
            <a:r>
              <a:rPr lang="en-US" b="1" dirty="0"/>
              <a:t>2 </a:t>
            </a:r>
            <a:r>
              <a:rPr lang="en-US" dirty="0"/>
              <a:t>and constraint </a:t>
            </a:r>
            <a:r>
              <a:rPr lang="en-US" b="1" dirty="0"/>
              <a:t>3</a:t>
            </a:r>
          </a:p>
          <a:p>
            <a:pPr marL="0" indent="0">
              <a:buNone/>
            </a:pPr>
            <a:r>
              <a:rPr lang="en-US" dirty="0"/>
              <a:t>7. constraint </a:t>
            </a:r>
            <a:r>
              <a:rPr lang="en-US" b="1" dirty="0"/>
              <a:t>2 </a:t>
            </a:r>
            <a:r>
              <a:rPr lang="en-US" dirty="0"/>
              <a:t>and constraint </a:t>
            </a:r>
            <a:r>
              <a:rPr lang="en-US" b="1" dirty="0"/>
              <a:t>4</a:t>
            </a:r>
          </a:p>
          <a:p>
            <a:pPr marL="0" indent="0">
              <a:buNone/>
            </a:pPr>
            <a:r>
              <a:rPr lang="en-US" dirty="0"/>
              <a:t>8. constraint </a:t>
            </a:r>
            <a:r>
              <a:rPr lang="en-US" b="1" dirty="0"/>
              <a:t>2 </a:t>
            </a:r>
            <a:r>
              <a:rPr lang="en-US" dirty="0"/>
              <a:t>and constraint </a:t>
            </a:r>
            <a:r>
              <a:rPr lang="en-US" b="1" dirty="0"/>
              <a:t>5</a:t>
            </a:r>
          </a:p>
          <a:p>
            <a:pPr marL="0" indent="0">
              <a:buNone/>
            </a:pPr>
            <a:r>
              <a:rPr lang="en-US" dirty="0"/>
              <a:t>9. constraint </a:t>
            </a:r>
            <a:r>
              <a:rPr lang="en-US" b="1" dirty="0"/>
              <a:t>2 </a:t>
            </a:r>
            <a:r>
              <a:rPr lang="en-US" dirty="0"/>
              <a:t>and constraint </a:t>
            </a:r>
            <a:r>
              <a:rPr lang="en-US" b="1" dirty="0"/>
              <a:t>6</a:t>
            </a:r>
          </a:p>
          <a:p>
            <a:pPr marL="0" indent="0">
              <a:buNone/>
            </a:pPr>
            <a:r>
              <a:rPr lang="en-US" dirty="0"/>
              <a:t>10. constraint </a:t>
            </a:r>
            <a:r>
              <a:rPr lang="en-US" b="1" dirty="0"/>
              <a:t>3 </a:t>
            </a:r>
            <a:r>
              <a:rPr lang="en-US" dirty="0"/>
              <a:t>and constraint </a:t>
            </a:r>
            <a:r>
              <a:rPr lang="en-US" b="1" dirty="0"/>
              <a:t>4</a:t>
            </a:r>
          </a:p>
          <a:p>
            <a:pPr marL="0" indent="0">
              <a:buNone/>
            </a:pPr>
            <a:r>
              <a:rPr lang="en-US" dirty="0"/>
              <a:t>11. constraint </a:t>
            </a:r>
            <a:r>
              <a:rPr lang="en-US" b="1" dirty="0"/>
              <a:t>3 </a:t>
            </a:r>
            <a:r>
              <a:rPr lang="en-US" dirty="0"/>
              <a:t>and constraint </a:t>
            </a:r>
            <a:r>
              <a:rPr lang="en-US" b="1" dirty="0"/>
              <a:t>5</a:t>
            </a:r>
          </a:p>
          <a:p>
            <a:pPr marL="0" indent="0">
              <a:buNone/>
            </a:pPr>
            <a:r>
              <a:rPr lang="en-US" dirty="0"/>
              <a:t>12. constraint </a:t>
            </a:r>
            <a:r>
              <a:rPr lang="en-US" b="1" dirty="0"/>
              <a:t>3 </a:t>
            </a:r>
            <a:r>
              <a:rPr lang="en-US" dirty="0"/>
              <a:t>and constraint </a:t>
            </a:r>
            <a:r>
              <a:rPr lang="en-US" b="1" dirty="0"/>
              <a:t>6</a:t>
            </a:r>
          </a:p>
          <a:p>
            <a:pPr marL="0" indent="0">
              <a:buNone/>
            </a:pPr>
            <a:r>
              <a:rPr lang="en-US" dirty="0"/>
              <a:t>13. constraint </a:t>
            </a:r>
            <a:r>
              <a:rPr lang="en-US" b="1" dirty="0"/>
              <a:t>4 </a:t>
            </a:r>
            <a:r>
              <a:rPr lang="en-US" dirty="0"/>
              <a:t>and constraint </a:t>
            </a:r>
            <a:r>
              <a:rPr lang="en-US" b="1" dirty="0"/>
              <a:t>5</a:t>
            </a:r>
          </a:p>
          <a:p>
            <a:pPr marL="0" indent="0">
              <a:buNone/>
            </a:pPr>
            <a:r>
              <a:rPr lang="en-US" dirty="0"/>
              <a:t>14. constraint </a:t>
            </a:r>
            <a:r>
              <a:rPr lang="en-US" b="1" dirty="0"/>
              <a:t>4 </a:t>
            </a:r>
            <a:r>
              <a:rPr lang="en-US" dirty="0"/>
              <a:t>and constraint </a:t>
            </a:r>
            <a:r>
              <a:rPr lang="en-US" b="1" dirty="0"/>
              <a:t>6</a:t>
            </a:r>
          </a:p>
          <a:p>
            <a:pPr marL="0" indent="0">
              <a:buNone/>
            </a:pPr>
            <a:r>
              <a:rPr lang="en-US" dirty="0"/>
              <a:t>15. constraint </a:t>
            </a:r>
            <a:r>
              <a:rPr lang="en-US" b="1" dirty="0"/>
              <a:t>5 </a:t>
            </a:r>
            <a:r>
              <a:rPr lang="en-US" dirty="0"/>
              <a:t>and constraint </a:t>
            </a:r>
            <a:r>
              <a:rPr lang="en-US" b="1" dirty="0"/>
              <a:t>6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419600" y="2406770"/>
            <a:ext cx="45887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>
                <a:solidFill>
                  <a:srgbClr val="00B050"/>
                </a:solidFill>
                <a:cs typeface="Arial" panose="020B0604020202020204" pitchFamily="34" charset="0"/>
              </a:rPr>
              <a:t>From the graphical representation, </a:t>
            </a:r>
          </a:p>
          <a:p>
            <a:r>
              <a:rPr lang="tr-TR" sz="2400" dirty="0">
                <a:solidFill>
                  <a:srgbClr val="00B050"/>
                </a:solidFill>
                <a:cs typeface="Arial" panose="020B0604020202020204" pitchFamily="34" charset="0"/>
              </a:rPr>
              <a:t>we know that 6 of these corner </a:t>
            </a:r>
          </a:p>
          <a:p>
            <a:r>
              <a:rPr lang="tr-TR" sz="2400" dirty="0">
                <a:solidFill>
                  <a:srgbClr val="00B050"/>
                </a:solidFill>
                <a:cs typeface="Arial" panose="020B0604020202020204" pitchFamily="34" charset="0"/>
              </a:rPr>
              <a:t>points are feasible solutions.</a:t>
            </a:r>
          </a:p>
          <a:p>
            <a:endParaRPr lang="tr-TR" sz="2400" dirty="0">
              <a:solidFill>
                <a:srgbClr val="00B050"/>
              </a:solidFill>
              <a:cs typeface="Arial" panose="020B0604020202020204" pitchFamily="34" charset="0"/>
            </a:endParaRPr>
          </a:p>
          <a:p>
            <a:r>
              <a:rPr lang="tr-TR" sz="2400" dirty="0">
                <a:solidFill>
                  <a:srgbClr val="00B050"/>
                </a:solidFill>
                <a:cs typeface="Arial" panose="020B0604020202020204" pitchFamily="34" charset="0"/>
              </a:rPr>
              <a:t>Which ones are feasible?</a:t>
            </a:r>
          </a:p>
        </p:txBody>
      </p:sp>
    </p:spTree>
    <p:extLst>
      <p:ext uri="{BB962C8B-B14F-4D97-AF65-F5344CB8AC3E}">
        <p14:creationId xmlns:p14="http://schemas.microsoft.com/office/powerpoint/2010/main" val="406445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5105400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1:</a:t>
                </a:r>
              </a:p>
              <a:p>
                <a:pPr lvl="1"/>
                <a:r>
                  <a:rPr lang="en-US" dirty="0"/>
                  <a:t>constraint </a:t>
                </a:r>
                <a:r>
                  <a:rPr lang="en-US" b="1" dirty="0"/>
                  <a:t>1 </a:t>
                </a:r>
                <a:r>
                  <a:rPr lang="en-US" dirty="0"/>
                  <a:t>and constraint </a:t>
                </a:r>
                <a:r>
                  <a:rPr lang="en-US" b="1" dirty="0"/>
                  <a:t>2</a:t>
                </a:r>
                <a:r>
                  <a:rPr lang="en-US" dirty="0"/>
                  <a:t>:</a:t>
                </a:r>
                <a:endParaRPr lang="tr-TR" dirty="0"/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tr-TR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tr-TR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 </m:t>
                      </m:r>
                      <m:r>
                        <m:rPr>
                          <m:nor/>
                        </m:rPr>
                        <a:rPr lang="tr-TR" b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tr-T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b="0" i="1" smtClean="0">
                              <a:latin typeface="Cambria Math"/>
                            </a:rPr>
                            <m:t>3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, 3/2</m:t>
                          </m:r>
                        </m:e>
                      </m:d>
                    </m:oMath>
                  </m:oMathPara>
                </a14:m>
                <a:endParaRPr lang="tr-TR" dirty="0"/>
              </a:p>
              <a:p>
                <a:pPr marL="1714500" lvl="4" indent="0">
                  <a:buNone/>
                </a:pPr>
                <a:endParaRPr lang="tr-TR" dirty="0"/>
              </a:p>
              <a:p>
                <a:pPr lvl="1"/>
                <a:r>
                  <a:rPr lang="en-US" dirty="0"/>
                  <a:t>this solution is feasible since it satisfies </a:t>
                </a:r>
                <a:r>
                  <a:rPr lang="tr-TR" dirty="0"/>
                  <a:t>all</a:t>
                </a:r>
                <a:r>
                  <a:rPr lang="en-US" dirty="0"/>
                  <a:t> constraints.</a:t>
                </a:r>
                <a:r>
                  <a:rPr lang="tr-TR" dirty="0"/>
                  <a:t> </a:t>
                </a:r>
                <a:endParaRPr lang="en-US" dirty="0"/>
              </a:p>
              <a:p>
                <a:pPr lvl="1"/>
                <a:r>
                  <a:rPr lang="en-US" dirty="0"/>
                  <a:t>the objective function value</a:t>
                </a:r>
                <a:endParaRPr lang="tr-TR" dirty="0"/>
              </a:p>
              <a:p>
                <a:pPr marL="2171700" lvl="5" indent="0">
                  <a:buNone/>
                </a:pPr>
                <a:endParaRPr lang="tr-T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800" i="1">
                          <a:latin typeface="Cambria Math"/>
                        </a:rPr>
                        <m:t>𝑧</m:t>
                      </m:r>
                      <m:r>
                        <a:rPr lang="tr-TR" sz="2800" i="1">
                          <a:latin typeface="Cambria Math"/>
                        </a:rPr>
                        <m:t>=5000  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28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sz="2800" i="1" dirty="0">
                          <a:latin typeface="Cambria Math"/>
                        </a:rPr>
                        <m:t>+</m:t>
                      </m:r>
                      <m:r>
                        <a:rPr lang="tr-TR" sz="28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sz="2800" i="1" dirty="0">
                          <a:latin typeface="Cambria Math"/>
                        </a:rPr>
                        <m:t>000  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800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sz="28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sz="2800" b="0" i="1" smtClean="0">
                          <a:latin typeface="Cambria Math"/>
                        </a:rPr>
                        <m:t>=21</m:t>
                      </m:r>
                      <m:r>
                        <a:rPr lang="tr-TR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sz="2800" b="0" i="1" smtClean="0">
                          <a:latin typeface="Cambria Math"/>
                        </a:rPr>
                        <m:t>000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5105400"/>
              </a:xfrm>
              <a:blipFill>
                <a:blip r:embed="rId2"/>
                <a:stretch>
                  <a:fillRect l="-1704" t="-1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31760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1"/>
                <a:ext cx="8229600" cy="5181599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</a:t>
                </a:r>
                <a:r>
                  <a:rPr lang="tr-TR" i="1" dirty="0"/>
                  <a:t>5</a:t>
                </a:r>
                <a:r>
                  <a:rPr lang="en-US" i="1" dirty="0"/>
                  <a:t>:</a:t>
                </a:r>
              </a:p>
              <a:p>
                <a:pPr lvl="1"/>
                <a:r>
                  <a:rPr lang="en-US" dirty="0"/>
                  <a:t>constraint </a:t>
                </a:r>
                <a:r>
                  <a:rPr lang="en-US" b="1" dirty="0"/>
                  <a:t>1 </a:t>
                </a:r>
                <a:r>
                  <a:rPr lang="en-US" dirty="0"/>
                  <a:t>and constraint </a:t>
                </a:r>
                <a:r>
                  <a:rPr lang="tr-TR" b="1" dirty="0"/>
                  <a:t>6</a:t>
                </a:r>
                <a:r>
                  <a:rPr lang="en-US" dirty="0"/>
                  <a:t>:</a:t>
                </a:r>
                <a:endParaRPr lang="tr-TR" dirty="0"/>
              </a:p>
              <a:p>
                <a:endParaRPr lang="tr-TR" sz="2800" dirty="0"/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tr-TR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tr-TR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tr-TR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b="0" i="1" smtClean="0">
                              <a:latin typeface="Cambria Math"/>
                            </a:rPr>
                            <m:t>4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tr-TR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tr-TR" dirty="0"/>
              </a:p>
              <a:p>
                <a:pPr marL="0" indent="0">
                  <a:buNone/>
                </a:pPr>
                <a:endParaRPr lang="tr-TR" sz="2800" dirty="0"/>
              </a:p>
              <a:p>
                <a:pPr lvl="1"/>
                <a:r>
                  <a:rPr lang="en-US" dirty="0"/>
                  <a:t>this solution is feasible since it satisfies </a:t>
                </a:r>
                <a:r>
                  <a:rPr lang="tr-TR" dirty="0"/>
                  <a:t>all</a:t>
                </a:r>
                <a:r>
                  <a:rPr lang="en-US" dirty="0"/>
                  <a:t> constraints.</a:t>
                </a:r>
              </a:p>
              <a:p>
                <a:pPr lvl="1"/>
                <a:r>
                  <a:rPr lang="en-US" dirty="0"/>
                  <a:t>the objective function value</a:t>
                </a:r>
                <a:r>
                  <a:rPr lang="tr-TR" dirty="0"/>
                  <a:t>:</a:t>
                </a:r>
              </a:p>
              <a:p>
                <a:pPr lvl="1"/>
                <a:endParaRPr lang="tr-T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>
                          <a:latin typeface="Cambria Math"/>
                        </a:rPr>
                        <m:t>𝑧</m:t>
                      </m:r>
                      <m:r>
                        <a:rPr lang="tr-TR" i="1">
                          <a:latin typeface="Cambria Math"/>
                        </a:rPr>
                        <m:t>=5000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i="1" dirty="0">
                          <a:latin typeface="Cambria Math"/>
                        </a:rPr>
                        <m:t>+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i="1" dirty="0">
                          <a:latin typeface="Cambria Math"/>
                        </a:rPr>
                        <m:t>000  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i="1">
                          <a:latin typeface="Cambria Math"/>
                        </a:rPr>
                        <m:t>=2</m:t>
                      </m:r>
                      <m:r>
                        <a:rPr lang="tr-TR" b="0" i="1" smtClean="0">
                          <a:latin typeface="Cambria Math"/>
                        </a:rPr>
                        <m:t>0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i="1">
                          <a:latin typeface="Cambria Math"/>
                        </a:rPr>
                        <m:t>000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1"/>
                <a:ext cx="8229600" cy="5181599"/>
              </a:xfrm>
              <a:blipFill>
                <a:blip r:embed="rId2"/>
                <a:stretch>
                  <a:fillRect l="-1704" t="-1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6601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1"/>
                <a:ext cx="8229600" cy="4419600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</a:t>
                </a:r>
                <a:r>
                  <a:rPr lang="tr-TR" i="1" dirty="0"/>
                  <a:t>6</a:t>
                </a:r>
                <a:r>
                  <a:rPr lang="en-US" i="1" dirty="0"/>
                  <a:t>:</a:t>
                </a:r>
              </a:p>
              <a:p>
                <a:pPr lvl="1"/>
                <a:r>
                  <a:rPr lang="en-US" dirty="0"/>
                  <a:t>constraint </a:t>
                </a:r>
                <a:r>
                  <a:rPr lang="tr-TR" b="1" dirty="0"/>
                  <a:t>2</a:t>
                </a:r>
                <a:r>
                  <a:rPr lang="en-US" b="1" dirty="0"/>
                  <a:t> </a:t>
                </a:r>
                <a:r>
                  <a:rPr lang="en-US" dirty="0"/>
                  <a:t>and constraint </a:t>
                </a:r>
                <a:r>
                  <a:rPr lang="tr-TR" b="1" dirty="0"/>
                  <a:t>3</a:t>
                </a:r>
                <a:r>
                  <a:rPr lang="en-US" dirty="0"/>
                  <a:t>:</a:t>
                </a:r>
                <a:endParaRPr lang="tr-TR" dirty="0"/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tr-TR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tr-TR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tr-TR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b="0" i="1" smtClean="0">
                              <a:latin typeface="Cambria Math"/>
                            </a:rPr>
                            <m:t>2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tr-TR" b="0" i="1" smtClean="0">
                              <a:latin typeface="Cambria Math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tr-TR" dirty="0"/>
              </a:p>
              <a:p>
                <a:endParaRPr lang="tr-TR" sz="2800" dirty="0"/>
              </a:p>
              <a:p>
                <a:pPr lvl="1"/>
                <a:r>
                  <a:rPr lang="en-US" dirty="0"/>
                  <a:t>this solution is feasible since it satisfies </a:t>
                </a:r>
                <a:r>
                  <a:rPr lang="tr-TR" dirty="0"/>
                  <a:t>all</a:t>
                </a:r>
                <a:r>
                  <a:rPr lang="en-US" dirty="0"/>
                  <a:t> constraints.</a:t>
                </a:r>
              </a:p>
              <a:p>
                <a:pPr lvl="1"/>
                <a:r>
                  <a:rPr lang="en-US" dirty="0"/>
                  <a:t>the objective function value</a:t>
                </a:r>
                <a:r>
                  <a:rPr lang="tr-TR" dirty="0"/>
                  <a:t>:</a:t>
                </a:r>
              </a:p>
              <a:p>
                <a:pPr lvl="1"/>
                <a:endParaRPr lang="tr-T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>
                          <a:latin typeface="Cambria Math"/>
                        </a:rPr>
                        <m:t>𝑧</m:t>
                      </m:r>
                      <m:r>
                        <a:rPr lang="tr-TR" i="1">
                          <a:latin typeface="Cambria Math"/>
                        </a:rPr>
                        <m:t>=5000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i="1" dirty="0">
                          <a:latin typeface="Cambria Math"/>
                        </a:rPr>
                        <m:t>+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i="1" dirty="0">
                          <a:latin typeface="Cambria Math"/>
                        </a:rPr>
                        <m:t>000  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i="1">
                          <a:latin typeface="Cambria Math"/>
                        </a:rPr>
                        <m:t>=</m:t>
                      </m:r>
                      <m:r>
                        <a:rPr lang="tr-TR" b="0" i="1" smtClean="0">
                          <a:latin typeface="Cambria Math"/>
                        </a:rPr>
                        <m:t>18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i="1">
                          <a:latin typeface="Cambria Math"/>
                        </a:rPr>
                        <m:t>000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1"/>
                <a:ext cx="8229600" cy="4419600"/>
              </a:xfrm>
              <a:blipFill>
                <a:blip r:embed="rId2"/>
                <a:stretch>
                  <a:fillRect l="-1704" t="-1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79512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0"/>
                <a:ext cx="8229600" cy="5029200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1</a:t>
                </a:r>
                <a:r>
                  <a:rPr lang="tr-TR" i="1" dirty="0"/>
                  <a:t>0</a:t>
                </a:r>
                <a:r>
                  <a:rPr lang="en-US" i="1" dirty="0"/>
                  <a:t>:</a:t>
                </a:r>
              </a:p>
              <a:p>
                <a:pPr lvl="1"/>
                <a:r>
                  <a:rPr lang="en-US" dirty="0"/>
                  <a:t>constraint </a:t>
                </a:r>
                <a:r>
                  <a:rPr lang="tr-TR" b="1" dirty="0"/>
                  <a:t>3</a:t>
                </a:r>
                <a:r>
                  <a:rPr lang="en-US" b="1" dirty="0"/>
                  <a:t> </a:t>
                </a:r>
                <a:r>
                  <a:rPr lang="en-US" dirty="0"/>
                  <a:t>and constraint </a:t>
                </a:r>
                <a:r>
                  <a:rPr lang="tr-TR" b="1" dirty="0"/>
                  <a:t>4</a:t>
                </a:r>
                <a:r>
                  <a:rPr lang="en-US" dirty="0"/>
                  <a:t>:</a:t>
                </a:r>
                <a:endParaRPr lang="tr-TR" dirty="0"/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tr-TR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tr-TR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tr-TR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b="0" i="1" smtClean="0">
                              <a:latin typeface="Cambria Math"/>
                            </a:rPr>
                            <m:t>1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tr-TR" b="0" i="1" smtClean="0">
                              <a:latin typeface="Cambria Math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tr-TR" dirty="0"/>
              </a:p>
              <a:p>
                <a:pPr lvl="1"/>
                <a:r>
                  <a:rPr lang="en-US" dirty="0"/>
                  <a:t>this solution is feasible since it satisfies </a:t>
                </a:r>
                <a:r>
                  <a:rPr lang="tr-TR" dirty="0"/>
                  <a:t>all</a:t>
                </a:r>
                <a:r>
                  <a:rPr lang="en-US" dirty="0"/>
                  <a:t> constraints.</a:t>
                </a:r>
              </a:p>
              <a:p>
                <a:pPr lvl="1"/>
                <a:r>
                  <a:rPr lang="en-US" dirty="0"/>
                  <a:t>the objective function value</a:t>
                </a:r>
                <a:r>
                  <a:rPr lang="tr-TR" dirty="0"/>
                  <a:t>:</a:t>
                </a:r>
              </a:p>
              <a:p>
                <a:pPr lvl="1"/>
                <a:endParaRPr lang="tr-T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>
                          <a:latin typeface="Cambria Math"/>
                        </a:rPr>
                        <m:t>𝑧</m:t>
                      </m:r>
                      <m:r>
                        <a:rPr lang="tr-TR" i="1">
                          <a:latin typeface="Cambria Math"/>
                        </a:rPr>
                        <m:t>=5000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i="1" dirty="0">
                          <a:latin typeface="Cambria Math"/>
                        </a:rPr>
                        <m:t>+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i="1" dirty="0">
                          <a:latin typeface="Cambria Math"/>
                        </a:rPr>
                        <m:t>000  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i="1">
                          <a:latin typeface="Cambria Math"/>
                        </a:rPr>
                        <m:t>=1</m:t>
                      </m:r>
                      <m:r>
                        <a:rPr lang="tr-TR" b="0" i="1" smtClean="0">
                          <a:latin typeface="Cambria Math"/>
                        </a:rPr>
                        <m:t>3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i="1">
                          <a:latin typeface="Cambria Math"/>
                        </a:rPr>
                        <m:t>000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0"/>
                <a:ext cx="8229600" cy="5029200"/>
              </a:xfrm>
              <a:blipFill>
                <a:blip r:embed="rId2"/>
                <a:stretch>
                  <a:fillRect l="-1704" t="-1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87214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7801"/>
                <a:ext cx="8229600" cy="4267200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</a:t>
                </a:r>
                <a:r>
                  <a:rPr lang="tr-TR" i="1" dirty="0"/>
                  <a:t>13</a:t>
                </a:r>
                <a:r>
                  <a:rPr lang="en-US" i="1" dirty="0"/>
                  <a:t>:</a:t>
                </a:r>
              </a:p>
              <a:p>
                <a:pPr lvl="1"/>
                <a:r>
                  <a:rPr lang="en-US" dirty="0"/>
                  <a:t>constraint </a:t>
                </a:r>
                <a:r>
                  <a:rPr lang="tr-TR" b="1" dirty="0"/>
                  <a:t>4</a:t>
                </a:r>
                <a:r>
                  <a:rPr lang="en-US" b="1" dirty="0"/>
                  <a:t> </a:t>
                </a:r>
                <a:r>
                  <a:rPr lang="en-US" dirty="0"/>
                  <a:t>and constraint </a:t>
                </a:r>
                <a:r>
                  <a:rPr lang="tr-TR" b="1" dirty="0"/>
                  <a:t>5</a:t>
                </a:r>
                <a:r>
                  <a:rPr lang="en-US" dirty="0"/>
                  <a:t>:</a:t>
                </a:r>
                <a:endParaRPr lang="tr-TR" dirty="0"/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tr-TR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tr-TR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tr-TR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b="0" i="1" smtClean="0">
                              <a:latin typeface="Cambria Math"/>
                            </a:rPr>
                            <m:t>0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tr-TR" b="0" i="1" smtClean="0">
                              <a:latin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tr-TR" dirty="0"/>
              </a:p>
              <a:p>
                <a:pPr lvl="1"/>
                <a:r>
                  <a:rPr lang="en-US" dirty="0"/>
                  <a:t>this solution is feasible since it satisfies </a:t>
                </a:r>
                <a:r>
                  <a:rPr lang="tr-TR" dirty="0"/>
                  <a:t>all</a:t>
                </a:r>
                <a:r>
                  <a:rPr lang="en-US" dirty="0"/>
                  <a:t> constraints.</a:t>
                </a:r>
              </a:p>
              <a:p>
                <a:pPr lvl="1"/>
                <a:r>
                  <a:rPr lang="en-US" dirty="0"/>
                  <a:t>the objective function value</a:t>
                </a:r>
                <a:r>
                  <a:rPr lang="tr-TR" dirty="0"/>
                  <a:t>:</a:t>
                </a:r>
              </a:p>
              <a:p>
                <a:pPr lvl="1"/>
                <a:endParaRPr lang="tr-T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>
                          <a:latin typeface="Cambria Math"/>
                        </a:rPr>
                        <m:t>𝑧</m:t>
                      </m:r>
                      <m:r>
                        <a:rPr lang="tr-TR" i="1">
                          <a:latin typeface="Cambria Math"/>
                        </a:rPr>
                        <m:t>=5000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i="1" dirty="0">
                          <a:latin typeface="Cambria Math"/>
                        </a:rPr>
                        <m:t>+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i="1" dirty="0">
                          <a:latin typeface="Cambria Math"/>
                        </a:rPr>
                        <m:t>000  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i="1">
                          <a:latin typeface="Cambria Math"/>
                        </a:rPr>
                        <m:t>=</m:t>
                      </m:r>
                      <m:r>
                        <a:rPr lang="tr-TR" b="0" i="1" smtClean="0">
                          <a:latin typeface="Cambria Math"/>
                        </a:rPr>
                        <m:t>4</m:t>
                      </m:r>
                      <m:r>
                        <a:rPr lang="tr-T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tr-TR" b="0" i="1" smtClean="0">
                          <a:latin typeface="Cambria Math"/>
                        </a:rPr>
                        <m:t>0</m:t>
                      </m:r>
                      <m:r>
                        <a:rPr lang="tr-TR" i="1">
                          <a:latin typeface="Cambria Math"/>
                        </a:rPr>
                        <m:t>00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7801"/>
                <a:ext cx="8229600" cy="4267200"/>
              </a:xfrm>
              <a:blipFill>
                <a:blip r:embed="rId2"/>
                <a:stretch>
                  <a:fillRect l="-1704" t="-1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4288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Corner Point Solutions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524001"/>
                <a:ext cx="8229600" cy="4038600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Corner Point Solution 1</a:t>
                </a:r>
                <a:r>
                  <a:rPr lang="tr-TR" i="1" dirty="0"/>
                  <a:t>5</a:t>
                </a:r>
                <a:r>
                  <a:rPr lang="en-US" i="1" dirty="0"/>
                  <a:t>:</a:t>
                </a:r>
              </a:p>
              <a:p>
                <a:pPr lvl="1"/>
                <a:r>
                  <a:rPr lang="en-US" dirty="0"/>
                  <a:t>constraint </a:t>
                </a:r>
                <a:r>
                  <a:rPr lang="tr-TR" b="1" dirty="0"/>
                  <a:t>5</a:t>
                </a:r>
                <a:r>
                  <a:rPr lang="en-US" b="1" dirty="0"/>
                  <a:t> </a:t>
                </a:r>
                <a:r>
                  <a:rPr lang="en-US" dirty="0"/>
                  <a:t>and constraint </a:t>
                </a:r>
                <a:r>
                  <a:rPr lang="tr-TR" b="1" dirty="0"/>
                  <a:t>6</a:t>
                </a:r>
                <a:r>
                  <a:rPr lang="en-US" dirty="0"/>
                  <a:t>:</a:t>
                </a:r>
                <a:endParaRPr lang="tr-TR" dirty="0"/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tr-TR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tr-TR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tr-T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 </m:t>
                      </m:r>
                      <m:r>
                        <a:rPr lang="tr-TR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tr-T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tr-TR" b="0" i="1" smtClean="0">
                              <a:latin typeface="Cambria Math"/>
                            </a:rPr>
                            <m:t>0</m:t>
                          </m:r>
                          <m:r>
                            <a:rPr lang="tr-T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tr-TR" i="1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tr-TR" dirty="0"/>
              </a:p>
              <a:p>
                <a:pPr lvl="1"/>
                <a:r>
                  <a:rPr lang="en-US" dirty="0"/>
                  <a:t>this solution is feasible since it satisfies </a:t>
                </a:r>
                <a:r>
                  <a:rPr lang="tr-TR" dirty="0"/>
                  <a:t>all</a:t>
                </a:r>
                <a:r>
                  <a:rPr lang="en-US" dirty="0"/>
                  <a:t> constraints.</a:t>
                </a:r>
              </a:p>
              <a:p>
                <a:pPr lvl="1"/>
                <a:r>
                  <a:rPr lang="en-US" dirty="0"/>
                  <a:t>the objective function value</a:t>
                </a:r>
                <a:r>
                  <a:rPr lang="tr-TR" dirty="0"/>
                  <a:t>:</a:t>
                </a:r>
              </a:p>
              <a:p>
                <a:pPr lvl="1"/>
                <a:endParaRPr lang="tr-TR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i="1">
                          <a:latin typeface="Cambria Math"/>
                        </a:rPr>
                        <m:t>𝑧</m:t>
                      </m:r>
                      <m:r>
                        <a:rPr lang="tr-TR" i="1">
                          <a:latin typeface="Cambria Math"/>
                        </a:rPr>
                        <m:t>=5000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fr-FR" i="1" dirty="0">
                          <a:latin typeface="Cambria Math"/>
                        </a:rPr>
                        <m:t>+</m:t>
                      </m:r>
                      <m:r>
                        <a:rPr lang="tr-TR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fr-FR" i="1" dirty="0">
                          <a:latin typeface="Cambria Math"/>
                        </a:rPr>
                        <m:t>000  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 dirty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fr-FR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tr-TR" i="1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524001"/>
                <a:ext cx="8229600" cy="4038600"/>
              </a:xfrm>
              <a:blipFill>
                <a:blip r:embed="rId2"/>
                <a:stretch>
                  <a:fillRect l="-1704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0310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Which solution is optimal?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>
                <a:solidFill>
                  <a:srgbClr val="FF0000"/>
                </a:solidFill>
              </a:rPr>
              <a:t>Class Exercise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6920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Example: Summary of Solutions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416" y="1371600"/>
            <a:ext cx="4786184" cy="5021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1219200" y="1676400"/>
            <a:ext cx="67056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0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c8d1ff64-2a61-4ac7-9c62-a1c6a8830ab9"/>
  <p:tag name="TPVERSION" val="8"/>
  <p:tag name="TPFULLVERSION" val="8.2.6.7"/>
  <p:tag name="PPTVERSION" val="16"/>
  <p:tag name="TPOS" val="2"/>
  <p:tag name="TPLASTSAVEVERSION" val="6.2 PC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A6517E19E6431E4C8A7F2D18BC1C9A95" ma:contentTypeVersion="15" ma:contentTypeDescription="Yeni belge oluşturun." ma:contentTypeScope="" ma:versionID="78c2748d14fd25ae1efbce9d1d6f453f">
  <xsd:schema xmlns:xsd="http://www.w3.org/2001/XMLSchema" xmlns:xs="http://www.w3.org/2001/XMLSchema" xmlns:p="http://schemas.microsoft.com/office/2006/metadata/properties" xmlns:ns3="65edfe5a-496a-4133-a6fa-9b9305227640" xmlns:ns4="9f613a20-c6af-4a69-a0b9-b93c46c5b1f4" targetNamespace="http://schemas.microsoft.com/office/2006/metadata/properties" ma:root="true" ma:fieldsID="727ace8560e388592fb74c59d2b0aae7" ns3:_="" ns4:_="">
    <xsd:import namespace="65edfe5a-496a-4133-a6fa-9b9305227640"/>
    <xsd:import namespace="9f613a20-c6af-4a69-a0b9-b93c46c5b1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dfe5a-496a-4133-a6fa-9b93052276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Length (seconds)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613a20-c6af-4a69-a0b9-b93c46c5b1f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İpucu Paylaşımı Karması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A02B94-4B4D-4718-B22B-D670309B87AF}">
  <ds:schemaRefs>
    <ds:schemaRef ds:uri="http://purl.org/dc/dcmitype/"/>
    <ds:schemaRef ds:uri="9f613a20-c6af-4a69-a0b9-b93c46c5b1f4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65edfe5a-496a-4133-a6fa-9b930522764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72AEC7E-D2E1-4E51-8CAC-B419557FF0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edfe5a-496a-4133-a6fa-9b9305227640"/>
    <ds:schemaRef ds:uri="9f613a20-c6af-4a69-a0b9-b93c46c5b1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5008471-915D-4FFD-A91E-179150D0BA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18993</TotalTime>
  <Words>3348</Words>
  <Application>Microsoft Macintosh PowerPoint</Application>
  <PresentationFormat>On-screen Show (4:3)</PresentationFormat>
  <Paragraphs>494</Paragraphs>
  <Slides>46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Cambria Math</vt:lpstr>
      <vt:lpstr>Times New Roman</vt:lpstr>
      <vt:lpstr>Wingdings</vt:lpstr>
      <vt:lpstr>Office Theme</vt:lpstr>
      <vt:lpstr>Default Design</vt:lpstr>
      <vt:lpstr>INDR 100   INTRODUCTION TO INDUSTRIAL ENGINEERING</vt:lpstr>
      <vt:lpstr>Agenda of the Day</vt:lpstr>
      <vt:lpstr>Graphical Representation of the Problem</vt:lpstr>
      <vt:lpstr>How can we find the optimal solution for a linear programming model?</vt:lpstr>
      <vt:lpstr>How to Find the Optimal Solution?</vt:lpstr>
      <vt:lpstr>Corner Point Solutions</vt:lpstr>
      <vt:lpstr>How to Find the Optimal Solution?</vt:lpstr>
      <vt:lpstr>Example: Constraints</vt:lpstr>
      <vt:lpstr>How to Find the Optimal Solution?</vt:lpstr>
      <vt:lpstr>Example: Feasible Region</vt:lpstr>
      <vt:lpstr>Example: Corner Point Solutions</vt:lpstr>
      <vt:lpstr>Example: Corner Point Solutions</vt:lpstr>
      <vt:lpstr>Example: Corner Point Solutions</vt:lpstr>
      <vt:lpstr>Example: Corner Point Solutions</vt:lpstr>
      <vt:lpstr>Example: Corner Point Solutions</vt:lpstr>
      <vt:lpstr>Example: Corner Point Solutions</vt:lpstr>
      <vt:lpstr>Example: Corner Point Solutions</vt:lpstr>
      <vt:lpstr>Example: Corner Point Solutions</vt:lpstr>
      <vt:lpstr>Example: Corner Point Solutions</vt:lpstr>
      <vt:lpstr>Example: Corner Point Solutions</vt:lpstr>
      <vt:lpstr>Example: Corner Point Solutions</vt:lpstr>
      <vt:lpstr>Example: Summary of Solutions</vt:lpstr>
      <vt:lpstr>Example:  Summary of Solutions</vt:lpstr>
      <vt:lpstr>Example: Paint Production</vt:lpstr>
      <vt:lpstr>Example: Process Diagram and Data</vt:lpstr>
      <vt:lpstr>Guidelines for Model Development</vt:lpstr>
      <vt:lpstr>Example: Objective</vt:lpstr>
      <vt:lpstr>Example: Constraints</vt:lpstr>
      <vt:lpstr>Example: Constraints</vt:lpstr>
      <vt:lpstr>Example: Decision Variables</vt:lpstr>
      <vt:lpstr>Example: Objective Function Formulation</vt:lpstr>
      <vt:lpstr>Example: Constraint Formulation</vt:lpstr>
      <vt:lpstr>Example: Constraint Formulation</vt:lpstr>
      <vt:lpstr>Example: Constraint Formulation</vt:lpstr>
      <vt:lpstr>Example: Complete Model</vt:lpstr>
      <vt:lpstr>Example: Feasible Region</vt:lpstr>
      <vt:lpstr>Class Exercise</vt:lpstr>
      <vt:lpstr>Example: Corner Point Solutions</vt:lpstr>
      <vt:lpstr>Example: Corner Point Solutions</vt:lpstr>
      <vt:lpstr>Example: Corner Point Solutions</vt:lpstr>
      <vt:lpstr>Example: Corner Point Solutions</vt:lpstr>
      <vt:lpstr>Example: Corner Point Solutions</vt:lpstr>
      <vt:lpstr>Example: Corner Point Solutions</vt:lpstr>
      <vt:lpstr>Example: Corner Point Solutions</vt:lpstr>
      <vt:lpstr>Class Exercise</vt:lpstr>
      <vt:lpstr>Example: Summary of Solutions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Ceyda Oguz</dc:creator>
  <cp:lastModifiedBy>Reviewer</cp:lastModifiedBy>
  <cp:revision>194</cp:revision>
  <dcterms:created xsi:type="dcterms:W3CDTF">2014-10-13T19:35:04Z</dcterms:created>
  <dcterms:modified xsi:type="dcterms:W3CDTF">2025-11-05T16:43:26Z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0x010100A6517E19E6431E4C8A7F2D18BC1C9A95</vt:lpwstr>
  </property>
</Properties>
</file>