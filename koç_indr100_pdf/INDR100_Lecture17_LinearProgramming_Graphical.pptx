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4"/>
    <p:sldMasterId id="2147483972" r:id="rId5"/>
  </p:sldMasterIdLst>
  <p:notesMasterIdLst>
    <p:notesMasterId r:id="rId34"/>
  </p:notesMasterIdLst>
  <p:sldIdLst>
    <p:sldId id="383" r:id="rId6"/>
    <p:sldId id="355" r:id="rId7"/>
    <p:sldId id="337" r:id="rId8"/>
    <p:sldId id="338" r:id="rId9"/>
    <p:sldId id="374" r:id="rId10"/>
    <p:sldId id="377" r:id="rId11"/>
    <p:sldId id="362" r:id="rId12"/>
    <p:sldId id="364" r:id="rId13"/>
    <p:sldId id="379" r:id="rId14"/>
    <p:sldId id="380" r:id="rId15"/>
    <p:sldId id="384" r:id="rId16"/>
    <p:sldId id="342" r:id="rId17"/>
    <p:sldId id="343" r:id="rId18"/>
    <p:sldId id="378" r:id="rId19"/>
    <p:sldId id="318" r:id="rId20"/>
    <p:sldId id="258" r:id="rId21"/>
    <p:sldId id="363" r:id="rId22"/>
    <p:sldId id="319" r:id="rId23"/>
    <p:sldId id="358" r:id="rId24"/>
    <p:sldId id="359" r:id="rId25"/>
    <p:sldId id="360" r:id="rId26"/>
    <p:sldId id="361" r:id="rId27"/>
    <p:sldId id="357" r:id="rId28"/>
    <p:sldId id="269" r:id="rId29"/>
    <p:sldId id="339" r:id="rId30"/>
    <p:sldId id="365" r:id="rId31"/>
    <p:sldId id="340" r:id="rId32"/>
    <p:sldId id="373" r:id="rId33"/>
  </p:sldIdLst>
  <p:sldSz cx="9144000" cy="6858000" type="screen4x3"/>
  <p:notesSz cx="6858000" cy="9144000"/>
  <p:custDataLst>
    <p:tags r:id="rId3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0328" autoAdjust="0"/>
  </p:normalViewPr>
  <p:slideViewPr>
    <p:cSldViewPr>
      <p:cViewPr varScale="1">
        <p:scale>
          <a:sx n="60" d="100"/>
          <a:sy n="60" d="100"/>
        </p:scale>
        <p:origin x="180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gs" Target="tags/tag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yda Oğuz" userId="84bc0a04-df01-4c62-bf4b-b758d8f4fb09" providerId="ADAL" clId="{7D5C533B-DEF3-43DA-9971-CD21219CCCEF}"/>
    <pc:docChg chg="delSld">
      <pc:chgData name="Ceyda Oğuz" userId="84bc0a04-df01-4c62-bf4b-b758d8f4fb09" providerId="ADAL" clId="{7D5C533B-DEF3-43DA-9971-CD21219CCCEF}" dt="2025-07-25T12:44:22.174" v="2" actId="2696"/>
      <pc:docMkLst>
        <pc:docMk/>
      </pc:docMkLst>
      <pc:sldChg chg="del">
        <pc:chgData name="Ceyda Oğuz" userId="84bc0a04-df01-4c62-bf4b-b758d8f4fb09" providerId="ADAL" clId="{7D5C533B-DEF3-43DA-9971-CD21219CCCEF}" dt="2025-07-25T12:44:12.323" v="1" actId="2696"/>
        <pc:sldMkLst>
          <pc:docMk/>
          <pc:sldMk cId="0" sldId="303"/>
        </pc:sldMkLst>
      </pc:sldChg>
      <pc:sldChg chg="del">
        <pc:chgData name="Ceyda Oğuz" userId="84bc0a04-df01-4c62-bf4b-b758d8f4fb09" providerId="ADAL" clId="{7D5C533B-DEF3-43DA-9971-CD21219CCCEF}" dt="2025-07-25T12:44:12.323" v="1" actId="2696"/>
        <pc:sldMkLst>
          <pc:docMk/>
          <pc:sldMk cId="0" sldId="304"/>
        </pc:sldMkLst>
      </pc:sldChg>
      <pc:sldChg chg="del">
        <pc:chgData name="Ceyda Oğuz" userId="84bc0a04-df01-4c62-bf4b-b758d8f4fb09" providerId="ADAL" clId="{7D5C533B-DEF3-43DA-9971-CD21219CCCEF}" dt="2025-07-25T12:44:12.323" v="1" actId="2696"/>
        <pc:sldMkLst>
          <pc:docMk/>
          <pc:sldMk cId="0" sldId="305"/>
        </pc:sldMkLst>
      </pc:sldChg>
      <pc:sldChg chg="del">
        <pc:chgData name="Ceyda Oğuz" userId="84bc0a04-df01-4c62-bf4b-b758d8f4fb09" providerId="ADAL" clId="{7D5C533B-DEF3-43DA-9971-CD21219CCCEF}" dt="2025-07-25T12:44:12.323" v="1" actId="2696"/>
        <pc:sldMkLst>
          <pc:docMk/>
          <pc:sldMk cId="0" sldId="307"/>
        </pc:sldMkLst>
      </pc:sldChg>
      <pc:sldChg chg="del">
        <pc:chgData name="Ceyda Oğuz" userId="84bc0a04-df01-4c62-bf4b-b758d8f4fb09" providerId="ADAL" clId="{7D5C533B-DEF3-43DA-9971-CD21219CCCEF}" dt="2025-07-25T12:44:12.323" v="1" actId="2696"/>
        <pc:sldMkLst>
          <pc:docMk/>
          <pc:sldMk cId="0" sldId="308"/>
        </pc:sldMkLst>
      </pc:sldChg>
      <pc:sldChg chg="del">
        <pc:chgData name="Ceyda Oğuz" userId="84bc0a04-df01-4c62-bf4b-b758d8f4fb09" providerId="ADAL" clId="{7D5C533B-DEF3-43DA-9971-CD21219CCCEF}" dt="2025-07-25T12:44:12.323" v="1" actId="2696"/>
        <pc:sldMkLst>
          <pc:docMk/>
          <pc:sldMk cId="0" sldId="309"/>
        </pc:sldMkLst>
      </pc:sldChg>
      <pc:sldChg chg="del">
        <pc:chgData name="Ceyda Oğuz" userId="84bc0a04-df01-4c62-bf4b-b758d8f4fb09" providerId="ADAL" clId="{7D5C533B-DEF3-43DA-9971-CD21219CCCEF}" dt="2025-07-25T12:44:22.174" v="2" actId="2696"/>
        <pc:sldMkLst>
          <pc:docMk/>
          <pc:sldMk cId="4205903275" sldId="341"/>
        </pc:sldMkLst>
      </pc:sldChg>
      <pc:sldChg chg="del">
        <pc:chgData name="Ceyda Oğuz" userId="84bc0a04-df01-4c62-bf4b-b758d8f4fb09" providerId="ADAL" clId="{7D5C533B-DEF3-43DA-9971-CD21219CCCEF}" dt="2025-07-25T12:43:53.620" v="0" actId="2696"/>
        <pc:sldMkLst>
          <pc:docMk/>
          <pc:sldMk cId="1933306636" sldId="382"/>
        </pc:sldMkLst>
      </pc:sldChg>
    </pc:docChg>
  </pc:docChgLst>
  <pc:docChgLst>
    <pc:chgData name="Barış Yıldız" userId="65cd66b7-6c69-47e2-942e-042b3bd7af0f" providerId="ADAL" clId="{99237494-269A-4CA9-9544-97DFBEB8293E}"/>
    <pc:docChg chg="modSld">
      <pc:chgData name="Barış Yıldız" userId="65cd66b7-6c69-47e2-942e-042b3bd7af0f" providerId="ADAL" clId="{99237494-269A-4CA9-9544-97DFBEB8293E}" dt="2026-04-21T06:23:24.187" v="13" actId="14100"/>
      <pc:docMkLst>
        <pc:docMk/>
      </pc:docMkLst>
      <pc:sldChg chg="modSp mod">
        <pc:chgData name="Barış Yıldız" userId="65cd66b7-6c69-47e2-942e-042b3bd7af0f" providerId="ADAL" clId="{99237494-269A-4CA9-9544-97DFBEB8293E}" dt="2026-04-21T06:23:24.187" v="13" actId="14100"/>
        <pc:sldMkLst>
          <pc:docMk/>
          <pc:sldMk cId="2925601005" sldId="343"/>
        </pc:sldMkLst>
        <pc:spChg chg="mod">
          <ac:chgData name="Barış Yıldız" userId="65cd66b7-6c69-47e2-942e-042b3bd7af0f" providerId="ADAL" clId="{99237494-269A-4CA9-9544-97DFBEB8293E}" dt="2026-04-21T06:23:24.187" v="13" actId="14100"/>
          <ac:spMkLst>
            <pc:docMk/>
            <pc:sldMk cId="2925601005" sldId="343"/>
            <ac:spMk id="2" creationId="{00000000-0000-0000-0000-000000000000}"/>
          </ac:spMkLst>
        </pc:spChg>
      </pc:sldChg>
      <pc:sldChg chg="modSp mod">
        <pc:chgData name="Barış Yıldız" userId="65cd66b7-6c69-47e2-942e-042b3bd7af0f" providerId="ADAL" clId="{99237494-269A-4CA9-9544-97DFBEB8293E}" dt="2026-04-16T06:59:03.990" v="3" actId="20577"/>
        <pc:sldMkLst>
          <pc:docMk/>
          <pc:sldMk cId="256577413" sldId="383"/>
        </pc:sldMkLst>
        <pc:spChg chg="mod">
          <ac:chgData name="Barış Yıldız" userId="65cd66b7-6c69-47e2-942e-042b3bd7af0f" providerId="ADAL" clId="{99237494-269A-4CA9-9544-97DFBEB8293E}" dt="2026-04-16T06:59:03.990" v="3" actId="20577"/>
          <ac:spMkLst>
            <pc:docMk/>
            <pc:sldMk cId="256577413" sldId="383"/>
            <ac:spMk id="205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6885DB-7F15-4976-AE6E-3BBB5BF401E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A4165-1098-4092-9B16-0A59B253C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06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Class Exercise: </a:t>
            </a:r>
            <a:r>
              <a:rPr lang="en-US" dirty="0"/>
              <a:t>F</a:t>
            </a:r>
            <a:r>
              <a:rPr lang="tr-TR" dirty="0"/>
              <a:t>i</a:t>
            </a:r>
            <a:r>
              <a:rPr lang="en-US" dirty="0"/>
              <a:t>ls</a:t>
            </a:r>
            <a:r>
              <a:rPr lang="tr-TR" dirty="0"/>
              <a:t>i</a:t>
            </a:r>
            <a:r>
              <a:rPr lang="en-US" dirty="0"/>
              <a:t>z </a:t>
            </a:r>
            <a:r>
              <a:rPr lang="en-US" dirty="0" err="1"/>
              <a:t>Boya</a:t>
            </a:r>
            <a:r>
              <a:rPr lang="en-US" dirty="0"/>
              <a:t> </a:t>
            </a:r>
            <a:r>
              <a:rPr lang="tr-TR" dirty="0"/>
              <a:t>C</a:t>
            </a:r>
            <a:r>
              <a:rPr lang="en-US" dirty="0" err="1"/>
              <a:t>ompany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tr-TR" dirty="0"/>
              <a:t>Bir önceki derste anlattım, buradan çıkarttım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A4165-1098-4092-9B16-0A59B253C6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81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Nimonik (hatırlatıcı, things</a:t>
            </a:r>
            <a:r>
              <a:rPr lang="tr-TR" baseline="0" dirty="0"/>
              <a:t> that help us to remember)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tr-TR"/>
              <a:t>INDR 100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55FECA-DFE6-4B41-B2F2-CC6A3A14CD41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3261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Units of measurement:</a:t>
            </a:r>
            <a:r>
              <a:rPr lang="tr-TR" sz="1200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scale variables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da vardı ama ne demek olduğunu anlamadığım için kaldırdım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tr-TR"/>
              <a:t>INDR 100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55FECA-DFE6-4B41-B2F2-CC6A3A14CD41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6186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A4165-1098-4092-9B16-0A59B253C66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15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6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252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66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01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07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46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73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48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41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34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266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5930EE-3348-477B-AF5E-98386206D29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7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A0C0C4-74CF-4C80-AB86-CA62A4B1ED1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307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0F54BB-B7A2-4F96-AB97-69E9CDD48CA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18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7285B1-85F7-4040-9EA9-3F5042BBC00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162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39AE3-4E91-4384-A142-CEBE9D86C5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48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9C554E-21B7-484B-AFEF-B478EEFE7FD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17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B83043-F2C2-4C95-AE7D-6EAEF2DF1E6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68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A32ABE-DBCB-4254-81D4-05CCB37D06F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769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D0520A-9775-4F05-94A3-70663C4891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543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F4DB37-FA15-4B20-AC30-674F326F105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7683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C6B182-9BA6-4EB0-B233-C27C15F43D3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32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6: Quantitatve Methods in Health Care Management</a:t>
            </a:r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Yasar A. Ozcan</a:t>
            </a:r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3750E8-8556-43B6-8336-44DFF8B125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3379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INDR 100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INDR 100</a:t>
            </a:r>
          </a:p>
        </p:txBody>
      </p:sp>
    </p:spTree>
    <p:extLst>
      <p:ext uri="{BB962C8B-B14F-4D97-AF65-F5344CB8AC3E}">
        <p14:creationId xmlns:p14="http://schemas.microsoft.com/office/powerpoint/2010/main" val="322970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9DA0F5B-E0A9-4BE9-A1B6-9215DCC175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69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  <p:sldLayoutId id="2147483984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itchFamily="2" charset="2"/>
        <a:buChar char="q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92063" y="609600"/>
            <a:ext cx="8001000" cy="3124200"/>
          </a:xfrm>
        </p:spPr>
        <p:txBody>
          <a:bodyPr/>
          <a:lstStyle/>
          <a:p>
            <a:r>
              <a:rPr lang="tr-TR" sz="4000" dirty="0">
                <a:solidFill>
                  <a:srgbClr val="FF0000"/>
                </a:solidFill>
                <a:cs typeface="Times New Roman" pitchFamily="18" charset="0"/>
              </a:rPr>
              <a:t>INDR 100</a:t>
            </a:r>
            <a:br>
              <a:rPr lang="tr-TR" sz="4000" dirty="0">
                <a:cs typeface="Times New Roman" pitchFamily="18" charset="0"/>
              </a:rPr>
            </a:br>
            <a:br>
              <a:rPr lang="en-US" sz="4000" dirty="0">
                <a:cs typeface="Times New Roman" pitchFamily="18" charset="0"/>
              </a:rPr>
            </a:br>
            <a:r>
              <a:rPr lang="en-US" sz="40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tr-TR" sz="4000" dirty="0">
                <a:solidFill>
                  <a:srgbClr val="000000"/>
                </a:solidFill>
                <a:latin typeface="Comic Sans MS" pitchFamily="66" charset="0"/>
                <a:cs typeface="Times New Roman" pitchFamily="18" charset="0"/>
              </a:rPr>
              <a:t>INTRODUCTION TO </a:t>
            </a:r>
            <a:r>
              <a:rPr lang="en-US" sz="4000" dirty="0">
                <a:solidFill>
                  <a:srgbClr val="000000"/>
                </a:solidFill>
                <a:latin typeface="Comic Sans MS" pitchFamily="66" charset="0"/>
                <a:cs typeface="Times New Roman" pitchFamily="18" charset="0"/>
              </a:rPr>
              <a:t>INDUSTRIAL ENGINEERING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733800"/>
            <a:ext cx="8001000" cy="10668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Lecture #</a:t>
            </a:r>
            <a:r>
              <a:rPr lang="tr-TR" dirty="0">
                <a:solidFill>
                  <a:schemeClr val="tx1"/>
                </a:solidFill>
              </a:rPr>
              <a:t>16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tx1"/>
                </a:solidFill>
              </a:rPr>
              <a:t>Linear Programming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5800" y="5029200"/>
            <a:ext cx="8001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Ceyda </a:t>
            </a:r>
            <a:r>
              <a:rPr lang="en-US" dirty="0" err="1"/>
              <a:t>Oğuz</a:t>
            </a:r>
            <a:endParaRPr lang="en-US" dirty="0"/>
          </a:p>
          <a:p>
            <a:pPr algn="ctr"/>
            <a:r>
              <a:rPr lang="en-US" sz="1600" dirty="0" err="1"/>
              <a:t>coguz</a:t>
            </a:r>
            <a:r>
              <a:rPr lang="en-US" sz="1600" u="sng" dirty="0" err="1"/>
              <a:t>@ku.edu.tr</a:t>
            </a:r>
            <a:endParaRPr 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5576983"/>
            <a:ext cx="800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Koç</a:t>
            </a:r>
            <a:r>
              <a:rPr lang="en-US" sz="1400" dirty="0"/>
              <a:t> University</a:t>
            </a:r>
          </a:p>
        </p:txBody>
      </p:sp>
    </p:spTree>
    <p:extLst>
      <p:ext uri="{BB962C8B-B14F-4D97-AF65-F5344CB8AC3E}">
        <p14:creationId xmlns:p14="http://schemas.microsoft.com/office/powerpoint/2010/main" val="256577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tr-TR" dirty="0"/>
              <a:t>Agenda of the 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744" y="1524000"/>
            <a:ext cx="8001000" cy="4886131"/>
          </a:xfrm>
        </p:spPr>
        <p:txBody>
          <a:bodyPr/>
          <a:lstStyle/>
          <a:p>
            <a:r>
              <a:rPr lang="en-US" dirty="0"/>
              <a:t>How to Build a Good Model?</a:t>
            </a:r>
            <a:endParaRPr lang="tr-TR" dirty="0"/>
          </a:p>
          <a:p>
            <a:pPr lvl="4"/>
            <a:endParaRPr lang="tr-TR" dirty="0"/>
          </a:p>
          <a:p>
            <a:r>
              <a:rPr lang="en-US" dirty="0"/>
              <a:t>Mathematical Programming </a:t>
            </a:r>
            <a:r>
              <a:rPr lang="tr-TR" dirty="0"/>
              <a:t>Model</a:t>
            </a:r>
            <a:r>
              <a:rPr lang="en-US" dirty="0"/>
              <a:t> Types</a:t>
            </a:r>
            <a:endParaRPr lang="tr-TR" dirty="0"/>
          </a:p>
          <a:p>
            <a:pPr lvl="5"/>
            <a:endParaRPr lang="tr-TR" dirty="0"/>
          </a:p>
          <a:p>
            <a:r>
              <a:rPr lang="tr-TR" dirty="0" err="1"/>
              <a:t>Graphical</a:t>
            </a:r>
            <a:r>
              <a:rPr lang="tr-TR" dirty="0"/>
              <a:t> </a:t>
            </a:r>
            <a:r>
              <a:rPr lang="tr-TR" dirty="0" err="1"/>
              <a:t>Representation</a:t>
            </a:r>
            <a:endParaRPr lang="tr-TR" dirty="0"/>
          </a:p>
          <a:p>
            <a:pPr lvl="5"/>
            <a:endParaRPr lang="tr-TR" dirty="0"/>
          </a:p>
          <a:p>
            <a:r>
              <a:rPr lang="tr-TR" dirty="0"/>
              <a:t>Analysis of Solutions</a:t>
            </a:r>
          </a:p>
          <a:p>
            <a:pPr marL="2743200" lvl="6" indent="0">
              <a:buNone/>
            </a:pPr>
            <a:endParaRPr lang="tr-TR" dirty="0"/>
          </a:p>
          <a:p>
            <a:endParaRPr lang="tr-TR" dirty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4C189D-BDFE-4396-970F-5D7218EBAA16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INDR 100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221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Build a Good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30387"/>
            <a:ext cx="8229600" cy="4525963"/>
          </a:xfrm>
        </p:spPr>
        <p:txBody>
          <a:bodyPr/>
          <a:lstStyle/>
          <a:p>
            <a:pPr marL="0" indent="0">
              <a:spcAft>
                <a:spcPts val="1200"/>
              </a:spcAft>
              <a:buClr>
                <a:srgbClr val="0066FF"/>
              </a:buClr>
              <a:buSzPct val="7000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 considerations in building a model:</a:t>
            </a:r>
          </a:p>
          <a:p>
            <a:pPr>
              <a:spcAft>
                <a:spcPts val="1200"/>
              </a:spcAft>
              <a:buClr>
                <a:srgbClr val="0066FF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ease of understanding the model</a:t>
            </a:r>
          </a:p>
          <a:p>
            <a:pPr>
              <a:spcAft>
                <a:spcPts val="1200"/>
              </a:spcAft>
              <a:buClr>
                <a:srgbClr val="0066FF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ease of detecting errors in the model</a:t>
            </a:r>
          </a:p>
          <a:p>
            <a:pPr>
              <a:spcAft>
                <a:spcPts val="1200"/>
              </a:spcAft>
              <a:buClr>
                <a:srgbClr val="0066FF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ease of computing the solution</a:t>
            </a:r>
          </a:p>
          <a:p>
            <a:pPr>
              <a:spcAft>
                <a:spcPts val="1200"/>
              </a:spcAft>
              <a:buClr>
                <a:srgbClr val="0066FF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units of measurement, scaling the coefficients, robustness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766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Build a Good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756150"/>
          </a:xfrm>
        </p:spPr>
        <p:txBody>
          <a:bodyPr>
            <a:normAutofit/>
          </a:bodyPr>
          <a:lstStyle/>
          <a:p>
            <a:pPr>
              <a:buClr>
                <a:srgbClr val="0066FF"/>
              </a:buClr>
              <a:buSzPct val="70000"/>
              <a:buFont typeface="Wingdings" panose="05000000000000000000" pitchFamily="2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Ease of understanding the model:</a:t>
            </a:r>
          </a:p>
          <a:p>
            <a:pPr lvl="1"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mnemonic (related) names for variables and constraints</a:t>
            </a:r>
          </a:p>
          <a:p>
            <a:pPr>
              <a:buClr>
                <a:srgbClr val="0066FF"/>
              </a:buClr>
              <a:buSzPct val="70000"/>
              <a:buFont typeface="Wingdings" panose="05000000000000000000" pitchFamily="2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Ease of detecting errors in the model:</a:t>
            </a:r>
          </a:p>
          <a:p>
            <a:pPr lvl="1"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avoid formulation errors</a:t>
            </a:r>
          </a:p>
          <a:p>
            <a:pPr lvl="2">
              <a:buClr>
                <a:srgbClr val="0066FF"/>
              </a:buCl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unbounded or infeasible models are usually indicators of error</a:t>
            </a:r>
          </a:p>
          <a:p>
            <a:pPr lvl="2">
              <a:buClr>
                <a:srgbClr val="0066FF"/>
              </a:buCl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examine if a known solution is feasible</a:t>
            </a:r>
          </a:p>
          <a:p>
            <a:pPr lvl="2">
              <a:buClr>
                <a:srgbClr val="0066FF"/>
              </a:buCl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examine if the optimal solution makes sense</a:t>
            </a:r>
          </a:p>
          <a:p>
            <a:pPr lvl="2">
              <a:buClr>
                <a:srgbClr val="0066FF"/>
              </a:buCl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include sensible bounds on decision variables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5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325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Build a Good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05958"/>
            <a:ext cx="8763000" cy="5334000"/>
          </a:xfrm>
        </p:spPr>
        <p:txBody>
          <a:bodyPr>
            <a:normAutofit fontScale="85000" lnSpcReduction="10000"/>
          </a:bodyPr>
          <a:lstStyle/>
          <a:p>
            <a:pPr>
              <a:buClr>
                <a:srgbClr val="0066FF"/>
              </a:buClr>
              <a:buSzPct val="70000"/>
              <a:buFont typeface="Wingdings" panose="05000000000000000000" pitchFamily="2" charset="2"/>
              <a:buChar char="q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Ease of computing the solution:</a:t>
            </a:r>
          </a:p>
          <a:p>
            <a:pPr lvl="1">
              <a:lnSpc>
                <a:spcPct val="120000"/>
              </a:lnSpc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realistic assumptions may simplify the model</a:t>
            </a:r>
          </a:p>
          <a:p>
            <a:pPr lvl="1">
              <a:lnSpc>
                <a:spcPct val="120000"/>
              </a:lnSpc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some procedures may detect redundancies and fix some variables to reduce the problem size</a:t>
            </a:r>
          </a:p>
          <a:p>
            <a:pPr lvl="1">
              <a:lnSpc>
                <a:spcPct val="120000"/>
              </a:lnSpc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some models have a special structure</a:t>
            </a:r>
            <a:r>
              <a:rPr lang="tr-TR" sz="26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600" dirty="0"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can be exploited to solve these models easily, e.g., assignment problem, transportation problem</a:t>
            </a:r>
          </a:p>
          <a:p>
            <a:pPr lvl="1">
              <a:lnSpc>
                <a:spcPct val="120000"/>
              </a:lnSpc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some models can be decomposed into smaller models</a:t>
            </a:r>
          </a:p>
          <a:p>
            <a:pPr lvl="4">
              <a:buClr>
                <a:srgbClr val="0066FF"/>
              </a:buClr>
              <a:buSzPct val="70000"/>
              <a:buFont typeface="Wingdings" panose="05000000000000000000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0066FF"/>
              </a:buClr>
              <a:buSzPct val="70000"/>
              <a:buFont typeface="Wingdings" panose="05000000000000000000" pitchFamily="2" charset="2"/>
              <a:buChar char="q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Units of measurement:</a:t>
            </a:r>
          </a:p>
          <a:p>
            <a:pPr lvl="1">
              <a:lnSpc>
                <a:spcPct val="120000"/>
              </a:lnSpc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make sure that left-hand-side and right-hand-side of the constraints have the same units</a:t>
            </a:r>
          </a:p>
          <a:p>
            <a:pPr lvl="1">
              <a:lnSpc>
                <a:spcPct val="120000"/>
              </a:lnSpc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disparity in the sizes of coefficients leads to unstable models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62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68477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Mathematical Programming </a:t>
            </a:r>
            <a:r>
              <a:rPr lang="tr-T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05800" cy="5181600"/>
          </a:xfrm>
        </p:spPr>
        <p:txBody>
          <a:bodyPr>
            <a:normAutofit fontScale="70000" lnSpcReduction="20000"/>
          </a:bodyPr>
          <a:lstStyle/>
          <a:p>
            <a:pPr>
              <a:buClr>
                <a:srgbClr val="0066FF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Mathematical Programming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 are categorized in 3 main groups according to the nature of the decision variables and type of objective function and constraints:</a:t>
            </a:r>
          </a:p>
          <a:p>
            <a:pPr lvl="2"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Programming </a:t>
            </a:r>
            <a:r>
              <a:rPr lang="en-US" sz="2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LP</a:t>
            </a:r>
            <a:r>
              <a:rPr lang="en-US" sz="2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2"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Nonlinear Programming </a:t>
            </a:r>
            <a:r>
              <a:rPr lang="en-US" sz="2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NLP</a:t>
            </a:r>
            <a:r>
              <a:rPr lang="en-US" sz="2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2"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r>
              <a:rPr lang="tr-TR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6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nteger</a:t>
            </a:r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Programming </a:t>
            </a:r>
            <a:r>
              <a:rPr lang="en-US" sz="2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tr-TR" sz="2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tr-TR" sz="2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endParaRPr lang="en-US" sz="2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0066FF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Pure integer Programming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tr-TR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buClr>
                <a:srgbClr val="0066FF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Mixed-integer Linear Programming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tr-TR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buClr>
                <a:srgbClr val="0066FF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Mixed-integer Nonlinear Programming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tr-TR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NLP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buClr>
                <a:srgbClr val="0066FF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Mathematical Programming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 can also be considered in two different classes according to the parameters involved:</a:t>
            </a:r>
          </a:p>
          <a:p>
            <a:pPr lvl="2"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Deterministic </a:t>
            </a:r>
            <a:r>
              <a:rPr lang="tr-TR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tr-TR" sz="2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buClr>
                <a:srgbClr val="0066FF"/>
              </a:buClr>
              <a:buSzPct val="90000"/>
              <a:buFont typeface="Wingdings" panose="05000000000000000000" pitchFamily="2" charset="2"/>
              <a:buChar char="ü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all of the problem data is known and fixed</a:t>
            </a:r>
          </a:p>
          <a:p>
            <a:pPr lvl="2"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Stochastic </a:t>
            </a:r>
            <a:r>
              <a:rPr lang="tr-TR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3">
              <a:buClr>
                <a:srgbClr val="0066FF"/>
              </a:buClr>
              <a:buSzPct val="90000"/>
              <a:buFont typeface="Wingdings" panose="05000000000000000000" pitchFamily="2" charset="2"/>
              <a:buChar char="ü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some or all of the variables in the problem can have random values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359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</a:t>
            </a:r>
            <a:r>
              <a:rPr lang="en-US" altLang="en-US" dirty="0">
                <a:solidFill>
                  <a:srgbClr val="00B050"/>
                </a:solidFill>
              </a:rPr>
              <a:t>Linear Programming </a:t>
            </a:r>
            <a:r>
              <a:rPr lang="tr-TR" altLang="en-US" dirty="0">
                <a:solidFill>
                  <a:srgbClr val="00B050"/>
                </a:solidFill>
              </a:rPr>
              <a:t>(LP) </a:t>
            </a:r>
            <a:r>
              <a:rPr lang="en-US" altLang="en-US" dirty="0"/>
              <a:t>model </a:t>
            </a:r>
            <a:r>
              <a:rPr lang="tr-TR" altLang="en-US" dirty="0"/>
              <a:t>aim</a:t>
            </a:r>
            <a:r>
              <a:rPr lang="en-US" altLang="en-US" dirty="0"/>
              <a:t>s to maximize or minimize a linear function, subject to a set of linear constraints.</a:t>
            </a:r>
          </a:p>
          <a:p>
            <a:pPr>
              <a:lnSpc>
                <a:spcPct val="130000"/>
              </a:lnSpc>
            </a:pPr>
            <a:r>
              <a:rPr lang="tr-TR" altLang="en-US" dirty="0"/>
              <a:t>Hence an LP</a:t>
            </a:r>
            <a:r>
              <a:rPr lang="en-US" altLang="en-US" dirty="0"/>
              <a:t> model consists of: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 A set of decision variables.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 A</a:t>
            </a:r>
            <a:r>
              <a:rPr lang="tr-TR" altLang="en-US" dirty="0"/>
              <a:t> linear</a:t>
            </a:r>
            <a:r>
              <a:rPr lang="en-US" altLang="en-US" dirty="0"/>
              <a:t> objective function.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A set of </a:t>
            </a:r>
            <a:r>
              <a:rPr lang="tr-TR" altLang="en-US" dirty="0"/>
              <a:t>linear </a:t>
            </a:r>
            <a:r>
              <a:rPr lang="en-US" altLang="en-US" dirty="0"/>
              <a:t>constraints.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tr-TR" sz="4000" dirty="0">
                <a:solidFill>
                  <a:srgbClr val="FF0000"/>
                </a:solidFill>
              </a:rPr>
              <a:t>Mathematical Model: Linear Programming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620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All variables have power of 1</a:t>
                </a:r>
                <a:endParaRPr lang="tr-TR" dirty="0"/>
              </a:p>
              <a:p>
                <a:r>
                  <a:rPr lang="tr-TR" dirty="0"/>
                  <a:t>All variables</a:t>
                </a:r>
                <a:r>
                  <a:rPr lang="en-US" dirty="0"/>
                  <a:t> are </a:t>
                </a:r>
                <a:r>
                  <a:rPr lang="tr-TR" dirty="0"/>
                  <a:t>either </a:t>
                </a:r>
                <a:r>
                  <a:rPr lang="en-US" dirty="0"/>
                  <a:t>added or subtracted (not divided or multiplied) </a:t>
                </a:r>
                <a:endParaRPr lang="tr-TR" dirty="0"/>
              </a:p>
              <a:p>
                <a:r>
                  <a:rPr lang="en-US" dirty="0"/>
                  <a:t>The constraint</a:t>
                </a:r>
                <a:r>
                  <a:rPr lang="tr-TR" dirty="0"/>
                  <a:t>s</a:t>
                </a:r>
                <a:r>
                  <a:rPr lang="en-US" dirty="0"/>
                  <a:t> must be of the following forms</a:t>
                </a:r>
                <a:r>
                  <a:rPr lang="tr-TR" dirty="0"/>
                  <a:t>:</a:t>
                </a: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tr-TR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tr-T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tr-T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tr-TR" b="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tr-TR" i="1"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dirty="0"/>
                  <a:t>, or </a:t>
                </a:r>
                <a:endParaRPr lang="tr-TR" dirty="0"/>
              </a:p>
              <a:p>
                <a:pPr marL="457200" lvl="1" indent="0">
                  <a:buNone/>
                </a:pPr>
                <a:r>
                  <a:rPr lang="en-US" dirty="0"/>
                  <a:t>=</a:t>
                </a:r>
                <a:endParaRPr lang="tr-TR" dirty="0"/>
              </a:p>
              <a:p>
                <a:r>
                  <a:rPr lang="tr-TR" dirty="0"/>
                  <a:t>T</a:t>
                </a:r>
                <a:r>
                  <a:rPr lang="en-US" dirty="0"/>
                  <a:t>he objective must be either maximization or minimization.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  <a:blipFill>
                <a:blip r:embed="rId2"/>
                <a:stretch>
                  <a:fillRect l="-1643" t="-2830" r="-1714" b="-121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FF0000"/>
                </a:solidFill>
              </a:rPr>
              <a:t>Linear Programming</a:t>
            </a:r>
            <a:endParaRPr lang="en-US" dirty="0"/>
          </a:p>
        </p:txBody>
      </p:sp>
      <p:sp>
        <p:nvSpPr>
          <p:cNvPr id="4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76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Programming </a:t>
            </a:r>
            <a:r>
              <a:rPr lang="tr-T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382000" cy="541020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Clr>
                    <a:srgbClr val="0000FF"/>
                  </a:buClr>
                  <a:buSzPct val="60000"/>
                  <a:buNone/>
                </a:pPr>
                <a:r>
                  <a:rPr lang="en-US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most popular mathematical programming </a:t>
                </a:r>
                <a:r>
                  <a:rPr lang="tr-TR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</a:t>
                </a:r>
                <a:r>
                  <a:rPr lang="en-US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s are</a:t>
                </a:r>
                <a:r>
                  <a:rPr lang="tr-TR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 Programming </a:t>
                </a:r>
                <a:r>
                  <a:rPr lang="tr-TR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</a:t>
                </a:r>
                <a:r>
                  <a:rPr lang="en-US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tr-TR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:r>
                  <a:rPr lang="en-US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can be represented with two different notations:</a:t>
                </a:r>
                <a:endParaRPr lang="tr-TR" sz="3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4">
                  <a:buClr>
                    <a:srgbClr val="0000FF"/>
                  </a:buClr>
                  <a:buFont typeface="Wingdings" panose="05000000000000000000" pitchFamily="2" charset="2"/>
                  <a:buChar char="§"/>
                </a:pPr>
                <a:endParaRPr lang="en-US" sz="2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Clr>
                    <a:srgbClr val="0000FF"/>
                  </a:buClr>
                  <a:buFont typeface="Wingdings" panose="05000000000000000000" pitchFamily="2" charset="2"/>
                  <a:buChar char="§"/>
                </a:pPr>
                <a:r>
                  <a:rPr lang="en-US" sz="3100" b="1" i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Matrix Notation</a:t>
                </a:r>
                <a:r>
                  <a:rPr lang="en-US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0" indent="0">
                  <a:buClr>
                    <a:srgbClr val="0000FF"/>
                  </a:buClr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m:rPr>
                            <m:sty m:val="p"/>
                          </m:rPr>
                          <a:rPr lang="tr-TR" b="0" i="0" dirty="0" smtClean="0">
                            <a:latin typeface="Cambria Math" panose="02040503050406030204" pitchFamily="18" charset="0"/>
                          </a:rPr>
                          <m:t>imize</m:t>
                        </m:r>
                        <m:r>
                          <a:rPr lang="tr-TR" b="0" i="0" dirty="0" smtClean="0">
                            <a:latin typeface="Cambria Math" panose="02040503050406030204" pitchFamily="18" charset="0"/>
                          </a:rPr>
                          <m:t>   </m:t>
                        </m:r>
                      </m:fName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func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i="1" noProof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 noProof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noProof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Clr>
                    <a:srgbClr val="0000FF"/>
                  </a:buClr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tr-TR" b="0" i="0" dirty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Clr>
                    <a:srgbClr val="0000FF"/>
                  </a:buClr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tr-TR" b="0" i="0" dirty="0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Clr>
                    <a:srgbClr val="0000FF"/>
                  </a:buClr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tr-TR" b="0" i="0" dirty="0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Clr>
                    <a:srgbClr val="0000FF"/>
                  </a:buClr>
                  <a:buFont typeface="Wingdings" panose="05000000000000000000" pitchFamily="2" charset="2"/>
                  <a:buChar char="§"/>
                </a:pPr>
                <a:r>
                  <a:rPr lang="en-US" sz="3100" b="1" i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Algebraic Notation</a:t>
                </a:r>
                <a:r>
                  <a:rPr lang="en-US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m:rPr>
                            <m:sty m:val="p"/>
                          </m:rPr>
                          <a:rPr lang="tr-TR" b="0" i="0" dirty="0" smtClean="0">
                            <a:latin typeface="Cambria Math" panose="02040503050406030204" pitchFamily="18" charset="0"/>
                          </a:rPr>
                          <m:t>imize</m:t>
                        </m:r>
                        <m:r>
                          <a:rPr lang="tr-TR" b="0" i="0" dirty="0" smtClean="0">
                            <a:latin typeface="Cambria Math" panose="02040503050406030204" pitchFamily="18" charset="0"/>
                          </a:rPr>
                          <m:t>   </m:t>
                        </m:r>
                      </m:fName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:r>
                  <a:rPr lang="tr-TR" dirty="0">
                    <a:latin typeface="Arial" panose="020B0604020202020204" pitchFamily="34" charset="0"/>
                    <a:cs typeface="Arial" panose="020B060402020202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𝑖</m:t>
                        </m:r>
                        <m:r>
                          <a:rPr lang="tr-TR" b="0" i="1" dirty="0" smtClean="0">
                            <a:latin typeface="Cambria Math" panose="02040503050406030204" pitchFamily="18" charset="0"/>
                          </a:rPr>
                          <m:t>             </m:t>
                        </m:r>
                      </m:sub>
                    </m:sSub>
                    <m:r>
                      <a:rPr lang="pl-PL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l-PL" i="1" dirty="0">
                        <a:latin typeface="Cambria Math" panose="02040503050406030204" pitchFamily="18" charset="0"/>
                      </a:rPr>
                      <m:t> = 1, 2, …,</m:t>
                    </m:r>
                    <m:r>
                      <a:rPr lang="pl-PL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pl-PL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tr-TR" b="0" i="1" dirty="0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pl-PL" i="1" dirty="0">
                        <a:latin typeface="Cambria Math" panose="02040503050406030204" pitchFamily="18" charset="0"/>
                      </a:rPr>
                      <m:t> = 1, 2, …,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382000" cy="5410200"/>
              </a:xfrm>
              <a:blipFill>
                <a:blip r:embed="rId2"/>
                <a:stretch>
                  <a:fillRect l="-1091" t="-789" b="-8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176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270" y="152400"/>
            <a:ext cx="8279130" cy="1386348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Programming Example</a:t>
            </a:r>
            <a:r>
              <a:rPr lang="tr-TR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tr-TR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Automotive Manufacturing Plant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520940" cy="5334000"/>
              </a:xfrm>
            </p:spPr>
            <p:txBody>
              <a:bodyPr>
                <a:normAutofit fontScale="55000" lnSpcReduction="20000"/>
              </a:bodyPr>
              <a:lstStyle/>
              <a:p>
                <a:pPr>
                  <a:buClr>
                    <a:srgbClr val="0000FF"/>
                  </a:buClr>
                  <a:buFont typeface="Wingdings" panose="05000000000000000000" pitchFamily="2" charset="2"/>
                  <a:buChar char="§"/>
                </a:pPr>
                <a:r>
                  <a:rPr lang="en-US" sz="3600" b="1" i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Algebraic Notation</a:t>
                </a:r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fr-FR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fr-FR" sz="36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3600" i="0" dirty="0" smtClean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m:rPr>
                            <m:sty m:val="p"/>
                          </m:rPr>
                          <a:rPr lang="tr-TR" sz="3600" b="0" i="0" dirty="0" smtClean="0">
                            <a:latin typeface="Cambria Math" panose="02040503050406030204" pitchFamily="18" charset="0"/>
                          </a:rPr>
                          <m:t>imize</m:t>
                        </m:r>
                        <m:r>
                          <a:rPr lang="tr-TR" sz="3600" b="0" i="0" dirty="0" smtClean="0">
                            <a:latin typeface="Cambria Math" panose="02040503050406030204" pitchFamily="18" charset="0"/>
                          </a:rPr>
                          <m:t>  </m:t>
                        </m:r>
                      </m:fName>
                      <m:e>
                        <m:r>
                          <a:rPr lang="fr-FR" sz="3600" i="1" dirty="0">
                            <a:latin typeface="Cambria Math" panose="02040503050406030204" pitchFamily="18" charset="0"/>
                          </a:rPr>
                          <m:t>3000</m:t>
                        </m:r>
                      </m:e>
                    </m:func>
                    <m:r>
                      <a:rPr lang="fr-FR" sz="3600" i="1" dirty="0">
                        <a:latin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3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3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3600" i="1" dirty="0">
                        <a:latin typeface="Cambria Math" panose="02040503050406030204" pitchFamily="18" charset="0"/>
                      </a:rPr>
                      <m:t>+ 2000 × </m:t>
                    </m:r>
                    <m:sSub>
                      <m:sSubPr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3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3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fr-FR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tr-TR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600" i="1" dirty="0" err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:r>
                  <a:rPr lang="tr-TR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6 </m:t>
                    </m:r>
                    <m:r>
                      <a:rPr lang="en-US" sz="3600" i="1" dirty="0">
                        <a:latin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i="1" dirty="0">
                        <a:latin typeface="Cambria Math" panose="02040503050406030204" pitchFamily="18" charset="0"/>
                      </a:rPr>
                      <m:t>+ 10 × </m:t>
                    </m:r>
                    <m:sSub>
                      <m:sSubPr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600" i="1" dirty="0">
                        <a:latin typeface="Cambria Math" panose="02040503050406030204" pitchFamily="18" charset="0"/>
                      </a:rPr>
                      <m:t>480</m:t>
                    </m:r>
                  </m:oMath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:r>
                  <a:rPr lang="tr-TR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8 </m:t>
                    </m:r>
                    <m:r>
                      <a:rPr lang="en-US" sz="3600" i="1" dirty="0">
                        <a:latin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i="1" dirty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3600" i="1" dirty="0">
                        <a:latin typeface="Cambria Math" panose="02040503050406030204" pitchFamily="18" charset="0"/>
                      </a:rPr>
                      <m:t>8 × </m:t>
                    </m:r>
                    <m:sSub>
                      <m:sSubPr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600" i="1" dirty="0">
                        <a:latin typeface="Cambria Math" panose="02040503050406030204" pitchFamily="18" charset="0"/>
                      </a:rPr>
                      <m:t>480</m:t>
                    </m:r>
                  </m:oMath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3600" b="0" i="1" dirty="0" smtClean="0">
                            <a:latin typeface="Cambria Math" panose="02040503050406030204" pitchFamily="18" charset="0"/>
                          </a:rPr>
                          <m:t>                     </m:t>
                        </m:r>
                        <m:r>
                          <a:rPr lang="en-US" sz="3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                        ≤</m:t>
                    </m:r>
                    <m:r>
                      <a:rPr lang="en-US" sz="3600" i="1" dirty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3600" b="0" i="1" dirty="0" smtClean="0">
                            <a:latin typeface="Cambria Math" panose="02040503050406030204" pitchFamily="18" charset="0"/>
                          </a:rPr>
                          <m:t>                     </m:t>
                        </m:r>
                        <m:r>
                          <a:rPr lang="en-US" sz="3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                 </m:t>
                        </m:r>
                        <m:r>
                          <a:rPr lang="en-US" sz="3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tr-TR" sz="36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36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tr-TR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Clr>
                    <a:srgbClr val="0000FF"/>
                  </a:buClr>
                  <a:buFont typeface="Wingdings" panose="05000000000000000000" pitchFamily="2" charset="2"/>
                  <a:buChar char="§"/>
                </a:pPr>
                <a:r>
                  <a:rPr lang="en-US" sz="3600" b="1" i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Matrix Notation</a:t>
                </a:r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600" i="1" noProof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600" noProof="1" dirty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m:rPr>
                            <m:sty m:val="p"/>
                          </m:rPr>
                          <a:rPr lang="tr-TR" sz="3600" noProof="1" dirty="0">
                            <a:latin typeface="Cambria Math" panose="02040503050406030204" pitchFamily="18" charset="0"/>
                          </a:rPr>
                          <m:t>imize</m:t>
                        </m:r>
                        <m:r>
                          <a:rPr lang="tr-TR" sz="3600" noProof="1" dirty="0">
                            <a:latin typeface="Cambria Math" panose="02040503050406030204" pitchFamily="18" charset="0"/>
                          </a:rPr>
                          <m:t>    </m:t>
                        </m:r>
                      </m:fName>
                      <m:e>
                        <m:r>
                          <a:rPr lang="en-US" sz="3600" i="1" noProof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func>
                    <m:r>
                      <a:rPr lang="en-US" sz="3600" i="1" noProof="1" dirty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3600" i="1" noProof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noProof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3600" i="1" noProof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3600" i="1" noProof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3600" noProof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3600" noProof="1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tr-TR" sz="3600" noProof="1" dirty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3600" i="1" noProof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3600" i="1" noProof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600" i="1" noProof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600" i="1" noProof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600" noProof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3600" noProof="1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tr-TR" sz="3600" noProof="1" dirty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3600" i="1" noProof="1" dirty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sz="3600" i="1" noProof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600" i="1" noProof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3600" noProof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3600" noProof="1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:r>
                  <a:rPr lang="tr-TR" sz="3600" noProof="1">
                    <a:latin typeface="Arial" panose="020B0604020202020204" pitchFamily="34" charset="0"/>
                    <a:cs typeface="Arial" panose="020B060402020202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3600" i="1" noProof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i="1" noProof="1" dirty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3600" noProof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noProof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3600" i="1" noProof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i="1" noProof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 noProof="1" dirty="0">
                              <a:latin typeface="Cambria Math" panose="02040503050406030204" pitchFamily="18" charset="0"/>
                            </a:rPr>
                            <m:t>3000 2000</m:t>
                          </m:r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360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36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480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520940" cy="5334000"/>
              </a:xfrm>
              <a:blipFill>
                <a:blip r:embed="rId2"/>
                <a:stretch>
                  <a:fillRect l="-729"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415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8FD88-D09B-7220-3601-39D377424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2931D-2B1B-4EDB-82E1-A9328B22D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Programming </a:t>
            </a:r>
            <a:r>
              <a:rPr lang="tr-T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D601A8-659A-9337-F7E1-055BBCD921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878819"/>
                <a:ext cx="8345257" cy="5741712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m:rPr>
                            <m:sty m:val="p"/>
                          </m:rPr>
                          <a:rPr lang="tr-TR" dirty="0">
                            <a:latin typeface="Cambria Math" panose="02040503050406030204" pitchFamily="18" charset="0"/>
                          </a:rPr>
                          <m:t>imize</m:t>
                        </m:r>
                        <m:r>
                          <a:rPr lang="tr-TR" dirty="0">
                            <a:latin typeface="Cambria Math" panose="02040503050406030204" pitchFamily="18" charset="0"/>
                          </a:rPr>
                          <m:t>   </m:t>
                        </m:r>
                      </m:fName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:r>
                  <a:rPr lang="tr-TR" dirty="0">
                    <a:latin typeface="Arial" panose="020B0604020202020204" pitchFamily="34" charset="0"/>
                    <a:cs typeface="Arial" panose="020B060402020202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 dirty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tr-TR" i="1" dirty="0">
                            <a:latin typeface="Cambria Math"/>
                          </a:rPr>
                          <m:t>𝑖</m:t>
                        </m:r>
                        <m:r>
                          <a:rPr lang="tr-TR" i="1" dirty="0">
                            <a:latin typeface="Cambria Math" panose="02040503050406030204" pitchFamily="18" charset="0"/>
                          </a:rPr>
                          <m:t>             </m:t>
                        </m:r>
                      </m:sub>
                    </m:sSub>
                    <m:r>
                      <a:rPr lang="pl-PL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l-PL" i="1" dirty="0">
                        <a:latin typeface="Cambria Math" panose="02040503050406030204" pitchFamily="18" charset="0"/>
                      </a:rPr>
                      <m:t> = 1, 2, …,</m:t>
                    </m:r>
                    <m:r>
                      <a:rPr lang="pl-PL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pl-PL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 dirty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≥0    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pl-PL" i="1" dirty="0">
                        <a:latin typeface="Cambria Math" panose="02040503050406030204" pitchFamily="18" charset="0"/>
                      </a:rPr>
                      <m:t> = 1, 2, …,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13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Clr>
                    <a:srgbClr val="0000FF"/>
                  </a:buClr>
                  <a:buSzPct val="70000"/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Basic assumptions in Linear Programming </a:t>
                </a:r>
                <a:r>
                  <a:rPr lang="tr-TR" dirty="0">
                    <a:latin typeface="Arial" panose="020B0604020202020204" pitchFamily="34" charset="0"/>
                    <a:cs typeface="Arial" panose="020B0604020202020204" pitchFamily="34" charset="0"/>
                  </a:rPr>
                  <a:t>model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s:</a:t>
                </a:r>
                <a:endParaRPr lang="en-US" u="sn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35329" lvl="2" indent="-457200">
                  <a:buClr>
                    <a:srgbClr val="0000FF"/>
                  </a:buClr>
                  <a:buFont typeface="+mj-lt"/>
                  <a:buAutoNum type="arabicPeriod"/>
                </a:pPr>
                <a:r>
                  <a:rPr lang="en-US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Proportionality</a:t>
                </a:r>
                <a:r>
                  <a:rPr lang="en-US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contribution of each variable to the objective function and constraints is proportional to their level</a:t>
                </a:r>
              </a:p>
              <a:p>
                <a:pPr marL="635329" lvl="2" indent="-457200">
                  <a:buClr>
                    <a:srgbClr val="0000FF"/>
                  </a:buClr>
                  <a:buFont typeface="+mj-lt"/>
                  <a:buAutoNum type="arabicPeriod"/>
                </a:pPr>
                <a:r>
                  <a:rPr lang="en-US" i="1" u="sng" noProof="1">
                    <a:latin typeface="Arial" panose="020B0604020202020204" pitchFamily="34" charset="0"/>
                    <a:cs typeface="Arial" panose="020B0604020202020204" pitchFamily="34" charset="0"/>
                  </a:rPr>
                  <a:t>Additivity</a:t>
                </a:r>
                <a:r>
                  <a:rPr lang="en-US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the objective function and the constraints is the sum of the individual contributions of the activities that are represented by decision variables</a:t>
                </a:r>
              </a:p>
              <a:p>
                <a:pPr marL="635329" lvl="2" indent="-457200">
                  <a:buClr>
                    <a:srgbClr val="0000FF"/>
                  </a:buClr>
                  <a:buFont typeface="+mj-lt"/>
                  <a:buAutoNum type="arabicPeriod"/>
                </a:pPr>
                <a:r>
                  <a:rPr lang="en-US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Divisibility</a:t>
                </a:r>
                <a:r>
                  <a:rPr lang="en-US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decision variables are allowed to have any values (real values) that satisfy the constraints</a:t>
                </a:r>
              </a:p>
              <a:p>
                <a:pPr marL="635329" lvl="2" indent="-457200">
                  <a:buClr>
                    <a:srgbClr val="0000FF"/>
                  </a:buClr>
                  <a:buFont typeface="+mj-lt"/>
                  <a:buAutoNum type="arabicPeriod"/>
                </a:pPr>
                <a:r>
                  <a:rPr lang="en-US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Certainty</a:t>
                </a:r>
                <a:r>
                  <a:rPr lang="en-US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the data used in the model are known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D601A8-659A-9337-F7E1-055BBCD921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878819"/>
                <a:ext cx="8345257" cy="5741712"/>
              </a:xfrm>
              <a:blipFill>
                <a:blip r:embed="rId2"/>
                <a:stretch>
                  <a:fillRect l="-512" r="-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41F8E2-DA64-3622-2CDC-7E00DE305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58AED-FF6D-A935-C9AD-82BD4493D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314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Nonlinear Programming </a:t>
            </a:r>
            <a:r>
              <a:rPr lang="tr-T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7886700" cy="5137150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buClr>
                    <a:srgbClr val="0000FF"/>
                  </a:buClr>
                  <a:buSzPct val="60000"/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Nonlinear Programming </a:t>
                </a:r>
                <a:r>
                  <a:rPr lang="tr-TR" dirty="0">
                    <a:latin typeface="Arial" panose="020B0604020202020204" pitchFamily="34" charset="0"/>
                    <a:cs typeface="Arial" panose="020B0604020202020204" pitchFamily="34" charset="0"/>
                  </a:rPr>
                  <a:t>model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 can be expressed as: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tr-TR" b="0" i="0" dirty="0" smtClean="0">
                        <a:latin typeface="Cambria Math" panose="02040503050406030204" pitchFamily="18" charset="0"/>
                      </a:rPr>
                      <m:t>imize</m:t>
                    </m:r>
                    <m:r>
                      <a:rPr lang="tr-TR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tr-TR" b="0" i="0" dirty="0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  <a:r>
                  <a:rPr lang="tr-TR" dirty="0"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tr-TR" b="0" i="0" dirty="0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Clr>
                    <a:srgbClr val="0000FF"/>
                  </a:buClr>
                  <a:buSzPct val="60000"/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Basic characteristics of Nonlinear Programming </a:t>
                </a:r>
                <a:r>
                  <a:rPr lang="tr-TR" dirty="0">
                    <a:latin typeface="Arial" panose="020B0604020202020204" pitchFamily="34" charset="0"/>
                    <a:cs typeface="Arial" panose="020B0604020202020204" pitchFamily="34" charset="0"/>
                  </a:rPr>
                  <a:t>model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s:</a:t>
                </a:r>
              </a:p>
              <a:p>
                <a:pPr lvl="2">
                  <a:buClr>
                    <a:srgbClr val="0000FF"/>
                  </a:buClr>
                  <a:buSzPct val="90000"/>
                  <a:buFont typeface="Wingdings" panose="05000000000000000000" pitchFamily="2" charset="2"/>
                  <a:buChar char="§"/>
                </a:pPr>
                <a:r>
                  <a:rPr lang="en-US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Proportionality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and/or </a:t>
                </a:r>
                <a:r>
                  <a:rPr lang="en-US" i="1" u="sng" noProof="1">
                    <a:latin typeface="Arial" panose="020B0604020202020204" pitchFamily="34" charset="0"/>
                    <a:cs typeface="Arial" panose="020B0604020202020204" pitchFamily="34" charset="0"/>
                  </a:rPr>
                  <a:t>Additivity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conditions are not necessarily</a:t>
                </a:r>
                <a:r>
                  <a:rPr lang="tr-TR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valid</a:t>
                </a:r>
              </a:p>
              <a:p>
                <a:pPr lvl="2">
                  <a:buClr>
                    <a:srgbClr val="0000FF"/>
                  </a:buClr>
                  <a:buSzPct val="90000"/>
                  <a:buFont typeface="Wingdings" panose="05000000000000000000" pitchFamily="2" charset="2"/>
                  <a:buChar char="§"/>
                </a:pPr>
                <a:r>
                  <a:rPr lang="en-US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Divisibility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decision variables are allowed to have any values (real values) that satisfy the constraints</a:t>
                </a:r>
              </a:p>
              <a:p>
                <a:pPr lvl="2">
                  <a:buClr>
                    <a:srgbClr val="0000FF"/>
                  </a:buClr>
                  <a:buSzPct val="90000"/>
                  <a:buFont typeface="Wingdings" panose="05000000000000000000" pitchFamily="2" charset="2"/>
                  <a:buChar char="§"/>
                </a:pPr>
                <a:r>
                  <a:rPr lang="en-US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Certainty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the data used in the model are known and constant</a:t>
                </a:r>
              </a:p>
              <a:p>
                <a:pPr>
                  <a:buClr>
                    <a:srgbClr val="0000FF"/>
                  </a:buClr>
                  <a:buSzPct val="60000"/>
                  <a:buFont typeface="Wingdings" panose="05000000000000000000" pitchFamily="2" charset="2"/>
                  <a:buChar char="q"/>
                </a:pP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Portfolio Optimization Problem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7886700" cy="5137150"/>
              </a:xfrm>
              <a:blipFill>
                <a:blip r:embed="rId2"/>
                <a:stretch>
                  <a:fillRect l="-232" t="-2372" r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931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28760" cy="914400"/>
          </a:xfrm>
        </p:spPr>
        <p:txBody>
          <a:bodyPr/>
          <a:lstStyle/>
          <a:p>
            <a:r>
              <a:rPr lang="tr-T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nteger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</a:t>
            </a:r>
            <a:r>
              <a:rPr lang="tr-T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3360" y="998538"/>
                <a:ext cx="8686800" cy="5502275"/>
              </a:xfrm>
            </p:spPr>
            <p:txBody>
              <a:bodyPr>
                <a:noAutofit/>
              </a:bodyPr>
              <a:lstStyle/>
              <a:p>
                <a:pPr>
                  <a:buClr>
                    <a:srgbClr val="0000FF"/>
                  </a:buClr>
                  <a:buSzPct val="60000"/>
                  <a:buFont typeface="Wingdings" panose="05000000000000000000" pitchFamily="2" charset="2"/>
                  <a:buChar char="q"/>
                </a:pPr>
                <a:r>
                  <a:rPr lang="tr-T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n general, </a:t>
                </a:r>
                <a:r>
                  <a:rPr lang="tr-T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nteger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Programming </a:t>
                </a:r>
                <a:r>
                  <a:rPr lang="tr-T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 can be expressed as: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tr-TR" sz="2400" b="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tr-TR" sz="2400" b="0" i="0" dirty="0" smtClean="0">
                        <a:latin typeface="Cambria Math" panose="02040503050406030204" pitchFamily="18" charset="0"/>
                      </a:rPr>
                      <m:t>imize</m:t>
                    </m:r>
                    <m:r>
                      <a:rPr lang="tr-TR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i="1" noProof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 noProof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noProof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noProof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noProof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0, 1, …,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Clr>
                    <a:srgbClr val="0000FF"/>
                  </a:buClr>
                  <a:buSzPct val="60000"/>
                  <a:buFont typeface="Wingdings" panose="05000000000000000000" pitchFamily="2" charset="2"/>
                  <a:buChar char="q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Basic characteristics of </a:t>
                </a:r>
                <a:r>
                  <a:rPr lang="tr-T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nteger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Programming </a:t>
                </a:r>
                <a:r>
                  <a:rPr lang="tr-T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s:</a:t>
                </a:r>
                <a:endParaRPr lang="tr-T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4"/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35329" lvl="2" indent="-457200">
                  <a:buClr>
                    <a:srgbClr val="0000FF"/>
                  </a:buClr>
                  <a:buFont typeface="+mj-lt"/>
                  <a:buAutoNum type="arabicPeriod"/>
                </a:pPr>
                <a:r>
                  <a:rPr lang="en-US" sz="1600" i="1" u="sng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Proportionality</a:t>
                </a:r>
                <a:r>
                  <a:rPr lang="en-US" sz="1600" u="sng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contribution of each variable to the objective function and constraints is proportional to their level</a:t>
                </a:r>
              </a:p>
              <a:p>
                <a:pPr marL="635329" lvl="2" indent="-457200">
                  <a:buClr>
                    <a:srgbClr val="0000FF"/>
                  </a:buClr>
                  <a:buFont typeface="+mj-lt"/>
                  <a:buAutoNum type="arabicPeriod"/>
                </a:pPr>
                <a:r>
                  <a:rPr lang="en-US" sz="1600" i="1" u="sng" noProof="1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Additivity</a:t>
                </a:r>
                <a:r>
                  <a:rPr lang="en-US" sz="1600" u="sng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the objective function and the constraints is the sum of the individual contributions of the activities that are represented by decision variables</a:t>
                </a:r>
              </a:p>
              <a:p>
                <a:pPr marL="635329" lvl="2" indent="-457200">
                  <a:buClr>
                    <a:srgbClr val="0000FF"/>
                  </a:buClr>
                  <a:buFont typeface="+mj-lt"/>
                  <a:buAutoNum type="arabicPeriod"/>
                </a:pPr>
                <a:r>
                  <a:rPr lang="en-US" sz="1600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Divisibility</a:t>
                </a:r>
                <a:r>
                  <a:rPr lang="en-US" sz="16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some or all of the decision variables are allowed to have only integer values (e.g., </a:t>
                </a:r>
                <a:r>
                  <a:rPr lang="en-US" sz="16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binary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(0 or 1) or </a:t>
                </a:r>
                <a:r>
                  <a:rPr lang="en-US" sz="16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integer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(0,1,2,...,n) that satisfy the constraints</a:t>
                </a:r>
              </a:p>
              <a:p>
                <a:pPr marL="635329" lvl="2" indent="-457200">
                  <a:buClr>
                    <a:srgbClr val="0000FF"/>
                  </a:buClr>
                  <a:buFont typeface="+mj-lt"/>
                  <a:buAutoNum type="arabicPeriod"/>
                </a:pPr>
                <a:r>
                  <a:rPr lang="en-US" sz="1600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Certainty</a:t>
                </a:r>
                <a:r>
                  <a:rPr lang="en-US" sz="16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data used in the model are known</a:t>
                </a:r>
              </a:p>
              <a:p>
                <a:pPr marL="1714500" lvl="4" indent="0">
                  <a:buNone/>
                </a:pPr>
                <a:endParaRPr lang="tr-TR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Clr>
                    <a:srgbClr val="0070C0"/>
                  </a:buClr>
                  <a:buSzPct val="70000"/>
                  <a:buFont typeface="Wingdings" panose="05000000000000000000" pitchFamily="2" charset="2"/>
                  <a:buChar char="q"/>
                </a:pP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 Assignment Problem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3360" y="998538"/>
                <a:ext cx="8686800" cy="5502275"/>
              </a:xfrm>
              <a:blipFill>
                <a:blip r:embed="rId2"/>
                <a:stretch>
                  <a:fillRect l="-70" t="-554" r="-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601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tr-TR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Forms of I</a:t>
            </a:r>
            <a:r>
              <a:rPr lang="en-US" sz="4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nteger</a:t>
            </a: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Programming </a:t>
            </a:r>
            <a:r>
              <a:rPr lang="tr-TR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766" y="1295400"/>
                <a:ext cx="7520940" cy="5255720"/>
              </a:xfrm>
            </p:spPr>
            <p:txBody>
              <a:bodyPr>
                <a:normAutofit fontScale="70000" lnSpcReduction="20000"/>
              </a:bodyPr>
              <a:lstStyle/>
              <a:p>
                <a:pPr lvl="2">
                  <a:buClr>
                    <a:srgbClr val="0000FF"/>
                  </a:buClr>
                  <a:buFont typeface="Wingdings" panose="05000000000000000000" pitchFamily="2" charset="2"/>
                  <a:buChar char="§"/>
                </a:pPr>
                <a:r>
                  <a:rPr lang="en-US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Pure </a:t>
                </a:r>
                <a:r>
                  <a:rPr lang="tr-TR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nteger</a:t>
                </a:r>
                <a:r>
                  <a:rPr lang="en-US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Programming </a:t>
                </a:r>
                <a:r>
                  <a:rPr lang="tr-TR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Model</a:t>
                </a:r>
                <a:r>
                  <a:rPr lang="en-US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 </a:t>
                </a:r>
                <a:r>
                  <a:rPr 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6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IP</a:t>
                </a:r>
                <a:r>
                  <a:rPr 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):</a:t>
                </a:r>
              </a:p>
              <a:p>
                <a:pPr marL="0" indent="0">
                  <a:buClr>
                    <a:srgbClr val="0000FF"/>
                  </a:buClr>
                  <a:buNone/>
                </a:pPr>
                <a:r>
                  <a:rPr lang="en-US" sz="34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400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400" i="0" noProof="1" dirty="0" smtClean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m:rPr>
                            <m:sty m:val="p"/>
                          </m:rPr>
                          <a:rPr lang="tr-TR" sz="3400" b="0" i="0" noProof="1" dirty="0" smtClean="0">
                            <a:latin typeface="Cambria Math" panose="02040503050406030204" pitchFamily="18" charset="0"/>
                          </a:rPr>
                          <m:t>imize</m:t>
                        </m:r>
                        <m:r>
                          <a:rPr lang="tr-TR" sz="3400" b="0" i="0" noProof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</m:fName>
                      <m:e>
                        <m:r>
                          <a:rPr lang="en-US" sz="3400" i="1" noProof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func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3400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i="1" noProof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3400" i="1" noProof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3400" noProof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Clr>
                    <a:srgbClr val="0000FF"/>
                  </a:buClr>
                  <a:buNone/>
                </a:pPr>
                <a:r>
                  <a:rPr lang="en-US" sz="3400" noProof="1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:r>
                  <a:rPr lang="tr-TR" sz="3400" noProof="1">
                    <a:latin typeface="Arial" panose="020B0604020202020204" pitchFamily="34" charset="0"/>
                    <a:cs typeface="Arial" panose="020B060402020202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3400" i="1" noProof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3400" i="1" noProof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400" i="1" noProof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400" noProof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Clr>
                    <a:srgbClr val="0000FF"/>
                  </a:buClr>
                  <a:buNone/>
                </a:pPr>
                <a:r>
                  <a:rPr lang="en-US" sz="3400" noProof="1"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tr-TR" sz="3400" b="0" i="0" noProof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3400" i="1" noProof="1" dirty="0" smtClean="0">
                        <a:latin typeface="Cambria Math" panose="02040503050406030204" pitchFamily="18" charset="0"/>
                      </a:rPr>
                      <m:t>𝐵𝑦</m:t>
                    </m:r>
                    <m:r>
                      <a:rPr lang="en-US" sz="3400" b="0" i="1" noProof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3400" noProof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Clr>
                    <a:srgbClr val="0000FF"/>
                  </a:buClr>
                  <a:buNone/>
                </a:pPr>
                <a:r>
                  <a:rPr lang="en-US" sz="3400" noProof="1"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  <a:r>
                  <a:rPr lang="tr-TR" sz="3400" noProof="1"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3400" i="1" noProof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400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0, 1, …, 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3400" noProof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>
                  <a:buClr>
                    <a:srgbClr val="0000FF"/>
                  </a:buClr>
                  <a:buFont typeface="Wingdings" panose="05000000000000000000" pitchFamily="2" charset="2"/>
                  <a:buChar char="§"/>
                </a:pPr>
                <a:r>
                  <a:rPr lang="en-US" sz="2600" i="1" noProof="1">
                    <a:latin typeface="Arial" panose="020B0604020202020204" pitchFamily="34" charset="0"/>
                    <a:cs typeface="Arial" panose="020B0604020202020204" pitchFamily="34" charset="0"/>
                  </a:rPr>
                  <a:t>Mixed-integer Linear Programming </a:t>
                </a:r>
                <a:r>
                  <a:rPr lang="tr-TR" sz="2600" i="1" noProof="1">
                    <a:latin typeface="Arial" panose="020B0604020202020204" pitchFamily="34" charset="0"/>
                    <a:cs typeface="Arial" panose="020B0604020202020204" pitchFamily="34" charset="0"/>
                  </a:rPr>
                  <a:t>Model</a:t>
                </a:r>
                <a:r>
                  <a:rPr lang="en-US" sz="2600" i="1" noProof="1"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tr-TR" sz="2600" i="1" noProof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600" noProof="1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600" b="1" i="1" noProof="1">
                    <a:latin typeface="Arial" panose="020B0604020202020204" pitchFamily="34" charset="0"/>
                    <a:cs typeface="Arial" panose="020B0604020202020204" pitchFamily="34" charset="0"/>
                  </a:rPr>
                  <a:t>MILP</a:t>
                </a:r>
                <a:r>
                  <a:rPr lang="en-US" sz="2600" noProof="1">
                    <a:latin typeface="Arial" panose="020B0604020202020204" pitchFamily="34" charset="0"/>
                    <a:cs typeface="Arial" panose="020B0604020202020204" pitchFamily="34" charset="0"/>
                  </a:rPr>
                  <a:t>):</a:t>
                </a:r>
              </a:p>
              <a:p>
                <a:pPr marL="0" indent="0">
                  <a:buClr>
                    <a:srgbClr val="0000FF"/>
                  </a:buClr>
                  <a:buNone/>
                </a:pPr>
                <a:r>
                  <a:rPr lang="en-US" sz="3400" noProof="1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400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400" i="0" noProof="1" dirty="0" smtClean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m:rPr>
                            <m:sty m:val="p"/>
                          </m:rPr>
                          <a:rPr lang="tr-TR" sz="3400" b="0" i="0" noProof="1" dirty="0" smtClean="0">
                            <a:latin typeface="Cambria Math" panose="02040503050406030204" pitchFamily="18" charset="0"/>
                          </a:rPr>
                          <m:t>imize</m:t>
                        </m:r>
                        <m:r>
                          <a:rPr lang="tr-TR" sz="3400" b="0" i="0" noProof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</m:fName>
                      <m:e>
                        <m:r>
                          <a:rPr lang="en-US" sz="3400" i="1" noProof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func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3400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i="1" noProof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3400" i="1" noProof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 + </m:t>
                    </m:r>
                    <m:sSup>
                      <m:sSupPr>
                        <m:ctrlPr>
                          <a:rPr lang="en-US" sz="3400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i="1" noProof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3400" i="1" noProof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3400" i="1" noProof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3400" noProof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Clr>
                    <a:srgbClr val="0000FF"/>
                  </a:buClr>
                  <a:buNone/>
                </a:pPr>
                <a:r>
                  <a:rPr lang="en-US" sz="3400" noProof="1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:r>
                  <a:rPr lang="tr-TR" sz="3400" noProof="1">
                    <a:latin typeface="Arial" panose="020B0604020202020204" pitchFamily="34" charset="0"/>
                    <a:cs typeface="Arial" panose="020B060402020202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3400" i="1" noProof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3400" i="1" noProof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400" i="1" noProof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400" i="1" noProof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400" noProof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Clr>
                    <a:srgbClr val="0000FF"/>
                  </a:buClr>
                  <a:buNone/>
                </a:pPr>
                <a:r>
                  <a:rPr lang="en-US" sz="3400" noProof="1"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3400" i="1" noProof="1" dirty="0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sz="3400" i="1" noProof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𝐵𝑦</m:t>
                    </m:r>
                    <m:r>
                      <a:rPr lang="en-US" sz="3400" b="0" i="1" noProof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3400" noProof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Clr>
                    <a:srgbClr val="0000FF"/>
                  </a:buClr>
                  <a:buNone/>
                </a:pPr>
                <a:r>
                  <a:rPr lang="en-US" sz="3400" noProof="1"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  <a:r>
                  <a:rPr lang="tr-TR" sz="3400" noProof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400" i="1" noProof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400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400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0, 1, …, 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3400" noProof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>
                  <a:buClr>
                    <a:srgbClr val="0000FF"/>
                  </a:buClr>
                  <a:buFont typeface="Wingdings" panose="05000000000000000000" pitchFamily="2" charset="2"/>
                  <a:buChar char="§"/>
                </a:pPr>
                <a:r>
                  <a:rPr lang="en-US" sz="2600" i="1" noProof="1">
                    <a:latin typeface="Arial" panose="020B0604020202020204" pitchFamily="34" charset="0"/>
                    <a:cs typeface="Arial" panose="020B0604020202020204" pitchFamily="34" charset="0"/>
                  </a:rPr>
                  <a:t>Mixed-integer Nonlinear Programming </a:t>
                </a:r>
                <a:r>
                  <a:rPr lang="tr-TR" sz="2600" i="1" noProof="1">
                    <a:latin typeface="Arial" panose="020B0604020202020204" pitchFamily="34" charset="0"/>
                    <a:cs typeface="Arial" panose="020B0604020202020204" pitchFamily="34" charset="0"/>
                  </a:rPr>
                  <a:t>Model</a:t>
                </a:r>
                <a:r>
                  <a:rPr lang="en-US" sz="2600" i="1" noProof="1"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tr-TR" sz="2600" i="1" noProof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600" noProof="1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600" b="1" i="1" noProof="1">
                    <a:latin typeface="Arial" panose="020B0604020202020204" pitchFamily="34" charset="0"/>
                    <a:cs typeface="Arial" panose="020B0604020202020204" pitchFamily="34" charset="0"/>
                  </a:rPr>
                  <a:t>MINLP</a:t>
                </a:r>
                <a:r>
                  <a:rPr lang="en-US" sz="2600" noProof="1">
                    <a:latin typeface="Arial" panose="020B0604020202020204" pitchFamily="34" charset="0"/>
                    <a:cs typeface="Arial" panose="020B0604020202020204" pitchFamily="34" charset="0"/>
                  </a:rPr>
                  <a:t>):</a:t>
                </a:r>
              </a:p>
              <a:p>
                <a:pPr marL="0" indent="0">
                  <a:buClr>
                    <a:srgbClr val="0000FF"/>
                  </a:buClr>
                  <a:buNone/>
                </a:pPr>
                <a:r>
                  <a:rPr lang="en-US" sz="3400" noProof="1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400" i="1" noProof="1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tr-TR" sz="3400" b="0" i="1" noProof="1" dirty="0" smtClean="0">
                        <a:latin typeface="Cambria Math" panose="02040503050406030204" pitchFamily="18" charset="0"/>
                      </a:rPr>
                      <m:t>𝑖𝑚𝑖𝑧𝑒</m:t>
                    </m:r>
                    <m:r>
                      <a:rPr lang="tr-TR" sz="3400" b="0" i="1" noProof="1" dirty="0" smtClean="0">
                        <a:latin typeface="Cambria Math" panose="02040503050406030204" pitchFamily="18" charset="0"/>
                      </a:rPr>
                      <m:t>   ⁡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400" noProof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Clr>
                    <a:srgbClr val="0000FF"/>
                  </a:buClr>
                  <a:buNone/>
                </a:pPr>
                <a:r>
                  <a:rPr lang="en-US" sz="3400" noProof="1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:r>
                  <a:rPr lang="tr-TR" sz="3400" noProof="1">
                    <a:latin typeface="Arial" panose="020B0604020202020204" pitchFamily="34" charset="0"/>
                    <a:cs typeface="Arial" panose="020B060402020202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3400" i="1" noProof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3400" i="1" noProof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400" i="1" noProof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400" i="1" noProof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400" noProof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Clr>
                    <a:srgbClr val="0000FF"/>
                  </a:buClr>
                  <a:buNone/>
                </a:pPr>
                <a:r>
                  <a:rPr lang="en-US" sz="34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:r>
                  <a:rPr lang="tr-TR" sz="3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3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3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Clr>
                    <a:srgbClr val="0000FF"/>
                  </a:buClr>
                  <a:buNone/>
                </a:pPr>
                <a:r>
                  <a:rPr lang="en-US" sz="3400" dirty="0"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,    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0, 1, …, 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66" y="1295400"/>
                <a:ext cx="7520940" cy="5255720"/>
              </a:xfrm>
              <a:blipFill>
                <a:blip r:embed="rId2"/>
                <a:stretch>
                  <a:fillRect t="-1740" b="-104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5213774"/>
          </a:xfrm>
        </p:spPr>
        <p:txBody>
          <a:bodyPr/>
          <a:lstStyle/>
          <a:p>
            <a:pPr>
              <a:buClr>
                <a:srgbClr val="0066FF"/>
              </a:buClr>
              <a:buSzPct val="70000"/>
              <a:buFont typeface="Wingdings" panose="05000000000000000000" pitchFamily="2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Process Flow Diagram:</a:t>
            </a:r>
          </a:p>
          <a:p>
            <a:pPr>
              <a:buClr>
                <a:srgbClr val="0066FF"/>
              </a:buClr>
              <a:buSzPct val="70000"/>
              <a:buFont typeface="Wingdings" panose="05000000000000000000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0066FF"/>
              </a:buClr>
              <a:buSzPct val="70000"/>
              <a:buFont typeface="Wingdings" panose="05000000000000000000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0066FF"/>
              </a:buClr>
              <a:buSzPct val="70000"/>
              <a:buFont typeface="Wingdings" panose="05000000000000000000" pitchFamily="2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Problem Data:</a:t>
            </a:r>
          </a:p>
          <a:p>
            <a:pPr marL="0" indent="0">
              <a:buClr>
                <a:srgbClr val="0066FF"/>
              </a:buClr>
              <a:buSzPct val="7000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grpSp>
        <p:nvGrpSpPr>
          <p:cNvPr id="160" name="Group 159"/>
          <p:cNvGrpSpPr/>
          <p:nvPr/>
        </p:nvGrpSpPr>
        <p:grpSpPr>
          <a:xfrm>
            <a:off x="1743833" y="2197615"/>
            <a:ext cx="5052395" cy="713811"/>
            <a:chOff x="2152625" y="1575157"/>
            <a:chExt cx="5052395" cy="713811"/>
          </a:xfrm>
        </p:grpSpPr>
        <p:sp>
          <p:nvSpPr>
            <p:cNvPr id="4" name="object 166"/>
            <p:cNvSpPr/>
            <p:nvPr/>
          </p:nvSpPr>
          <p:spPr>
            <a:xfrm>
              <a:off x="2977917" y="1575157"/>
              <a:ext cx="1011096" cy="713809"/>
            </a:xfrm>
            <a:custGeom>
              <a:avLst/>
              <a:gdLst/>
              <a:ahLst/>
              <a:cxnLst/>
              <a:rect l="l" t="t" r="r" b="b"/>
              <a:pathLst>
                <a:path w="1011096" h="713809">
                  <a:moveTo>
                    <a:pt x="0" y="0"/>
                  </a:moveTo>
                  <a:lnTo>
                    <a:pt x="0" y="713809"/>
                  </a:lnTo>
                  <a:lnTo>
                    <a:pt x="1011096" y="713809"/>
                  </a:lnTo>
                  <a:lnTo>
                    <a:pt x="10110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object 167"/>
            <p:cNvSpPr/>
            <p:nvPr/>
          </p:nvSpPr>
          <p:spPr>
            <a:xfrm>
              <a:off x="2977917" y="1575157"/>
              <a:ext cx="1011097" cy="713811"/>
            </a:xfrm>
            <a:custGeom>
              <a:avLst/>
              <a:gdLst/>
              <a:ahLst/>
              <a:cxnLst/>
              <a:rect l="l" t="t" r="r" b="b"/>
              <a:pathLst>
                <a:path w="1011097" h="713811">
                  <a:moveTo>
                    <a:pt x="0" y="713811"/>
                  </a:moveTo>
                  <a:lnTo>
                    <a:pt x="1011097" y="713811"/>
                  </a:lnTo>
                  <a:lnTo>
                    <a:pt x="1011097" y="0"/>
                  </a:lnTo>
                  <a:lnTo>
                    <a:pt x="0" y="0"/>
                  </a:lnTo>
                  <a:lnTo>
                    <a:pt x="0" y="713811"/>
                  </a:lnTo>
                </a:path>
              </a:pathLst>
            </a:custGeom>
            <a:ln w="12903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bject 168"/>
            <p:cNvSpPr/>
            <p:nvPr/>
          </p:nvSpPr>
          <p:spPr>
            <a:xfrm>
              <a:off x="5027986" y="1575157"/>
              <a:ext cx="1192261" cy="713809"/>
            </a:xfrm>
            <a:custGeom>
              <a:avLst/>
              <a:gdLst/>
              <a:ahLst/>
              <a:cxnLst/>
              <a:rect l="l" t="t" r="r" b="b"/>
              <a:pathLst>
                <a:path w="1192261" h="713809">
                  <a:moveTo>
                    <a:pt x="0" y="0"/>
                  </a:moveTo>
                  <a:lnTo>
                    <a:pt x="0" y="713809"/>
                  </a:lnTo>
                  <a:lnTo>
                    <a:pt x="1192261" y="713809"/>
                  </a:lnTo>
                  <a:lnTo>
                    <a:pt x="11922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object 169"/>
            <p:cNvSpPr/>
            <p:nvPr/>
          </p:nvSpPr>
          <p:spPr>
            <a:xfrm>
              <a:off x="5027986" y="1575157"/>
              <a:ext cx="1192255" cy="713811"/>
            </a:xfrm>
            <a:custGeom>
              <a:avLst/>
              <a:gdLst/>
              <a:ahLst/>
              <a:cxnLst/>
              <a:rect l="l" t="t" r="r" b="b"/>
              <a:pathLst>
                <a:path w="1192255" h="713811">
                  <a:moveTo>
                    <a:pt x="0" y="713811"/>
                  </a:moveTo>
                  <a:lnTo>
                    <a:pt x="1192255" y="713811"/>
                  </a:lnTo>
                  <a:lnTo>
                    <a:pt x="1192255" y="0"/>
                  </a:lnTo>
                  <a:lnTo>
                    <a:pt x="0" y="0"/>
                  </a:lnTo>
                  <a:lnTo>
                    <a:pt x="0" y="713811"/>
                  </a:lnTo>
                </a:path>
              </a:pathLst>
            </a:custGeom>
            <a:ln w="12903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bject 170"/>
            <p:cNvSpPr/>
            <p:nvPr/>
          </p:nvSpPr>
          <p:spPr>
            <a:xfrm>
              <a:off x="3989014" y="1932839"/>
              <a:ext cx="1038971" cy="0"/>
            </a:xfrm>
            <a:custGeom>
              <a:avLst/>
              <a:gdLst/>
              <a:ahLst/>
              <a:cxnLst/>
              <a:rect l="l" t="t" r="r" b="b"/>
              <a:pathLst>
                <a:path w="1038971">
                  <a:moveTo>
                    <a:pt x="0" y="0"/>
                  </a:moveTo>
                  <a:lnTo>
                    <a:pt x="1038971" y="0"/>
                  </a:lnTo>
                </a:path>
              </a:pathLst>
            </a:custGeom>
            <a:ln w="12903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bject 171"/>
            <p:cNvSpPr/>
            <p:nvPr/>
          </p:nvSpPr>
          <p:spPr>
            <a:xfrm>
              <a:off x="4979980" y="1884833"/>
              <a:ext cx="48006" cy="94457"/>
            </a:xfrm>
            <a:custGeom>
              <a:avLst/>
              <a:gdLst/>
              <a:ahLst/>
              <a:cxnLst/>
              <a:rect l="l" t="t" r="r" b="b"/>
              <a:pathLst>
                <a:path w="48006" h="94457">
                  <a:moveTo>
                    <a:pt x="0" y="94457"/>
                  </a:moveTo>
                  <a:lnTo>
                    <a:pt x="48006" y="48006"/>
                  </a:lnTo>
                  <a:lnTo>
                    <a:pt x="0" y="0"/>
                  </a:lnTo>
                </a:path>
              </a:pathLst>
            </a:custGeom>
            <a:ln w="12903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object 172"/>
            <p:cNvSpPr/>
            <p:nvPr/>
          </p:nvSpPr>
          <p:spPr>
            <a:xfrm>
              <a:off x="2152625" y="1932839"/>
              <a:ext cx="825291" cy="0"/>
            </a:xfrm>
            <a:custGeom>
              <a:avLst/>
              <a:gdLst/>
              <a:ahLst/>
              <a:cxnLst/>
              <a:rect l="l" t="t" r="r" b="b"/>
              <a:pathLst>
                <a:path w="825291">
                  <a:moveTo>
                    <a:pt x="0" y="0"/>
                  </a:moveTo>
                  <a:lnTo>
                    <a:pt x="825291" y="0"/>
                  </a:lnTo>
                </a:path>
              </a:pathLst>
            </a:custGeom>
            <a:ln w="12903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object 173"/>
            <p:cNvSpPr/>
            <p:nvPr/>
          </p:nvSpPr>
          <p:spPr>
            <a:xfrm>
              <a:off x="2929911" y="1884833"/>
              <a:ext cx="48006" cy="94457"/>
            </a:xfrm>
            <a:custGeom>
              <a:avLst/>
              <a:gdLst/>
              <a:ahLst/>
              <a:cxnLst/>
              <a:rect l="l" t="t" r="r" b="b"/>
              <a:pathLst>
                <a:path w="48006" h="94457">
                  <a:moveTo>
                    <a:pt x="0" y="94457"/>
                  </a:moveTo>
                  <a:lnTo>
                    <a:pt x="48006" y="48006"/>
                  </a:lnTo>
                  <a:lnTo>
                    <a:pt x="0" y="0"/>
                  </a:lnTo>
                </a:path>
              </a:pathLst>
            </a:custGeom>
            <a:ln w="12903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object 174"/>
            <p:cNvSpPr/>
            <p:nvPr/>
          </p:nvSpPr>
          <p:spPr>
            <a:xfrm>
              <a:off x="6220242" y="1932839"/>
              <a:ext cx="984778" cy="0"/>
            </a:xfrm>
            <a:custGeom>
              <a:avLst/>
              <a:gdLst/>
              <a:ahLst/>
              <a:cxnLst/>
              <a:rect l="l" t="t" r="r" b="b"/>
              <a:pathLst>
                <a:path w="984778">
                  <a:moveTo>
                    <a:pt x="0" y="0"/>
                  </a:moveTo>
                  <a:lnTo>
                    <a:pt x="984778" y="0"/>
                  </a:lnTo>
                </a:path>
              </a:pathLst>
            </a:custGeom>
            <a:ln w="12903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object 175"/>
            <p:cNvSpPr/>
            <p:nvPr/>
          </p:nvSpPr>
          <p:spPr>
            <a:xfrm>
              <a:off x="7157014" y="1884833"/>
              <a:ext cx="48005" cy="94457"/>
            </a:xfrm>
            <a:custGeom>
              <a:avLst/>
              <a:gdLst/>
              <a:ahLst/>
              <a:cxnLst/>
              <a:rect l="l" t="t" r="r" b="b"/>
              <a:pathLst>
                <a:path w="48005" h="94457">
                  <a:moveTo>
                    <a:pt x="0" y="94457"/>
                  </a:moveTo>
                  <a:lnTo>
                    <a:pt x="48005" y="48006"/>
                  </a:lnTo>
                  <a:lnTo>
                    <a:pt x="0" y="0"/>
                  </a:lnTo>
                </a:path>
              </a:pathLst>
            </a:custGeom>
            <a:ln w="12903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object 42"/>
            <p:cNvSpPr txBox="1"/>
            <p:nvPr/>
          </p:nvSpPr>
          <p:spPr>
            <a:xfrm>
              <a:off x="2152625" y="1575157"/>
              <a:ext cx="825291" cy="357682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1000"/>
                </a:lnSpc>
                <a:spcBef>
                  <a:spcPts val="20"/>
                </a:spcBef>
              </a:pPr>
              <a:endParaRPr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86701">
                <a:lnSpc>
                  <a:spcPct val="95825"/>
                </a:lnSpc>
              </a:pPr>
              <a:r>
                <a:rPr lang="tr-TR" sz="1200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Vehicle</a:t>
              </a:r>
            </a:p>
            <a:p>
              <a:pPr marL="86701">
                <a:lnSpc>
                  <a:spcPct val="95825"/>
                </a:lnSpc>
              </a:pPr>
              <a:r>
                <a:rPr sz="1200" spc="24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200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Body</a:t>
              </a:r>
              <a:endParaRPr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object 41"/>
            <p:cNvSpPr txBox="1"/>
            <p:nvPr/>
          </p:nvSpPr>
          <p:spPr>
            <a:xfrm>
              <a:off x="2977917" y="1575157"/>
              <a:ext cx="1011097" cy="713811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1000"/>
                </a:lnSpc>
                <a:spcBef>
                  <a:spcPts val="76"/>
                </a:spcBef>
              </a:pPr>
              <a:endParaRPr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3352">
                <a:lnSpc>
                  <a:spcPct val="95825"/>
                </a:lnSpc>
              </a:pPr>
              <a:r>
                <a:rPr lang="en-US" sz="1400" b="1" spc="0" dirty="0">
                  <a:solidFill>
                    <a:schemeClr val="accent4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Paint</a:t>
              </a:r>
              <a:endParaRPr sz="14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78703">
                <a:lnSpc>
                  <a:spcPct val="95825"/>
                </a:lnSpc>
                <a:spcBef>
                  <a:spcPts val="85"/>
                </a:spcBef>
              </a:pPr>
              <a:r>
                <a:rPr sz="1400" b="1" spc="0" dirty="0">
                  <a:solidFill>
                    <a:schemeClr val="accent4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Shop</a:t>
              </a:r>
              <a:endParaRPr sz="14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bject 40"/>
            <p:cNvSpPr txBox="1"/>
            <p:nvPr/>
          </p:nvSpPr>
          <p:spPr>
            <a:xfrm>
              <a:off x="3989014" y="1575157"/>
              <a:ext cx="1038971" cy="357682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1000"/>
                </a:lnSpc>
                <a:spcBef>
                  <a:spcPts val="20"/>
                </a:spcBef>
              </a:pPr>
              <a:endParaRPr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80508">
                <a:lnSpc>
                  <a:spcPct val="95825"/>
                </a:lnSpc>
              </a:pPr>
              <a:r>
                <a:rPr lang="en-US" sz="1200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Painted</a:t>
              </a:r>
              <a:r>
                <a:rPr sz="1200" spc="45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tr-TR" sz="1200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Vehicle</a:t>
              </a:r>
              <a:endParaRPr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bject 39"/>
            <p:cNvSpPr txBox="1"/>
            <p:nvPr/>
          </p:nvSpPr>
          <p:spPr>
            <a:xfrm>
              <a:off x="5027986" y="1575157"/>
              <a:ext cx="1192255" cy="713811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1000"/>
                </a:lnSpc>
                <a:spcBef>
                  <a:spcPts val="76"/>
                </a:spcBef>
              </a:pPr>
              <a:endParaRPr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46926" marR="151128" algn="ctr">
                <a:lnSpc>
                  <a:spcPct val="95825"/>
                </a:lnSpc>
              </a:pPr>
              <a:r>
                <a:rPr sz="1400" b="1" spc="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Assembly</a:t>
              </a:r>
              <a:endParaRPr sz="1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5603" marR="351089" algn="ctr">
                <a:lnSpc>
                  <a:spcPct val="95825"/>
                </a:lnSpc>
                <a:spcBef>
                  <a:spcPts val="85"/>
                </a:spcBef>
              </a:pPr>
              <a:r>
                <a:rPr sz="1400" b="1" spc="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Shop</a:t>
              </a:r>
              <a:endParaRPr sz="1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bject 38"/>
            <p:cNvSpPr txBox="1"/>
            <p:nvPr/>
          </p:nvSpPr>
          <p:spPr>
            <a:xfrm>
              <a:off x="6220242" y="1575157"/>
              <a:ext cx="984778" cy="357682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1000"/>
                </a:lnSpc>
                <a:spcBef>
                  <a:spcPts val="20"/>
                </a:spcBef>
              </a:pPr>
              <a:endParaRPr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49542">
                <a:lnSpc>
                  <a:spcPct val="95825"/>
                </a:lnSpc>
              </a:pPr>
              <a:r>
                <a:rPr sz="1200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  <a:r>
                <a:rPr lang="tr-TR" sz="1200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sz="1200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tr-TR" sz="1200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sz="1200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shed</a:t>
              </a:r>
              <a:r>
                <a:rPr sz="1200" spc="5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tr-TR" sz="1200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Vehicle</a:t>
              </a:r>
              <a:endParaRPr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bject 37"/>
            <p:cNvSpPr txBox="1"/>
            <p:nvPr/>
          </p:nvSpPr>
          <p:spPr>
            <a:xfrm>
              <a:off x="3989014" y="1932839"/>
              <a:ext cx="1038971" cy="35612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object 36"/>
            <p:cNvSpPr txBox="1"/>
            <p:nvPr/>
          </p:nvSpPr>
          <p:spPr>
            <a:xfrm>
              <a:off x="2152625" y="1932839"/>
              <a:ext cx="825291" cy="35612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bject 35"/>
            <p:cNvSpPr txBox="1"/>
            <p:nvPr/>
          </p:nvSpPr>
          <p:spPr>
            <a:xfrm>
              <a:off x="6220242" y="1932839"/>
              <a:ext cx="984778" cy="35612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9" name="Group 158"/>
          <p:cNvGrpSpPr/>
          <p:nvPr/>
        </p:nvGrpSpPr>
        <p:grpSpPr>
          <a:xfrm>
            <a:off x="2156478" y="3742567"/>
            <a:ext cx="4420133" cy="1993574"/>
            <a:chOff x="3220507" y="2705611"/>
            <a:chExt cx="4420133" cy="1993574"/>
          </a:xfrm>
        </p:grpSpPr>
        <p:sp>
          <p:nvSpPr>
            <p:cNvPr id="22" name="object 82"/>
            <p:cNvSpPr/>
            <p:nvPr/>
          </p:nvSpPr>
          <p:spPr>
            <a:xfrm>
              <a:off x="3220507" y="2705611"/>
              <a:ext cx="4410791" cy="1984232"/>
            </a:xfrm>
            <a:custGeom>
              <a:avLst/>
              <a:gdLst/>
              <a:ahLst/>
              <a:cxnLst/>
              <a:rect l="l" t="t" r="r" b="b"/>
              <a:pathLst>
                <a:path w="4410791" h="1984232">
                  <a:moveTo>
                    <a:pt x="0" y="0"/>
                  </a:moveTo>
                  <a:lnTo>
                    <a:pt x="0" y="1984232"/>
                  </a:lnTo>
                  <a:lnTo>
                    <a:pt x="4410791" y="1984232"/>
                  </a:lnTo>
                  <a:lnTo>
                    <a:pt x="44107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object 83"/>
            <p:cNvSpPr/>
            <p:nvPr/>
          </p:nvSpPr>
          <p:spPr>
            <a:xfrm>
              <a:off x="3220507" y="2705611"/>
              <a:ext cx="4410791" cy="1984232"/>
            </a:xfrm>
            <a:custGeom>
              <a:avLst/>
              <a:gdLst/>
              <a:ahLst/>
              <a:cxnLst/>
              <a:rect l="l" t="t" r="r" b="b"/>
              <a:pathLst>
                <a:path w="4410791" h="1984232">
                  <a:moveTo>
                    <a:pt x="0" y="1984232"/>
                  </a:moveTo>
                  <a:lnTo>
                    <a:pt x="4410791" y="1984232"/>
                  </a:lnTo>
                  <a:lnTo>
                    <a:pt x="4410791" y="0"/>
                  </a:lnTo>
                  <a:lnTo>
                    <a:pt x="0" y="0"/>
                  </a:lnTo>
                  <a:lnTo>
                    <a:pt x="0" y="1984232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object 84"/>
            <p:cNvSpPr/>
            <p:nvPr/>
          </p:nvSpPr>
          <p:spPr>
            <a:xfrm>
              <a:off x="3220507" y="3330161"/>
              <a:ext cx="4410791" cy="0"/>
            </a:xfrm>
            <a:custGeom>
              <a:avLst/>
              <a:gdLst/>
              <a:ahLst/>
              <a:cxnLst/>
              <a:rect l="l" t="t" r="r" b="b"/>
              <a:pathLst>
                <a:path w="4410791">
                  <a:moveTo>
                    <a:pt x="0" y="0"/>
                  </a:moveTo>
                  <a:lnTo>
                    <a:pt x="4410791" y="0"/>
                  </a:lnTo>
                </a:path>
              </a:pathLst>
            </a:custGeom>
            <a:ln w="1297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object 85"/>
            <p:cNvSpPr/>
            <p:nvPr/>
          </p:nvSpPr>
          <p:spPr>
            <a:xfrm>
              <a:off x="3220507" y="4247518"/>
              <a:ext cx="4410791" cy="0"/>
            </a:xfrm>
            <a:custGeom>
              <a:avLst/>
              <a:gdLst/>
              <a:ahLst/>
              <a:cxnLst/>
              <a:rect l="l" t="t" r="r" b="b"/>
              <a:pathLst>
                <a:path w="4410791">
                  <a:moveTo>
                    <a:pt x="0" y="0"/>
                  </a:moveTo>
                  <a:lnTo>
                    <a:pt x="4410791" y="0"/>
                  </a:lnTo>
                </a:path>
              </a:pathLst>
            </a:custGeom>
            <a:ln w="1297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object 86"/>
            <p:cNvSpPr/>
            <p:nvPr/>
          </p:nvSpPr>
          <p:spPr>
            <a:xfrm>
              <a:off x="4139418" y="2705611"/>
              <a:ext cx="0" cy="1993574"/>
            </a:xfrm>
            <a:custGeom>
              <a:avLst/>
              <a:gdLst/>
              <a:ahLst/>
              <a:cxnLst/>
              <a:rect l="l" t="t" r="r" b="b"/>
              <a:pathLst>
                <a:path h="1993574">
                  <a:moveTo>
                    <a:pt x="0" y="0"/>
                  </a:moveTo>
                  <a:lnTo>
                    <a:pt x="0" y="1993574"/>
                  </a:lnTo>
                </a:path>
              </a:pathLst>
            </a:custGeom>
            <a:ln w="1297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object 87"/>
            <p:cNvSpPr/>
            <p:nvPr/>
          </p:nvSpPr>
          <p:spPr>
            <a:xfrm>
              <a:off x="4139418" y="3073169"/>
              <a:ext cx="2205395" cy="0"/>
            </a:xfrm>
            <a:custGeom>
              <a:avLst/>
              <a:gdLst/>
              <a:ahLst/>
              <a:cxnLst/>
              <a:rect l="l" t="t" r="r" b="b"/>
              <a:pathLst>
                <a:path w="2205395">
                  <a:moveTo>
                    <a:pt x="0" y="0"/>
                  </a:moveTo>
                  <a:lnTo>
                    <a:pt x="2205395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object 88"/>
            <p:cNvSpPr/>
            <p:nvPr/>
          </p:nvSpPr>
          <p:spPr>
            <a:xfrm>
              <a:off x="6344813" y="2705611"/>
              <a:ext cx="0" cy="1984232"/>
            </a:xfrm>
            <a:custGeom>
              <a:avLst/>
              <a:gdLst/>
              <a:ahLst/>
              <a:cxnLst/>
              <a:rect l="l" t="t" r="r" b="b"/>
              <a:pathLst>
                <a:path h="1984232">
                  <a:moveTo>
                    <a:pt x="0" y="0"/>
                  </a:moveTo>
                  <a:lnTo>
                    <a:pt x="0" y="1984232"/>
                  </a:lnTo>
                </a:path>
              </a:pathLst>
            </a:custGeom>
            <a:ln w="1297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bject 89"/>
            <p:cNvSpPr/>
            <p:nvPr/>
          </p:nvSpPr>
          <p:spPr>
            <a:xfrm>
              <a:off x="3220507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bject 90"/>
            <p:cNvSpPr/>
            <p:nvPr/>
          </p:nvSpPr>
          <p:spPr>
            <a:xfrm>
              <a:off x="3341985" y="3789617"/>
              <a:ext cx="74767" cy="0"/>
            </a:xfrm>
            <a:custGeom>
              <a:avLst/>
              <a:gdLst/>
              <a:ahLst/>
              <a:cxnLst/>
              <a:rect l="l" t="t" r="r" b="b"/>
              <a:pathLst>
                <a:path w="74767">
                  <a:moveTo>
                    <a:pt x="0" y="0"/>
                  </a:moveTo>
                  <a:lnTo>
                    <a:pt x="74767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object 91"/>
            <p:cNvSpPr/>
            <p:nvPr/>
          </p:nvSpPr>
          <p:spPr>
            <a:xfrm>
              <a:off x="3463463" y="3789617"/>
              <a:ext cx="74767" cy="0"/>
            </a:xfrm>
            <a:custGeom>
              <a:avLst/>
              <a:gdLst/>
              <a:ahLst/>
              <a:cxnLst/>
              <a:rect l="l" t="t" r="r" b="b"/>
              <a:pathLst>
                <a:path w="74767">
                  <a:moveTo>
                    <a:pt x="0" y="0"/>
                  </a:moveTo>
                  <a:lnTo>
                    <a:pt x="74767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object 92"/>
            <p:cNvSpPr/>
            <p:nvPr/>
          </p:nvSpPr>
          <p:spPr>
            <a:xfrm>
              <a:off x="3584956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object 93"/>
            <p:cNvSpPr/>
            <p:nvPr/>
          </p:nvSpPr>
          <p:spPr>
            <a:xfrm>
              <a:off x="3704879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object 94"/>
            <p:cNvSpPr/>
            <p:nvPr/>
          </p:nvSpPr>
          <p:spPr>
            <a:xfrm>
              <a:off x="3826358" y="3789617"/>
              <a:ext cx="74767" cy="0"/>
            </a:xfrm>
            <a:custGeom>
              <a:avLst/>
              <a:gdLst/>
              <a:ahLst/>
              <a:cxnLst/>
              <a:rect l="l" t="t" r="r" b="b"/>
              <a:pathLst>
                <a:path w="74767">
                  <a:moveTo>
                    <a:pt x="0" y="0"/>
                  </a:moveTo>
                  <a:lnTo>
                    <a:pt x="74767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object 95"/>
            <p:cNvSpPr/>
            <p:nvPr/>
          </p:nvSpPr>
          <p:spPr>
            <a:xfrm>
              <a:off x="3947851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object 96"/>
            <p:cNvSpPr/>
            <p:nvPr/>
          </p:nvSpPr>
          <p:spPr>
            <a:xfrm>
              <a:off x="4069329" y="3789617"/>
              <a:ext cx="74767" cy="0"/>
            </a:xfrm>
            <a:custGeom>
              <a:avLst/>
              <a:gdLst/>
              <a:ahLst/>
              <a:cxnLst/>
              <a:rect l="l" t="t" r="r" b="b"/>
              <a:pathLst>
                <a:path w="74767">
                  <a:moveTo>
                    <a:pt x="0" y="0"/>
                  </a:moveTo>
                  <a:lnTo>
                    <a:pt x="74767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object 97"/>
            <p:cNvSpPr/>
            <p:nvPr/>
          </p:nvSpPr>
          <p:spPr>
            <a:xfrm>
              <a:off x="4190822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object 98"/>
            <p:cNvSpPr/>
            <p:nvPr/>
          </p:nvSpPr>
          <p:spPr>
            <a:xfrm>
              <a:off x="4312300" y="3789617"/>
              <a:ext cx="74767" cy="0"/>
            </a:xfrm>
            <a:custGeom>
              <a:avLst/>
              <a:gdLst/>
              <a:ahLst/>
              <a:cxnLst/>
              <a:rect l="l" t="t" r="r" b="b"/>
              <a:pathLst>
                <a:path w="74767">
                  <a:moveTo>
                    <a:pt x="0" y="0"/>
                  </a:moveTo>
                  <a:lnTo>
                    <a:pt x="74767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object 99"/>
            <p:cNvSpPr/>
            <p:nvPr/>
          </p:nvSpPr>
          <p:spPr>
            <a:xfrm>
              <a:off x="4433778" y="3789617"/>
              <a:ext cx="74767" cy="0"/>
            </a:xfrm>
            <a:custGeom>
              <a:avLst/>
              <a:gdLst/>
              <a:ahLst/>
              <a:cxnLst/>
              <a:rect l="l" t="t" r="r" b="b"/>
              <a:pathLst>
                <a:path w="74767">
                  <a:moveTo>
                    <a:pt x="0" y="0"/>
                  </a:moveTo>
                  <a:lnTo>
                    <a:pt x="74767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object 100"/>
            <p:cNvSpPr/>
            <p:nvPr/>
          </p:nvSpPr>
          <p:spPr>
            <a:xfrm>
              <a:off x="4555272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object 101"/>
            <p:cNvSpPr/>
            <p:nvPr/>
          </p:nvSpPr>
          <p:spPr>
            <a:xfrm>
              <a:off x="4676750" y="3789617"/>
              <a:ext cx="73197" cy="0"/>
            </a:xfrm>
            <a:custGeom>
              <a:avLst/>
              <a:gdLst/>
              <a:ahLst/>
              <a:cxnLst/>
              <a:rect l="l" t="t" r="r" b="b"/>
              <a:pathLst>
                <a:path w="73197">
                  <a:moveTo>
                    <a:pt x="0" y="0"/>
                  </a:moveTo>
                  <a:lnTo>
                    <a:pt x="73197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object 102"/>
            <p:cNvSpPr/>
            <p:nvPr/>
          </p:nvSpPr>
          <p:spPr>
            <a:xfrm>
              <a:off x="4796673" y="3789617"/>
              <a:ext cx="74767" cy="0"/>
            </a:xfrm>
            <a:custGeom>
              <a:avLst/>
              <a:gdLst/>
              <a:ahLst/>
              <a:cxnLst/>
              <a:rect l="l" t="t" r="r" b="b"/>
              <a:pathLst>
                <a:path w="74767">
                  <a:moveTo>
                    <a:pt x="0" y="0"/>
                  </a:moveTo>
                  <a:lnTo>
                    <a:pt x="74767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object 103"/>
            <p:cNvSpPr/>
            <p:nvPr/>
          </p:nvSpPr>
          <p:spPr>
            <a:xfrm>
              <a:off x="4918166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object 104"/>
            <p:cNvSpPr/>
            <p:nvPr/>
          </p:nvSpPr>
          <p:spPr>
            <a:xfrm>
              <a:off x="5039644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object 105"/>
            <p:cNvSpPr/>
            <p:nvPr/>
          </p:nvSpPr>
          <p:spPr>
            <a:xfrm>
              <a:off x="5161122" y="3789617"/>
              <a:ext cx="74767" cy="0"/>
            </a:xfrm>
            <a:custGeom>
              <a:avLst/>
              <a:gdLst/>
              <a:ahLst/>
              <a:cxnLst/>
              <a:rect l="l" t="t" r="r" b="b"/>
              <a:pathLst>
                <a:path w="74767">
                  <a:moveTo>
                    <a:pt x="0" y="0"/>
                  </a:moveTo>
                  <a:lnTo>
                    <a:pt x="74767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object 106"/>
            <p:cNvSpPr/>
            <p:nvPr/>
          </p:nvSpPr>
          <p:spPr>
            <a:xfrm>
              <a:off x="5282616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object 107"/>
            <p:cNvSpPr/>
            <p:nvPr/>
          </p:nvSpPr>
          <p:spPr>
            <a:xfrm>
              <a:off x="5404094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object 108"/>
            <p:cNvSpPr/>
            <p:nvPr/>
          </p:nvSpPr>
          <p:spPr>
            <a:xfrm>
              <a:off x="5525572" y="3789617"/>
              <a:ext cx="74767" cy="0"/>
            </a:xfrm>
            <a:custGeom>
              <a:avLst/>
              <a:gdLst/>
              <a:ahLst/>
              <a:cxnLst/>
              <a:rect l="l" t="t" r="r" b="b"/>
              <a:pathLst>
                <a:path w="74767">
                  <a:moveTo>
                    <a:pt x="0" y="0"/>
                  </a:moveTo>
                  <a:lnTo>
                    <a:pt x="74767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object 109"/>
            <p:cNvSpPr/>
            <p:nvPr/>
          </p:nvSpPr>
          <p:spPr>
            <a:xfrm>
              <a:off x="5647065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object 110"/>
            <p:cNvSpPr/>
            <p:nvPr/>
          </p:nvSpPr>
          <p:spPr>
            <a:xfrm>
              <a:off x="5766989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object 111"/>
            <p:cNvSpPr/>
            <p:nvPr/>
          </p:nvSpPr>
          <p:spPr>
            <a:xfrm>
              <a:off x="5888467" y="3789617"/>
              <a:ext cx="74767" cy="0"/>
            </a:xfrm>
            <a:custGeom>
              <a:avLst/>
              <a:gdLst/>
              <a:ahLst/>
              <a:cxnLst/>
              <a:rect l="l" t="t" r="r" b="b"/>
              <a:pathLst>
                <a:path w="74767">
                  <a:moveTo>
                    <a:pt x="0" y="0"/>
                  </a:moveTo>
                  <a:lnTo>
                    <a:pt x="74767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object 112"/>
            <p:cNvSpPr/>
            <p:nvPr/>
          </p:nvSpPr>
          <p:spPr>
            <a:xfrm>
              <a:off x="6009960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object 113"/>
            <p:cNvSpPr/>
            <p:nvPr/>
          </p:nvSpPr>
          <p:spPr>
            <a:xfrm>
              <a:off x="6131438" y="3789617"/>
              <a:ext cx="74767" cy="0"/>
            </a:xfrm>
            <a:custGeom>
              <a:avLst/>
              <a:gdLst/>
              <a:ahLst/>
              <a:cxnLst/>
              <a:rect l="l" t="t" r="r" b="b"/>
              <a:pathLst>
                <a:path w="74767">
                  <a:moveTo>
                    <a:pt x="0" y="0"/>
                  </a:moveTo>
                  <a:lnTo>
                    <a:pt x="74767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object 114"/>
            <p:cNvSpPr/>
            <p:nvPr/>
          </p:nvSpPr>
          <p:spPr>
            <a:xfrm>
              <a:off x="6252931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object 115"/>
            <p:cNvSpPr/>
            <p:nvPr/>
          </p:nvSpPr>
          <p:spPr>
            <a:xfrm>
              <a:off x="6374409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object 116"/>
            <p:cNvSpPr/>
            <p:nvPr/>
          </p:nvSpPr>
          <p:spPr>
            <a:xfrm>
              <a:off x="6495887" y="3789617"/>
              <a:ext cx="74767" cy="0"/>
            </a:xfrm>
            <a:custGeom>
              <a:avLst/>
              <a:gdLst/>
              <a:ahLst/>
              <a:cxnLst/>
              <a:rect l="l" t="t" r="r" b="b"/>
              <a:pathLst>
                <a:path w="74767">
                  <a:moveTo>
                    <a:pt x="0" y="0"/>
                  </a:moveTo>
                  <a:lnTo>
                    <a:pt x="74767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object 117"/>
            <p:cNvSpPr/>
            <p:nvPr/>
          </p:nvSpPr>
          <p:spPr>
            <a:xfrm>
              <a:off x="6617381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object 118"/>
            <p:cNvSpPr/>
            <p:nvPr/>
          </p:nvSpPr>
          <p:spPr>
            <a:xfrm>
              <a:off x="6738859" y="3789617"/>
              <a:ext cx="73197" cy="0"/>
            </a:xfrm>
            <a:custGeom>
              <a:avLst/>
              <a:gdLst/>
              <a:ahLst/>
              <a:cxnLst/>
              <a:rect l="l" t="t" r="r" b="b"/>
              <a:pathLst>
                <a:path w="73197">
                  <a:moveTo>
                    <a:pt x="0" y="0"/>
                  </a:moveTo>
                  <a:lnTo>
                    <a:pt x="73197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object 119"/>
            <p:cNvSpPr/>
            <p:nvPr/>
          </p:nvSpPr>
          <p:spPr>
            <a:xfrm>
              <a:off x="6858782" y="3789617"/>
              <a:ext cx="74767" cy="0"/>
            </a:xfrm>
            <a:custGeom>
              <a:avLst/>
              <a:gdLst/>
              <a:ahLst/>
              <a:cxnLst/>
              <a:rect l="l" t="t" r="r" b="b"/>
              <a:pathLst>
                <a:path w="74767">
                  <a:moveTo>
                    <a:pt x="0" y="0"/>
                  </a:moveTo>
                  <a:lnTo>
                    <a:pt x="74767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object 120"/>
            <p:cNvSpPr/>
            <p:nvPr/>
          </p:nvSpPr>
          <p:spPr>
            <a:xfrm>
              <a:off x="6980276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object 121"/>
            <p:cNvSpPr/>
            <p:nvPr/>
          </p:nvSpPr>
          <p:spPr>
            <a:xfrm>
              <a:off x="7101754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object 122"/>
            <p:cNvSpPr/>
            <p:nvPr/>
          </p:nvSpPr>
          <p:spPr>
            <a:xfrm>
              <a:off x="7223232" y="3789617"/>
              <a:ext cx="74767" cy="0"/>
            </a:xfrm>
            <a:custGeom>
              <a:avLst/>
              <a:gdLst/>
              <a:ahLst/>
              <a:cxnLst/>
              <a:rect l="l" t="t" r="r" b="b"/>
              <a:pathLst>
                <a:path w="74767">
                  <a:moveTo>
                    <a:pt x="0" y="0"/>
                  </a:moveTo>
                  <a:lnTo>
                    <a:pt x="74767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object 123"/>
            <p:cNvSpPr/>
            <p:nvPr/>
          </p:nvSpPr>
          <p:spPr>
            <a:xfrm>
              <a:off x="7344725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object 124"/>
            <p:cNvSpPr/>
            <p:nvPr/>
          </p:nvSpPr>
          <p:spPr>
            <a:xfrm>
              <a:off x="7466203" y="3789617"/>
              <a:ext cx="74752" cy="0"/>
            </a:xfrm>
            <a:custGeom>
              <a:avLst/>
              <a:gdLst/>
              <a:ahLst/>
              <a:cxnLst/>
              <a:rect l="l" t="t" r="r" b="b"/>
              <a:pathLst>
                <a:path w="74752">
                  <a:moveTo>
                    <a:pt x="0" y="0"/>
                  </a:moveTo>
                  <a:lnTo>
                    <a:pt x="74752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object 125"/>
            <p:cNvSpPr/>
            <p:nvPr/>
          </p:nvSpPr>
          <p:spPr>
            <a:xfrm>
              <a:off x="7587681" y="3789617"/>
              <a:ext cx="52959" cy="0"/>
            </a:xfrm>
            <a:custGeom>
              <a:avLst/>
              <a:gdLst/>
              <a:ahLst/>
              <a:cxnLst/>
              <a:rect l="l" t="t" r="r" b="b"/>
              <a:pathLst>
                <a:path w="52959">
                  <a:moveTo>
                    <a:pt x="0" y="0"/>
                  </a:moveTo>
                  <a:lnTo>
                    <a:pt x="52959" y="0"/>
                  </a:lnTo>
                </a:path>
              </a:pathLst>
            </a:custGeom>
            <a:ln w="6489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object 126"/>
            <p:cNvSpPr/>
            <p:nvPr/>
          </p:nvSpPr>
          <p:spPr>
            <a:xfrm>
              <a:off x="5242123" y="3073169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object 127"/>
            <p:cNvSpPr/>
            <p:nvPr/>
          </p:nvSpPr>
          <p:spPr>
            <a:xfrm>
              <a:off x="5242123" y="3113677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object 128"/>
            <p:cNvSpPr/>
            <p:nvPr/>
          </p:nvSpPr>
          <p:spPr>
            <a:xfrm>
              <a:off x="5242123" y="3154170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object 129"/>
            <p:cNvSpPr/>
            <p:nvPr/>
          </p:nvSpPr>
          <p:spPr>
            <a:xfrm>
              <a:off x="5242123" y="3193108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object 130"/>
            <p:cNvSpPr/>
            <p:nvPr/>
          </p:nvSpPr>
          <p:spPr>
            <a:xfrm>
              <a:off x="5242123" y="3233601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object 131"/>
            <p:cNvSpPr/>
            <p:nvPr/>
          </p:nvSpPr>
          <p:spPr>
            <a:xfrm>
              <a:off x="5242123" y="3274094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object 132"/>
            <p:cNvSpPr/>
            <p:nvPr/>
          </p:nvSpPr>
          <p:spPr>
            <a:xfrm>
              <a:off x="5242123" y="3314586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object 133"/>
            <p:cNvSpPr/>
            <p:nvPr/>
          </p:nvSpPr>
          <p:spPr>
            <a:xfrm>
              <a:off x="5242123" y="3355079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object 134"/>
            <p:cNvSpPr/>
            <p:nvPr/>
          </p:nvSpPr>
          <p:spPr>
            <a:xfrm>
              <a:off x="5242123" y="3395572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object 135"/>
            <p:cNvSpPr/>
            <p:nvPr/>
          </p:nvSpPr>
          <p:spPr>
            <a:xfrm>
              <a:off x="5242123" y="3436064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object 136"/>
            <p:cNvSpPr/>
            <p:nvPr/>
          </p:nvSpPr>
          <p:spPr>
            <a:xfrm>
              <a:off x="5242123" y="3476557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object 137"/>
            <p:cNvSpPr/>
            <p:nvPr/>
          </p:nvSpPr>
          <p:spPr>
            <a:xfrm>
              <a:off x="5242123" y="3517050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object 138"/>
            <p:cNvSpPr/>
            <p:nvPr/>
          </p:nvSpPr>
          <p:spPr>
            <a:xfrm>
              <a:off x="5242123" y="3557558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object 139"/>
            <p:cNvSpPr/>
            <p:nvPr/>
          </p:nvSpPr>
          <p:spPr>
            <a:xfrm>
              <a:off x="5242123" y="3598050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object 140"/>
            <p:cNvSpPr/>
            <p:nvPr/>
          </p:nvSpPr>
          <p:spPr>
            <a:xfrm>
              <a:off x="5242123" y="3638543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object 141"/>
            <p:cNvSpPr/>
            <p:nvPr/>
          </p:nvSpPr>
          <p:spPr>
            <a:xfrm>
              <a:off x="5242123" y="3679036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object 142"/>
            <p:cNvSpPr/>
            <p:nvPr/>
          </p:nvSpPr>
          <p:spPr>
            <a:xfrm>
              <a:off x="5242123" y="3719528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object 143"/>
            <p:cNvSpPr/>
            <p:nvPr/>
          </p:nvSpPr>
          <p:spPr>
            <a:xfrm>
              <a:off x="5242123" y="3760021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object 144"/>
            <p:cNvSpPr/>
            <p:nvPr/>
          </p:nvSpPr>
          <p:spPr>
            <a:xfrm>
              <a:off x="5242123" y="3800514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object 145"/>
            <p:cNvSpPr/>
            <p:nvPr/>
          </p:nvSpPr>
          <p:spPr>
            <a:xfrm>
              <a:off x="5242123" y="3841006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object 146"/>
            <p:cNvSpPr/>
            <p:nvPr/>
          </p:nvSpPr>
          <p:spPr>
            <a:xfrm>
              <a:off x="5242123" y="3881514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object 147"/>
            <p:cNvSpPr/>
            <p:nvPr/>
          </p:nvSpPr>
          <p:spPr>
            <a:xfrm>
              <a:off x="5242123" y="3922007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object 148"/>
            <p:cNvSpPr/>
            <p:nvPr/>
          </p:nvSpPr>
          <p:spPr>
            <a:xfrm>
              <a:off x="5242123" y="3962500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object 149"/>
            <p:cNvSpPr/>
            <p:nvPr/>
          </p:nvSpPr>
          <p:spPr>
            <a:xfrm>
              <a:off x="5242123" y="4002992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object 150"/>
            <p:cNvSpPr/>
            <p:nvPr/>
          </p:nvSpPr>
          <p:spPr>
            <a:xfrm>
              <a:off x="5242123" y="4043485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object 151"/>
            <p:cNvSpPr/>
            <p:nvPr/>
          </p:nvSpPr>
          <p:spPr>
            <a:xfrm>
              <a:off x="5242123" y="4083978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object 152"/>
            <p:cNvSpPr/>
            <p:nvPr/>
          </p:nvSpPr>
          <p:spPr>
            <a:xfrm>
              <a:off x="5242123" y="4124470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object 153"/>
            <p:cNvSpPr/>
            <p:nvPr/>
          </p:nvSpPr>
          <p:spPr>
            <a:xfrm>
              <a:off x="5242123" y="4164963"/>
              <a:ext cx="0" cy="24932"/>
            </a:xfrm>
            <a:custGeom>
              <a:avLst/>
              <a:gdLst/>
              <a:ahLst/>
              <a:cxnLst/>
              <a:rect l="l" t="t" r="r" b="b"/>
              <a:pathLst>
                <a:path h="24932">
                  <a:moveTo>
                    <a:pt x="0" y="0"/>
                  </a:moveTo>
                  <a:lnTo>
                    <a:pt x="0" y="24932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object 154"/>
            <p:cNvSpPr/>
            <p:nvPr/>
          </p:nvSpPr>
          <p:spPr>
            <a:xfrm>
              <a:off x="5242123" y="4205471"/>
              <a:ext cx="0" cy="23362"/>
            </a:xfrm>
            <a:custGeom>
              <a:avLst/>
              <a:gdLst/>
              <a:ahLst/>
              <a:cxnLst/>
              <a:rect l="l" t="t" r="r" b="b"/>
              <a:pathLst>
                <a:path h="23362">
                  <a:moveTo>
                    <a:pt x="0" y="0"/>
                  </a:moveTo>
                  <a:lnTo>
                    <a:pt x="0" y="23362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object 155"/>
            <p:cNvSpPr/>
            <p:nvPr/>
          </p:nvSpPr>
          <p:spPr>
            <a:xfrm>
              <a:off x="5242123" y="4244394"/>
              <a:ext cx="0" cy="24932"/>
            </a:xfrm>
            <a:custGeom>
              <a:avLst/>
              <a:gdLst/>
              <a:ahLst/>
              <a:cxnLst/>
              <a:rect l="l" t="t" r="r" b="b"/>
              <a:pathLst>
                <a:path h="24932">
                  <a:moveTo>
                    <a:pt x="0" y="0"/>
                  </a:moveTo>
                  <a:lnTo>
                    <a:pt x="0" y="24932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object 156"/>
            <p:cNvSpPr/>
            <p:nvPr/>
          </p:nvSpPr>
          <p:spPr>
            <a:xfrm>
              <a:off x="5242123" y="4284887"/>
              <a:ext cx="0" cy="24932"/>
            </a:xfrm>
            <a:custGeom>
              <a:avLst/>
              <a:gdLst/>
              <a:ahLst/>
              <a:cxnLst/>
              <a:rect l="l" t="t" r="r" b="b"/>
              <a:pathLst>
                <a:path h="24932">
                  <a:moveTo>
                    <a:pt x="0" y="0"/>
                  </a:moveTo>
                  <a:lnTo>
                    <a:pt x="0" y="24932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object 157"/>
            <p:cNvSpPr/>
            <p:nvPr/>
          </p:nvSpPr>
          <p:spPr>
            <a:xfrm>
              <a:off x="5242123" y="4325394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object 158"/>
            <p:cNvSpPr/>
            <p:nvPr/>
          </p:nvSpPr>
          <p:spPr>
            <a:xfrm>
              <a:off x="5242123" y="4365887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object 159"/>
            <p:cNvSpPr/>
            <p:nvPr/>
          </p:nvSpPr>
          <p:spPr>
            <a:xfrm>
              <a:off x="5242123" y="4406380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object 160"/>
            <p:cNvSpPr/>
            <p:nvPr/>
          </p:nvSpPr>
          <p:spPr>
            <a:xfrm>
              <a:off x="5242123" y="4446873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object 161"/>
            <p:cNvSpPr/>
            <p:nvPr/>
          </p:nvSpPr>
          <p:spPr>
            <a:xfrm>
              <a:off x="5242123" y="4487365"/>
              <a:ext cx="0" cy="24932"/>
            </a:xfrm>
            <a:custGeom>
              <a:avLst/>
              <a:gdLst/>
              <a:ahLst/>
              <a:cxnLst/>
              <a:rect l="l" t="t" r="r" b="b"/>
              <a:pathLst>
                <a:path h="24932">
                  <a:moveTo>
                    <a:pt x="0" y="0"/>
                  </a:moveTo>
                  <a:lnTo>
                    <a:pt x="0" y="24932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object 162"/>
            <p:cNvSpPr/>
            <p:nvPr/>
          </p:nvSpPr>
          <p:spPr>
            <a:xfrm>
              <a:off x="5242123" y="4527858"/>
              <a:ext cx="0" cy="24932"/>
            </a:xfrm>
            <a:custGeom>
              <a:avLst/>
              <a:gdLst/>
              <a:ahLst/>
              <a:cxnLst/>
              <a:rect l="l" t="t" r="r" b="b"/>
              <a:pathLst>
                <a:path h="24932">
                  <a:moveTo>
                    <a:pt x="0" y="0"/>
                  </a:moveTo>
                  <a:lnTo>
                    <a:pt x="0" y="24932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object 163"/>
            <p:cNvSpPr/>
            <p:nvPr/>
          </p:nvSpPr>
          <p:spPr>
            <a:xfrm>
              <a:off x="5242123" y="4568351"/>
              <a:ext cx="0" cy="24932"/>
            </a:xfrm>
            <a:custGeom>
              <a:avLst/>
              <a:gdLst/>
              <a:ahLst/>
              <a:cxnLst/>
              <a:rect l="l" t="t" r="r" b="b"/>
              <a:pathLst>
                <a:path h="24932">
                  <a:moveTo>
                    <a:pt x="0" y="0"/>
                  </a:moveTo>
                  <a:lnTo>
                    <a:pt x="0" y="24932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object 164"/>
            <p:cNvSpPr/>
            <p:nvPr/>
          </p:nvSpPr>
          <p:spPr>
            <a:xfrm>
              <a:off x="5242123" y="4608858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object 165"/>
            <p:cNvSpPr/>
            <p:nvPr/>
          </p:nvSpPr>
          <p:spPr>
            <a:xfrm>
              <a:off x="5242123" y="4649351"/>
              <a:ext cx="0" cy="24917"/>
            </a:xfrm>
            <a:custGeom>
              <a:avLst/>
              <a:gdLst/>
              <a:ahLst/>
              <a:cxnLst/>
              <a:rect l="l" t="t" r="r" b="b"/>
              <a:pathLst>
                <a:path h="24917">
                  <a:moveTo>
                    <a:pt x="0" y="0"/>
                  </a:moveTo>
                  <a:lnTo>
                    <a:pt x="0" y="24917"/>
                  </a:lnTo>
                </a:path>
              </a:pathLst>
            </a:custGeom>
            <a:ln w="0">
              <a:solidFill>
                <a:srgbClr val="363435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object 63"/>
            <p:cNvSpPr txBox="1"/>
            <p:nvPr/>
          </p:nvSpPr>
          <p:spPr>
            <a:xfrm>
              <a:off x="3220507" y="2705611"/>
              <a:ext cx="918911" cy="62455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700"/>
                </a:lnSpc>
                <a:spcBef>
                  <a:spcPts val="19"/>
                </a:spcBef>
              </a:pPr>
              <a:endParaRPr sz="7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66325">
                <a:lnSpc>
                  <a:spcPct val="95825"/>
                </a:lnSpc>
                <a:spcBef>
                  <a:spcPts val="1000"/>
                </a:spcBef>
              </a:pPr>
              <a:r>
                <a:rPr sz="1200" b="1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Shop</a:t>
              </a:r>
              <a:endParaRPr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object 62"/>
            <p:cNvSpPr txBox="1"/>
            <p:nvPr/>
          </p:nvSpPr>
          <p:spPr>
            <a:xfrm>
              <a:off x="4139418" y="2705611"/>
              <a:ext cx="2205395" cy="36755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650"/>
                </a:lnSpc>
                <a:spcBef>
                  <a:spcPts val="39"/>
                </a:spcBef>
              </a:pPr>
              <a:endParaRPr sz="65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02797">
                <a:lnSpc>
                  <a:spcPct val="95825"/>
                </a:lnSpc>
              </a:pPr>
              <a:r>
                <a:rPr sz="1200" b="1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Process</a:t>
              </a:r>
              <a:r>
                <a:rPr lang="tr-TR" sz="1200" b="1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sz="1200" b="1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ng</a:t>
              </a:r>
              <a:r>
                <a:rPr sz="1200" b="1" spc="139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200" b="1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tr-TR" sz="1200" b="1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sz="1200" b="1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</a:t>
              </a:r>
              <a:r>
                <a:rPr sz="1200" b="1" spc="65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200" b="1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(m</a:t>
              </a:r>
              <a:r>
                <a:rPr lang="tr-TR" sz="1200" b="1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sz="1200" b="1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n/un</a:t>
              </a:r>
              <a:r>
                <a:rPr lang="tr-TR" sz="1200" b="1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sz="1200" b="1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t)</a:t>
              </a:r>
              <a:endParaRPr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object 61"/>
            <p:cNvSpPr txBox="1"/>
            <p:nvPr/>
          </p:nvSpPr>
          <p:spPr>
            <a:xfrm>
              <a:off x="6344813" y="2705611"/>
              <a:ext cx="1286484" cy="62455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950"/>
                </a:lnSpc>
                <a:spcBef>
                  <a:spcPts val="21"/>
                </a:spcBef>
              </a:pPr>
              <a:endParaRPr sz="95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5238" marR="106409" algn="ctr">
                <a:lnSpc>
                  <a:spcPct val="95825"/>
                </a:lnSpc>
              </a:pPr>
              <a:r>
                <a:rPr lang="en-US" sz="1200" b="1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Available</a:t>
              </a:r>
              <a:r>
                <a:rPr sz="1200" b="1" spc="115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200" b="1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tr-TR" sz="1200" b="1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sz="1200" b="1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</a:t>
              </a:r>
              <a:endParaRPr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37283" marR="308140" algn="ctr">
                <a:lnSpc>
                  <a:spcPct val="95825"/>
                </a:lnSpc>
                <a:spcBef>
                  <a:spcPts val="90"/>
                </a:spcBef>
              </a:pPr>
              <a:r>
                <a:rPr sz="1200" b="1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(m</a:t>
              </a:r>
              <a:r>
                <a:rPr lang="tr-TR" sz="1200" b="1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sz="1200" b="1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n/day)</a:t>
              </a:r>
              <a:endParaRPr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object 60"/>
            <p:cNvSpPr txBox="1"/>
            <p:nvPr/>
          </p:nvSpPr>
          <p:spPr>
            <a:xfrm>
              <a:off x="4139418" y="3073169"/>
              <a:ext cx="1102706" cy="256992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355107">
                <a:lnSpc>
                  <a:spcPct val="95825"/>
                </a:lnSpc>
                <a:spcBef>
                  <a:spcPts val="235"/>
                </a:spcBef>
              </a:pPr>
              <a:r>
                <a:rPr sz="1200" spc="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Truck</a:t>
              </a:r>
              <a:endParaRPr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object 59"/>
            <p:cNvSpPr txBox="1"/>
            <p:nvPr/>
          </p:nvSpPr>
          <p:spPr>
            <a:xfrm>
              <a:off x="5242124" y="3073169"/>
              <a:ext cx="1102689" cy="256992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395816" marR="394118" algn="ctr">
                <a:lnSpc>
                  <a:spcPct val="95825"/>
                </a:lnSpc>
                <a:spcBef>
                  <a:spcPts val="235"/>
                </a:spcBef>
              </a:pPr>
              <a:r>
                <a:rPr sz="1200" spc="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Car</a:t>
              </a:r>
              <a:endParaRPr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object 58"/>
            <p:cNvSpPr txBox="1"/>
            <p:nvPr/>
          </p:nvSpPr>
          <p:spPr>
            <a:xfrm>
              <a:off x="3220507" y="3330161"/>
              <a:ext cx="4410791" cy="45945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950"/>
                </a:lnSpc>
                <a:spcBef>
                  <a:spcPts val="33"/>
                </a:spcBef>
              </a:pPr>
              <a:endParaRPr sz="95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1898">
                <a:lnSpc>
                  <a:spcPct val="95825"/>
                </a:lnSpc>
              </a:pPr>
              <a:r>
                <a:rPr lang="en-US" sz="1200" dirty="0">
                  <a:solidFill>
                    <a:schemeClr val="accent4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Paint</a:t>
              </a:r>
              <a:r>
                <a:rPr sz="1200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            </a:t>
              </a:r>
              <a:r>
                <a:rPr sz="1200" spc="302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200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                     </a:t>
              </a:r>
              <a:r>
                <a:rPr sz="1200" spc="3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200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                      </a:t>
              </a:r>
              <a:r>
                <a:rPr sz="1200" spc="81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200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480</a:t>
              </a:r>
              <a:endParaRPr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object 57"/>
            <p:cNvSpPr txBox="1"/>
            <p:nvPr/>
          </p:nvSpPr>
          <p:spPr>
            <a:xfrm>
              <a:off x="4139418" y="3330161"/>
              <a:ext cx="3491880" cy="45945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object 56"/>
            <p:cNvSpPr txBox="1"/>
            <p:nvPr/>
          </p:nvSpPr>
          <p:spPr>
            <a:xfrm>
              <a:off x="5242124" y="3330161"/>
              <a:ext cx="1010807" cy="917356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700"/>
                </a:lnSpc>
                <a:spcBef>
                  <a:spcPts val="48"/>
                </a:spcBef>
              </a:pPr>
              <a:endParaRPr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484909" marR="390540" algn="ctr">
                <a:lnSpc>
                  <a:spcPct val="95825"/>
                </a:lnSpc>
                <a:spcBef>
                  <a:spcPts val="4000"/>
                </a:spcBef>
              </a:pPr>
              <a:r>
                <a:rPr sz="1200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object 55"/>
            <p:cNvSpPr txBox="1"/>
            <p:nvPr/>
          </p:nvSpPr>
          <p:spPr>
            <a:xfrm>
              <a:off x="6252931" y="3330161"/>
              <a:ext cx="91881" cy="45945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object 54"/>
            <p:cNvSpPr txBox="1"/>
            <p:nvPr/>
          </p:nvSpPr>
          <p:spPr>
            <a:xfrm>
              <a:off x="6344813" y="3330161"/>
              <a:ext cx="104348" cy="45945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object 53"/>
            <p:cNvSpPr txBox="1"/>
            <p:nvPr/>
          </p:nvSpPr>
          <p:spPr>
            <a:xfrm>
              <a:off x="6449162" y="3330161"/>
              <a:ext cx="1182136" cy="917356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700"/>
                </a:lnSpc>
                <a:spcBef>
                  <a:spcPts val="48"/>
                </a:spcBef>
              </a:pPr>
              <a:endParaRPr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80574" marR="493012" algn="ctr">
                <a:lnSpc>
                  <a:spcPct val="95825"/>
                </a:lnSpc>
                <a:spcBef>
                  <a:spcPts val="4000"/>
                </a:spcBef>
              </a:pPr>
              <a:r>
                <a:rPr sz="1200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480</a:t>
              </a:r>
              <a:endParaRPr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object 52"/>
            <p:cNvSpPr txBox="1"/>
            <p:nvPr/>
          </p:nvSpPr>
          <p:spPr>
            <a:xfrm>
              <a:off x="3220507" y="3789617"/>
              <a:ext cx="918911" cy="457901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1100"/>
                </a:lnSpc>
                <a:spcBef>
                  <a:spcPts val="30"/>
                </a:spcBef>
              </a:pPr>
              <a:endParaRPr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23032">
                <a:lnSpc>
                  <a:spcPct val="95825"/>
                </a:lnSpc>
              </a:pPr>
              <a:r>
                <a:rPr sz="1200" spc="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Assembly</a:t>
              </a:r>
              <a:endParaRPr sz="12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object 51"/>
            <p:cNvSpPr txBox="1"/>
            <p:nvPr/>
          </p:nvSpPr>
          <p:spPr>
            <a:xfrm>
              <a:off x="4139418" y="3789617"/>
              <a:ext cx="1102706" cy="457901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1100"/>
                </a:lnSpc>
                <a:spcBef>
                  <a:spcPts val="30"/>
                </a:spcBef>
              </a:pPr>
              <a:endParaRPr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484923" marR="482424" algn="ctr">
                <a:lnSpc>
                  <a:spcPct val="95825"/>
                </a:lnSpc>
              </a:pPr>
              <a:r>
                <a:rPr sz="1200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object 50"/>
            <p:cNvSpPr txBox="1"/>
            <p:nvPr/>
          </p:nvSpPr>
          <p:spPr>
            <a:xfrm>
              <a:off x="6252931" y="3789617"/>
              <a:ext cx="91881" cy="457901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object 49"/>
            <p:cNvSpPr txBox="1"/>
            <p:nvPr/>
          </p:nvSpPr>
          <p:spPr>
            <a:xfrm>
              <a:off x="6344813" y="3789617"/>
              <a:ext cx="104348" cy="457901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object 48"/>
            <p:cNvSpPr txBox="1"/>
            <p:nvPr/>
          </p:nvSpPr>
          <p:spPr>
            <a:xfrm>
              <a:off x="7631298" y="3789617"/>
              <a:ext cx="9342" cy="900226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object 47"/>
            <p:cNvSpPr txBox="1"/>
            <p:nvPr/>
          </p:nvSpPr>
          <p:spPr>
            <a:xfrm>
              <a:off x="3220507" y="4247518"/>
              <a:ext cx="918911" cy="44232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49825" marR="210742" algn="ctr">
                <a:lnSpc>
                  <a:spcPct val="95825"/>
                </a:lnSpc>
                <a:spcBef>
                  <a:spcPts val="245"/>
                </a:spcBef>
              </a:pPr>
              <a:r>
                <a:rPr sz="1200" b="1" spc="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Prof</a:t>
              </a:r>
              <a:r>
                <a:rPr lang="tr-TR" sz="1200" b="1" spc="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sz="1200" b="1" spc="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sz="1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43821" marR="103492" algn="ctr">
                <a:lnSpc>
                  <a:spcPct val="95825"/>
                </a:lnSpc>
                <a:spcBef>
                  <a:spcPts val="90"/>
                </a:spcBef>
              </a:pPr>
              <a:r>
                <a:rPr sz="1200" b="1" spc="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(TL/un</a:t>
              </a:r>
              <a:r>
                <a:rPr lang="tr-TR" sz="1200" b="1" spc="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sz="1200" b="1" spc="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t)</a:t>
              </a:r>
              <a:endParaRPr sz="1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object 46"/>
            <p:cNvSpPr txBox="1"/>
            <p:nvPr/>
          </p:nvSpPr>
          <p:spPr>
            <a:xfrm>
              <a:off x="4139418" y="4247518"/>
              <a:ext cx="1102706" cy="44232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950"/>
                </a:lnSpc>
                <a:spcBef>
                  <a:spcPts val="33"/>
                </a:spcBef>
              </a:pPr>
              <a:endParaRPr sz="95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52541" marR="355019" algn="ctr">
                <a:lnSpc>
                  <a:spcPct val="95825"/>
                </a:lnSpc>
              </a:pPr>
              <a:r>
                <a:rPr sz="1200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3000</a:t>
              </a:r>
              <a:endParaRPr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object 45"/>
            <p:cNvSpPr txBox="1"/>
            <p:nvPr/>
          </p:nvSpPr>
          <p:spPr>
            <a:xfrm>
              <a:off x="5242124" y="4247518"/>
              <a:ext cx="1102689" cy="44232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950"/>
                </a:lnSpc>
                <a:spcBef>
                  <a:spcPts val="33"/>
                </a:spcBef>
              </a:pPr>
              <a:endParaRPr sz="95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3960" marR="349567" algn="ctr">
                <a:lnSpc>
                  <a:spcPct val="95825"/>
                </a:lnSpc>
              </a:pPr>
              <a:r>
                <a:rPr sz="1200" spc="0" dirty="0">
                  <a:solidFill>
                    <a:srgbClr val="3634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2000</a:t>
              </a:r>
              <a:endParaRPr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object 44"/>
            <p:cNvSpPr txBox="1"/>
            <p:nvPr/>
          </p:nvSpPr>
          <p:spPr>
            <a:xfrm>
              <a:off x="6344813" y="4247518"/>
              <a:ext cx="1286484" cy="44232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object 33"/>
            <p:cNvSpPr txBox="1"/>
            <p:nvPr/>
          </p:nvSpPr>
          <p:spPr>
            <a:xfrm>
              <a:off x="3341985" y="3649917"/>
              <a:ext cx="74767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object 32"/>
            <p:cNvSpPr txBox="1"/>
            <p:nvPr/>
          </p:nvSpPr>
          <p:spPr>
            <a:xfrm>
              <a:off x="3463463" y="3649917"/>
              <a:ext cx="74767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object 31"/>
            <p:cNvSpPr txBox="1"/>
            <p:nvPr/>
          </p:nvSpPr>
          <p:spPr>
            <a:xfrm>
              <a:off x="3584956" y="3649917"/>
              <a:ext cx="74752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object 30"/>
            <p:cNvSpPr txBox="1"/>
            <p:nvPr/>
          </p:nvSpPr>
          <p:spPr>
            <a:xfrm>
              <a:off x="3704879" y="3649917"/>
              <a:ext cx="74752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object 29"/>
            <p:cNvSpPr txBox="1"/>
            <p:nvPr/>
          </p:nvSpPr>
          <p:spPr>
            <a:xfrm>
              <a:off x="3826358" y="3649917"/>
              <a:ext cx="74767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object 28"/>
            <p:cNvSpPr txBox="1"/>
            <p:nvPr/>
          </p:nvSpPr>
          <p:spPr>
            <a:xfrm>
              <a:off x="3947851" y="3649917"/>
              <a:ext cx="74752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object 27"/>
            <p:cNvSpPr txBox="1"/>
            <p:nvPr/>
          </p:nvSpPr>
          <p:spPr>
            <a:xfrm>
              <a:off x="4190822" y="3649917"/>
              <a:ext cx="74752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object 26"/>
            <p:cNvSpPr txBox="1"/>
            <p:nvPr/>
          </p:nvSpPr>
          <p:spPr>
            <a:xfrm>
              <a:off x="4312300" y="3649917"/>
              <a:ext cx="74767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object 25"/>
            <p:cNvSpPr txBox="1"/>
            <p:nvPr/>
          </p:nvSpPr>
          <p:spPr>
            <a:xfrm>
              <a:off x="4433778" y="3649917"/>
              <a:ext cx="74767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object 24"/>
            <p:cNvSpPr txBox="1"/>
            <p:nvPr/>
          </p:nvSpPr>
          <p:spPr>
            <a:xfrm>
              <a:off x="4555272" y="3649917"/>
              <a:ext cx="74752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object 23"/>
            <p:cNvSpPr txBox="1"/>
            <p:nvPr/>
          </p:nvSpPr>
          <p:spPr>
            <a:xfrm>
              <a:off x="4676750" y="3649917"/>
              <a:ext cx="73197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object 22"/>
            <p:cNvSpPr txBox="1"/>
            <p:nvPr/>
          </p:nvSpPr>
          <p:spPr>
            <a:xfrm>
              <a:off x="4796673" y="3649917"/>
              <a:ext cx="74767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object 21"/>
            <p:cNvSpPr txBox="1"/>
            <p:nvPr/>
          </p:nvSpPr>
          <p:spPr>
            <a:xfrm>
              <a:off x="4918166" y="3649917"/>
              <a:ext cx="74752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object 20"/>
            <p:cNvSpPr txBox="1"/>
            <p:nvPr/>
          </p:nvSpPr>
          <p:spPr>
            <a:xfrm>
              <a:off x="5039644" y="3649917"/>
              <a:ext cx="74752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object 19"/>
            <p:cNvSpPr txBox="1"/>
            <p:nvPr/>
          </p:nvSpPr>
          <p:spPr>
            <a:xfrm>
              <a:off x="5161122" y="3649917"/>
              <a:ext cx="74767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object 18"/>
            <p:cNvSpPr txBox="1"/>
            <p:nvPr/>
          </p:nvSpPr>
          <p:spPr>
            <a:xfrm>
              <a:off x="5282616" y="3649917"/>
              <a:ext cx="74752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object 17"/>
            <p:cNvSpPr txBox="1"/>
            <p:nvPr/>
          </p:nvSpPr>
          <p:spPr>
            <a:xfrm>
              <a:off x="5404094" y="3649917"/>
              <a:ext cx="74752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object 16"/>
            <p:cNvSpPr txBox="1"/>
            <p:nvPr/>
          </p:nvSpPr>
          <p:spPr>
            <a:xfrm>
              <a:off x="5525572" y="3649917"/>
              <a:ext cx="74767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object 15"/>
            <p:cNvSpPr txBox="1"/>
            <p:nvPr/>
          </p:nvSpPr>
          <p:spPr>
            <a:xfrm>
              <a:off x="5647065" y="3649917"/>
              <a:ext cx="74752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object 14"/>
            <p:cNvSpPr txBox="1"/>
            <p:nvPr/>
          </p:nvSpPr>
          <p:spPr>
            <a:xfrm>
              <a:off x="5766989" y="3649917"/>
              <a:ext cx="74752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object 13"/>
            <p:cNvSpPr txBox="1"/>
            <p:nvPr/>
          </p:nvSpPr>
          <p:spPr>
            <a:xfrm>
              <a:off x="5888467" y="3649917"/>
              <a:ext cx="74767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object 12"/>
            <p:cNvSpPr txBox="1"/>
            <p:nvPr/>
          </p:nvSpPr>
          <p:spPr>
            <a:xfrm>
              <a:off x="6009960" y="3649917"/>
              <a:ext cx="74752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object 11"/>
            <p:cNvSpPr txBox="1"/>
            <p:nvPr/>
          </p:nvSpPr>
          <p:spPr>
            <a:xfrm>
              <a:off x="6131438" y="3649917"/>
              <a:ext cx="74767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object 10"/>
            <p:cNvSpPr txBox="1"/>
            <p:nvPr/>
          </p:nvSpPr>
          <p:spPr>
            <a:xfrm>
              <a:off x="6495887" y="3649917"/>
              <a:ext cx="74767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object 9"/>
            <p:cNvSpPr txBox="1"/>
            <p:nvPr/>
          </p:nvSpPr>
          <p:spPr>
            <a:xfrm>
              <a:off x="6617381" y="3649917"/>
              <a:ext cx="74752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object 8"/>
            <p:cNvSpPr txBox="1"/>
            <p:nvPr/>
          </p:nvSpPr>
          <p:spPr>
            <a:xfrm>
              <a:off x="6738859" y="3649917"/>
              <a:ext cx="73197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object 7"/>
            <p:cNvSpPr txBox="1"/>
            <p:nvPr/>
          </p:nvSpPr>
          <p:spPr>
            <a:xfrm>
              <a:off x="6858782" y="3649917"/>
              <a:ext cx="74767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object 6"/>
            <p:cNvSpPr txBox="1"/>
            <p:nvPr/>
          </p:nvSpPr>
          <p:spPr>
            <a:xfrm>
              <a:off x="6980276" y="3649917"/>
              <a:ext cx="74752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object 5"/>
            <p:cNvSpPr txBox="1"/>
            <p:nvPr/>
          </p:nvSpPr>
          <p:spPr>
            <a:xfrm>
              <a:off x="7101754" y="3649917"/>
              <a:ext cx="74752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object 4"/>
            <p:cNvSpPr txBox="1"/>
            <p:nvPr/>
          </p:nvSpPr>
          <p:spPr>
            <a:xfrm>
              <a:off x="7223232" y="3649917"/>
              <a:ext cx="74767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object 3"/>
            <p:cNvSpPr txBox="1"/>
            <p:nvPr/>
          </p:nvSpPr>
          <p:spPr>
            <a:xfrm>
              <a:off x="7344725" y="3649917"/>
              <a:ext cx="74752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object 2"/>
            <p:cNvSpPr txBox="1"/>
            <p:nvPr/>
          </p:nvSpPr>
          <p:spPr>
            <a:xfrm>
              <a:off x="7466203" y="3649917"/>
              <a:ext cx="74752" cy="1524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8" name="Rectangle 157"/>
          <p:cNvSpPr/>
          <p:nvPr/>
        </p:nvSpPr>
        <p:spPr>
          <a:xfrm>
            <a:off x="2034908" y="5862843"/>
            <a:ext cx="56538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u="none" strike="noStrike" baseline="0" dirty="0">
                <a:solidFill>
                  <a:srgbClr val="2C4F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marketing division reports that it would be impossible to sell more than 40 trucks a day.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Date Placeholder 16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164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Automotive Manufacturing Plant</a:t>
            </a:r>
          </a:p>
        </p:txBody>
      </p:sp>
    </p:spTree>
    <p:extLst>
      <p:ext uri="{BB962C8B-B14F-4D97-AF65-F5344CB8AC3E}">
        <p14:creationId xmlns:p14="http://schemas.microsoft.com/office/powerpoint/2010/main" val="1040843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Example: Decision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1"/>
                <a:ext cx="8382000" cy="2133600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 dirty="0"/>
                  <a:t>Decision Variables</a:t>
                </a:r>
                <a:r>
                  <a:rPr lang="en-US" sz="2000" b="1" dirty="0"/>
                  <a:t> 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000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sz="20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: number of trucks produced per day [unit/day]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000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sz="20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: number of cars produced per day [unit/day]</a:t>
                </a:r>
              </a:p>
              <a:p>
                <a:r>
                  <a:rPr lang="en-US" sz="2400" dirty="0"/>
                  <a:t>The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complete mathematical model </a:t>
                </a:r>
                <a:r>
                  <a:rPr lang="en-US" sz="2400" dirty="0"/>
                  <a:t>for the Automotive</a:t>
                </a:r>
                <a:r>
                  <a:rPr lang="tr-TR" sz="2400" dirty="0"/>
                  <a:t> </a:t>
                </a:r>
                <a:r>
                  <a:rPr lang="en-US" sz="2400" dirty="0"/>
                  <a:t>Manufacturing Plant</a:t>
                </a:r>
                <a:r>
                  <a:rPr lang="en-US" sz="2000" dirty="0"/>
                  <a:t>:</a:t>
                </a:r>
                <a:endParaRPr lang="tr-TR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1"/>
                <a:ext cx="8382000" cy="2133600"/>
              </a:xfrm>
              <a:blipFill>
                <a:blip r:embed="rId2"/>
                <a:stretch>
                  <a:fillRect l="-945" t="-2286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90600" y="3566946"/>
                <a:ext cx="5518159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tr-TR" sz="2400" b="0" i="0" smtClean="0">
                              <a:latin typeface="Cambria Math"/>
                            </a:rPr>
                            <m:t>max</m:t>
                          </m:r>
                          <m:r>
                            <m:rPr>
                              <m:sty m:val="p"/>
                            </m:rPr>
                            <a:rPr lang="tr-TR" sz="2400" b="0" i="0" smtClean="0">
                              <a:latin typeface="Cambria Math" panose="02040503050406030204" pitchFamily="18" charset="0"/>
                            </a:rPr>
                            <m:t>imize</m:t>
                          </m:r>
                          <m:r>
                            <a:rPr lang="tr-TR" sz="2400" b="0" i="1" smtClean="0">
                              <a:latin typeface="Cambria Math"/>
                            </a:rPr>
                            <m:t>   </m:t>
                          </m:r>
                        </m:fName>
                        <m:e>
                          <m:r>
                            <a:rPr lang="tr-TR" sz="2400" b="0" i="1" smtClean="0">
                              <a:latin typeface="Cambria Math"/>
                            </a:rPr>
                            <m:t>3000</m:t>
                          </m:r>
                        </m:e>
                      </m:func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tr-TR" sz="2400" b="0" i="1" smtClean="0">
                          <a:latin typeface="Cambria Math"/>
                        </a:rPr>
                        <m:t>+2000 </m:t>
                      </m:r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tr-TR" sz="2400" b="0" dirty="0"/>
              </a:p>
              <a:p>
                <a:endParaRPr lang="tr-TR" sz="2400" b="0" dirty="0"/>
              </a:p>
              <a:p>
                <a:r>
                  <a:rPr lang="tr-TR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Subject to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b="0" i="1" smtClean="0">
                          <a:latin typeface="Cambria Math" panose="02040503050406030204" pitchFamily="18" charset="0"/>
                          <a:ea typeface="Cambria Math"/>
                        </a:rPr>
                        <m:t>                        </m:t>
                      </m:r>
                      <m:r>
                        <a:rPr lang="tr-TR" sz="24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tr-TR" sz="2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6 </m:t>
                      </m:r>
                      <m:sSub>
                        <m:sSubPr>
                          <m:ctrlPr>
                            <a:rPr lang="tr-T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tr-T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tr-TR" sz="2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tr-T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    </m:t>
                      </m:r>
                      <m:r>
                        <a:rPr lang="tr-TR" sz="2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10 </m:t>
                      </m:r>
                      <m:sSub>
                        <m:sSubPr>
                          <m:ctrlPr>
                            <a:rPr lang="tr-T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tr-TR" sz="2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≤480 </m:t>
                      </m:r>
                    </m:oMath>
                  </m:oMathPara>
                </a14:m>
                <a:endParaRPr lang="tr-TR" sz="2400" i="1" dirty="0">
                  <a:solidFill>
                    <a:srgbClr val="FF0000"/>
                  </a:solidFill>
                  <a:latin typeface="Cambria Math"/>
                  <a:ea typeface="Cambria Math"/>
                </a:endParaRPr>
              </a:p>
              <a:p>
                <a:r>
                  <a:rPr lang="tr-TR" sz="2400" dirty="0">
                    <a:solidFill>
                      <a:srgbClr val="0070C0"/>
                    </a:solidFill>
                    <a:ea typeface="Cambria Math"/>
                  </a:rPr>
                  <a:t>                              </a:t>
                </a:r>
                <a14:m>
                  <m:oMath xmlns:m="http://schemas.openxmlformats.org/officeDocument/2006/math">
                    <m:r>
                      <a:rPr lang="tr-TR" sz="240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8 </m:t>
                    </m:r>
                    <m:sSub>
                      <m:sSubPr>
                        <m:ctrlPr>
                          <a:rPr lang="tr-TR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tr-TR" sz="2400" i="1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tr-TR" sz="2400" i="1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tr-T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</m:sub>
                    </m:sSub>
                    <m:r>
                      <a:rPr lang="tr-TR" sz="240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tr-TR" sz="24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  </m:t>
                    </m:r>
                    <m:r>
                      <a:rPr lang="tr-TR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     </m:t>
                    </m:r>
                    <m:r>
                      <a:rPr lang="tr-TR" sz="2400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8 </m:t>
                    </m:r>
                    <m:sSub>
                      <m:sSubPr>
                        <m:ctrlPr>
                          <a:rPr lang="tr-TR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tr-TR" sz="2400" i="1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tr-TR" sz="2400" i="1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tr-TR" sz="2400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 ≤480</m:t>
                    </m:r>
                  </m:oMath>
                </a14:m>
                <a:endParaRPr lang="tr-TR" sz="2400" i="1" dirty="0">
                  <a:solidFill>
                    <a:srgbClr val="0070C0"/>
                  </a:solidFill>
                  <a:latin typeface="Cambria Math"/>
                  <a:ea typeface="Cambria Math"/>
                </a:endParaRPr>
              </a:p>
              <a:p>
                <a:r>
                  <a:rPr lang="tr-TR" sz="2400" i="1" dirty="0">
                    <a:solidFill>
                      <a:srgbClr val="00B050"/>
                    </a:solidFill>
                    <a:latin typeface="Cambria Math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tr-TR" sz="2400" b="0" i="1" smtClean="0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      </m:t>
                        </m:r>
                        <m:r>
                          <a:rPr lang="tr-TR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                           </m:t>
                        </m:r>
                        <m:r>
                          <a:rPr lang="tr-TR" sz="2400" i="1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tr-TR" sz="2400" i="1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tr-TR" sz="2400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tr-TR" sz="2400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                      </m:t>
                    </m:r>
                    <m:r>
                      <a:rPr lang="tr-TR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tr-TR" sz="2400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≤40</m:t>
                    </m:r>
                    <m:r>
                      <a:rPr lang="tr-TR" sz="2400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    </m:t>
                    </m:r>
                  </m:oMath>
                </a14:m>
                <a:endParaRPr lang="tr-TR" sz="2400" b="0" i="1" dirty="0">
                  <a:solidFill>
                    <a:srgbClr val="00B050"/>
                  </a:solidFill>
                  <a:latin typeface="Cambria Math"/>
                  <a:ea typeface="Cambria Math"/>
                </a:endParaRPr>
              </a:p>
              <a:p>
                <a:r>
                  <a:rPr lang="tr-TR" sz="2400" dirty="0">
                    <a:ea typeface="Cambria Math"/>
                  </a:rPr>
                  <a:t>     </a:t>
                </a:r>
                <a14:m>
                  <m:oMath xmlns:m="http://schemas.openxmlformats.org/officeDocument/2006/math">
                    <m:r>
                      <a:rPr lang="tr-TR" sz="2400" b="0" i="0" smtClean="0">
                        <a:latin typeface="Cambria Math"/>
                        <a:ea typeface="Cambria Math"/>
                      </a:rPr>
                      <m:t>  </m:t>
                    </m:r>
                    <m:r>
                      <a:rPr lang="tr-TR" sz="2400" b="0" i="0" smtClean="0">
                        <a:latin typeface="Cambria Math" panose="02040503050406030204" pitchFamily="18" charset="0"/>
                        <a:ea typeface="Cambria Math"/>
                      </a:rPr>
                      <m:t>                          </m:t>
                    </m:r>
                    <m:r>
                      <a:rPr lang="tr-TR" sz="2400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tr-TR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tr-TR" sz="24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tr-TR" sz="24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tr-TR" sz="2400" b="0" i="1" smtClean="0">
                        <a:latin typeface="Cambria Math"/>
                        <a:ea typeface="Cambria Math"/>
                      </a:rPr>
                      <m:t>   ,        </m:t>
                    </m:r>
                    <m:sSub>
                      <m:sSubPr>
                        <m:ctrlPr>
                          <a:rPr lang="tr-TR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tr-TR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      </m:t>
                        </m:r>
                        <m:r>
                          <a:rPr lang="tr-TR" sz="24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tr-TR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tr-TR" sz="2400" b="0" i="1" smtClean="0">
                        <a:latin typeface="Cambria Math"/>
                        <a:ea typeface="Cambria Math"/>
                      </a:rPr>
                      <m:t> ≥0</m:t>
                    </m:r>
                  </m:oMath>
                </a14:m>
                <a:endParaRPr lang="tr-TR" sz="2400" b="0" i="1" dirty="0">
                  <a:latin typeface="Cambria Math"/>
                  <a:ea typeface="Cambria Math"/>
                </a:endParaRPr>
              </a:p>
              <a:p>
                <a:endParaRPr lang="tr-TR" sz="2400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566946"/>
                <a:ext cx="5518159" cy="3046988"/>
              </a:xfrm>
              <a:prstGeom prst="rect">
                <a:avLst/>
              </a:prstGeom>
              <a:blipFill>
                <a:blip r:embed="rId3"/>
                <a:stretch>
                  <a:fillRect l="-1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379926" y="4724400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Constraint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84842" y="5113397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0070C0"/>
                </a:solidFill>
              </a:rPr>
              <a:t>Constraint 2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79925" y="5459772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00B050"/>
                </a:solidFill>
              </a:rPr>
              <a:t>Constraint 3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79925" y="5806147"/>
            <a:ext cx="2488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Nonnegativity constraint</a:t>
            </a:r>
            <a:endParaRPr lang="en-US" dirty="0"/>
          </a:p>
        </p:txBody>
      </p:sp>
      <p:sp>
        <p:nvSpPr>
          <p:cNvPr id="10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829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What can be shown?</a:t>
            </a:r>
          </a:p>
          <a:p>
            <a:r>
              <a:rPr lang="tr-TR" dirty="0"/>
              <a:t>The objective function and the constraints of the model, and </a:t>
            </a:r>
          </a:p>
          <a:p>
            <a:r>
              <a:rPr lang="tr-TR" dirty="0"/>
              <a:t>Solutions to the problem through the model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tr-TR" sz="4000" dirty="0">
                <a:solidFill>
                  <a:srgbClr val="FF0000"/>
                </a:solidFill>
              </a:rPr>
              <a:t>Graphical Representation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073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85" y="16268"/>
            <a:ext cx="8697246" cy="1143000"/>
          </a:xfrm>
        </p:spPr>
        <p:txBody>
          <a:bodyPr>
            <a:normAutofit fontScale="90000"/>
          </a:bodyPr>
          <a:lstStyle/>
          <a:p>
            <a:r>
              <a:rPr lang="tr-TR" dirty="0">
                <a:solidFill>
                  <a:srgbClr val="FF0000"/>
                </a:solidFill>
              </a:rPr>
              <a:t>Graphical Representation</a:t>
            </a:r>
            <a:r>
              <a:rPr lang="en-US" dirty="0">
                <a:solidFill>
                  <a:srgbClr val="FF0000"/>
                </a:solidFill>
              </a:rPr>
              <a:t> of </a:t>
            </a:r>
            <a:r>
              <a:rPr lang="tr-TR" dirty="0">
                <a:solidFill>
                  <a:srgbClr val="FF000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Problem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18</a:t>
            </a:fld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3384167" y="2391252"/>
            <a:ext cx="4388232" cy="4229290"/>
            <a:chOff x="2810454" y="2790344"/>
            <a:chExt cx="3584024" cy="3190381"/>
          </a:xfrm>
        </p:grpSpPr>
        <p:grpSp>
          <p:nvGrpSpPr>
            <p:cNvPr id="57" name="Group 56"/>
            <p:cNvGrpSpPr/>
            <p:nvPr/>
          </p:nvGrpSpPr>
          <p:grpSpPr>
            <a:xfrm>
              <a:off x="2810454" y="2790344"/>
              <a:ext cx="3584024" cy="3184407"/>
              <a:chOff x="2810454" y="2790344"/>
              <a:chExt cx="3584024" cy="3184407"/>
            </a:xfrm>
          </p:grpSpPr>
          <p:sp>
            <p:nvSpPr>
              <p:cNvPr id="58" name="object 45"/>
              <p:cNvSpPr/>
              <p:nvPr/>
            </p:nvSpPr>
            <p:spPr>
              <a:xfrm>
                <a:off x="2881868" y="2979908"/>
                <a:ext cx="104507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w="104507" h="2994842">
                    <a:moveTo>
                      <a:pt x="0" y="0"/>
                    </a:moveTo>
                    <a:lnTo>
                      <a:pt x="0" y="2994842"/>
                    </a:lnTo>
                    <a:lnTo>
                      <a:pt x="104507" y="2994842"/>
                    </a:lnTo>
                    <a:lnTo>
                      <a:pt x="104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59" name="object 46"/>
              <p:cNvSpPr/>
              <p:nvPr/>
            </p:nvSpPr>
            <p:spPr>
              <a:xfrm>
                <a:off x="2819171" y="5798577"/>
                <a:ext cx="3348669" cy="111968"/>
              </a:xfrm>
              <a:custGeom>
                <a:avLst/>
                <a:gdLst/>
                <a:ahLst/>
                <a:cxnLst/>
                <a:rect l="l" t="t" r="r" b="b"/>
                <a:pathLst>
                  <a:path w="3348669" h="111968">
                    <a:moveTo>
                      <a:pt x="0" y="111968"/>
                    </a:moveTo>
                    <a:lnTo>
                      <a:pt x="3348669" y="105994"/>
                    </a:lnTo>
                    <a:lnTo>
                      <a:pt x="3348669" y="0"/>
                    </a:lnTo>
                    <a:lnTo>
                      <a:pt x="0" y="5974"/>
                    </a:lnTo>
                    <a:lnTo>
                      <a:pt x="0" y="111968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0" name="object 48"/>
              <p:cNvSpPr/>
              <p:nvPr/>
            </p:nvSpPr>
            <p:spPr>
              <a:xfrm>
                <a:off x="2948297" y="4376469"/>
                <a:ext cx="2948300" cy="1595749"/>
              </a:xfrm>
              <a:custGeom>
                <a:avLst/>
                <a:gdLst/>
                <a:ahLst/>
                <a:cxnLst/>
                <a:rect l="l" t="t" r="r" b="b"/>
                <a:pathLst>
                  <a:path w="3288944" h="2042342">
                    <a:moveTo>
                      <a:pt x="0" y="91074"/>
                    </a:moveTo>
                    <a:lnTo>
                      <a:pt x="3233699" y="2042342"/>
                    </a:lnTo>
                    <a:lnTo>
                      <a:pt x="3288944" y="1951268"/>
                    </a:lnTo>
                    <a:lnTo>
                      <a:pt x="55229" y="0"/>
                    </a:lnTo>
                    <a:lnTo>
                      <a:pt x="0" y="91074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1" name="object 49"/>
              <p:cNvSpPr/>
              <p:nvPr/>
            </p:nvSpPr>
            <p:spPr>
              <a:xfrm>
                <a:off x="2995345" y="2979908"/>
                <a:ext cx="0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h="2994842">
                    <a:moveTo>
                      <a:pt x="0" y="0"/>
                    </a:moveTo>
                    <a:lnTo>
                      <a:pt x="0" y="2994842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2" name="object 50"/>
              <p:cNvSpPr/>
              <p:nvPr/>
            </p:nvSpPr>
            <p:spPr>
              <a:xfrm>
                <a:off x="2949061" y="2979908"/>
                <a:ext cx="92552" cy="46283"/>
              </a:xfrm>
              <a:custGeom>
                <a:avLst/>
                <a:gdLst/>
                <a:ahLst/>
                <a:cxnLst/>
                <a:rect l="l" t="t" r="r" b="b"/>
                <a:pathLst>
                  <a:path w="92552" h="46283">
                    <a:moveTo>
                      <a:pt x="92552" y="46283"/>
                    </a:moveTo>
                    <a:lnTo>
                      <a:pt x="46283" y="0"/>
                    </a:lnTo>
                    <a:lnTo>
                      <a:pt x="0" y="46283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3" name="object 51"/>
              <p:cNvSpPr/>
              <p:nvPr/>
            </p:nvSpPr>
            <p:spPr>
              <a:xfrm>
                <a:off x="2819171" y="5798577"/>
                <a:ext cx="334866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48669">
                    <a:moveTo>
                      <a:pt x="3348669" y="0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4" name="object 52"/>
              <p:cNvSpPr/>
              <p:nvPr/>
            </p:nvSpPr>
            <p:spPr>
              <a:xfrm>
                <a:off x="6121557" y="5752293"/>
                <a:ext cx="46283" cy="92567"/>
              </a:xfrm>
              <a:custGeom>
                <a:avLst/>
                <a:gdLst/>
                <a:ahLst/>
                <a:cxnLst/>
                <a:rect l="l" t="t" r="r" b="b"/>
                <a:pathLst>
                  <a:path w="46283" h="92567">
                    <a:moveTo>
                      <a:pt x="0" y="92567"/>
                    </a:moveTo>
                    <a:lnTo>
                      <a:pt x="46283" y="46283"/>
                    </a:ln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5" name="object 53"/>
              <p:cNvSpPr/>
              <p:nvPr/>
            </p:nvSpPr>
            <p:spPr>
              <a:xfrm>
                <a:off x="2979613" y="4435399"/>
                <a:ext cx="2916984" cy="1487091"/>
              </a:xfrm>
              <a:custGeom>
                <a:avLst/>
                <a:gdLst/>
                <a:ahLst/>
                <a:cxnLst/>
                <a:rect l="l" t="t" r="r" b="b"/>
                <a:pathLst>
                  <a:path w="3241167" h="1957242">
                    <a:moveTo>
                      <a:pt x="3241167" y="1957242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6" name="object 24"/>
              <p:cNvSpPr txBox="1"/>
              <p:nvPr/>
            </p:nvSpPr>
            <p:spPr>
              <a:xfrm>
                <a:off x="2948297" y="2790344"/>
                <a:ext cx="122440" cy="174693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295"/>
                  </a:lnSpc>
                  <a:spcBef>
                    <a:spcPts val="64"/>
                  </a:spcBef>
                </a:pPr>
                <a:r>
                  <a:rPr sz="1150" b="1" i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endParaRPr sz="1150">
                  <a:latin typeface="Times New Roman"/>
                  <a:cs typeface="Times New Roman"/>
                </a:endParaRPr>
              </a:p>
            </p:txBody>
          </p:sp>
          <p:sp>
            <p:nvSpPr>
              <p:cNvPr id="67" name="object 23"/>
              <p:cNvSpPr txBox="1"/>
              <p:nvPr/>
            </p:nvSpPr>
            <p:spPr>
              <a:xfrm>
                <a:off x="3022948" y="2881150"/>
                <a:ext cx="90093" cy="12492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30"/>
                  </a:spcBef>
                </a:pPr>
                <a:r>
                  <a:rPr sz="750" b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2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68" name="object 21"/>
              <p:cNvSpPr txBox="1"/>
              <p:nvPr/>
            </p:nvSpPr>
            <p:spPr>
              <a:xfrm>
                <a:off x="6216349" y="5697093"/>
                <a:ext cx="178129" cy="21424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610"/>
                  </a:lnSpc>
                  <a:spcBef>
                    <a:spcPts val="80"/>
                  </a:spcBef>
                </a:pPr>
                <a:r>
                  <a:rPr sz="1725" b="1" i="1" baseline="12603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125" b="1" baseline="-11595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1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69" name="object 20"/>
              <p:cNvSpPr txBox="1"/>
              <p:nvPr/>
            </p:nvSpPr>
            <p:spPr>
              <a:xfrm>
                <a:off x="3278243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0" name="object 19"/>
              <p:cNvSpPr txBox="1"/>
              <p:nvPr/>
            </p:nvSpPr>
            <p:spPr>
              <a:xfrm>
                <a:off x="3624107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1" name="object 18"/>
              <p:cNvSpPr txBox="1"/>
              <p:nvPr/>
            </p:nvSpPr>
            <p:spPr>
              <a:xfrm>
                <a:off x="3969972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2" name="object 17"/>
              <p:cNvSpPr txBox="1"/>
              <p:nvPr/>
            </p:nvSpPr>
            <p:spPr>
              <a:xfrm>
                <a:off x="4315836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3" name="object 15"/>
              <p:cNvSpPr txBox="1"/>
              <p:nvPr/>
            </p:nvSpPr>
            <p:spPr>
              <a:xfrm rot="16200000">
                <a:off x="1713594" y="4317706"/>
                <a:ext cx="2314370" cy="12065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10"/>
                  </a:spcBef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50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60       </a:t>
                </a:r>
                <a:r>
                  <a:rPr sz="950" b="1" spc="10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70</a:t>
                </a:r>
                <a:endParaRPr sz="950" dirty="0">
                  <a:latin typeface="Arial"/>
                  <a:cs typeface="Arial"/>
                </a:endParaRPr>
              </a:p>
            </p:txBody>
          </p:sp>
          <p:sp>
            <p:nvSpPr>
              <p:cNvPr id="74" name="object 14"/>
              <p:cNvSpPr txBox="1"/>
              <p:nvPr/>
            </p:nvSpPr>
            <p:spPr>
              <a:xfrm>
                <a:off x="2819171" y="2979908"/>
                <a:ext cx="62697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5" name="object 13"/>
              <p:cNvSpPr txBox="1"/>
              <p:nvPr/>
            </p:nvSpPr>
            <p:spPr>
              <a:xfrm>
                <a:off x="2881868" y="2979908"/>
                <a:ext cx="112102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6" name="object 12"/>
              <p:cNvSpPr txBox="1"/>
              <p:nvPr/>
            </p:nvSpPr>
            <p:spPr>
              <a:xfrm>
                <a:off x="2993970" y="2979908"/>
                <a:ext cx="3173870" cy="851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650"/>
                  </a:lnSpc>
                  <a:spcBef>
                    <a:spcPts val="20"/>
                  </a:spcBef>
                </a:pPr>
                <a:endParaRPr sz="650"/>
              </a:p>
            </p:txBody>
          </p:sp>
          <p:sp>
            <p:nvSpPr>
              <p:cNvPr id="77" name="object 11"/>
              <p:cNvSpPr txBox="1"/>
              <p:nvPr/>
            </p:nvSpPr>
            <p:spPr>
              <a:xfrm>
                <a:off x="2993970" y="3065009"/>
                <a:ext cx="1434590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8" name="object 10"/>
              <p:cNvSpPr txBox="1"/>
              <p:nvPr/>
            </p:nvSpPr>
            <p:spPr>
              <a:xfrm>
                <a:off x="4428560" y="3065009"/>
                <a:ext cx="104507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80" name="object 8"/>
              <p:cNvSpPr txBox="1"/>
              <p:nvPr/>
            </p:nvSpPr>
            <p:spPr>
              <a:xfrm>
                <a:off x="2819171" y="5798577"/>
                <a:ext cx="62697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81" name="object 7"/>
              <p:cNvSpPr txBox="1"/>
              <p:nvPr/>
            </p:nvSpPr>
            <p:spPr>
              <a:xfrm>
                <a:off x="2881868" y="5798577"/>
                <a:ext cx="112102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</p:grpSp>
        <p:sp>
          <p:nvSpPr>
            <p:cNvPr id="82" name="object 5"/>
            <p:cNvSpPr txBox="1"/>
            <p:nvPr/>
          </p:nvSpPr>
          <p:spPr>
            <a:xfrm>
              <a:off x="4428560" y="5798577"/>
              <a:ext cx="104507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/>
            </a:p>
          </p:txBody>
        </p:sp>
        <p:sp>
          <p:nvSpPr>
            <p:cNvPr id="83" name="object 4"/>
            <p:cNvSpPr txBox="1"/>
            <p:nvPr/>
          </p:nvSpPr>
          <p:spPr>
            <a:xfrm>
              <a:off x="4533067" y="5798577"/>
              <a:ext cx="1634773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41332">
                <a:lnSpc>
                  <a:spcPct val="95825"/>
                </a:lnSpc>
                <a:spcBef>
                  <a:spcPts val="190"/>
                </a:spcBef>
              </a:pP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50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60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70       </a:t>
              </a:r>
              <a:r>
                <a:rPr sz="950" b="1" spc="10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80</a:t>
              </a:r>
              <a:endParaRPr sz="950">
                <a:latin typeface="Arial"/>
                <a:cs typeface="Arial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265108" y="5539111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Constraint 1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200400" y="4571999"/>
            <a:ext cx="390883" cy="6096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>
            <a:off x="6945238" y="6537901"/>
            <a:ext cx="211753" cy="3178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 flipV="1">
            <a:off x="4493230" y="6359890"/>
            <a:ext cx="840358" cy="335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417197" y="1150531"/>
                <a:ext cx="35397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tr-TR" sz="2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6 </m:t>
                      </m:r>
                      <m:sSub>
                        <m:sSubPr>
                          <m:ctrlPr>
                            <a:rPr lang="tr-T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tr-T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tr-TR" sz="2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tr-T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tr-TR" sz="2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10 </m:t>
                      </m:r>
                      <m:sSub>
                        <m:sSubPr>
                          <m:ctrlPr>
                            <a:rPr lang="tr-T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tr-TR" sz="2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≤480</m:t>
                      </m:r>
                    </m:oMath>
                  </m:oMathPara>
                </a14:m>
                <a:endParaRPr lang="tr-TR" sz="2400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97" y="1150531"/>
                <a:ext cx="3539726" cy="461665"/>
              </a:xfrm>
              <a:prstGeom prst="rect">
                <a:avLst/>
              </a:prstGeom>
              <a:blipFill>
                <a:blip r:embed="rId2"/>
                <a:stretch>
                  <a:fillRect l="-344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/>
          <p:cNvSpPr txBox="1"/>
          <p:nvPr/>
        </p:nvSpPr>
        <p:spPr>
          <a:xfrm>
            <a:off x="3796822" y="1150531"/>
            <a:ext cx="1696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FF0000"/>
                </a:solidFill>
              </a:rPr>
              <a:t>Constraint 1</a:t>
            </a:r>
            <a:endParaRPr 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803866" y="1781995"/>
                <a:ext cx="353972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r-TR" sz="2400" dirty="0">
                    <a:solidFill>
                      <a:srgbClr val="FF0000"/>
                    </a:solidFill>
                    <a:ea typeface="Cambria Math"/>
                  </a:rPr>
                  <a:t>Write the constraint as an equality: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tr-TR" sz="2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6 </m:t>
                      </m:r>
                      <m:sSub>
                        <m:sSubPr>
                          <m:ctrlPr>
                            <a:rPr lang="tr-T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tr-T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tr-TR" sz="2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tr-T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tr-TR" sz="2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10 </m:t>
                      </m:r>
                      <m:sSub>
                        <m:sSubPr>
                          <m:ctrlPr>
                            <a:rPr lang="tr-T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r>
                        <a:rPr lang="tr-TR" sz="2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480</m:t>
                      </m:r>
                    </m:oMath>
                  </m:oMathPara>
                </a14:m>
                <a:endParaRPr lang="tr-TR" sz="2400" i="1" dirty="0">
                  <a:latin typeface="Cambria Math"/>
                  <a:ea typeface="Cambria Math"/>
                </a:endParaRPr>
              </a:p>
              <a:p>
                <a:endParaRPr lang="tr-TR" sz="2400" i="1" dirty="0">
                  <a:latin typeface="Cambria Math"/>
                  <a:ea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tr-TR" sz="2400" dirty="0">
                    <a:solidFill>
                      <a:srgbClr val="FF0000"/>
                    </a:solidFill>
                    <a:ea typeface="Cambria Math"/>
                  </a:rPr>
                  <a:t>Plot the line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tr-TR" sz="2400" dirty="0">
                    <a:solidFill>
                      <a:srgbClr val="FF0000"/>
                    </a:solidFill>
                    <a:ea typeface="Cambria Math"/>
                  </a:rPr>
                  <a:t>Identify the direction of the constraint</a:t>
                </a: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866" y="1781995"/>
                <a:ext cx="3539726" cy="2677656"/>
              </a:xfrm>
              <a:prstGeom prst="rect">
                <a:avLst/>
              </a:prstGeom>
              <a:blipFill>
                <a:blip r:embed="rId3"/>
                <a:stretch>
                  <a:fillRect l="-2582" t="-1818" r="-2238" b="-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3004BEF2-8492-4132-9293-E87472BB4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565" y="1848890"/>
            <a:ext cx="3806957" cy="144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47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85" y="16268"/>
            <a:ext cx="8697246" cy="1143000"/>
          </a:xfrm>
        </p:spPr>
        <p:txBody>
          <a:bodyPr>
            <a:normAutofit fontScale="90000"/>
          </a:bodyPr>
          <a:lstStyle/>
          <a:p>
            <a:r>
              <a:rPr lang="tr-TR" dirty="0">
                <a:solidFill>
                  <a:srgbClr val="FF0000"/>
                </a:solidFill>
              </a:rPr>
              <a:t>Graphical Representation</a:t>
            </a:r>
            <a:r>
              <a:rPr lang="en-US" dirty="0">
                <a:solidFill>
                  <a:srgbClr val="FF0000"/>
                </a:solidFill>
              </a:rPr>
              <a:t> of </a:t>
            </a:r>
            <a:r>
              <a:rPr lang="tr-TR" dirty="0">
                <a:solidFill>
                  <a:srgbClr val="FF000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Problem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19</a:t>
            </a:fld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3384167" y="2391252"/>
            <a:ext cx="4388232" cy="4229290"/>
            <a:chOff x="2810454" y="2790344"/>
            <a:chExt cx="3584024" cy="3190381"/>
          </a:xfrm>
        </p:grpSpPr>
        <p:sp>
          <p:nvSpPr>
            <p:cNvPr id="54" name="object 47"/>
            <p:cNvSpPr/>
            <p:nvPr/>
          </p:nvSpPr>
          <p:spPr>
            <a:xfrm>
              <a:off x="2923196" y="4147991"/>
              <a:ext cx="2102108" cy="1674414"/>
            </a:xfrm>
            <a:custGeom>
              <a:avLst/>
              <a:gdLst/>
              <a:ahLst/>
              <a:cxnLst/>
              <a:rect l="l" t="t" r="r" b="b"/>
              <a:pathLst>
                <a:path w="2643987" h="2644002">
                  <a:moveTo>
                    <a:pt x="0" y="74645"/>
                  </a:moveTo>
                  <a:lnTo>
                    <a:pt x="2569342" y="2644002"/>
                  </a:lnTo>
                  <a:lnTo>
                    <a:pt x="2643987" y="2569357"/>
                  </a:lnTo>
                  <a:lnTo>
                    <a:pt x="74645" y="0"/>
                  </a:lnTo>
                  <a:lnTo>
                    <a:pt x="0" y="74645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5" name="object 54"/>
            <p:cNvSpPr/>
            <p:nvPr/>
          </p:nvSpPr>
          <p:spPr>
            <a:xfrm>
              <a:off x="2890584" y="4147991"/>
              <a:ext cx="2134720" cy="1696869"/>
            </a:xfrm>
            <a:custGeom>
              <a:avLst/>
              <a:gdLst/>
              <a:ahLst/>
              <a:cxnLst/>
              <a:rect l="l" t="t" r="r" b="b"/>
              <a:pathLst>
                <a:path w="2546954" h="2546954">
                  <a:moveTo>
                    <a:pt x="0" y="0"/>
                  </a:moveTo>
                  <a:lnTo>
                    <a:pt x="2546954" y="2546954"/>
                  </a:lnTo>
                </a:path>
              </a:pathLst>
            </a:custGeom>
            <a:ln w="12441">
              <a:solidFill>
                <a:srgbClr val="0070C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2810454" y="2790344"/>
              <a:ext cx="3584024" cy="3184407"/>
              <a:chOff x="2810454" y="2790344"/>
              <a:chExt cx="3584024" cy="3184407"/>
            </a:xfrm>
          </p:grpSpPr>
          <p:sp>
            <p:nvSpPr>
              <p:cNvPr id="58" name="object 45"/>
              <p:cNvSpPr/>
              <p:nvPr/>
            </p:nvSpPr>
            <p:spPr>
              <a:xfrm>
                <a:off x="2881868" y="2979908"/>
                <a:ext cx="104507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w="104507" h="2994842">
                    <a:moveTo>
                      <a:pt x="0" y="0"/>
                    </a:moveTo>
                    <a:lnTo>
                      <a:pt x="0" y="2994842"/>
                    </a:lnTo>
                    <a:lnTo>
                      <a:pt x="104507" y="2994842"/>
                    </a:lnTo>
                    <a:lnTo>
                      <a:pt x="104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59" name="object 46"/>
              <p:cNvSpPr/>
              <p:nvPr/>
            </p:nvSpPr>
            <p:spPr>
              <a:xfrm>
                <a:off x="2819171" y="5798577"/>
                <a:ext cx="3348669" cy="111968"/>
              </a:xfrm>
              <a:custGeom>
                <a:avLst/>
                <a:gdLst/>
                <a:ahLst/>
                <a:cxnLst/>
                <a:rect l="l" t="t" r="r" b="b"/>
                <a:pathLst>
                  <a:path w="3348669" h="111968">
                    <a:moveTo>
                      <a:pt x="0" y="111968"/>
                    </a:moveTo>
                    <a:lnTo>
                      <a:pt x="3348669" y="105994"/>
                    </a:lnTo>
                    <a:lnTo>
                      <a:pt x="3348669" y="0"/>
                    </a:lnTo>
                    <a:lnTo>
                      <a:pt x="0" y="5974"/>
                    </a:lnTo>
                    <a:lnTo>
                      <a:pt x="0" y="111968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0" name="object 48"/>
              <p:cNvSpPr/>
              <p:nvPr/>
            </p:nvSpPr>
            <p:spPr>
              <a:xfrm>
                <a:off x="2948297" y="4376469"/>
                <a:ext cx="2948300" cy="1595749"/>
              </a:xfrm>
              <a:custGeom>
                <a:avLst/>
                <a:gdLst/>
                <a:ahLst/>
                <a:cxnLst/>
                <a:rect l="l" t="t" r="r" b="b"/>
                <a:pathLst>
                  <a:path w="3288944" h="2042342">
                    <a:moveTo>
                      <a:pt x="0" y="91074"/>
                    </a:moveTo>
                    <a:lnTo>
                      <a:pt x="3233699" y="2042342"/>
                    </a:lnTo>
                    <a:lnTo>
                      <a:pt x="3288944" y="1951268"/>
                    </a:lnTo>
                    <a:lnTo>
                      <a:pt x="55229" y="0"/>
                    </a:lnTo>
                    <a:lnTo>
                      <a:pt x="0" y="91074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1" name="object 49"/>
              <p:cNvSpPr/>
              <p:nvPr/>
            </p:nvSpPr>
            <p:spPr>
              <a:xfrm>
                <a:off x="2995345" y="2979908"/>
                <a:ext cx="0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h="2994842">
                    <a:moveTo>
                      <a:pt x="0" y="0"/>
                    </a:moveTo>
                    <a:lnTo>
                      <a:pt x="0" y="2994842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2" name="object 50"/>
              <p:cNvSpPr/>
              <p:nvPr/>
            </p:nvSpPr>
            <p:spPr>
              <a:xfrm>
                <a:off x="2949061" y="2979908"/>
                <a:ext cx="92552" cy="46283"/>
              </a:xfrm>
              <a:custGeom>
                <a:avLst/>
                <a:gdLst/>
                <a:ahLst/>
                <a:cxnLst/>
                <a:rect l="l" t="t" r="r" b="b"/>
                <a:pathLst>
                  <a:path w="92552" h="46283">
                    <a:moveTo>
                      <a:pt x="92552" y="46283"/>
                    </a:moveTo>
                    <a:lnTo>
                      <a:pt x="46283" y="0"/>
                    </a:lnTo>
                    <a:lnTo>
                      <a:pt x="0" y="46283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3" name="object 51"/>
              <p:cNvSpPr/>
              <p:nvPr/>
            </p:nvSpPr>
            <p:spPr>
              <a:xfrm>
                <a:off x="2819171" y="5798577"/>
                <a:ext cx="334866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48669">
                    <a:moveTo>
                      <a:pt x="3348669" y="0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4" name="object 52"/>
              <p:cNvSpPr/>
              <p:nvPr/>
            </p:nvSpPr>
            <p:spPr>
              <a:xfrm>
                <a:off x="6121557" y="5752293"/>
                <a:ext cx="46283" cy="92567"/>
              </a:xfrm>
              <a:custGeom>
                <a:avLst/>
                <a:gdLst/>
                <a:ahLst/>
                <a:cxnLst/>
                <a:rect l="l" t="t" r="r" b="b"/>
                <a:pathLst>
                  <a:path w="46283" h="92567">
                    <a:moveTo>
                      <a:pt x="0" y="92567"/>
                    </a:moveTo>
                    <a:lnTo>
                      <a:pt x="46283" y="46283"/>
                    </a:ln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5" name="object 53"/>
              <p:cNvSpPr/>
              <p:nvPr/>
            </p:nvSpPr>
            <p:spPr>
              <a:xfrm>
                <a:off x="2979613" y="4435399"/>
                <a:ext cx="2916984" cy="1487091"/>
              </a:xfrm>
              <a:custGeom>
                <a:avLst/>
                <a:gdLst/>
                <a:ahLst/>
                <a:cxnLst/>
                <a:rect l="l" t="t" r="r" b="b"/>
                <a:pathLst>
                  <a:path w="3241167" h="1957242">
                    <a:moveTo>
                      <a:pt x="3241167" y="1957242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6" name="object 24"/>
              <p:cNvSpPr txBox="1"/>
              <p:nvPr/>
            </p:nvSpPr>
            <p:spPr>
              <a:xfrm>
                <a:off x="2948297" y="2790344"/>
                <a:ext cx="122440" cy="174693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295"/>
                  </a:lnSpc>
                  <a:spcBef>
                    <a:spcPts val="64"/>
                  </a:spcBef>
                </a:pPr>
                <a:r>
                  <a:rPr sz="1150" b="1" i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endParaRPr sz="1150">
                  <a:latin typeface="Times New Roman"/>
                  <a:cs typeface="Times New Roman"/>
                </a:endParaRPr>
              </a:p>
            </p:txBody>
          </p:sp>
          <p:sp>
            <p:nvSpPr>
              <p:cNvPr id="67" name="object 23"/>
              <p:cNvSpPr txBox="1"/>
              <p:nvPr/>
            </p:nvSpPr>
            <p:spPr>
              <a:xfrm>
                <a:off x="3022948" y="2881150"/>
                <a:ext cx="90093" cy="12492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30"/>
                  </a:spcBef>
                </a:pPr>
                <a:r>
                  <a:rPr sz="750" b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2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68" name="object 21"/>
              <p:cNvSpPr txBox="1"/>
              <p:nvPr/>
            </p:nvSpPr>
            <p:spPr>
              <a:xfrm>
                <a:off x="6216349" y="5697093"/>
                <a:ext cx="178129" cy="21424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610"/>
                  </a:lnSpc>
                  <a:spcBef>
                    <a:spcPts val="80"/>
                  </a:spcBef>
                </a:pPr>
                <a:r>
                  <a:rPr sz="1725" b="1" i="1" baseline="12603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125" b="1" baseline="-11595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1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69" name="object 20"/>
              <p:cNvSpPr txBox="1"/>
              <p:nvPr/>
            </p:nvSpPr>
            <p:spPr>
              <a:xfrm>
                <a:off x="3278243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0" name="object 19"/>
              <p:cNvSpPr txBox="1"/>
              <p:nvPr/>
            </p:nvSpPr>
            <p:spPr>
              <a:xfrm>
                <a:off x="3624107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1" name="object 18"/>
              <p:cNvSpPr txBox="1"/>
              <p:nvPr/>
            </p:nvSpPr>
            <p:spPr>
              <a:xfrm>
                <a:off x="3969972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2" name="object 17"/>
              <p:cNvSpPr txBox="1"/>
              <p:nvPr/>
            </p:nvSpPr>
            <p:spPr>
              <a:xfrm>
                <a:off x="4315836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3" name="object 15"/>
              <p:cNvSpPr txBox="1"/>
              <p:nvPr/>
            </p:nvSpPr>
            <p:spPr>
              <a:xfrm rot="16200000">
                <a:off x="1713594" y="4317706"/>
                <a:ext cx="2314370" cy="12065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10"/>
                  </a:spcBef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50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60       </a:t>
                </a:r>
                <a:r>
                  <a:rPr sz="950" b="1" spc="10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70</a:t>
                </a:r>
                <a:endParaRPr sz="950" dirty="0">
                  <a:latin typeface="Arial"/>
                  <a:cs typeface="Arial"/>
                </a:endParaRPr>
              </a:p>
            </p:txBody>
          </p:sp>
          <p:sp>
            <p:nvSpPr>
              <p:cNvPr id="74" name="object 14"/>
              <p:cNvSpPr txBox="1"/>
              <p:nvPr/>
            </p:nvSpPr>
            <p:spPr>
              <a:xfrm>
                <a:off x="2819171" y="2979908"/>
                <a:ext cx="62697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5" name="object 13"/>
              <p:cNvSpPr txBox="1"/>
              <p:nvPr/>
            </p:nvSpPr>
            <p:spPr>
              <a:xfrm>
                <a:off x="2881868" y="2979908"/>
                <a:ext cx="112102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6" name="object 12"/>
              <p:cNvSpPr txBox="1"/>
              <p:nvPr/>
            </p:nvSpPr>
            <p:spPr>
              <a:xfrm>
                <a:off x="2993970" y="2979908"/>
                <a:ext cx="3173870" cy="851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650"/>
                  </a:lnSpc>
                  <a:spcBef>
                    <a:spcPts val="20"/>
                  </a:spcBef>
                </a:pPr>
                <a:endParaRPr sz="650"/>
              </a:p>
            </p:txBody>
          </p:sp>
          <p:sp>
            <p:nvSpPr>
              <p:cNvPr id="77" name="object 11"/>
              <p:cNvSpPr txBox="1"/>
              <p:nvPr/>
            </p:nvSpPr>
            <p:spPr>
              <a:xfrm>
                <a:off x="2993970" y="3065009"/>
                <a:ext cx="1434590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8" name="object 10"/>
              <p:cNvSpPr txBox="1"/>
              <p:nvPr/>
            </p:nvSpPr>
            <p:spPr>
              <a:xfrm>
                <a:off x="4428560" y="3065009"/>
                <a:ext cx="104507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9" name="object 9"/>
              <p:cNvSpPr txBox="1"/>
              <p:nvPr/>
            </p:nvSpPr>
            <p:spPr>
              <a:xfrm>
                <a:off x="4533067" y="3065009"/>
                <a:ext cx="1634773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80" name="object 8"/>
              <p:cNvSpPr txBox="1"/>
              <p:nvPr/>
            </p:nvSpPr>
            <p:spPr>
              <a:xfrm>
                <a:off x="2819171" y="5798577"/>
                <a:ext cx="62697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81" name="object 7"/>
              <p:cNvSpPr txBox="1"/>
              <p:nvPr/>
            </p:nvSpPr>
            <p:spPr>
              <a:xfrm>
                <a:off x="2881868" y="5798577"/>
                <a:ext cx="112102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</p:grpSp>
        <p:sp>
          <p:nvSpPr>
            <p:cNvPr id="82" name="object 5"/>
            <p:cNvSpPr txBox="1"/>
            <p:nvPr/>
          </p:nvSpPr>
          <p:spPr>
            <a:xfrm>
              <a:off x="4428560" y="5798577"/>
              <a:ext cx="104507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/>
            </a:p>
          </p:txBody>
        </p:sp>
        <p:sp>
          <p:nvSpPr>
            <p:cNvPr id="83" name="object 4"/>
            <p:cNvSpPr txBox="1"/>
            <p:nvPr/>
          </p:nvSpPr>
          <p:spPr>
            <a:xfrm>
              <a:off x="4533067" y="5798577"/>
              <a:ext cx="1634773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41332">
                <a:lnSpc>
                  <a:spcPct val="95825"/>
                </a:lnSpc>
                <a:spcBef>
                  <a:spcPts val="190"/>
                </a:spcBef>
              </a:pP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50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60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70       </a:t>
              </a:r>
              <a:r>
                <a:rPr sz="950" b="1" spc="10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80</a:t>
              </a:r>
              <a:endParaRPr sz="950">
                <a:latin typeface="Arial"/>
                <a:cs typeface="Arial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265108" y="5539111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Constraint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28316" y="3818311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0070C0"/>
                </a:solidFill>
              </a:rPr>
              <a:t>Constraint 2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200400" y="4571999"/>
            <a:ext cx="390883" cy="6096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>
            <a:off x="6967945" y="6553403"/>
            <a:ext cx="211753" cy="3178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072443" y="4311484"/>
            <a:ext cx="507869" cy="56193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5776216" y="6372767"/>
            <a:ext cx="285339" cy="30948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546665" y="1009217"/>
                <a:ext cx="33157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tr-TR" sz="240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8 </m:t>
                      </m:r>
                      <m:sSub>
                        <m:sSubPr>
                          <m:ctrlPr>
                            <a:rPr lang="tr-T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  <m:r>
                            <a:rPr lang="tr-T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 </m:t>
                          </m:r>
                        </m:sub>
                      </m:sSub>
                      <m:r>
                        <a:rPr lang="tr-TR" sz="240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tr-TR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tr-TR" sz="2400" i="1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8 </m:t>
                      </m:r>
                      <m:sSub>
                        <m:sSubPr>
                          <m:ctrlPr>
                            <a:rPr lang="tr-T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i="1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 ≤480</m:t>
                      </m:r>
                    </m:oMath>
                  </m:oMathPara>
                </a14:m>
                <a:endParaRPr lang="tr-TR" sz="2400" i="1" dirty="0">
                  <a:solidFill>
                    <a:srgbClr val="0070C0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65" y="1009217"/>
                <a:ext cx="3315748" cy="461665"/>
              </a:xfrm>
              <a:prstGeom prst="rect">
                <a:avLst/>
              </a:prstGeom>
              <a:blipFill>
                <a:blip r:embed="rId2"/>
                <a:stretch>
                  <a:fillRect l="-551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/>
          <p:cNvSpPr txBox="1"/>
          <p:nvPr/>
        </p:nvSpPr>
        <p:spPr>
          <a:xfrm>
            <a:off x="3956922" y="1009217"/>
            <a:ext cx="1696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0070C0"/>
                </a:solidFill>
              </a:rPr>
              <a:t>Constraint 2</a:t>
            </a:r>
            <a:endParaRPr lang="en-US" sz="24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5355582" y="1751212"/>
                <a:ext cx="353972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r-TR" sz="2400" dirty="0">
                    <a:solidFill>
                      <a:srgbClr val="0070C0"/>
                    </a:solidFill>
                    <a:ea typeface="Cambria Math"/>
                  </a:rPr>
                  <a:t>Write the constraint as an equality: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tr-TR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8</m:t>
                      </m:r>
                      <m:r>
                        <a:rPr lang="tr-TR" sz="240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sSub>
                        <m:sSubPr>
                          <m:ctrlPr>
                            <a:rPr lang="tr-T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tr-TR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tr-TR" sz="2400" i="1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tr-TR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8</m:t>
                      </m:r>
                      <m:r>
                        <a:rPr lang="tr-TR" sz="2400" i="1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sSub>
                        <m:sSubPr>
                          <m:ctrlPr>
                            <a:rPr lang="tr-T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r>
                        <a:rPr lang="tr-TR" sz="2400" i="1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480</m:t>
                      </m:r>
                    </m:oMath>
                  </m:oMathPara>
                </a14:m>
                <a:endParaRPr lang="tr-TR" sz="2400" i="1" dirty="0">
                  <a:solidFill>
                    <a:srgbClr val="0070C0"/>
                  </a:solidFill>
                  <a:latin typeface="Cambria Math"/>
                  <a:ea typeface="Cambria Math"/>
                </a:endParaRPr>
              </a:p>
              <a:p>
                <a:endParaRPr lang="tr-TR" sz="2400" i="1" dirty="0">
                  <a:solidFill>
                    <a:srgbClr val="0070C0"/>
                  </a:solidFill>
                  <a:latin typeface="Cambria Math"/>
                  <a:ea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tr-TR" sz="2400" dirty="0">
                    <a:solidFill>
                      <a:srgbClr val="0070C0"/>
                    </a:solidFill>
                    <a:ea typeface="Cambria Math"/>
                  </a:rPr>
                  <a:t>Plot the line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tr-TR" sz="2400" dirty="0">
                    <a:solidFill>
                      <a:srgbClr val="0070C0"/>
                    </a:solidFill>
                    <a:ea typeface="Cambria Math"/>
                  </a:rPr>
                  <a:t>Identify the direction of the constraint</a:t>
                </a: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582" y="1751212"/>
                <a:ext cx="3539726" cy="2677656"/>
              </a:xfrm>
              <a:prstGeom prst="rect">
                <a:avLst/>
              </a:prstGeom>
              <a:blipFill>
                <a:blip r:embed="rId3"/>
                <a:stretch>
                  <a:fillRect l="-2759" t="-1818" r="-2241" b="-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Picture 45">
            <a:extLst>
              <a:ext uri="{FF2B5EF4-FFF2-40B4-BE49-F238E27FC236}">
                <a16:creationId xmlns:a16="http://schemas.microsoft.com/office/drawing/2014/main" id="{D9424C7D-CB67-4518-925B-83D72938B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565" y="1848890"/>
            <a:ext cx="3806957" cy="144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02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85" y="16268"/>
            <a:ext cx="8697246" cy="1143000"/>
          </a:xfrm>
        </p:spPr>
        <p:txBody>
          <a:bodyPr>
            <a:normAutofit fontScale="90000"/>
          </a:bodyPr>
          <a:lstStyle/>
          <a:p>
            <a:r>
              <a:rPr lang="tr-TR" dirty="0">
                <a:solidFill>
                  <a:srgbClr val="FF0000"/>
                </a:solidFill>
              </a:rPr>
              <a:t>Graphical Representation</a:t>
            </a:r>
            <a:r>
              <a:rPr lang="en-US" dirty="0">
                <a:solidFill>
                  <a:srgbClr val="FF0000"/>
                </a:solidFill>
              </a:rPr>
              <a:t> of </a:t>
            </a:r>
            <a:r>
              <a:rPr lang="tr-TR" dirty="0">
                <a:solidFill>
                  <a:srgbClr val="FF000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Problem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20</a:t>
            </a:fld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3384167" y="2391252"/>
            <a:ext cx="4388232" cy="4251049"/>
            <a:chOff x="2810454" y="2790344"/>
            <a:chExt cx="3584024" cy="3206795"/>
          </a:xfrm>
        </p:grpSpPr>
        <p:sp>
          <p:nvSpPr>
            <p:cNvPr id="48" name="object 44"/>
            <p:cNvSpPr/>
            <p:nvPr/>
          </p:nvSpPr>
          <p:spPr>
            <a:xfrm>
              <a:off x="4428560" y="3065009"/>
              <a:ext cx="104507" cy="2915716"/>
            </a:xfrm>
            <a:custGeom>
              <a:avLst/>
              <a:gdLst/>
              <a:ahLst/>
              <a:cxnLst/>
              <a:rect l="l" t="t" r="r" b="b"/>
              <a:pathLst>
                <a:path w="104507" h="2915716">
                  <a:moveTo>
                    <a:pt x="0" y="0"/>
                  </a:moveTo>
                  <a:lnTo>
                    <a:pt x="0" y="2915716"/>
                  </a:lnTo>
                  <a:lnTo>
                    <a:pt x="104507" y="2915716"/>
                  </a:lnTo>
                  <a:lnTo>
                    <a:pt x="1045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4" name="object 47"/>
            <p:cNvSpPr/>
            <p:nvPr/>
          </p:nvSpPr>
          <p:spPr>
            <a:xfrm>
              <a:off x="2923196" y="4147991"/>
              <a:ext cx="2102108" cy="1674414"/>
            </a:xfrm>
            <a:custGeom>
              <a:avLst/>
              <a:gdLst/>
              <a:ahLst/>
              <a:cxnLst/>
              <a:rect l="l" t="t" r="r" b="b"/>
              <a:pathLst>
                <a:path w="2643987" h="2644002">
                  <a:moveTo>
                    <a:pt x="0" y="74645"/>
                  </a:moveTo>
                  <a:lnTo>
                    <a:pt x="2569342" y="2644002"/>
                  </a:lnTo>
                  <a:lnTo>
                    <a:pt x="2643987" y="2569357"/>
                  </a:lnTo>
                  <a:lnTo>
                    <a:pt x="74645" y="0"/>
                  </a:lnTo>
                  <a:lnTo>
                    <a:pt x="0" y="74645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5" name="object 54"/>
            <p:cNvSpPr/>
            <p:nvPr/>
          </p:nvSpPr>
          <p:spPr>
            <a:xfrm>
              <a:off x="2890584" y="4147991"/>
              <a:ext cx="2134720" cy="1696869"/>
            </a:xfrm>
            <a:custGeom>
              <a:avLst/>
              <a:gdLst/>
              <a:ahLst/>
              <a:cxnLst/>
              <a:rect l="l" t="t" r="r" b="b"/>
              <a:pathLst>
                <a:path w="2546954" h="2546954">
                  <a:moveTo>
                    <a:pt x="0" y="0"/>
                  </a:moveTo>
                  <a:lnTo>
                    <a:pt x="2546954" y="2546954"/>
                  </a:lnTo>
                </a:path>
              </a:pathLst>
            </a:custGeom>
            <a:ln w="12441">
              <a:solidFill>
                <a:srgbClr val="0070C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6" name="object 55"/>
            <p:cNvSpPr/>
            <p:nvPr/>
          </p:nvSpPr>
          <p:spPr>
            <a:xfrm>
              <a:off x="4415119" y="3042606"/>
              <a:ext cx="4480" cy="2954533"/>
            </a:xfrm>
            <a:custGeom>
              <a:avLst/>
              <a:gdLst/>
              <a:ahLst/>
              <a:cxnLst/>
              <a:rect l="l" t="t" r="r" b="b"/>
              <a:pathLst>
                <a:path w="4480" h="2954533">
                  <a:moveTo>
                    <a:pt x="4480" y="2954533"/>
                  </a:moveTo>
                  <a:lnTo>
                    <a:pt x="0" y="0"/>
                  </a:lnTo>
                </a:path>
              </a:pathLst>
            </a:custGeom>
            <a:ln w="12441">
              <a:solidFill>
                <a:srgbClr val="00B05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2810454" y="2790344"/>
              <a:ext cx="3584024" cy="3184407"/>
              <a:chOff x="2810454" y="2790344"/>
              <a:chExt cx="3584024" cy="3184407"/>
            </a:xfrm>
          </p:grpSpPr>
          <p:sp>
            <p:nvSpPr>
              <p:cNvPr id="58" name="object 45"/>
              <p:cNvSpPr/>
              <p:nvPr/>
            </p:nvSpPr>
            <p:spPr>
              <a:xfrm>
                <a:off x="2881868" y="2979908"/>
                <a:ext cx="104507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w="104507" h="2994842">
                    <a:moveTo>
                      <a:pt x="0" y="0"/>
                    </a:moveTo>
                    <a:lnTo>
                      <a:pt x="0" y="2994842"/>
                    </a:lnTo>
                    <a:lnTo>
                      <a:pt x="104507" y="2994842"/>
                    </a:lnTo>
                    <a:lnTo>
                      <a:pt x="104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59" name="object 46"/>
              <p:cNvSpPr/>
              <p:nvPr/>
            </p:nvSpPr>
            <p:spPr>
              <a:xfrm>
                <a:off x="2819171" y="5798577"/>
                <a:ext cx="3348669" cy="111968"/>
              </a:xfrm>
              <a:custGeom>
                <a:avLst/>
                <a:gdLst/>
                <a:ahLst/>
                <a:cxnLst/>
                <a:rect l="l" t="t" r="r" b="b"/>
                <a:pathLst>
                  <a:path w="3348669" h="111968">
                    <a:moveTo>
                      <a:pt x="0" y="111968"/>
                    </a:moveTo>
                    <a:lnTo>
                      <a:pt x="3348669" y="105994"/>
                    </a:lnTo>
                    <a:lnTo>
                      <a:pt x="3348669" y="0"/>
                    </a:lnTo>
                    <a:lnTo>
                      <a:pt x="0" y="5974"/>
                    </a:lnTo>
                    <a:lnTo>
                      <a:pt x="0" y="111968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0" name="object 48"/>
              <p:cNvSpPr/>
              <p:nvPr/>
            </p:nvSpPr>
            <p:spPr>
              <a:xfrm>
                <a:off x="2948297" y="4376469"/>
                <a:ext cx="2948300" cy="1595749"/>
              </a:xfrm>
              <a:custGeom>
                <a:avLst/>
                <a:gdLst/>
                <a:ahLst/>
                <a:cxnLst/>
                <a:rect l="l" t="t" r="r" b="b"/>
                <a:pathLst>
                  <a:path w="3288944" h="2042342">
                    <a:moveTo>
                      <a:pt x="0" y="91074"/>
                    </a:moveTo>
                    <a:lnTo>
                      <a:pt x="3233699" y="2042342"/>
                    </a:lnTo>
                    <a:lnTo>
                      <a:pt x="3288944" y="1951268"/>
                    </a:lnTo>
                    <a:lnTo>
                      <a:pt x="55229" y="0"/>
                    </a:lnTo>
                    <a:lnTo>
                      <a:pt x="0" y="91074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1" name="object 49"/>
              <p:cNvSpPr/>
              <p:nvPr/>
            </p:nvSpPr>
            <p:spPr>
              <a:xfrm>
                <a:off x="2995345" y="2979908"/>
                <a:ext cx="0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h="2994842">
                    <a:moveTo>
                      <a:pt x="0" y="0"/>
                    </a:moveTo>
                    <a:lnTo>
                      <a:pt x="0" y="2994842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2" name="object 50"/>
              <p:cNvSpPr/>
              <p:nvPr/>
            </p:nvSpPr>
            <p:spPr>
              <a:xfrm>
                <a:off x="2949061" y="2979908"/>
                <a:ext cx="92552" cy="46283"/>
              </a:xfrm>
              <a:custGeom>
                <a:avLst/>
                <a:gdLst/>
                <a:ahLst/>
                <a:cxnLst/>
                <a:rect l="l" t="t" r="r" b="b"/>
                <a:pathLst>
                  <a:path w="92552" h="46283">
                    <a:moveTo>
                      <a:pt x="92552" y="46283"/>
                    </a:moveTo>
                    <a:lnTo>
                      <a:pt x="46283" y="0"/>
                    </a:lnTo>
                    <a:lnTo>
                      <a:pt x="0" y="46283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3" name="object 51"/>
              <p:cNvSpPr/>
              <p:nvPr/>
            </p:nvSpPr>
            <p:spPr>
              <a:xfrm>
                <a:off x="2819171" y="5798577"/>
                <a:ext cx="334866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48669">
                    <a:moveTo>
                      <a:pt x="3348669" y="0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4" name="object 52"/>
              <p:cNvSpPr/>
              <p:nvPr/>
            </p:nvSpPr>
            <p:spPr>
              <a:xfrm>
                <a:off x="6121557" y="5752293"/>
                <a:ext cx="46283" cy="92567"/>
              </a:xfrm>
              <a:custGeom>
                <a:avLst/>
                <a:gdLst/>
                <a:ahLst/>
                <a:cxnLst/>
                <a:rect l="l" t="t" r="r" b="b"/>
                <a:pathLst>
                  <a:path w="46283" h="92567">
                    <a:moveTo>
                      <a:pt x="0" y="92567"/>
                    </a:moveTo>
                    <a:lnTo>
                      <a:pt x="46283" y="46283"/>
                    </a:ln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5" name="object 53"/>
              <p:cNvSpPr/>
              <p:nvPr/>
            </p:nvSpPr>
            <p:spPr>
              <a:xfrm>
                <a:off x="2979613" y="4435399"/>
                <a:ext cx="2916984" cy="1487091"/>
              </a:xfrm>
              <a:custGeom>
                <a:avLst/>
                <a:gdLst/>
                <a:ahLst/>
                <a:cxnLst/>
                <a:rect l="l" t="t" r="r" b="b"/>
                <a:pathLst>
                  <a:path w="3241167" h="1957242">
                    <a:moveTo>
                      <a:pt x="3241167" y="1957242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6" name="object 24"/>
              <p:cNvSpPr txBox="1"/>
              <p:nvPr/>
            </p:nvSpPr>
            <p:spPr>
              <a:xfrm>
                <a:off x="2948297" y="2790344"/>
                <a:ext cx="122440" cy="174693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295"/>
                  </a:lnSpc>
                  <a:spcBef>
                    <a:spcPts val="64"/>
                  </a:spcBef>
                </a:pPr>
                <a:r>
                  <a:rPr sz="1150" b="1" i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endParaRPr sz="1150">
                  <a:latin typeface="Times New Roman"/>
                  <a:cs typeface="Times New Roman"/>
                </a:endParaRPr>
              </a:p>
            </p:txBody>
          </p:sp>
          <p:sp>
            <p:nvSpPr>
              <p:cNvPr id="67" name="object 23"/>
              <p:cNvSpPr txBox="1"/>
              <p:nvPr/>
            </p:nvSpPr>
            <p:spPr>
              <a:xfrm>
                <a:off x="3022948" y="2881150"/>
                <a:ext cx="90093" cy="12492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30"/>
                  </a:spcBef>
                </a:pPr>
                <a:r>
                  <a:rPr sz="750" b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2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68" name="object 21"/>
              <p:cNvSpPr txBox="1"/>
              <p:nvPr/>
            </p:nvSpPr>
            <p:spPr>
              <a:xfrm>
                <a:off x="6216349" y="5697093"/>
                <a:ext cx="178129" cy="21424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610"/>
                  </a:lnSpc>
                  <a:spcBef>
                    <a:spcPts val="80"/>
                  </a:spcBef>
                </a:pPr>
                <a:r>
                  <a:rPr sz="1725" b="1" i="1" baseline="12603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125" b="1" baseline="-11595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1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69" name="object 20"/>
              <p:cNvSpPr txBox="1"/>
              <p:nvPr/>
            </p:nvSpPr>
            <p:spPr>
              <a:xfrm>
                <a:off x="3278243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0" name="object 19"/>
              <p:cNvSpPr txBox="1"/>
              <p:nvPr/>
            </p:nvSpPr>
            <p:spPr>
              <a:xfrm>
                <a:off x="3624107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1" name="object 18"/>
              <p:cNvSpPr txBox="1"/>
              <p:nvPr/>
            </p:nvSpPr>
            <p:spPr>
              <a:xfrm>
                <a:off x="3969972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2" name="object 17"/>
              <p:cNvSpPr txBox="1"/>
              <p:nvPr/>
            </p:nvSpPr>
            <p:spPr>
              <a:xfrm>
                <a:off x="4315836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3" name="object 15"/>
              <p:cNvSpPr txBox="1"/>
              <p:nvPr/>
            </p:nvSpPr>
            <p:spPr>
              <a:xfrm rot="16200000">
                <a:off x="1713594" y="4317706"/>
                <a:ext cx="2314370" cy="12065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10"/>
                  </a:spcBef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50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60       </a:t>
                </a:r>
                <a:r>
                  <a:rPr sz="950" b="1" spc="10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70</a:t>
                </a:r>
                <a:endParaRPr sz="950" dirty="0">
                  <a:latin typeface="Arial"/>
                  <a:cs typeface="Arial"/>
                </a:endParaRPr>
              </a:p>
            </p:txBody>
          </p:sp>
          <p:sp>
            <p:nvSpPr>
              <p:cNvPr id="74" name="object 14"/>
              <p:cNvSpPr txBox="1"/>
              <p:nvPr/>
            </p:nvSpPr>
            <p:spPr>
              <a:xfrm>
                <a:off x="2819171" y="2979908"/>
                <a:ext cx="62697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5" name="object 13"/>
              <p:cNvSpPr txBox="1"/>
              <p:nvPr/>
            </p:nvSpPr>
            <p:spPr>
              <a:xfrm>
                <a:off x="2881868" y="2979908"/>
                <a:ext cx="112102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6" name="object 12"/>
              <p:cNvSpPr txBox="1"/>
              <p:nvPr/>
            </p:nvSpPr>
            <p:spPr>
              <a:xfrm>
                <a:off x="2993970" y="2979908"/>
                <a:ext cx="3173870" cy="851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650"/>
                  </a:lnSpc>
                  <a:spcBef>
                    <a:spcPts val="20"/>
                  </a:spcBef>
                </a:pPr>
                <a:endParaRPr sz="650"/>
              </a:p>
            </p:txBody>
          </p:sp>
          <p:sp>
            <p:nvSpPr>
              <p:cNvPr id="77" name="object 11"/>
              <p:cNvSpPr txBox="1"/>
              <p:nvPr/>
            </p:nvSpPr>
            <p:spPr>
              <a:xfrm>
                <a:off x="2993970" y="3065009"/>
                <a:ext cx="1434590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8" name="object 10"/>
              <p:cNvSpPr txBox="1"/>
              <p:nvPr/>
            </p:nvSpPr>
            <p:spPr>
              <a:xfrm>
                <a:off x="4428560" y="3065009"/>
                <a:ext cx="104507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9" name="object 9"/>
              <p:cNvSpPr txBox="1"/>
              <p:nvPr/>
            </p:nvSpPr>
            <p:spPr>
              <a:xfrm>
                <a:off x="4533067" y="3065009"/>
                <a:ext cx="1634773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80" name="object 8"/>
              <p:cNvSpPr txBox="1"/>
              <p:nvPr/>
            </p:nvSpPr>
            <p:spPr>
              <a:xfrm>
                <a:off x="2819171" y="5798577"/>
                <a:ext cx="62697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81" name="object 7"/>
              <p:cNvSpPr txBox="1"/>
              <p:nvPr/>
            </p:nvSpPr>
            <p:spPr>
              <a:xfrm>
                <a:off x="2881868" y="5798577"/>
                <a:ext cx="112102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</p:grpSp>
        <p:sp>
          <p:nvSpPr>
            <p:cNvPr id="82" name="object 5"/>
            <p:cNvSpPr txBox="1"/>
            <p:nvPr/>
          </p:nvSpPr>
          <p:spPr>
            <a:xfrm>
              <a:off x="4428560" y="5798577"/>
              <a:ext cx="104507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/>
            </a:p>
          </p:txBody>
        </p:sp>
        <p:sp>
          <p:nvSpPr>
            <p:cNvPr id="83" name="object 4"/>
            <p:cNvSpPr txBox="1"/>
            <p:nvPr/>
          </p:nvSpPr>
          <p:spPr>
            <a:xfrm>
              <a:off x="4533067" y="5798577"/>
              <a:ext cx="1634773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41332">
                <a:lnSpc>
                  <a:spcPct val="95825"/>
                </a:lnSpc>
                <a:spcBef>
                  <a:spcPts val="190"/>
                </a:spcBef>
              </a:pP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50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60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70       </a:t>
              </a:r>
              <a:r>
                <a:rPr sz="950" b="1" spc="10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80</a:t>
              </a:r>
              <a:endParaRPr sz="950">
                <a:latin typeface="Arial"/>
                <a:cs typeface="Arial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265108" y="5539111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Constraint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28316" y="3818311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0070C0"/>
                </a:solidFill>
              </a:rPr>
              <a:t>Constraint 2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504284" y="3022473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00B050"/>
                </a:solidFill>
              </a:rPr>
              <a:t>Constraint 3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200400" y="4571999"/>
            <a:ext cx="390883" cy="6096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>
            <a:off x="6952730" y="6537844"/>
            <a:ext cx="211753" cy="3178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087309" y="4291707"/>
            <a:ext cx="507869" cy="56193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5775941" y="6372766"/>
            <a:ext cx="285339" cy="30948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77" idx="0"/>
          </p:cNvCxnSpPr>
          <p:nvPr/>
        </p:nvCxnSpPr>
        <p:spPr>
          <a:xfrm flipH="1" flipV="1">
            <a:off x="4487109" y="2755358"/>
            <a:ext cx="840358" cy="335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 flipV="1">
            <a:off x="4493230" y="6359890"/>
            <a:ext cx="840358" cy="335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515217" y="1055646"/>
                <a:ext cx="31146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     </m:t>
                          </m:r>
                          <m:r>
                            <a:rPr lang="tr-TR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  </m:t>
                          </m:r>
                          <m:r>
                            <a:rPr lang="tr-TR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tr-TR" sz="2400" i="1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tr-TR" sz="2400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tr-TR" sz="2400" i="1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≤40</m:t>
                      </m:r>
                      <m:r>
                        <a:rPr lang="tr-TR" sz="2400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    </m:t>
                      </m:r>
                    </m:oMath>
                  </m:oMathPara>
                </a14:m>
                <a:endParaRPr lang="tr-TR" sz="2400" b="0" i="1" dirty="0">
                  <a:solidFill>
                    <a:srgbClr val="00B050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17" y="1055646"/>
                <a:ext cx="3114694" cy="461665"/>
              </a:xfrm>
              <a:prstGeom prst="rect">
                <a:avLst/>
              </a:prstGeom>
              <a:blipFill>
                <a:blip r:embed="rId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/>
          <p:cNvSpPr txBox="1"/>
          <p:nvPr/>
        </p:nvSpPr>
        <p:spPr>
          <a:xfrm>
            <a:off x="2458369" y="1055646"/>
            <a:ext cx="1696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00B050"/>
                </a:solidFill>
              </a:rPr>
              <a:t>Constraint 3</a:t>
            </a:r>
            <a:endParaRPr lang="en-US" sz="24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5416531" y="898815"/>
                <a:ext cx="3539726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r-TR" sz="2400" dirty="0">
                    <a:solidFill>
                      <a:srgbClr val="00B050"/>
                    </a:solidFill>
                    <a:ea typeface="Cambria Math"/>
                  </a:rPr>
                  <a:t>Write the constraint as an equality: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tr-TR" sz="2400" i="1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tr-TR" sz="2400" i="1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tr-TR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tr-TR" sz="2400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40</m:t>
                    </m:r>
                  </m:oMath>
                </a14:m>
                <a:endParaRPr lang="tr-TR" sz="2400" i="1" dirty="0">
                  <a:solidFill>
                    <a:srgbClr val="00B050"/>
                  </a:solidFill>
                  <a:latin typeface="Cambria Math"/>
                  <a:ea typeface="Cambria Math"/>
                </a:endParaRPr>
              </a:p>
              <a:p>
                <a:endParaRPr lang="tr-TR" sz="800" i="1" dirty="0">
                  <a:solidFill>
                    <a:srgbClr val="00B050"/>
                  </a:solidFill>
                  <a:latin typeface="Cambria Math"/>
                  <a:ea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tr-TR" sz="2400" dirty="0">
                    <a:solidFill>
                      <a:srgbClr val="00B050"/>
                    </a:solidFill>
                    <a:ea typeface="Cambria Math"/>
                  </a:rPr>
                  <a:t>Plot the line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tr-TR" sz="2400" dirty="0">
                    <a:solidFill>
                      <a:srgbClr val="00B050"/>
                    </a:solidFill>
                    <a:ea typeface="Cambria Math"/>
                  </a:rPr>
                  <a:t>Identify the direction of the constraint</a:t>
                </a: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531" y="898815"/>
                <a:ext cx="3539726" cy="2062103"/>
              </a:xfrm>
              <a:prstGeom prst="rect">
                <a:avLst/>
              </a:prstGeom>
              <a:blipFill>
                <a:blip r:embed="rId3"/>
                <a:stretch>
                  <a:fillRect l="-2759" t="-2360" r="-2241" b="-5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0" name="Picture 49">
            <a:extLst>
              <a:ext uri="{FF2B5EF4-FFF2-40B4-BE49-F238E27FC236}">
                <a16:creationId xmlns:a16="http://schemas.microsoft.com/office/drawing/2014/main" id="{76EEF975-CE37-4EF8-BE29-561936BD9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565" y="1848890"/>
            <a:ext cx="3806957" cy="144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72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0" grpId="0"/>
      <p:bldP spid="4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85" y="16268"/>
            <a:ext cx="8697246" cy="1143000"/>
          </a:xfrm>
        </p:spPr>
        <p:txBody>
          <a:bodyPr>
            <a:normAutofit fontScale="90000"/>
          </a:bodyPr>
          <a:lstStyle/>
          <a:p>
            <a:r>
              <a:rPr lang="tr-TR" dirty="0">
                <a:solidFill>
                  <a:srgbClr val="FF0000"/>
                </a:solidFill>
              </a:rPr>
              <a:t>Graphical Representation</a:t>
            </a:r>
            <a:r>
              <a:rPr lang="en-US" dirty="0">
                <a:solidFill>
                  <a:srgbClr val="FF0000"/>
                </a:solidFill>
              </a:rPr>
              <a:t> of </a:t>
            </a:r>
            <a:r>
              <a:rPr lang="tr-TR" dirty="0">
                <a:solidFill>
                  <a:srgbClr val="FF000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Problem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21</a:t>
            </a:fld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3384167" y="2391252"/>
            <a:ext cx="4388232" cy="4251049"/>
            <a:chOff x="2810454" y="2790344"/>
            <a:chExt cx="3584024" cy="3206795"/>
          </a:xfrm>
        </p:grpSpPr>
        <p:sp>
          <p:nvSpPr>
            <p:cNvPr id="48" name="object 44"/>
            <p:cNvSpPr/>
            <p:nvPr/>
          </p:nvSpPr>
          <p:spPr>
            <a:xfrm>
              <a:off x="4428560" y="3065009"/>
              <a:ext cx="104507" cy="2915716"/>
            </a:xfrm>
            <a:custGeom>
              <a:avLst/>
              <a:gdLst/>
              <a:ahLst/>
              <a:cxnLst/>
              <a:rect l="l" t="t" r="r" b="b"/>
              <a:pathLst>
                <a:path w="104507" h="2915716">
                  <a:moveTo>
                    <a:pt x="0" y="0"/>
                  </a:moveTo>
                  <a:lnTo>
                    <a:pt x="0" y="2915716"/>
                  </a:lnTo>
                  <a:lnTo>
                    <a:pt x="104507" y="2915716"/>
                  </a:lnTo>
                  <a:lnTo>
                    <a:pt x="1045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4" name="object 47"/>
            <p:cNvSpPr/>
            <p:nvPr/>
          </p:nvSpPr>
          <p:spPr>
            <a:xfrm>
              <a:off x="2923196" y="4147991"/>
              <a:ext cx="2102108" cy="1674414"/>
            </a:xfrm>
            <a:custGeom>
              <a:avLst/>
              <a:gdLst/>
              <a:ahLst/>
              <a:cxnLst/>
              <a:rect l="l" t="t" r="r" b="b"/>
              <a:pathLst>
                <a:path w="2643987" h="2644002">
                  <a:moveTo>
                    <a:pt x="0" y="74645"/>
                  </a:moveTo>
                  <a:lnTo>
                    <a:pt x="2569342" y="2644002"/>
                  </a:lnTo>
                  <a:lnTo>
                    <a:pt x="2643987" y="2569357"/>
                  </a:lnTo>
                  <a:lnTo>
                    <a:pt x="74645" y="0"/>
                  </a:lnTo>
                  <a:lnTo>
                    <a:pt x="0" y="74645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5" name="object 54"/>
            <p:cNvSpPr/>
            <p:nvPr/>
          </p:nvSpPr>
          <p:spPr>
            <a:xfrm>
              <a:off x="2890584" y="4147991"/>
              <a:ext cx="2134720" cy="1696869"/>
            </a:xfrm>
            <a:custGeom>
              <a:avLst/>
              <a:gdLst/>
              <a:ahLst/>
              <a:cxnLst/>
              <a:rect l="l" t="t" r="r" b="b"/>
              <a:pathLst>
                <a:path w="2546954" h="2546954">
                  <a:moveTo>
                    <a:pt x="0" y="0"/>
                  </a:moveTo>
                  <a:lnTo>
                    <a:pt x="2546954" y="2546954"/>
                  </a:lnTo>
                </a:path>
              </a:pathLst>
            </a:custGeom>
            <a:ln w="12441">
              <a:solidFill>
                <a:srgbClr val="0070C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6" name="object 55"/>
            <p:cNvSpPr/>
            <p:nvPr/>
          </p:nvSpPr>
          <p:spPr>
            <a:xfrm>
              <a:off x="4415119" y="3042606"/>
              <a:ext cx="4480" cy="2954533"/>
            </a:xfrm>
            <a:custGeom>
              <a:avLst/>
              <a:gdLst/>
              <a:ahLst/>
              <a:cxnLst/>
              <a:rect l="l" t="t" r="r" b="b"/>
              <a:pathLst>
                <a:path w="4480" h="2954533">
                  <a:moveTo>
                    <a:pt x="4480" y="2954533"/>
                  </a:moveTo>
                  <a:lnTo>
                    <a:pt x="0" y="0"/>
                  </a:lnTo>
                </a:path>
              </a:pathLst>
            </a:custGeom>
            <a:ln w="12441">
              <a:solidFill>
                <a:srgbClr val="00B05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2810454" y="2790344"/>
              <a:ext cx="3584024" cy="3184407"/>
              <a:chOff x="2810454" y="2790344"/>
              <a:chExt cx="3584024" cy="3184407"/>
            </a:xfrm>
          </p:grpSpPr>
          <p:sp>
            <p:nvSpPr>
              <p:cNvPr id="58" name="object 45"/>
              <p:cNvSpPr/>
              <p:nvPr/>
            </p:nvSpPr>
            <p:spPr>
              <a:xfrm>
                <a:off x="2881868" y="2979908"/>
                <a:ext cx="104507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w="104507" h="2994842">
                    <a:moveTo>
                      <a:pt x="0" y="0"/>
                    </a:moveTo>
                    <a:lnTo>
                      <a:pt x="0" y="2994842"/>
                    </a:lnTo>
                    <a:lnTo>
                      <a:pt x="104507" y="2994842"/>
                    </a:lnTo>
                    <a:lnTo>
                      <a:pt x="104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59" name="object 46"/>
              <p:cNvSpPr/>
              <p:nvPr/>
            </p:nvSpPr>
            <p:spPr>
              <a:xfrm>
                <a:off x="2819171" y="5798577"/>
                <a:ext cx="3348669" cy="111968"/>
              </a:xfrm>
              <a:custGeom>
                <a:avLst/>
                <a:gdLst/>
                <a:ahLst/>
                <a:cxnLst/>
                <a:rect l="l" t="t" r="r" b="b"/>
                <a:pathLst>
                  <a:path w="3348669" h="111968">
                    <a:moveTo>
                      <a:pt x="0" y="111968"/>
                    </a:moveTo>
                    <a:lnTo>
                      <a:pt x="3348669" y="105994"/>
                    </a:lnTo>
                    <a:lnTo>
                      <a:pt x="3348669" y="0"/>
                    </a:lnTo>
                    <a:lnTo>
                      <a:pt x="0" y="5974"/>
                    </a:lnTo>
                    <a:lnTo>
                      <a:pt x="0" y="111968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0" name="object 48"/>
              <p:cNvSpPr/>
              <p:nvPr/>
            </p:nvSpPr>
            <p:spPr>
              <a:xfrm>
                <a:off x="2948297" y="4376469"/>
                <a:ext cx="2948300" cy="1595749"/>
              </a:xfrm>
              <a:custGeom>
                <a:avLst/>
                <a:gdLst/>
                <a:ahLst/>
                <a:cxnLst/>
                <a:rect l="l" t="t" r="r" b="b"/>
                <a:pathLst>
                  <a:path w="3288944" h="2042342">
                    <a:moveTo>
                      <a:pt x="0" y="91074"/>
                    </a:moveTo>
                    <a:lnTo>
                      <a:pt x="3233699" y="2042342"/>
                    </a:lnTo>
                    <a:lnTo>
                      <a:pt x="3288944" y="1951268"/>
                    </a:lnTo>
                    <a:lnTo>
                      <a:pt x="55229" y="0"/>
                    </a:lnTo>
                    <a:lnTo>
                      <a:pt x="0" y="91074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1" name="object 49"/>
              <p:cNvSpPr/>
              <p:nvPr/>
            </p:nvSpPr>
            <p:spPr>
              <a:xfrm>
                <a:off x="2995345" y="2979908"/>
                <a:ext cx="0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h="2994842">
                    <a:moveTo>
                      <a:pt x="0" y="0"/>
                    </a:moveTo>
                    <a:lnTo>
                      <a:pt x="0" y="2994842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2" name="object 50"/>
              <p:cNvSpPr/>
              <p:nvPr/>
            </p:nvSpPr>
            <p:spPr>
              <a:xfrm>
                <a:off x="2949061" y="2979908"/>
                <a:ext cx="92552" cy="46283"/>
              </a:xfrm>
              <a:custGeom>
                <a:avLst/>
                <a:gdLst/>
                <a:ahLst/>
                <a:cxnLst/>
                <a:rect l="l" t="t" r="r" b="b"/>
                <a:pathLst>
                  <a:path w="92552" h="46283">
                    <a:moveTo>
                      <a:pt x="92552" y="46283"/>
                    </a:moveTo>
                    <a:lnTo>
                      <a:pt x="46283" y="0"/>
                    </a:lnTo>
                    <a:lnTo>
                      <a:pt x="0" y="46283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3" name="object 51"/>
              <p:cNvSpPr/>
              <p:nvPr/>
            </p:nvSpPr>
            <p:spPr>
              <a:xfrm>
                <a:off x="2819171" y="5798577"/>
                <a:ext cx="334866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48669">
                    <a:moveTo>
                      <a:pt x="3348669" y="0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4" name="object 52"/>
              <p:cNvSpPr/>
              <p:nvPr/>
            </p:nvSpPr>
            <p:spPr>
              <a:xfrm>
                <a:off x="6121557" y="5752293"/>
                <a:ext cx="46283" cy="92567"/>
              </a:xfrm>
              <a:custGeom>
                <a:avLst/>
                <a:gdLst/>
                <a:ahLst/>
                <a:cxnLst/>
                <a:rect l="l" t="t" r="r" b="b"/>
                <a:pathLst>
                  <a:path w="46283" h="92567">
                    <a:moveTo>
                      <a:pt x="0" y="92567"/>
                    </a:moveTo>
                    <a:lnTo>
                      <a:pt x="46283" y="46283"/>
                    </a:ln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5" name="object 53"/>
              <p:cNvSpPr/>
              <p:nvPr/>
            </p:nvSpPr>
            <p:spPr>
              <a:xfrm>
                <a:off x="2979613" y="4435399"/>
                <a:ext cx="2916984" cy="1487091"/>
              </a:xfrm>
              <a:custGeom>
                <a:avLst/>
                <a:gdLst/>
                <a:ahLst/>
                <a:cxnLst/>
                <a:rect l="l" t="t" r="r" b="b"/>
                <a:pathLst>
                  <a:path w="3241167" h="1957242">
                    <a:moveTo>
                      <a:pt x="3241167" y="1957242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6" name="object 24"/>
              <p:cNvSpPr txBox="1"/>
              <p:nvPr/>
            </p:nvSpPr>
            <p:spPr>
              <a:xfrm>
                <a:off x="2948297" y="2790344"/>
                <a:ext cx="122440" cy="174693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295"/>
                  </a:lnSpc>
                  <a:spcBef>
                    <a:spcPts val="64"/>
                  </a:spcBef>
                </a:pPr>
                <a:r>
                  <a:rPr sz="1150" b="1" i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endParaRPr sz="1150">
                  <a:latin typeface="Times New Roman"/>
                  <a:cs typeface="Times New Roman"/>
                </a:endParaRPr>
              </a:p>
            </p:txBody>
          </p:sp>
          <p:sp>
            <p:nvSpPr>
              <p:cNvPr id="67" name="object 23"/>
              <p:cNvSpPr txBox="1"/>
              <p:nvPr/>
            </p:nvSpPr>
            <p:spPr>
              <a:xfrm>
                <a:off x="3022948" y="2881150"/>
                <a:ext cx="90093" cy="12492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30"/>
                  </a:spcBef>
                </a:pPr>
                <a:r>
                  <a:rPr sz="750" b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2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68" name="object 21"/>
              <p:cNvSpPr txBox="1"/>
              <p:nvPr/>
            </p:nvSpPr>
            <p:spPr>
              <a:xfrm>
                <a:off x="6216349" y="5697093"/>
                <a:ext cx="178129" cy="21424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610"/>
                  </a:lnSpc>
                  <a:spcBef>
                    <a:spcPts val="80"/>
                  </a:spcBef>
                </a:pPr>
                <a:r>
                  <a:rPr sz="1725" b="1" i="1" baseline="12603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125" b="1" baseline="-11595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1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69" name="object 20"/>
              <p:cNvSpPr txBox="1"/>
              <p:nvPr/>
            </p:nvSpPr>
            <p:spPr>
              <a:xfrm>
                <a:off x="3278243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0" name="object 19"/>
              <p:cNvSpPr txBox="1"/>
              <p:nvPr/>
            </p:nvSpPr>
            <p:spPr>
              <a:xfrm>
                <a:off x="3624107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1" name="object 18"/>
              <p:cNvSpPr txBox="1"/>
              <p:nvPr/>
            </p:nvSpPr>
            <p:spPr>
              <a:xfrm>
                <a:off x="3969972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2" name="object 17"/>
              <p:cNvSpPr txBox="1"/>
              <p:nvPr/>
            </p:nvSpPr>
            <p:spPr>
              <a:xfrm>
                <a:off x="4315836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3" name="object 15"/>
              <p:cNvSpPr txBox="1"/>
              <p:nvPr/>
            </p:nvSpPr>
            <p:spPr>
              <a:xfrm rot="16200000">
                <a:off x="1713594" y="4317706"/>
                <a:ext cx="2314370" cy="12065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10"/>
                  </a:spcBef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50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60       </a:t>
                </a:r>
                <a:r>
                  <a:rPr sz="950" b="1" spc="10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70</a:t>
                </a:r>
                <a:endParaRPr sz="950" dirty="0">
                  <a:latin typeface="Arial"/>
                  <a:cs typeface="Arial"/>
                </a:endParaRPr>
              </a:p>
            </p:txBody>
          </p:sp>
          <p:sp>
            <p:nvSpPr>
              <p:cNvPr id="74" name="object 14"/>
              <p:cNvSpPr txBox="1"/>
              <p:nvPr/>
            </p:nvSpPr>
            <p:spPr>
              <a:xfrm>
                <a:off x="2819171" y="2979908"/>
                <a:ext cx="62697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5" name="object 13"/>
              <p:cNvSpPr txBox="1"/>
              <p:nvPr/>
            </p:nvSpPr>
            <p:spPr>
              <a:xfrm>
                <a:off x="2881868" y="2979908"/>
                <a:ext cx="112102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6" name="object 12"/>
              <p:cNvSpPr txBox="1"/>
              <p:nvPr/>
            </p:nvSpPr>
            <p:spPr>
              <a:xfrm>
                <a:off x="2993970" y="2979908"/>
                <a:ext cx="3173870" cy="851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650"/>
                  </a:lnSpc>
                  <a:spcBef>
                    <a:spcPts val="20"/>
                  </a:spcBef>
                </a:pPr>
                <a:endParaRPr sz="650"/>
              </a:p>
            </p:txBody>
          </p:sp>
          <p:sp>
            <p:nvSpPr>
              <p:cNvPr id="77" name="object 11"/>
              <p:cNvSpPr txBox="1"/>
              <p:nvPr/>
            </p:nvSpPr>
            <p:spPr>
              <a:xfrm>
                <a:off x="2993970" y="3065009"/>
                <a:ext cx="1434590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8" name="object 10"/>
              <p:cNvSpPr txBox="1"/>
              <p:nvPr/>
            </p:nvSpPr>
            <p:spPr>
              <a:xfrm>
                <a:off x="4428560" y="3065009"/>
                <a:ext cx="104507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9" name="object 9"/>
              <p:cNvSpPr txBox="1"/>
              <p:nvPr/>
            </p:nvSpPr>
            <p:spPr>
              <a:xfrm>
                <a:off x="4533067" y="3065009"/>
                <a:ext cx="1634773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80" name="object 8"/>
              <p:cNvSpPr txBox="1"/>
              <p:nvPr/>
            </p:nvSpPr>
            <p:spPr>
              <a:xfrm>
                <a:off x="2819171" y="5798577"/>
                <a:ext cx="62697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81" name="object 7"/>
              <p:cNvSpPr txBox="1"/>
              <p:nvPr/>
            </p:nvSpPr>
            <p:spPr>
              <a:xfrm>
                <a:off x="2881868" y="5798577"/>
                <a:ext cx="112102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</p:grpSp>
        <p:sp>
          <p:nvSpPr>
            <p:cNvPr id="82" name="object 5"/>
            <p:cNvSpPr txBox="1"/>
            <p:nvPr/>
          </p:nvSpPr>
          <p:spPr>
            <a:xfrm>
              <a:off x="4428560" y="5798577"/>
              <a:ext cx="104507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/>
            </a:p>
          </p:txBody>
        </p:sp>
        <p:sp>
          <p:nvSpPr>
            <p:cNvPr id="83" name="object 4"/>
            <p:cNvSpPr txBox="1"/>
            <p:nvPr/>
          </p:nvSpPr>
          <p:spPr>
            <a:xfrm>
              <a:off x="4533067" y="5798577"/>
              <a:ext cx="1634773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41332">
                <a:lnSpc>
                  <a:spcPct val="95825"/>
                </a:lnSpc>
                <a:spcBef>
                  <a:spcPts val="190"/>
                </a:spcBef>
              </a:pP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50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60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70       </a:t>
              </a:r>
              <a:r>
                <a:rPr sz="950" b="1" spc="10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80</a:t>
              </a:r>
              <a:endParaRPr sz="950">
                <a:latin typeface="Arial"/>
                <a:cs typeface="Arial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5540380" y="5293605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Constraint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28316" y="3818311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0070C0"/>
                </a:solidFill>
              </a:rPr>
              <a:t>Constraint 2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504284" y="3022473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00B050"/>
                </a:solidFill>
              </a:rPr>
              <a:t>Constraint 3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200400" y="4571999"/>
            <a:ext cx="390883" cy="6096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>
            <a:off x="6952730" y="6554606"/>
            <a:ext cx="211753" cy="3178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086793" y="4313958"/>
            <a:ext cx="507869" cy="56193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5777481" y="6372766"/>
            <a:ext cx="285339" cy="30948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77" idx="0"/>
          </p:cNvCxnSpPr>
          <p:nvPr/>
        </p:nvCxnSpPr>
        <p:spPr>
          <a:xfrm flipH="1" flipV="1">
            <a:off x="4487109" y="2755358"/>
            <a:ext cx="840358" cy="335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 flipV="1">
            <a:off x="4493230" y="6359890"/>
            <a:ext cx="840358" cy="335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631321" y="1185681"/>
                <a:ext cx="24022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tr-TR" sz="2400" b="0" i="1" smtClean="0">
                          <a:latin typeface="Cambria Math"/>
                          <a:ea typeface="Cambria Math"/>
                        </a:rPr>
                        <m:t> , </m:t>
                      </m:r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 </m:t>
                          </m:r>
                          <m:r>
                            <a:rPr lang="tr-TR" sz="24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b="0" i="1" smtClean="0">
                          <a:latin typeface="Cambria Math"/>
                          <a:ea typeface="Cambria Math"/>
                        </a:rPr>
                        <m:t> ≥0</m:t>
                      </m:r>
                    </m:oMath>
                  </m:oMathPara>
                </a14:m>
                <a:endParaRPr lang="tr-TR" sz="2400" b="0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21" y="1185681"/>
                <a:ext cx="2402204" cy="461665"/>
              </a:xfrm>
              <a:prstGeom prst="rect">
                <a:avLst/>
              </a:prstGeom>
              <a:blipFill>
                <a:blip r:embed="rId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/>
          <p:cNvSpPr txBox="1"/>
          <p:nvPr/>
        </p:nvSpPr>
        <p:spPr>
          <a:xfrm>
            <a:off x="631321" y="1798608"/>
            <a:ext cx="33716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/>
              <a:t>Nonnegativity constraints</a:t>
            </a:r>
            <a:endParaRPr lang="en-US" sz="2400" dirty="0"/>
          </a:p>
        </p:txBody>
      </p:sp>
      <p:sp>
        <p:nvSpPr>
          <p:cNvPr id="89" name="TextBox 88"/>
          <p:cNvSpPr txBox="1"/>
          <p:nvPr/>
        </p:nvSpPr>
        <p:spPr>
          <a:xfrm>
            <a:off x="5544488" y="867337"/>
            <a:ext cx="353972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>
                <a:ea typeface="Cambria Math"/>
              </a:rPr>
              <a:t>Write the constraints as an equality</a:t>
            </a:r>
            <a:endParaRPr lang="tr-TR" sz="2400" i="1" dirty="0">
              <a:latin typeface="Cambria Math"/>
              <a:ea typeface="Cambria Math"/>
            </a:endParaRPr>
          </a:p>
          <a:p>
            <a:endParaRPr lang="tr-TR" sz="800" i="1" dirty="0">
              <a:latin typeface="Cambria Math"/>
              <a:ea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ea typeface="Cambria Math"/>
              </a:rPr>
              <a:t>Plot the 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ea typeface="Cambria Math"/>
              </a:rPr>
              <a:t>Identify the direction of the constraint</a:t>
            </a:r>
          </a:p>
        </p:txBody>
      </p:sp>
      <p:cxnSp>
        <p:nvCxnSpPr>
          <p:cNvPr id="90" name="Straight Arrow Connector 89"/>
          <p:cNvCxnSpPr/>
          <p:nvPr/>
        </p:nvCxnSpPr>
        <p:spPr>
          <a:xfrm flipV="1">
            <a:off x="3627897" y="2935279"/>
            <a:ext cx="707250" cy="86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flipH="1" flipV="1">
            <a:off x="7284361" y="5679703"/>
            <a:ext cx="4564" cy="7053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78A6708B-F409-4B30-8302-3E746D0D1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3" y="4895606"/>
            <a:ext cx="3806957" cy="144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12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0" grpId="0"/>
      <p:bldP spid="4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85" y="16268"/>
            <a:ext cx="8697246" cy="1143000"/>
          </a:xfrm>
        </p:spPr>
        <p:txBody>
          <a:bodyPr>
            <a:normAutofit fontScale="90000"/>
          </a:bodyPr>
          <a:lstStyle/>
          <a:p>
            <a:r>
              <a:rPr lang="tr-TR" dirty="0">
                <a:solidFill>
                  <a:srgbClr val="FF0000"/>
                </a:solidFill>
              </a:rPr>
              <a:t>Graphical Representation</a:t>
            </a:r>
            <a:r>
              <a:rPr lang="en-US" dirty="0">
                <a:solidFill>
                  <a:srgbClr val="FF0000"/>
                </a:solidFill>
              </a:rPr>
              <a:t> of </a:t>
            </a:r>
            <a:r>
              <a:rPr lang="tr-TR" dirty="0">
                <a:solidFill>
                  <a:srgbClr val="FF000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Problem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22</a:t>
            </a:fld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3384167" y="2391252"/>
            <a:ext cx="4388232" cy="4251049"/>
            <a:chOff x="2810454" y="2790344"/>
            <a:chExt cx="3584024" cy="3206795"/>
          </a:xfrm>
        </p:grpSpPr>
        <p:sp>
          <p:nvSpPr>
            <p:cNvPr id="48" name="object 44"/>
            <p:cNvSpPr/>
            <p:nvPr/>
          </p:nvSpPr>
          <p:spPr>
            <a:xfrm>
              <a:off x="4428560" y="3065009"/>
              <a:ext cx="104507" cy="2915716"/>
            </a:xfrm>
            <a:custGeom>
              <a:avLst/>
              <a:gdLst/>
              <a:ahLst/>
              <a:cxnLst/>
              <a:rect l="l" t="t" r="r" b="b"/>
              <a:pathLst>
                <a:path w="104507" h="2915716">
                  <a:moveTo>
                    <a:pt x="0" y="0"/>
                  </a:moveTo>
                  <a:lnTo>
                    <a:pt x="0" y="2915716"/>
                  </a:lnTo>
                  <a:lnTo>
                    <a:pt x="104507" y="2915716"/>
                  </a:lnTo>
                  <a:lnTo>
                    <a:pt x="1045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4" name="object 47"/>
            <p:cNvSpPr/>
            <p:nvPr/>
          </p:nvSpPr>
          <p:spPr>
            <a:xfrm>
              <a:off x="2923196" y="4147991"/>
              <a:ext cx="2102108" cy="1674414"/>
            </a:xfrm>
            <a:custGeom>
              <a:avLst/>
              <a:gdLst/>
              <a:ahLst/>
              <a:cxnLst/>
              <a:rect l="l" t="t" r="r" b="b"/>
              <a:pathLst>
                <a:path w="2643987" h="2644002">
                  <a:moveTo>
                    <a:pt x="0" y="74645"/>
                  </a:moveTo>
                  <a:lnTo>
                    <a:pt x="2569342" y="2644002"/>
                  </a:lnTo>
                  <a:lnTo>
                    <a:pt x="2643987" y="2569357"/>
                  </a:lnTo>
                  <a:lnTo>
                    <a:pt x="74645" y="0"/>
                  </a:lnTo>
                  <a:lnTo>
                    <a:pt x="0" y="74645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5" name="object 54"/>
            <p:cNvSpPr/>
            <p:nvPr/>
          </p:nvSpPr>
          <p:spPr>
            <a:xfrm>
              <a:off x="2890584" y="4147991"/>
              <a:ext cx="2134720" cy="1696869"/>
            </a:xfrm>
            <a:custGeom>
              <a:avLst/>
              <a:gdLst/>
              <a:ahLst/>
              <a:cxnLst/>
              <a:rect l="l" t="t" r="r" b="b"/>
              <a:pathLst>
                <a:path w="2546954" h="2546954">
                  <a:moveTo>
                    <a:pt x="0" y="0"/>
                  </a:moveTo>
                  <a:lnTo>
                    <a:pt x="2546954" y="2546954"/>
                  </a:lnTo>
                </a:path>
              </a:pathLst>
            </a:custGeom>
            <a:ln w="12441">
              <a:solidFill>
                <a:srgbClr val="0070C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6" name="object 55"/>
            <p:cNvSpPr/>
            <p:nvPr/>
          </p:nvSpPr>
          <p:spPr>
            <a:xfrm>
              <a:off x="4415119" y="3042606"/>
              <a:ext cx="4480" cy="2954533"/>
            </a:xfrm>
            <a:custGeom>
              <a:avLst/>
              <a:gdLst/>
              <a:ahLst/>
              <a:cxnLst/>
              <a:rect l="l" t="t" r="r" b="b"/>
              <a:pathLst>
                <a:path w="4480" h="2954533">
                  <a:moveTo>
                    <a:pt x="4480" y="2954533"/>
                  </a:moveTo>
                  <a:lnTo>
                    <a:pt x="0" y="0"/>
                  </a:lnTo>
                </a:path>
              </a:pathLst>
            </a:custGeom>
            <a:ln w="12441">
              <a:solidFill>
                <a:srgbClr val="00B05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2810454" y="2790344"/>
              <a:ext cx="3584024" cy="3184407"/>
              <a:chOff x="2810454" y="2790344"/>
              <a:chExt cx="3584024" cy="3184407"/>
            </a:xfrm>
          </p:grpSpPr>
          <p:sp>
            <p:nvSpPr>
              <p:cNvPr id="58" name="object 45"/>
              <p:cNvSpPr/>
              <p:nvPr/>
            </p:nvSpPr>
            <p:spPr>
              <a:xfrm>
                <a:off x="2881868" y="2979908"/>
                <a:ext cx="104507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w="104507" h="2994842">
                    <a:moveTo>
                      <a:pt x="0" y="0"/>
                    </a:moveTo>
                    <a:lnTo>
                      <a:pt x="0" y="2994842"/>
                    </a:lnTo>
                    <a:lnTo>
                      <a:pt x="104507" y="2994842"/>
                    </a:lnTo>
                    <a:lnTo>
                      <a:pt x="104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59" name="object 46"/>
              <p:cNvSpPr/>
              <p:nvPr/>
            </p:nvSpPr>
            <p:spPr>
              <a:xfrm>
                <a:off x="2819171" y="5798577"/>
                <a:ext cx="3348669" cy="111968"/>
              </a:xfrm>
              <a:custGeom>
                <a:avLst/>
                <a:gdLst/>
                <a:ahLst/>
                <a:cxnLst/>
                <a:rect l="l" t="t" r="r" b="b"/>
                <a:pathLst>
                  <a:path w="3348669" h="111968">
                    <a:moveTo>
                      <a:pt x="0" y="111968"/>
                    </a:moveTo>
                    <a:lnTo>
                      <a:pt x="3348669" y="105994"/>
                    </a:lnTo>
                    <a:lnTo>
                      <a:pt x="3348669" y="0"/>
                    </a:lnTo>
                    <a:lnTo>
                      <a:pt x="0" y="5974"/>
                    </a:lnTo>
                    <a:lnTo>
                      <a:pt x="0" y="111968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0" name="object 48"/>
              <p:cNvSpPr/>
              <p:nvPr/>
            </p:nvSpPr>
            <p:spPr>
              <a:xfrm>
                <a:off x="2948297" y="4376469"/>
                <a:ext cx="2948300" cy="1595749"/>
              </a:xfrm>
              <a:custGeom>
                <a:avLst/>
                <a:gdLst/>
                <a:ahLst/>
                <a:cxnLst/>
                <a:rect l="l" t="t" r="r" b="b"/>
                <a:pathLst>
                  <a:path w="3288944" h="2042342">
                    <a:moveTo>
                      <a:pt x="0" y="91074"/>
                    </a:moveTo>
                    <a:lnTo>
                      <a:pt x="3233699" y="2042342"/>
                    </a:lnTo>
                    <a:lnTo>
                      <a:pt x="3288944" y="1951268"/>
                    </a:lnTo>
                    <a:lnTo>
                      <a:pt x="55229" y="0"/>
                    </a:lnTo>
                    <a:lnTo>
                      <a:pt x="0" y="91074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1" name="object 49"/>
              <p:cNvSpPr/>
              <p:nvPr/>
            </p:nvSpPr>
            <p:spPr>
              <a:xfrm>
                <a:off x="2995345" y="2979908"/>
                <a:ext cx="0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h="2994842">
                    <a:moveTo>
                      <a:pt x="0" y="0"/>
                    </a:moveTo>
                    <a:lnTo>
                      <a:pt x="0" y="2994842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2" name="object 50"/>
              <p:cNvSpPr/>
              <p:nvPr/>
            </p:nvSpPr>
            <p:spPr>
              <a:xfrm>
                <a:off x="2949061" y="2979908"/>
                <a:ext cx="92552" cy="46283"/>
              </a:xfrm>
              <a:custGeom>
                <a:avLst/>
                <a:gdLst/>
                <a:ahLst/>
                <a:cxnLst/>
                <a:rect l="l" t="t" r="r" b="b"/>
                <a:pathLst>
                  <a:path w="92552" h="46283">
                    <a:moveTo>
                      <a:pt x="92552" y="46283"/>
                    </a:moveTo>
                    <a:lnTo>
                      <a:pt x="46283" y="0"/>
                    </a:lnTo>
                    <a:lnTo>
                      <a:pt x="0" y="46283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3" name="object 51"/>
              <p:cNvSpPr/>
              <p:nvPr/>
            </p:nvSpPr>
            <p:spPr>
              <a:xfrm>
                <a:off x="2819171" y="5798577"/>
                <a:ext cx="334866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48669">
                    <a:moveTo>
                      <a:pt x="3348669" y="0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4" name="object 52"/>
              <p:cNvSpPr/>
              <p:nvPr/>
            </p:nvSpPr>
            <p:spPr>
              <a:xfrm>
                <a:off x="6121557" y="5752293"/>
                <a:ext cx="46283" cy="92567"/>
              </a:xfrm>
              <a:custGeom>
                <a:avLst/>
                <a:gdLst/>
                <a:ahLst/>
                <a:cxnLst/>
                <a:rect l="l" t="t" r="r" b="b"/>
                <a:pathLst>
                  <a:path w="46283" h="92567">
                    <a:moveTo>
                      <a:pt x="0" y="92567"/>
                    </a:moveTo>
                    <a:lnTo>
                      <a:pt x="46283" y="46283"/>
                    </a:ln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5" name="object 53"/>
              <p:cNvSpPr/>
              <p:nvPr/>
            </p:nvSpPr>
            <p:spPr>
              <a:xfrm>
                <a:off x="2979613" y="4435399"/>
                <a:ext cx="2916984" cy="1487091"/>
              </a:xfrm>
              <a:custGeom>
                <a:avLst/>
                <a:gdLst/>
                <a:ahLst/>
                <a:cxnLst/>
                <a:rect l="l" t="t" r="r" b="b"/>
                <a:pathLst>
                  <a:path w="3241167" h="1957242">
                    <a:moveTo>
                      <a:pt x="3241167" y="1957242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6" name="object 24"/>
              <p:cNvSpPr txBox="1"/>
              <p:nvPr/>
            </p:nvSpPr>
            <p:spPr>
              <a:xfrm>
                <a:off x="2948297" y="2790344"/>
                <a:ext cx="122440" cy="174693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295"/>
                  </a:lnSpc>
                  <a:spcBef>
                    <a:spcPts val="64"/>
                  </a:spcBef>
                </a:pPr>
                <a:r>
                  <a:rPr sz="1150" b="1" i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endParaRPr sz="1150">
                  <a:latin typeface="Times New Roman"/>
                  <a:cs typeface="Times New Roman"/>
                </a:endParaRPr>
              </a:p>
            </p:txBody>
          </p:sp>
          <p:sp>
            <p:nvSpPr>
              <p:cNvPr id="67" name="object 23"/>
              <p:cNvSpPr txBox="1"/>
              <p:nvPr/>
            </p:nvSpPr>
            <p:spPr>
              <a:xfrm>
                <a:off x="3022948" y="2881150"/>
                <a:ext cx="90093" cy="12492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30"/>
                  </a:spcBef>
                </a:pPr>
                <a:r>
                  <a:rPr sz="750" b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2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68" name="object 21"/>
              <p:cNvSpPr txBox="1"/>
              <p:nvPr/>
            </p:nvSpPr>
            <p:spPr>
              <a:xfrm>
                <a:off x="6216349" y="5697093"/>
                <a:ext cx="178129" cy="21424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610"/>
                  </a:lnSpc>
                  <a:spcBef>
                    <a:spcPts val="80"/>
                  </a:spcBef>
                </a:pPr>
                <a:r>
                  <a:rPr sz="1725" b="1" i="1" baseline="12603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125" b="1" baseline="-11595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1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69" name="object 20"/>
              <p:cNvSpPr txBox="1"/>
              <p:nvPr/>
            </p:nvSpPr>
            <p:spPr>
              <a:xfrm>
                <a:off x="3278243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0" name="object 19"/>
              <p:cNvSpPr txBox="1"/>
              <p:nvPr/>
            </p:nvSpPr>
            <p:spPr>
              <a:xfrm>
                <a:off x="3624107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1" name="object 18"/>
              <p:cNvSpPr txBox="1"/>
              <p:nvPr/>
            </p:nvSpPr>
            <p:spPr>
              <a:xfrm>
                <a:off x="3969972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2" name="object 17"/>
              <p:cNvSpPr txBox="1"/>
              <p:nvPr/>
            </p:nvSpPr>
            <p:spPr>
              <a:xfrm>
                <a:off x="4315836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3" name="object 15"/>
              <p:cNvSpPr txBox="1"/>
              <p:nvPr/>
            </p:nvSpPr>
            <p:spPr>
              <a:xfrm rot="16200000">
                <a:off x="1713594" y="4317706"/>
                <a:ext cx="2314370" cy="12065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10"/>
                  </a:spcBef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50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60       </a:t>
                </a:r>
                <a:r>
                  <a:rPr sz="950" b="1" spc="10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70</a:t>
                </a:r>
                <a:endParaRPr sz="950" dirty="0">
                  <a:latin typeface="Arial"/>
                  <a:cs typeface="Arial"/>
                </a:endParaRPr>
              </a:p>
            </p:txBody>
          </p:sp>
          <p:sp>
            <p:nvSpPr>
              <p:cNvPr id="74" name="object 14"/>
              <p:cNvSpPr txBox="1"/>
              <p:nvPr/>
            </p:nvSpPr>
            <p:spPr>
              <a:xfrm>
                <a:off x="2819171" y="2979908"/>
                <a:ext cx="62697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5" name="object 13"/>
              <p:cNvSpPr txBox="1"/>
              <p:nvPr/>
            </p:nvSpPr>
            <p:spPr>
              <a:xfrm>
                <a:off x="2881868" y="2979908"/>
                <a:ext cx="112102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6" name="object 12"/>
              <p:cNvSpPr txBox="1"/>
              <p:nvPr/>
            </p:nvSpPr>
            <p:spPr>
              <a:xfrm>
                <a:off x="2993970" y="2979908"/>
                <a:ext cx="3173870" cy="851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650"/>
                  </a:lnSpc>
                  <a:spcBef>
                    <a:spcPts val="20"/>
                  </a:spcBef>
                </a:pPr>
                <a:endParaRPr sz="650"/>
              </a:p>
            </p:txBody>
          </p:sp>
          <p:sp>
            <p:nvSpPr>
              <p:cNvPr id="77" name="object 11"/>
              <p:cNvSpPr txBox="1"/>
              <p:nvPr/>
            </p:nvSpPr>
            <p:spPr>
              <a:xfrm>
                <a:off x="2993970" y="3065009"/>
                <a:ext cx="1434590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8" name="object 10"/>
              <p:cNvSpPr txBox="1"/>
              <p:nvPr/>
            </p:nvSpPr>
            <p:spPr>
              <a:xfrm>
                <a:off x="4428560" y="3065009"/>
                <a:ext cx="104507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9" name="object 9"/>
              <p:cNvSpPr txBox="1"/>
              <p:nvPr/>
            </p:nvSpPr>
            <p:spPr>
              <a:xfrm>
                <a:off x="4533067" y="3065009"/>
                <a:ext cx="1634773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80" name="object 8"/>
              <p:cNvSpPr txBox="1"/>
              <p:nvPr/>
            </p:nvSpPr>
            <p:spPr>
              <a:xfrm>
                <a:off x="2819171" y="5798577"/>
                <a:ext cx="62697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81" name="object 7"/>
              <p:cNvSpPr txBox="1"/>
              <p:nvPr/>
            </p:nvSpPr>
            <p:spPr>
              <a:xfrm>
                <a:off x="2881868" y="5798577"/>
                <a:ext cx="112102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</p:grpSp>
        <p:sp>
          <p:nvSpPr>
            <p:cNvPr id="82" name="object 5"/>
            <p:cNvSpPr txBox="1"/>
            <p:nvPr/>
          </p:nvSpPr>
          <p:spPr>
            <a:xfrm>
              <a:off x="4428560" y="5798577"/>
              <a:ext cx="104507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/>
            </a:p>
          </p:txBody>
        </p:sp>
        <p:sp>
          <p:nvSpPr>
            <p:cNvPr id="83" name="object 4"/>
            <p:cNvSpPr txBox="1"/>
            <p:nvPr/>
          </p:nvSpPr>
          <p:spPr>
            <a:xfrm>
              <a:off x="4533067" y="5798577"/>
              <a:ext cx="1634773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41332">
                <a:lnSpc>
                  <a:spcPct val="95825"/>
                </a:lnSpc>
                <a:spcBef>
                  <a:spcPts val="190"/>
                </a:spcBef>
              </a:pP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50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60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70       </a:t>
              </a:r>
              <a:r>
                <a:rPr sz="950" b="1" spc="10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80</a:t>
              </a:r>
              <a:endParaRPr sz="950">
                <a:latin typeface="Arial"/>
                <a:cs typeface="Arial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5569513" y="5362948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Constraint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28316" y="3818311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0070C0"/>
                </a:solidFill>
              </a:rPr>
              <a:t>Constraint 2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504284" y="3022473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00B050"/>
                </a:solidFill>
              </a:rPr>
              <a:t>Constraint 3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200400" y="4571999"/>
            <a:ext cx="390883" cy="6096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>
            <a:off x="6952730" y="6548804"/>
            <a:ext cx="211753" cy="3178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089822" y="4292365"/>
            <a:ext cx="507869" cy="56193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5775941" y="6374395"/>
            <a:ext cx="285339" cy="30948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77" idx="0"/>
          </p:cNvCxnSpPr>
          <p:nvPr/>
        </p:nvCxnSpPr>
        <p:spPr>
          <a:xfrm flipH="1" flipV="1">
            <a:off x="4487109" y="2755358"/>
            <a:ext cx="840358" cy="335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 flipV="1">
            <a:off x="4493230" y="6359890"/>
            <a:ext cx="840358" cy="335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608090" y="5398757"/>
            <a:ext cx="914400" cy="9144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3627897" y="5128463"/>
            <a:ext cx="1305142" cy="12628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3629911" y="4692180"/>
            <a:ext cx="1717302" cy="16693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412054" y="5068835"/>
            <a:ext cx="914400" cy="9144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3623400" y="5774081"/>
            <a:ext cx="615078" cy="60499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3599562" y="6143229"/>
            <a:ext cx="262851" cy="21312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55148" y="5291630"/>
            <a:ext cx="159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Feasible region</a:t>
            </a:r>
            <a:endParaRPr lang="en-US" dirty="0"/>
          </a:p>
        </p:txBody>
      </p:sp>
      <p:sp>
        <p:nvSpPr>
          <p:cNvPr id="21" name="Line Callout 3 20"/>
          <p:cNvSpPr/>
          <p:nvPr/>
        </p:nvSpPr>
        <p:spPr>
          <a:xfrm>
            <a:off x="1480613" y="5244231"/>
            <a:ext cx="1675633" cy="563607"/>
          </a:xfrm>
          <a:prstGeom prst="borderCallout3">
            <a:avLst>
              <a:gd name="adj1" fmla="val 26125"/>
              <a:gd name="adj2" fmla="val -65"/>
              <a:gd name="adj3" fmla="val 67914"/>
              <a:gd name="adj4" fmla="val -16667"/>
              <a:gd name="adj5" fmla="val 146706"/>
              <a:gd name="adj6" fmla="val -8399"/>
              <a:gd name="adj7" fmla="val 164585"/>
              <a:gd name="adj8" fmla="val 142149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417196" y="908444"/>
                <a:ext cx="3249999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tr-TR" sz="2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6 </m:t>
                      </m:r>
                      <m:sSub>
                        <m:sSubPr>
                          <m:ctrlPr>
                            <a:rPr lang="tr-T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tr-T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tr-TR" sz="2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tr-T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    </m:t>
                      </m:r>
                      <m:r>
                        <a:rPr lang="tr-TR" sz="2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10 </m:t>
                      </m:r>
                      <m:sSub>
                        <m:sSubPr>
                          <m:ctrlPr>
                            <a:rPr lang="tr-T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tr-TR" sz="2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≤480 </m:t>
                      </m:r>
                    </m:oMath>
                  </m:oMathPara>
                </a14:m>
                <a:endParaRPr lang="tr-TR" sz="2400" i="1" dirty="0">
                  <a:solidFill>
                    <a:srgbClr val="FF0000"/>
                  </a:solidFill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tr-TR" sz="240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8 </m:t>
                      </m:r>
                      <m:sSub>
                        <m:sSubPr>
                          <m:ctrlPr>
                            <a:rPr lang="tr-T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  <m:r>
                            <a:rPr lang="tr-T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 </m:t>
                          </m:r>
                        </m:sub>
                      </m:sSub>
                      <m:r>
                        <a:rPr lang="tr-TR" sz="240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tr-TR" sz="2400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  </m:t>
                      </m:r>
                      <m:r>
                        <a:rPr lang="tr-TR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    </m:t>
                      </m:r>
                      <m:r>
                        <a:rPr lang="tr-TR" sz="2400" i="1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8 </m:t>
                      </m:r>
                      <m:sSub>
                        <m:sSubPr>
                          <m:ctrlPr>
                            <a:rPr lang="tr-T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i="1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 ≤480</m:t>
                      </m:r>
                    </m:oMath>
                  </m:oMathPara>
                </a14:m>
                <a:endParaRPr lang="tr-TR" sz="2400" i="1" dirty="0">
                  <a:solidFill>
                    <a:srgbClr val="0070C0"/>
                  </a:solidFill>
                  <a:latin typeface="Cambria Math"/>
                  <a:ea typeface="Cambria Math"/>
                </a:endParaRPr>
              </a:p>
              <a:p>
                <a:r>
                  <a:rPr lang="tr-TR" sz="2400" i="1" dirty="0">
                    <a:solidFill>
                      <a:srgbClr val="00B050"/>
                    </a:solidFill>
                    <a:latin typeface="Cambria Math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tr-TR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  </m:t>
                        </m:r>
                        <m:r>
                          <a:rPr lang="tr-TR" sz="2400" i="1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tr-TR" sz="2400" i="1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tr-TR" sz="2400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tr-TR" sz="2400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                      </m:t>
                    </m:r>
                    <m:r>
                      <a:rPr lang="tr-TR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tr-TR" sz="2400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≤40</m:t>
                    </m:r>
                  </m:oMath>
                </a14:m>
                <a:endParaRPr lang="tr-TR" sz="2400" i="1" dirty="0">
                  <a:solidFill>
                    <a:srgbClr val="00B050"/>
                  </a:solidFill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tr-TR" sz="24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  <a:ea typeface="Cambria Math"/>
                        </a:rPr>
                        <m:t>     </m:t>
                      </m:r>
                      <m:r>
                        <a:rPr lang="tr-TR" sz="2400" b="0" i="1" smtClean="0">
                          <a:latin typeface="Cambria Math"/>
                          <a:ea typeface="Cambria Math"/>
                        </a:rPr>
                        <m:t>,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  <a:ea typeface="Cambria Math"/>
                        </a:rPr>
                        <m:t>  </m:t>
                      </m:r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b="0" i="1" smtClean="0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  <a:ea typeface="Cambria Math"/>
                        </a:rPr>
                        <m:t>  </m:t>
                      </m:r>
                      <m:r>
                        <a:rPr lang="tr-TR" sz="2400" b="0" i="1" smtClean="0">
                          <a:latin typeface="Cambria Math"/>
                          <a:ea typeface="Cambria Math"/>
                        </a:rPr>
                        <m:t>0</m:t>
                      </m:r>
                    </m:oMath>
                  </m:oMathPara>
                </a14:m>
                <a:endParaRPr lang="tr-TR" sz="2400" b="0" i="1" dirty="0">
                  <a:latin typeface="Cambria Math"/>
                  <a:ea typeface="Cambria Math"/>
                </a:endParaRPr>
              </a:p>
              <a:p>
                <a:endParaRPr lang="tr-TR" sz="2400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96" y="908444"/>
                <a:ext cx="3249999" cy="1938992"/>
              </a:xfrm>
              <a:prstGeom prst="rect">
                <a:avLst/>
              </a:prstGeom>
              <a:blipFill>
                <a:blip r:embed="rId2"/>
                <a:stretch>
                  <a:fillRect l="-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Arrow Connector 87"/>
          <p:cNvCxnSpPr/>
          <p:nvPr/>
        </p:nvCxnSpPr>
        <p:spPr>
          <a:xfrm flipV="1">
            <a:off x="3627897" y="2935279"/>
            <a:ext cx="707250" cy="86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H="1" flipV="1">
            <a:off x="7284361" y="5679703"/>
            <a:ext cx="4564" cy="7053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19564" y="3782916"/>
            <a:ext cx="2692019" cy="1421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rgbClr val="FFC000"/>
                </a:solidFill>
              </a:rPr>
              <a:t>The set of all points </a:t>
            </a:r>
            <a:endParaRPr lang="tr-TR" altLang="en-US" sz="2400" dirty="0">
              <a:solidFill>
                <a:srgbClr val="FFC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rgbClr val="FFC000"/>
                </a:solidFill>
              </a:rPr>
              <a:t>that satisfy all the </a:t>
            </a:r>
            <a:endParaRPr lang="tr-TR" altLang="en-US" sz="2400" dirty="0">
              <a:solidFill>
                <a:srgbClr val="FFC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rgbClr val="FFC000"/>
                </a:solidFill>
              </a:rPr>
              <a:t>constraints of the </a:t>
            </a:r>
            <a:endParaRPr lang="tr-TR" altLang="en-US" sz="2400" dirty="0">
              <a:solidFill>
                <a:srgbClr val="FFC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rgbClr val="FFC000"/>
                </a:solidFill>
              </a:rPr>
              <a:t>model is called </a:t>
            </a:r>
            <a:r>
              <a:rPr lang="tr-TR" altLang="en-US" sz="2400" dirty="0">
                <a:solidFill>
                  <a:srgbClr val="FFC000"/>
                </a:solidFill>
              </a:rPr>
              <a:t>a</a:t>
            </a:r>
            <a:endParaRPr lang="en-US" altLang="en-US" sz="2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573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0" grpId="0"/>
      <p:bldP spid="41" grpId="0"/>
      <p:bldP spid="20" grpId="0"/>
      <p:bldP spid="21" grpId="0" animBg="1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754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Solution of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350" y="953670"/>
            <a:ext cx="8900650" cy="1408530"/>
          </a:xfrm>
        </p:spPr>
        <p:txBody>
          <a:bodyPr>
            <a:normAutofit/>
          </a:bodyPr>
          <a:lstStyle/>
          <a:p>
            <a:pPr>
              <a:buClr>
                <a:srgbClr val="0000FF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FF0000"/>
                </a:solidFill>
              </a:rPr>
              <a:t>Solution</a:t>
            </a:r>
            <a:r>
              <a:rPr lang="en-US" sz="2800" dirty="0">
                <a:solidFill>
                  <a:srgbClr val="FF0000"/>
                </a:solidFill>
              </a:rPr>
              <a:t>: </a:t>
            </a:r>
            <a:r>
              <a:rPr lang="en-US" sz="2800" dirty="0"/>
              <a:t>A solution to a mathematical </a:t>
            </a:r>
            <a:r>
              <a:rPr lang="tr-TR" sz="2800" dirty="0"/>
              <a:t>model</a:t>
            </a:r>
            <a:r>
              <a:rPr lang="en-US" sz="2800" dirty="0"/>
              <a:t> is obtained by specifying certain values for decision variables.</a:t>
            </a:r>
          </a:p>
          <a:p>
            <a:pPr lvl="2">
              <a:buClr>
                <a:srgbClr val="0000FF"/>
              </a:buClr>
              <a:buFont typeface="Wingdings" panose="05000000000000000000" pitchFamily="2" charset="2"/>
              <a:buChar char="§"/>
            </a:pPr>
            <a:r>
              <a:rPr lang="en-US" sz="2000" i="1" dirty="0"/>
              <a:t>Example</a:t>
            </a:r>
            <a:r>
              <a:rPr lang="en-US" sz="2000" dirty="0"/>
              <a:t>: x</a:t>
            </a:r>
            <a:r>
              <a:rPr lang="en-US" sz="2000" baseline="-25000" dirty="0"/>
              <a:t>1</a:t>
            </a:r>
            <a:r>
              <a:rPr lang="en-US" sz="2000" dirty="0"/>
              <a:t> = 0, x</a:t>
            </a:r>
            <a:r>
              <a:rPr lang="en-US" sz="2000" baseline="-25000" dirty="0"/>
              <a:t>2</a:t>
            </a:r>
            <a:r>
              <a:rPr lang="en-US" sz="2000" dirty="0"/>
              <a:t> = 0 is a solution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23</a:t>
            </a:fld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3384167" y="2391252"/>
            <a:ext cx="4388232" cy="4251049"/>
            <a:chOff x="2810454" y="2790344"/>
            <a:chExt cx="3584024" cy="3206795"/>
          </a:xfrm>
        </p:grpSpPr>
        <p:sp>
          <p:nvSpPr>
            <p:cNvPr id="48" name="object 44"/>
            <p:cNvSpPr/>
            <p:nvPr/>
          </p:nvSpPr>
          <p:spPr>
            <a:xfrm>
              <a:off x="4428560" y="3065009"/>
              <a:ext cx="104507" cy="2915716"/>
            </a:xfrm>
            <a:custGeom>
              <a:avLst/>
              <a:gdLst/>
              <a:ahLst/>
              <a:cxnLst/>
              <a:rect l="l" t="t" r="r" b="b"/>
              <a:pathLst>
                <a:path w="104507" h="2915716">
                  <a:moveTo>
                    <a:pt x="0" y="0"/>
                  </a:moveTo>
                  <a:lnTo>
                    <a:pt x="0" y="2915716"/>
                  </a:lnTo>
                  <a:lnTo>
                    <a:pt x="104507" y="2915716"/>
                  </a:lnTo>
                  <a:lnTo>
                    <a:pt x="1045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4" name="object 47"/>
            <p:cNvSpPr/>
            <p:nvPr/>
          </p:nvSpPr>
          <p:spPr>
            <a:xfrm>
              <a:off x="2923196" y="4147991"/>
              <a:ext cx="2102108" cy="1674414"/>
            </a:xfrm>
            <a:custGeom>
              <a:avLst/>
              <a:gdLst/>
              <a:ahLst/>
              <a:cxnLst/>
              <a:rect l="l" t="t" r="r" b="b"/>
              <a:pathLst>
                <a:path w="2643987" h="2644002">
                  <a:moveTo>
                    <a:pt x="0" y="74645"/>
                  </a:moveTo>
                  <a:lnTo>
                    <a:pt x="2569342" y="2644002"/>
                  </a:lnTo>
                  <a:lnTo>
                    <a:pt x="2643987" y="2569357"/>
                  </a:lnTo>
                  <a:lnTo>
                    <a:pt x="74645" y="0"/>
                  </a:lnTo>
                  <a:lnTo>
                    <a:pt x="0" y="74645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5" name="object 54"/>
            <p:cNvSpPr/>
            <p:nvPr/>
          </p:nvSpPr>
          <p:spPr>
            <a:xfrm>
              <a:off x="2890584" y="4147991"/>
              <a:ext cx="2134720" cy="1696869"/>
            </a:xfrm>
            <a:custGeom>
              <a:avLst/>
              <a:gdLst/>
              <a:ahLst/>
              <a:cxnLst/>
              <a:rect l="l" t="t" r="r" b="b"/>
              <a:pathLst>
                <a:path w="2546954" h="2546954">
                  <a:moveTo>
                    <a:pt x="0" y="0"/>
                  </a:moveTo>
                  <a:lnTo>
                    <a:pt x="2546954" y="2546954"/>
                  </a:lnTo>
                </a:path>
              </a:pathLst>
            </a:custGeom>
            <a:ln w="12441">
              <a:solidFill>
                <a:srgbClr val="0070C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6" name="object 55"/>
            <p:cNvSpPr/>
            <p:nvPr/>
          </p:nvSpPr>
          <p:spPr>
            <a:xfrm>
              <a:off x="4415119" y="3042606"/>
              <a:ext cx="4480" cy="2954533"/>
            </a:xfrm>
            <a:custGeom>
              <a:avLst/>
              <a:gdLst/>
              <a:ahLst/>
              <a:cxnLst/>
              <a:rect l="l" t="t" r="r" b="b"/>
              <a:pathLst>
                <a:path w="4480" h="2954533">
                  <a:moveTo>
                    <a:pt x="4480" y="2954533"/>
                  </a:moveTo>
                  <a:lnTo>
                    <a:pt x="0" y="0"/>
                  </a:lnTo>
                </a:path>
              </a:pathLst>
            </a:custGeom>
            <a:ln w="12441">
              <a:solidFill>
                <a:srgbClr val="00B05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2810454" y="2790344"/>
              <a:ext cx="3584024" cy="3184407"/>
              <a:chOff x="2810454" y="2790344"/>
              <a:chExt cx="3584024" cy="3184407"/>
            </a:xfrm>
          </p:grpSpPr>
          <p:sp>
            <p:nvSpPr>
              <p:cNvPr id="58" name="object 45"/>
              <p:cNvSpPr/>
              <p:nvPr/>
            </p:nvSpPr>
            <p:spPr>
              <a:xfrm>
                <a:off x="2881868" y="2979908"/>
                <a:ext cx="104507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w="104507" h="2994842">
                    <a:moveTo>
                      <a:pt x="0" y="0"/>
                    </a:moveTo>
                    <a:lnTo>
                      <a:pt x="0" y="2994842"/>
                    </a:lnTo>
                    <a:lnTo>
                      <a:pt x="104507" y="2994842"/>
                    </a:lnTo>
                    <a:lnTo>
                      <a:pt x="104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59" name="object 46"/>
              <p:cNvSpPr/>
              <p:nvPr/>
            </p:nvSpPr>
            <p:spPr>
              <a:xfrm>
                <a:off x="2819171" y="5798577"/>
                <a:ext cx="3348669" cy="111968"/>
              </a:xfrm>
              <a:custGeom>
                <a:avLst/>
                <a:gdLst/>
                <a:ahLst/>
                <a:cxnLst/>
                <a:rect l="l" t="t" r="r" b="b"/>
                <a:pathLst>
                  <a:path w="3348669" h="111968">
                    <a:moveTo>
                      <a:pt x="0" y="111968"/>
                    </a:moveTo>
                    <a:lnTo>
                      <a:pt x="3348669" y="105994"/>
                    </a:lnTo>
                    <a:lnTo>
                      <a:pt x="3348669" y="0"/>
                    </a:lnTo>
                    <a:lnTo>
                      <a:pt x="0" y="5974"/>
                    </a:lnTo>
                    <a:lnTo>
                      <a:pt x="0" y="111968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0" name="object 48"/>
              <p:cNvSpPr/>
              <p:nvPr/>
            </p:nvSpPr>
            <p:spPr>
              <a:xfrm>
                <a:off x="2948297" y="4376469"/>
                <a:ext cx="2948300" cy="1595749"/>
              </a:xfrm>
              <a:custGeom>
                <a:avLst/>
                <a:gdLst/>
                <a:ahLst/>
                <a:cxnLst/>
                <a:rect l="l" t="t" r="r" b="b"/>
                <a:pathLst>
                  <a:path w="3288944" h="2042342">
                    <a:moveTo>
                      <a:pt x="0" y="91074"/>
                    </a:moveTo>
                    <a:lnTo>
                      <a:pt x="3233699" y="2042342"/>
                    </a:lnTo>
                    <a:lnTo>
                      <a:pt x="3288944" y="1951268"/>
                    </a:lnTo>
                    <a:lnTo>
                      <a:pt x="55229" y="0"/>
                    </a:lnTo>
                    <a:lnTo>
                      <a:pt x="0" y="91074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1" name="object 49"/>
              <p:cNvSpPr/>
              <p:nvPr/>
            </p:nvSpPr>
            <p:spPr>
              <a:xfrm>
                <a:off x="2995345" y="2979908"/>
                <a:ext cx="0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h="2994842">
                    <a:moveTo>
                      <a:pt x="0" y="0"/>
                    </a:moveTo>
                    <a:lnTo>
                      <a:pt x="0" y="2994842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2" name="object 50"/>
              <p:cNvSpPr/>
              <p:nvPr/>
            </p:nvSpPr>
            <p:spPr>
              <a:xfrm>
                <a:off x="2949061" y="2979908"/>
                <a:ext cx="92552" cy="46283"/>
              </a:xfrm>
              <a:custGeom>
                <a:avLst/>
                <a:gdLst/>
                <a:ahLst/>
                <a:cxnLst/>
                <a:rect l="l" t="t" r="r" b="b"/>
                <a:pathLst>
                  <a:path w="92552" h="46283">
                    <a:moveTo>
                      <a:pt x="92552" y="46283"/>
                    </a:moveTo>
                    <a:lnTo>
                      <a:pt x="46283" y="0"/>
                    </a:lnTo>
                    <a:lnTo>
                      <a:pt x="0" y="46283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3" name="object 51"/>
              <p:cNvSpPr/>
              <p:nvPr/>
            </p:nvSpPr>
            <p:spPr>
              <a:xfrm>
                <a:off x="2819171" y="5798577"/>
                <a:ext cx="334866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48669">
                    <a:moveTo>
                      <a:pt x="3348669" y="0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4" name="object 52"/>
              <p:cNvSpPr/>
              <p:nvPr/>
            </p:nvSpPr>
            <p:spPr>
              <a:xfrm>
                <a:off x="6121557" y="5752293"/>
                <a:ext cx="46283" cy="92567"/>
              </a:xfrm>
              <a:custGeom>
                <a:avLst/>
                <a:gdLst/>
                <a:ahLst/>
                <a:cxnLst/>
                <a:rect l="l" t="t" r="r" b="b"/>
                <a:pathLst>
                  <a:path w="46283" h="92567">
                    <a:moveTo>
                      <a:pt x="0" y="92567"/>
                    </a:moveTo>
                    <a:lnTo>
                      <a:pt x="46283" y="46283"/>
                    </a:ln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5" name="object 53"/>
              <p:cNvSpPr/>
              <p:nvPr/>
            </p:nvSpPr>
            <p:spPr>
              <a:xfrm>
                <a:off x="2979613" y="4435399"/>
                <a:ext cx="2916984" cy="1487091"/>
              </a:xfrm>
              <a:custGeom>
                <a:avLst/>
                <a:gdLst/>
                <a:ahLst/>
                <a:cxnLst/>
                <a:rect l="l" t="t" r="r" b="b"/>
                <a:pathLst>
                  <a:path w="3241167" h="1957242">
                    <a:moveTo>
                      <a:pt x="3241167" y="1957242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6" name="object 24"/>
              <p:cNvSpPr txBox="1"/>
              <p:nvPr/>
            </p:nvSpPr>
            <p:spPr>
              <a:xfrm>
                <a:off x="2948297" y="2790344"/>
                <a:ext cx="122440" cy="174693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295"/>
                  </a:lnSpc>
                  <a:spcBef>
                    <a:spcPts val="64"/>
                  </a:spcBef>
                </a:pPr>
                <a:r>
                  <a:rPr sz="1150" b="1" i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endParaRPr sz="1150">
                  <a:latin typeface="Times New Roman"/>
                  <a:cs typeface="Times New Roman"/>
                </a:endParaRPr>
              </a:p>
            </p:txBody>
          </p:sp>
          <p:sp>
            <p:nvSpPr>
              <p:cNvPr id="67" name="object 23"/>
              <p:cNvSpPr txBox="1"/>
              <p:nvPr/>
            </p:nvSpPr>
            <p:spPr>
              <a:xfrm>
                <a:off x="3022948" y="2881150"/>
                <a:ext cx="90093" cy="12492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30"/>
                  </a:spcBef>
                </a:pPr>
                <a:r>
                  <a:rPr sz="750" b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2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68" name="object 21"/>
              <p:cNvSpPr txBox="1"/>
              <p:nvPr/>
            </p:nvSpPr>
            <p:spPr>
              <a:xfrm>
                <a:off x="6216349" y="5697093"/>
                <a:ext cx="178129" cy="21424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610"/>
                  </a:lnSpc>
                  <a:spcBef>
                    <a:spcPts val="80"/>
                  </a:spcBef>
                </a:pPr>
                <a:r>
                  <a:rPr sz="1725" b="1" i="1" baseline="12603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125" b="1" baseline="-11595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1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69" name="object 20"/>
              <p:cNvSpPr txBox="1"/>
              <p:nvPr/>
            </p:nvSpPr>
            <p:spPr>
              <a:xfrm>
                <a:off x="3278243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0" name="object 19"/>
              <p:cNvSpPr txBox="1"/>
              <p:nvPr/>
            </p:nvSpPr>
            <p:spPr>
              <a:xfrm>
                <a:off x="3624107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1" name="object 18"/>
              <p:cNvSpPr txBox="1"/>
              <p:nvPr/>
            </p:nvSpPr>
            <p:spPr>
              <a:xfrm>
                <a:off x="3969972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2" name="object 17"/>
              <p:cNvSpPr txBox="1"/>
              <p:nvPr/>
            </p:nvSpPr>
            <p:spPr>
              <a:xfrm>
                <a:off x="4315836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3" name="object 15"/>
              <p:cNvSpPr txBox="1"/>
              <p:nvPr/>
            </p:nvSpPr>
            <p:spPr>
              <a:xfrm rot="16200000">
                <a:off x="1713594" y="4317706"/>
                <a:ext cx="2314370" cy="12065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10"/>
                  </a:spcBef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50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60       </a:t>
                </a:r>
                <a:r>
                  <a:rPr sz="950" b="1" spc="10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70</a:t>
                </a:r>
                <a:endParaRPr sz="950" dirty="0">
                  <a:latin typeface="Arial"/>
                  <a:cs typeface="Arial"/>
                </a:endParaRPr>
              </a:p>
            </p:txBody>
          </p:sp>
          <p:sp>
            <p:nvSpPr>
              <p:cNvPr id="74" name="object 14"/>
              <p:cNvSpPr txBox="1"/>
              <p:nvPr/>
            </p:nvSpPr>
            <p:spPr>
              <a:xfrm>
                <a:off x="2819171" y="2979908"/>
                <a:ext cx="62697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5" name="object 13"/>
              <p:cNvSpPr txBox="1"/>
              <p:nvPr/>
            </p:nvSpPr>
            <p:spPr>
              <a:xfrm>
                <a:off x="2881868" y="2979908"/>
                <a:ext cx="112102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6" name="object 12"/>
              <p:cNvSpPr txBox="1"/>
              <p:nvPr/>
            </p:nvSpPr>
            <p:spPr>
              <a:xfrm>
                <a:off x="2993970" y="2979908"/>
                <a:ext cx="3173870" cy="851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650"/>
                  </a:lnSpc>
                  <a:spcBef>
                    <a:spcPts val="20"/>
                  </a:spcBef>
                </a:pPr>
                <a:endParaRPr sz="650"/>
              </a:p>
            </p:txBody>
          </p:sp>
          <p:sp>
            <p:nvSpPr>
              <p:cNvPr id="77" name="object 11"/>
              <p:cNvSpPr txBox="1"/>
              <p:nvPr/>
            </p:nvSpPr>
            <p:spPr>
              <a:xfrm>
                <a:off x="2993970" y="3065009"/>
                <a:ext cx="1434590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8" name="object 10"/>
              <p:cNvSpPr txBox="1"/>
              <p:nvPr/>
            </p:nvSpPr>
            <p:spPr>
              <a:xfrm>
                <a:off x="4428560" y="3065009"/>
                <a:ext cx="104507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9" name="object 9"/>
              <p:cNvSpPr txBox="1"/>
              <p:nvPr/>
            </p:nvSpPr>
            <p:spPr>
              <a:xfrm>
                <a:off x="4533067" y="3065009"/>
                <a:ext cx="1634773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80" name="object 8"/>
              <p:cNvSpPr txBox="1"/>
              <p:nvPr/>
            </p:nvSpPr>
            <p:spPr>
              <a:xfrm>
                <a:off x="2819171" y="5798577"/>
                <a:ext cx="62697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81" name="object 7"/>
              <p:cNvSpPr txBox="1"/>
              <p:nvPr/>
            </p:nvSpPr>
            <p:spPr>
              <a:xfrm>
                <a:off x="2881868" y="5798577"/>
                <a:ext cx="112102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</p:grpSp>
        <p:sp>
          <p:nvSpPr>
            <p:cNvPr id="82" name="object 5"/>
            <p:cNvSpPr txBox="1"/>
            <p:nvPr/>
          </p:nvSpPr>
          <p:spPr>
            <a:xfrm>
              <a:off x="4428560" y="5798577"/>
              <a:ext cx="104507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/>
            </a:p>
          </p:txBody>
        </p:sp>
        <p:sp>
          <p:nvSpPr>
            <p:cNvPr id="83" name="object 4"/>
            <p:cNvSpPr txBox="1"/>
            <p:nvPr/>
          </p:nvSpPr>
          <p:spPr>
            <a:xfrm>
              <a:off x="4533067" y="5798577"/>
              <a:ext cx="1634773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41332">
                <a:lnSpc>
                  <a:spcPct val="95825"/>
                </a:lnSpc>
                <a:spcBef>
                  <a:spcPts val="190"/>
                </a:spcBef>
              </a:pP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50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60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70       </a:t>
              </a:r>
              <a:r>
                <a:rPr sz="950" b="1" spc="10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80</a:t>
              </a:r>
              <a:endParaRPr sz="950">
                <a:latin typeface="Arial"/>
                <a:cs typeface="Arial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59950" y="2391252"/>
            <a:ext cx="22034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Graphical Representation of the </a:t>
            </a:r>
            <a:r>
              <a:rPr lang="tr-TR" sz="2400" b="1" dirty="0">
                <a:solidFill>
                  <a:srgbClr val="0070C0"/>
                </a:solidFill>
              </a:rPr>
              <a:t>Automative Manufacturing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tr-TR" sz="2400" b="1" dirty="0">
                <a:solidFill>
                  <a:srgbClr val="0070C0"/>
                </a:solidFill>
              </a:rPr>
              <a:t>Plant </a:t>
            </a:r>
            <a:r>
              <a:rPr lang="en-US" sz="2400" b="1" dirty="0">
                <a:solidFill>
                  <a:srgbClr val="0070C0"/>
                </a:solidFill>
              </a:rPr>
              <a:t>Problem</a:t>
            </a:r>
            <a:r>
              <a:rPr lang="en-US" sz="2400" dirty="0">
                <a:solidFill>
                  <a:srgbClr val="0070C0"/>
                </a:solidFill>
              </a:rPr>
              <a:t>:</a:t>
            </a:r>
          </a:p>
          <a:p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6265108" y="5539111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Constraint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28316" y="3818311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0070C0"/>
                </a:solidFill>
              </a:rPr>
              <a:t>Constraint 2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504284" y="3022473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00B050"/>
                </a:solidFill>
              </a:rPr>
              <a:t>Constraint 3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200400" y="4571999"/>
            <a:ext cx="390883" cy="6096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>
            <a:off x="6995683" y="6509106"/>
            <a:ext cx="211753" cy="3178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072443" y="4322782"/>
            <a:ext cx="507869" cy="56193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5792686" y="6404062"/>
            <a:ext cx="285339" cy="30948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77" idx="0"/>
          </p:cNvCxnSpPr>
          <p:nvPr/>
        </p:nvCxnSpPr>
        <p:spPr>
          <a:xfrm flipH="1" flipV="1">
            <a:off x="4487109" y="2755358"/>
            <a:ext cx="840358" cy="335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 flipV="1">
            <a:off x="4493230" y="6359890"/>
            <a:ext cx="840358" cy="335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608090" y="5398757"/>
            <a:ext cx="914400" cy="9144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3627897" y="5128463"/>
            <a:ext cx="1305142" cy="12628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3629911" y="4692180"/>
            <a:ext cx="1717302" cy="16693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412054" y="5068835"/>
            <a:ext cx="914400" cy="9144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3623400" y="5774081"/>
            <a:ext cx="615078" cy="60499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3599562" y="6143229"/>
            <a:ext cx="262851" cy="21312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55148" y="5291630"/>
            <a:ext cx="159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Feasible region</a:t>
            </a:r>
            <a:endParaRPr lang="en-US" dirty="0"/>
          </a:p>
        </p:txBody>
      </p:sp>
      <p:sp>
        <p:nvSpPr>
          <p:cNvPr id="21" name="Line Callout 3 20"/>
          <p:cNvSpPr/>
          <p:nvPr/>
        </p:nvSpPr>
        <p:spPr>
          <a:xfrm>
            <a:off x="1480613" y="5244231"/>
            <a:ext cx="1675633" cy="563607"/>
          </a:xfrm>
          <a:prstGeom prst="borderCallout3">
            <a:avLst>
              <a:gd name="adj1" fmla="val 26125"/>
              <a:gd name="adj2" fmla="val -65"/>
              <a:gd name="adj3" fmla="val 67914"/>
              <a:gd name="adj4" fmla="val -16667"/>
              <a:gd name="adj5" fmla="val 146706"/>
              <a:gd name="adj6" fmla="val -8399"/>
              <a:gd name="adj7" fmla="val 164585"/>
              <a:gd name="adj8" fmla="val 142149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Star: 5 Points 4">
            <a:extLst>
              <a:ext uri="{FF2B5EF4-FFF2-40B4-BE49-F238E27FC236}">
                <a16:creationId xmlns:a16="http://schemas.microsoft.com/office/drawing/2014/main" id="{C5B22155-52E5-4322-A1E9-5CB2D57C4884}"/>
              </a:ext>
            </a:extLst>
          </p:cNvPr>
          <p:cNvSpPr/>
          <p:nvPr/>
        </p:nvSpPr>
        <p:spPr>
          <a:xfrm>
            <a:off x="3484459" y="6227708"/>
            <a:ext cx="304800" cy="28762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8562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40" grpId="0"/>
      <p:bldP spid="41" grpId="0"/>
      <p:bldP spid="20" grpId="0"/>
      <p:bldP spid="21" grpId="0" animBg="1"/>
      <p:bldP spid="8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>
            <a:off x="3618161" y="4613533"/>
            <a:ext cx="1144505" cy="622115"/>
          </a:xfrm>
          <a:prstGeom prst="rtTriangl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nip and Round Single Corner Rectangle 7"/>
          <p:cNvSpPr/>
          <p:nvPr/>
        </p:nvSpPr>
        <p:spPr>
          <a:xfrm>
            <a:off x="3613721" y="5259260"/>
            <a:ext cx="1740661" cy="1116463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043" y="-7257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Analysis of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58579"/>
            <a:ext cx="8724900" cy="1203928"/>
          </a:xfrm>
        </p:spPr>
        <p:txBody>
          <a:bodyPr>
            <a:normAutofit fontScale="77500" lnSpcReduction="20000"/>
          </a:bodyPr>
          <a:lstStyle/>
          <a:p>
            <a:r>
              <a:rPr lang="en-US" sz="3400" b="1" dirty="0"/>
              <a:t>Solution</a:t>
            </a:r>
            <a:r>
              <a:rPr lang="en-US" dirty="0"/>
              <a:t>: A solution to a mathematical problem is obtained by</a:t>
            </a:r>
          </a:p>
          <a:p>
            <a:pPr marL="0" indent="0">
              <a:buNone/>
            </a:pPr>
            <a:r>
              <a:rPr lang="en-US" dirty="0"/>
              <a:t>specifying certain values for decision variables. Solutions are</a:t>
            </a:r>
          </a:p>
          <a:p>
            <a:pPr marL="0" indent="0">
              <a:buNone/>
            </a:pPr>
            <a:r>
              <a:rPr lang="en-US" dirty="0"/>
              <a:t>categorized as follows:</a:t>
            </a:r>
            <a:endParaRPr lang="tr-TR" dirty="0"/>
          </a:p>
          <a:p>
            <a:pPr marL="40005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-72249" y="2162507"/>
            <a:ext cx="32480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defTabSz="365760"/>
            <a:r>
              <a:rPr lang="en-US" sz="2400" i="1" u="sng" dirty="0"/>
              <a:t>Infeasible Solutions</a:t>
            </a:r>
            <a:r>
              <a:rPr lang="en-US" sz="2400" dirty="0"/>
              <a:t>: If a solution does not satisfy at least</a:t>
            </a:r>
            <a:r>
              <a:rPr lang="tr-TR" sz="2400" dirty="0"/>
              <a:t> </a:t>
            </a:r>
            <a:r>
              <a:rPr lang="en-US" sz="2400" dirty="0"/>
              <a:t>one of the constraints, then the solution is infeasible.</a:t>
            </a:r>
            <a:endParaRPr lang="tr-TR" sz="2400" dirty="0"/>
          </a:p>
        </p:txBody>
      </p:sp>
      <p:grpSp>
        <p:nvGrpSpPr>
          <p:cNvPr id="71" name="Group 70"/>
          <p:cNvGrpSpPr/>
          <p:nvPr/>
        </p:nvGrpSpPr>
        <p:grpSpPr>
          <a:xfrm>
            <a:off x="3384167" y="2391252"/>
            <a:ext cx="4388232" cy="4251049"/>
            <a:chOff x="2810454" y="2790344"/>
            <a:chExt cx="3584024" cy="3206795"/>
          </a:xfrm>
        </p:grpSpPr>
        <p:sp>
          <p:nvSpPr>
            <p:cNvPr id="72" name="object 44"/>
            <p:cNvSpPr/>
            <p:nvPr/>
          </p:nvSpPr>
          <p:spPr>
            <a:xfrm>
              <a:off x="4428560" y="3065009"/>
              <a:ext cx="104507" cy="2915716"/>
            </a:xfrm>
            <a:custGeom>
              <a:avLst/>
              <a:gdLst/>
              <a:ahLst/>
              <a:cxnLst/>
              <a:rect l="l" t="t" r="r" b="b"/>
              <a:pathLst>
                <a:path w="104507" h="2915716">
                  <a:moveTo>
                    <a:pt x="0" y="0"/>
                  </a:moveTo>
                  <a:lnTo>
                    <a:pt x="0" y="2915716"/>
                  </a:lnTo>
                  <a:lnTo>
                    <a:pt x="104507" y="2915716"/>
                  </a:lnTo>
                  <a:lnTo>
                    <a:pt x="1045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3" name="object 47"/>
            <p:cNvSpPr/>
            <p:nvPr/>
          </p:nvSpPr>
          <p:spPr>
            <a:xfrm>
              <a:off x="2923196" y="4147991"/>
              <a:ext cx="2102108" cy="1674414"/>
            </a:xfrm>
            <a:custGeom>
              <a:avLst/>
              <a:gdLst/>
              <a:ahLst/>
              <a:cxnLst/>
              <a:rect l="l" t="t" r="r" b="b"/>
              <a:pathLst>
                <a:path w="2643987" h="2644002">
                  <a:moveTo>
                    <a:pt x="0" y="74645"/>
                  </a:moveTo>
                  <a:lnTo>
                    <a:pt x="2569342" y="2644002"/>
                  </a:lnTo>
                  <a:lnTo>
                    <a:pt x="2643987" y="2569357"/>
                  </a:lnTo>
                  <a:lnTo>
                    <a:pt x="74645" y="0"/>
                  </a:lnTo>
                  <a:lnTo>
                    <a:pt x="0" y="74645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4" name="object 54"/>
            <p:cNvSpPr/>
            <p:nvPr/>
          </p:nvSpPr>
          <p:spPr>
            <a:xfrm>
              <a:off x="2890584" y="4147991"/>
              <a:ext cx="2134720" cy="1696869"/>
            </a:xfrm>
            <a:custGeom>
              <a:avLst/>
              <a:gdLst/>
              <a:ahLst/>
              <a:cxnLst/>
              <a:rect l="l" t="t" r="r" b="b"/>
              <a:pathLst>
                <a:path w="2546954" h="2546954">
                  <a:moveTo>
                    <a:pt x="0" y="0"/>
                  </a:moveTo>
                  <a:lnTo>
                    <a:pt x="2546954" y="2546954"/>
                  </a:lnTo>
                </a:path>
              </a:pathLst>
            </a:custGeom>
            <a:ln w="12441">
              <a:solidFill>
                <a:srgbClr val="0070C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5" name="object 55"/>
            <p:cNvSpPr/>
            <p:nvPr/>
          </p:nvSpPr>
          <p:spPr>
            <a:xfrm>
              <a:off x="4415119" y="3042606"/>
              <a:ext cx="4480" cy="2954533"/>
            </a:xfrm>
            <a:custGeom>
              <a:avLst/>
              <a:gdLst/>
              <a:ahLst/>
              <a:cxnLst/>
              <a:rect l="l" t="t" r="r" b="b"/>
              <a:pathLst>
                <a:path w="4480" h="2954533">
                  <a:moveTo>
                    <a:pt x="4480" y="2954533"/>
                  </a:moveTo>
                  <a:lnTo>
                    <a:pt x="0" y="0"/>
                  </a:lnTo>
                </a:path>
              </a:pathLst>
            </a:custGeom>
            <a:ln w="12441">
              <a:solidFill>
                <a:srgbClr val="00B05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grpSp>
          <p:nvGrpSpPr>
            <p:cNvPr id="76" name="Group 75"/>
            <p:cNvGrpSpPr/>
            <p:nvPr/>
          </p:nvGrpSpPr>
          <p:grpSpPr>
            <a:xfrm>
              <a:off x="2810454" y="2790344"/>
              <a:ext cx="3584024" cy="3184407"/>
              <a:chOff x="2810454" y="2790344"/>
              <a:chExt cx="3584024" cy="3184407"/>
            </a:xfrm>
          </p:grpSpPr>
          <p:sp>
            <p:nvSpPr>
              <p:cNvPr id="79" name="object 45"/>
              <p:cNvSpPr/>
              <p:nvPr/>
            </p:nvSpPr>
            <p:spPr>
              <a:xfrm>
                <a:off x="2881868" y="2979908"/>
                <a:ext cx="104507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w="104507" h="2994842">
                    <a:moveTo>
                      <a:pt x="0" y="0"/>
                    </a:moveTo>
                    <a:lnTo>
                      <a:pt x="0" y="2994842"/>
                    </a:lnTo>
                    <a:lnTo>
                      <a:pt x="104507" y="2994842"/>
                    </a:lnTo>
                    <a:lnTo>
                      <a:pt x="104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80" name="object 46"/>
              <p:cNvSpPr/>
              <p:nvPr/>
            </p:nvSpPr>
            <p:spPr>
              <a:xfrm>
                <a:off x="2819171" y="5798577"/>
                <a:ext cx="3348669" cy="111968"/>
              </a:xfrm>
              <a:custGeom>
                <a:avLst/>
                <a:gdLst/>
                <a:ahLst/>
                <a:cxnLst/>
                <a:rect l="l" t="t" r="r" b="b"/>
                <a:pathLst>
                  <a:path w="3348669" h="111968">
                    <a:moveTo>
                      <a:pt x="0" y="111968"/>
                    </a:moveTo>
                    <a:lnTo>
                      <a:pt x="3348669" y="105994"/>
                    </a:lnTo>
                    <a:lnTo>
                      <a:pt x="3348669" y="0"/>
                    </a:lnTo>
                    <a:lnTo>
                      <a:pt x="0" y="5974"/>
                    </a:lnTo>
                    <a:lnTo>
                      <a:pt x="0" y="111968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81" name="object 48"/>
              <p:cNvSpPr/>
              <p:nvPr/>
            </p:nvSpPr>
            <p:spPr>
              <a:xfrm>
                <a:off x="2948297" y="4376469"/>
                <a:ext cx="2948300" cy="1595749"/>
              </a:xfrm>
              <a:custGeom>
                <a:avLst/>
                <a:gdLst/>
                <a:ahLst/>
                <a:cxnLst/>
                <a:rect l="l" t="t" r="r" b="b"/>
                <a:pathLst>
                  <a:path w="3288944" h="2042342">
                    <a:moveTo>
                      <a:pt x="0" y="91074"/>
                    </a:moveTo>
                    <a:lnTo>
                      <a:pt x="3233699" y="2042342"/>
                    </a:lnTo>
                    <a:lnTo>
                      <a:pt x="3288944" y="1951268"/>
                    </a:lnTo>
                    <a:lnTo>
                      <a:pt x="55229" y="0"/>
                    </a:lnTo>
                    <a:lnTo>
                      <a:pt x="0" y="91074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82" name="object 49"/>
              <p:cNvSpPr/>
              <p:nvPr/>
            </p:nvSpPr>
            <p:spPr>
              <a:xfrm>
                <a:off x="2995345" y="2979908"/>
                <a:ext cx="0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h="2994842">
                    <a:moveTo>
                      <a:pt x="0" y="0"/>
                    </a:moveTo>
                    <a:lnTo>
                      <a:pt x="0" y="2994842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83" name="object 50"/>
              <p:cNvSpPr/>
              <p:nvPr/>
            </p:nvSpPr>
            <p:spPr>
              <a:xfrm>
                <a:off x="2949061" y="2979908"/>
                <a:ext cx="92552" cy="46283"/>
              </a:xfrm>
              <a:custGeom>
                <a:avLst/>
                <a:gdLst/>
                <a:ahLst/>
                <a:cxnLst/>
                <a:rect l="l" t="t" r="r" b="b"/>
                <a:pathLst>
                  <a:path w="92552" h="46283">
                    <a:moveTo>
                      <a:pt x="92552" y="46283"/>
                    </a:moveTo>
                    <a:lnTo>
                      <a:pt x="46283" y="0"/>
                    </a:lnTo>
                    <a:lnTo>
                      <a:pt x="0" y="46283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84" name="object 51"/>
              <p:cNvSpPr/>
              <p:nvPr/>
            </p:nvSpPr>
            <p:spPr>
              <a:xfrm>
                <a:off x="2819171" y="5798577"/>
                <a:ext cx="334866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48669">
                    <a:moveTo>
                      <a:pt x="3348669" y="0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85" name="object 52"/>
              <p:cNvSpPr/>
              <p:nvPr/>
            </p:nvSpPr>
            <p:spPr>
              <a:xfrm>
                <a:off x="6121557" y="5752293"/>
                <a:ext cx="46283" cy="92567"/>
              </a:xfrm>
              <a:custGeom>
                <a:avLst/>
                <a:gdLst/>
                <a:ahLst/>
                <a:cxnLst/>
                <a:rect l="l" t="t" r="r" b="b"/>
                <a:pathLst>
                  <a:path w="46283" h="92567">
                    <a:moveTo>
                      <a:pt x="0" y="92567"/>
                    </a:moveTo>
                    <a:lnTo>
                      <a:pt x="46283" y="46283"/>
                    </a:ln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86" name="object 53"/>
              <p:cNvSpPr/>
              <p:nvPr/>
            </p:nvSpPr>
            <p:spPr>
              <a:xfrm>
                <a:off x="2979613" y="4435399"/>
                <a:ext cx="2916984" cy="1487091"/>
              </a:xfrm>
              <a:custGeom>
                <a:avLst/>
                <a:gdLst/>
                <a:ahLst/>
                <a:cxnLst/>
                <a:rect l="l" t="t" r="r" b="b"/>
                <a:pathLst>
                  <a:path w="3241167" h="1957242">
                    <a:moveTo>
                      <a:pt x="3241167" y="1957242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87" name="object 24"/>
              <p:cNvSpPr txBox="1"/>
              <p:nvPr/>
            </p:nvSpPr>
            <p:spPr>
              <a:xfrm>
                <a:off x="2948297" y="2790344"/>
                <a:ext cx="122440" cy="174693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295"/>
                  </a:lnSpc>
                  <a:spcBef>
                    <a:spcPts val="64"/>
                  </a:spcBef>
                </a:pPr>
                <a:r>
                  <a:rPr sz="1150" b="1" i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endParaRPr sz="1150">
                  <a:latin typeface="Times New Roman"/>
                  <a:cs typeface="Times New Roman"/>
                </a:endParaRPr>
              </a:p>
            </p:txBody>
          </p:sp>
          <p:sp>
            <p:nvSpPr>
              <p:cNvPr id="88" name="object 23"/>
              <p:cNvSpPr txBox="1"/>
              <p:nvPr/>
            </p:nvSpPr>
            <p:spPr>
              <a:xfrm>
                <a:off x="3022948" y="2881150"/>
                <a:ext cx="90093" cy="12492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30"/>
                  </a:spcBef>
                </a:pPr>
                <a:r>
                  <a:rPr sz="750" b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2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89" name="object 21"/>
              <p:cNvSpPr txBox="1"/>
              <p:nvPr/>
            </p:nvSpPr>
            <p:spPr>
              <a:xfrm>
                <a:off x="6216349" y="5697093"/>
                <a:ext cx="178129" cy="21424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610"/>
                  </a:lnSpc>
                  <a:spcBef>
                    <a:spcPts val="80"/>
                  </a:spcBef>
                </a:pPr>
                <a:r>
                  <a:rPr sz="1725" b="1" i="1" baseline="12603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125" b="1" baseline="-11595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1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90" name="object 20"/>
              <p:cNvSpPr txBox="1"/>
              <p:nvPr/>
            </p:nvSpPr>
            <p:spPr>
              <a:xfrm>
                <a:off x="3278243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91" name="object 19"/>
              <p:cNvSpPr txBox="1"/>
              <p:nvPr/>
            </p:nvSpPr>
            <p:spPr>
              <a:xfrm>
                <a:off x="3624107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92" name="object 18"/>
              <p:cNvSpPr txBox="1"/>
              <p:nvPr/>
            </p:nvSpPr>
            <p:spPr>
              <a:xfrm>
                <a:off x="3969972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93" name="object 17"/>
              <p:cNvSpPr txBox="1"/>
              <p:nvPr/>
            </p:nvSpPr>
            <p:spPr>
              <a:xfrm>
                <a:off x="4315836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94" name="object 15"/>
              <p:cNvSpPr txBox="1"/>
              <p:nvPr/>
            </p:nvSpPr>
            <p:spPr>
              <a:xfrm rot="16200000">
                <a:off x="1713594" y="4317706"/>
                <a:ext cx="2314370" cy="12065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10"/>
                  </a:spcBef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50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60       </a:t>
                </a:r>
                <a:r>
                  <a:rPr sz="950" b="1" spc="10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70</a:t>
                </a:r>
                <a:endParaRPr sz="950" dirty="0">
                  <a:latin typeface="Arial"/>
                  <a:cs typeface="Arial"/>
                </a:endParaRPr>
              </a:p>
            </p:txBody>
          </p:sp>
          <p:sp>
            <p:nvSpPr>
              <p:cNvPr id="95" name="object 14"/>
              <p:cNvSpPr txBox="1"/>
              <p:nvPr/>
            </p:nvSpPr>
            <p:spPr>
              <a:xfrm>
                <a:off x="2819171" y="2979908"/>
                <a:ext cx="62697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96" name="object 13"/>
              <p:cNvSpPr txBox="1"/>
              <p:nvPr/>
            </p:nvSpPr>
            <p:spPr>
              <a:xfrm>
                <a:off x="2881868" y="2979908"/>
                <a:ext cx="112102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97" name="object 12"/>
              <p:cNvSpPr txBox="1"/>
              <p:nvPr/>
            </p:nvSpPr>
            <p:spPr>
              <a:xfrm>
                <a:off x="2993970" y="2979908"/>
                <a:ext cx="3173870" cy="851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650"/>
                  </a:lnSpc>
                  <a:spcBef>
                    <a:spcPts val="20"/>
                  </a:spcBef>
                </a:pPr>
                <a:endParaRPr sz="650"/>
              </a:p>
            </p:txBody>
          </p:sp>
          <p:sp>
            <p:nvSpPr>
              <p:cNvPr id="98" name="object 11"/>
              <p:cNvSpPr txBox="1"/>
              <p:nvPr/>
            </p:nvSpPr>
            <p:spPr>
              <a:xfrm>
                <a:off x="2993970" y="3065009"/>
                <a:ext cx="1434590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99" name="object 10"/>
              <p:cNvSpPr txBox="1"/>
              <p:nvPr/>
            </p:nvSpPr>
            <p:spPr>
              <a:xfrm>
                <a:off x="4428560" y="3065009"/>
                <a:ext cx="104507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100" name="object 9"/>
              <p:cNvSpPr txBox="1"/>
              <p:nvPr/>
            </p:nvSpPr>
            <p:spPr>
              <a:xfrm>
                <a:off x="4533067" y="3065009"/>
                <a:ext cx="1634773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 dirty="0"/>
              </a:p>
            </p:txBody>
          </p:sp>
          <p:sp>
            <p:nvSpPr>
              <p:cNvPr id="101" name="object 8"/>
              <p:cNvSpPr txBox="1"/>
              <p:nvPr/>
            </p:nvSpPr>
            <p:spPr>
              <a:xfrm>
                <a:off x="2819171" y="5798577"/>
                <a:ext cx="62697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102" name="object 7"/>
              <p:cNvSpPr txBox="1"/>
              <p:nvPr/>
            </p:nvSpPr>
            <p:spPr>
              <a:xfrm>
                <a:off x="2881868" y="5798577"/>
                <a:ext cx="112102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</p:grpSp>
        <p:sp>
          <p:nvSpPr>
            <p:cNvPr id="77" name="object 5"/>
            <p:cNvSpPr txBox="1"/>
            <p:nvPr/>
          </p:nvSpPr>
          <p:spPr>
            <a:xfrm>
              <a:off x="4428560" y="5798577"/>
              <a:ext cx="104507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/>
            </a:p>
          </p:txBody>
        </p:sp>
        <p:sp>
          <p:nvSpPr>
            <p:cNvPr id="78" name="object 4"/>
            <p:cNvSpPr txBox="1"/>
            <p:nvPr/>
          </p:nvSpPr>
          <p:spPr>
            <a:xfrm>
              <a:off x="4533067" y="5798577"/>
              <a:ext cx="1634773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41332">
                <a:lnSpc>
                  <a:spcPct val="95825"/>
                </a:lnSpc>
                <a:spcBef>
                  <a:spcPts val="190"/>
                </a:spcBef>
              </a:pP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50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60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70       </a:t>
              </a:r>
              <a:r>
                <a:rPr sz="950" b="1" spc="10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80</a:t>
              </a:r>
              <a:endParaRPr sz="950">
                <a:latin typeface="Arial"/>
                <a:cs typeface="Arial"/>
              </a:endParaRPr>
            </a:p>
          </p:txBody>
        </p:sp>
      </p:grpSp>
      <p:sp>
        <p:nvSpPr>
          <p:cNvPr id="37" name="Star: 5 Points 4">
            <a:extLst>
              <a:ext uri="{FF2B5EF4-FFF2-40B4-BE49-F238E27FC236}">
                <a16:creationId xmlns:a16="http://schemas.microsoft.com/office/drawing/2014/main" id="{C5B22155-52E5-4322-A1E9-5CB2D57C4884}"/>
              </a:ext>
            </a:extLst>
          </p:cNvPr>
          <p:cNvSpPr/>
          <p:nvPr/>
        </p:nvSpPr>
        <p:spPr>
          <a:xfrm>
            <a:off x="6722454" y="6242747"/>
            <a:ext cx="304800" cy="28762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42122" y="4613534"/>
                <a:ext cx="29445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1" defTabSz="365760"/>
                <a:r>
                  <a:rPr lang="en-US" sz="2400" i="1" dirty="0"/>
                  <a:t>Ex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sz="2400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= 80,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sz="2400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= 0 </a:t>
                </a:r>
                <a:endParaRPr lang="tr-TR" sz="2400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2" y="4613534"/>
                <a:ext cx="2944589" cy="461665"/>
              </a:xfrm>
              <a:prstGeom prst="rect">
                <a:avLst/>
              </a:prstGeom>
              <a:blipFill>
                <a:blip r:embed="rId2"/>
                <a:stretch>
                  <a:fillRect t="-10526" r="-2070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TextBox 103"/>
          <p:cNvSpPr txBox="1"/>
          <p:nvPr/>
        </p:nvSpPr>
        <p:spPr>
          <a:xfrm>
            <a:off x="467416" y="5259260"/>
            <a:ext cx="2482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Constraint</a:t>
            </a:r>
            <a:r>
              <a:rPr lang="tr-TR" sz="2400" dirty="0"/>
              <a:t>s</a:t>
            </a:r>
            <a:r>
              <a:rPr lang="en-US" sz="2400" dirty="0"/>
              <a:t> 2 </a:t>
            </a:r>
            <a:r>
              <a:rPr lang="tr-TR" sz="2400" dirty="0"/>
              <a:t>and 3 are</a:t>
            </a:r>
            <a:r>
              <a:rPr lang="en-US" sz="2400" dirty="0"/>
              <a:t> not satisfied.</a:t>
            </a:r>
            <a:endParaRPr lang="tr-TR" sz="2400" dirty="0"/>
          </a:p>
        </p:txBody>
      </p:sp>
      <p:sp>
        <p:nvSpPr>
          <p:cNvPr id="40" name="Rectangle 22"/>
          <p:cNvSpPr>
            <a:spLocks noChangeArrowheads="1"/>
          </p:cNvSpPr>
          <p:nvPr/>
        </p:nvSpPr>
        <p:spPr bwMode="auto">
          <a:xfrm>
            <a:off x="5603371" y="3936945"/>
            <a:ext cx="15271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400">
                <a:solidFill>
                  <a:schemeClr val="accent2"/>
                </a:solidFill>
                <a:latin typeface="Arial Narrow" panose="020B0606020202030204" pitchFamily="34" charset="0"/>
              </a:defRPr>
            </a:lvl1pPr>
            <a:lvl2pPr marL="742950" indent="-285750">
              <a:defRPr sz="2400">
                <a:solidFill>
                  <a:schemeClr val="accent2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2400">
                <a:solidFill>
                  <a:schemeClr val="accent2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2400">
                <a:solidFill>
                  <a:schemeClr val="accent2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2400">
                <a:solidFill>
                  <a:schemeClr val="accent2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en-US" sz="2800" b="1" dirty="0">
                <a:solidFill>
                  <a:srgbClr val="FA1941"/>
                </a:solidFill>
              </a:rPr>
              <a:t>Infeasible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4337" y="5343243"/>
            <a:ext cx="13612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FA194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2400">
                <a:solidFill>
                  <a:schemeClr val="accent2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2400">
                <a:solidFill>
                  <a:schemeClr val="accent2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2400">
                <a:solidFill>
                  <a:schemeClr val="accent2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2400">
                <a:solidFill>
                  <a:schemeClr val="accent2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tr-TR" dirty="0">
                <a:solidFill>
                  <a:schemeClr val="tx1"/>
                </a:solidFill>
              </a:rPr>
              <a:t>Feasible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75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37" grpId="0" animBg="1"/>
      <p:bldP spid="103" grpId="0"/>
      <p:bldP spid="104" grpId="0"/>
      <p:bldP spid="40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ight Triangle 42"/>
          <p:cNvSpPr/>
          <p:nvPr/>
        </p:nvSpPr>
        <p:spPr>
          <a:xfrm>
            <a:off x="3618161" y="4613533"/>
            <a:ext cx="1144505" cy="622115"/>
          </a:xfrm>
          <a:prstGeom prst="rtTriangl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nip and Round Single Corner Rectangle 43"/>
          <p:cNvSpPr/>
          <p:nvPr/>
        </p:nvSpPr>
        <p:spPr>
          <a:xfrm>
            <a:off x="3613721" y="5259260"/>
            <a:ext cx="1740661" cy="1116463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Analysis of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763000" cy="1335593"/>
          </a:xfrm>
        </p:spPr>
        <p:txBody>
          <a:bodyPr>
            <a:normAutofit fontScale="77500" lnSpcReduction="20000"/>
          </a:bodyPr>
          <a:lstStyle/>
          <a:p>
            <a:r>
              <a:rPr lang="en-US" sz="3400" b="1" dirty="0"/>
              <a:t>Solution</a:t>
            </a:r>
            <a:r>
              <a:rPr lang="en-US" dirty="0"/>
              <a:t>: A solution to a mathematical problem is obtained by</a:t>
            </a:r>
          </a:p>
          <a:p>
            <a:pPr marL="0" indent="0">
              <a:buNone/>
            </a:pPr>
            <a:r>
              <a:rPr lang="en-US" dirty="0"/>
              <a:t>specifying certain values for decision variables. Solutions are</a:t>
            </a:r>
          </a:p>
          <a:p>
            <a:pPr marL="0" indent="0">
              <a:buNone/>
            </a:pPr>
            <a:r>
              <a:rPr lang="en-US" dirty="0"/>
              <a:t>categorized as follows:</a:t>
            </a:r>
            <a:endParaRPr lang="tr-TR" dirty="0"/>
          </a:p>
        </p:txBody>
      </p:sp>
      <p:grpSp>
        <p:nvGrpSpPr>
          <p:cNvPr id="5" name="Group 4"/>
          <p:cNvGrpSpPr/>
          <p:nvPr/>
        </p:nvGrpSpPr>
        <p:grpSpPr>
          <a:xfrm>
            <a:off x="3384167" y="2391252"/>
            <a:ext cx="4388232" cy="4251049"/>
            <a:chOff x="2810454" y="2790344"/>
            <a:chExt cx="3584024" cy="3206795"/>
          </a:xfrm>
        </p:grpSpPr>
        <p:sp>
          <p:nvSpPr>
            <p:cNvPr id="6" name="object 44"/>
            <p:cNvSpPr/>
            <p:nvPr/>
          </p:nvSpPr>
          <p:spPr>
            <a:xfrm>
              <a:off x="4428560" y="3065009"/>
              <a:ext cx="104507" cy="2915716"/>
            </a:xfrm>
            <a:custGeom>
              <a:avLst/>
              <a:gdLst/>
              <a:ahLst/>
              <a:cxnLst/>
              <a:rect l="l" t="t" r="r" b="b"/>
              <a:pathLst>
                <a:path w="104507" h="2915716">
                  <a:moveTo>
                    <a:pt x="0" y="0"/>
                  </a:moveTo>
                  <a:lnTo>
                    <a:pt x="0" y="2915716"/>
                  </a:lnTo>
                  <a:lnTo>
                    <a:pt x="104507" y="2915716"/>
                  </a:lnTo>
                  <a:lnTo>
                    <a:pt x="1045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" name="object 47"/>
            <p:cNvSpPr/>
            <p:nvPr/>
          </p:nvSpPr>
          <p:spPr>
            <a:xfrm>
              <a:off x="2923196" y="4147991"/>
              <a:ext cx="2102108" cy="1674414"/>
            </a:xfrm>
            <a:custGeom>
              <a:avLst/>
              <a:gdLst/>
              <a:ahLst/>
              <a:cxnLst/>
              <a:rect l="l" t="t" r="r" b="b"/>
              <a:pathLst>
                <a:path w="2643987" h="2644002">
                  <a:moveTo>
                    <a:pt x="0" y="74645"/>
                  </a:moveTo>
                  <a:lnTo>
                    <a:pt x="2569342" y="2644002"/>
                  </a:lnTo>
                  <a:lnTo>
                    <a:pt x="2643987" y="2569357"/>
                  </a:lnTo>
                  <a:lnTo>
                    <a:pt x="74645" y="0"/>
                  </a:lnTo>
                  <a:lnTo>
                    <a:pt x="0" y="74645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" name="object 54"/>
            <p:cNvSpPr/>
            <p:nvPr/>
          </p:nvSpPr>
          <p:spPr>
            <a:xfrm>
              <a:off x="2890584" y="4147991"/>
              <a:ext cx="2134720" cy="1696869"/>
            </a:xfrm>
            <a:custGeom>
              <a:avLst/>
              <a:gdLst/>
              <a:ahLst/>
              <a:cxnLst/>
              <a:rect l="l" t="t" r="r" b="b"/>
              <a:pathLst>
                <a:path w="2546954" h="2546954">
                  <a:moveTo>
                    <a:pt x="0" y="0"/>
                  </a:moveTo>
                  <a:lnTo>
                    <a:pt x="2546954" y="2546954"/>
                  </a:lnTo>
                </a:path>
              </a:pathLst>
            </a:custGeom>
            <a:ln w="12441">
              <a:solidFill>
                <a:srgbClr val="0070C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" name="object 55"/>
            <p:cNvSpPr/>
            <p:nvPr/>
          </p:nvSpPr>
          <p:spPr>
            <a:xfrm>
              <a:off x="4415119" y="3042606"/>
              <a:ext cx="4480" cy="2954533"/>
            </a:xfrm>
            <a:custGeom>
              <a:avLst/>
              <a:gdLst/>
              <a:ahLst/>
              <a:cxnLst/>
              <a:rect l="l" t="t" r="r" b="b"/>
              <a:pathLst>
                <a:path w="4480" h="2954533">
                  <a:moveTo>
                    <a:pt x="4480" y="2954533"/>
                  </a:moveTo>
                  <a:lnTo>
                    <a:pt x="0" y="0"/>
                  </a:lnTo>
                </a:path>
              </a:pathLst>
            </a:custGeom>
            <a:ln w="12441">
              <a:solidFill>
                <a:srgbClr val="00B05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2810454" y="2790344"/>
              <a:ext cx="3584024" cy="3184407"/>
              <a:chOff x="2810454" y="2790344"/>
              <a:chExt cx="3584024" cy="3184407"/>
            </a:xfrm>
          </p:grpSpPr>
          <p:sp>
            <p:nvSpPr>
              <p:cNvPr id="13" name="object 45"/>
              <p:cNvSpPr/>
              <p:nvPr/>
            </p:nvSpPr>
            <p:spPr>
              <a:xfrm>
                <a:off x="2881868" y="2979908"/>
                <a:ext cx="104507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w="104507" h="2994842">
                    <a:moveTo>
                      <a:pt x="0" y="0"/>
                    </a:moveTo>
                    <a:lnTo>
                      <a:pt x="0" y="2994842"/>
                    </a:lnTo>
                    <a:lnTo>
                      <a:pt x="104507" y="2994842"/>
                    </a:lnTo>
                    <a:lnTo>
                      <a:pt x="104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4" name="object 46"/>
              <p:cNvSpPr/>
              <p:nvPr/>
            </p:nvSpPr>
            <p:spPr>
              <a:xfrm>
                <a:off x="2819171" y="5798577"/>
                <a:ext cx="3348669" cy="111968"/>
              </a:xfrm>
              <a:custGeom>
                <a:avLst/>
                <a:gdLst/>
                <a:ahLst/>
                <a:cxnLst/>
                <a:rect l="l" t="t" r="r" b="b"/>
                <a:pathLst>
                  <a:path w="3348669" h="111968">
                    <a:moveTo>
                      <a:pt x="0" y="111968"/>
                    </a:moveTo>
                    <a:lnTo>
                      <a:pt x="3348669" y="105994"/>
                    </a:lnTo>
                    <a:lnTo>
                      <a:pt x="3348669" y="0"/>
                    </a:lnTo>
                    <a:lnTo>
                      <a:pt x="0" y="5974"/>
                    </a:lnTo>
                    <a:lnTo>
                      <a:pt x="0" y="111968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5" name="object 48"/>
              <p:cNvSpPr/>
              <p:nvPr/>
            </p:nvSpPr>
            <p:spPr>
              <a:xfrm>
                <a:off x="2948297" y="4376469"/>
                <a:ext cx="2948300" cy="1595749"/>
              </a:xfrm>
              <a:custGeom>
                <a:avLst/>
                <a:gdLst/>
                <a:ahLst/>
                <a:cxnLst/>
                <a:rect l="l" t="t" r="r" b="b"/>
                <a:pathLst>
                  <a:path w="3288944" h="2042342">
                    <a:moveTo>
                      <a:pt x="0" y="91074"/>
                    </a:moveTo>
                    <a:lnTo>
                      <a:pt x="3233699" y="2042342"/>
                    </a:lnTo>
                    <a:lnTo>
                      <a:pt x="3288944" y="1951268"/>
                    </a:lnTo>
                    <a:lnTo>
                      <a:pt x="55229" y="0"/>
                    </a:lnTo>
                    <a:lnTo>
                      <a:pt x="0" y="91074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6" name="object 49"/>
              <p:cNvSpPr/>
              <p:nvPr/>
            </p:nvSpPr>
            <p:spPr>
              <a:xfrm>
                <a:off x="2995345" y="2979908"/>
                <a:ext cx="0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h="2994842">
                    <a:moveTo>
                      <a:pt x="0" y="0"/>
                    </a:moveTo>
                    <a:lnTo>
                      <a:pt x="0" y="2994842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7" name="object 50"/>
              <p:cNvSpPr/>
              <p:nvPr/>
            </p:nvSpPr>
            <p:spPr>
              <a:xfrm>
                <a:off x="2949061" y="2979908"/>
                <a:ext cx="92552" cy="46283"/>
              </a:xfrm>
              <a:custGeom>
                <a:avLst/>
                <a:gdLst/>
                <a:ahLst/>
                <a:cxnLst/>
                <a:rect l="l" t="t" r="r" b="b"/>
                <a:pathLst>
                  <a:path w="92552" h="46283">
                    <a:moveTo>
                      <a:pt x="92552" y="46283"/>
                    </a:moveTo>
                    <a:lnTo>
                      <a:pt x="46283" y="0"/>
                    </a:lnTo>
                    <a:lnTo>
                      <a:pt x="0" y="46283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8" name="object 51"/>
              <p:cNvSpPr/>
              <p:nvPr/>
            </p:nvSpPr>
            <p:spPr>
              <a:xfrm>
                <a:off x="2819171" y="5798577"/>
                <a:ext cx="334866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48669">
                    <a:moveTo>
                      <a:pt x="3348669" y="0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9" name="object 52"/>
              <p:cNvSpPr/>
              <p:nvPr/>
            </p:nvSpPr>
            <p:spPr>
              <a:xfrm>
                <a:off x="6121557" y="5752293"/>
                <a:ext cx="46283" cy="92567"/>
              </a:xfrm>
              <a:custGeom>
                <a:avLst/>
                <a:gdLst/>
                <a:ahLst/>
                <a:cxnLst/>
                <a:rect l="l" t="t" r="r" b="b"/>
                <a:pathLst>
                  <a:path w="46283" h="92567">
                    <a:moveTo>
                      <a:pt x="0" y="92567"/>
                    </a:moveTo>
                    <a:lnTo>
                      <a:pt x="46283" y="46283"/>
                    </a:ln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20" name="object 53"/>
              <p:cNvSpPr/>
              <p:nvPr/>
            </p:nvSpPr>
            <p:spPr>
              <a:xfrm>
                <a:off x="2979613" y="4435399"/>
                <a:ext cx="2916984" cy="1487091"/>
              </a:xfrm>
              <a:custGeom>
                <a:avLst/>
                <a:gdLst/>
                <a:ahLst/>
                <a:cxnLst/>
                <a:rect l="l" t="t" r="r" b="b"/>
                <a:pathLst>
                  <a:path w="3241167" h="1957242">
                    <a:moveTo>
                      <a:pt x="3241167" y="1957242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21" name="object 24"/>
              <p:cNvSpPr txBox="1"/>
              <p:nvPr/>
            </p:nvSpPr>
            <p:spPr>
              <a:xfrm>
                <a:off x="2948297" y="2790344"/>
                <a:ext cx="122440" cy="174693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295"/>
                  </a:lnSpc>
                  <a:spcBef>
                    <a:spcPts val="64"/>
                  </a:spcBef>
                </a:pPr>
                <a:r>
                  <a:rPr sz="1150" b="1" i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endParaRPr sz="1150">
                  <a:latin typeface="Times New Roman"/>
                  <a:cs typeface="Times New Roman"/>
                </a:endParaRPr>
              </a:p>
            </p:txBody>
          </p:sp>
          <p:sp>
            <p:nvSpPr>
              <p:cNvPr id="22" name="object 23"/>
              <p:cNvSpPr txBox="1"/>
              <p:nvPr/>
            </p:nvSpPr>
            <p:spPr>
              <a:xfrm>
                <a:off x="3022948" y="2881150"/>
                <a:ext cx="90093" cy="12492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30"/>
                  </a:spcBef>
                </a:pPr>
                <a:r>
                  <a:rPr sz="750" b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2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23" name="object 21"/>
              <p:cNvSpPr txBox="1"/>
              <p:nvPr/>
            </p:nvSpPr>
            <p:spPr>
              <a:xfrm>
                <a:off x="6216349" y="5697093"/>
                <a:ext cx="178129" cy="21424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610"/>
                  </a:lnSpc>
                  <a:spcBef>
                    <a:spcPts val="80"/>
                  </a:spcBef>
                </a:pPr>
                <a:r>
                  <a:rPr sz="1725" b="1" i="1" baseline="12603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125" b="1" baseline="-11595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1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24" name="object 20"/>
              <p:cNvSpPr txBox="1"/>
              <p:nvPr/>
            </p:nvSpPr>
            <p:spPr>
              <a:xfrm>
                <a:off x="3278243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25" name="object 19"/>
              <p:cNvSpPr txBox="1"/>
              <p:nvPr/>
            </p:nvSpPr>
            <p:spPr>
              <a:xfrm>
                <a:off x="3624107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26" name="object 18"/>
              <p:cNvSpPr txBox="1"/>
              <p:nvPr/>
            </p:nvSpPr>
            <p:spPr>
              <a:xfrm>
                <a:off x="3969972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27" name="object 17"/>
              <p:cNvSpPr txBox="1"/>
              <p:nvPr/>
            </p:nvSpPr>
            <p:spPr>
              <a:xfrm>
                <a:off x="4315836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28" name="object 15"/>
              <p:cNvSpPr txBox="1"/>
              <p:nvPr/>
            </p:nvSpPr>
            <p:spPr>
              <a:xfrm rot="16200000">
                <a:off x="1713594" y="4317706"/>
                <a:ext cx="2314370" cy="12065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10"/>
                  </a:spcBef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50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60       </a:t>
                </a:r>
                <a:r>
                  <a:rPr sz="950" b="1" spc="10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70</a:t>
                </a:r>
                <a:endParaRPr sz="950" dirty="0">
                  <a:latin typeface="Arial"/>
                  <a:cs typeface="Arial"/>
                </a:endParaRPr>
              </a:p>
            </p:txBody>
          </p:sp>
          <p:sp>
            <p:nvSpPr>
              <p:cNvPr id="29" name="object 14"/>
              <p:cNvSpPr txBox="1"/>
              <p:nvPr/>
            </p:nvSpPr>
            <p:spPr>
              <a:xfrm>
                <a:off x="2819171" y="2979908"/>
                <a:ext cx="62697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0" name="object 13"/>
              <p:cNvSpPr txBox="1"/>
              <p:nvPr/>
            </p:nvSpPr>
            <p:spPr>
              <a:xfrm>
                <a:off x="2881868" y="2979908"/>
                <a:ext cx="112102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1" name="object 12"/>
              <p:cNvSpPr txBox="1"/>
              <p:nvPr/>
            </p:nvSpPr>
            <p:spPr>
              <a:xfrm>
                <a:off x="2993970" y="2979908"/>
                <a:ext cx="3173870" cy="851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650"/>
                  </a:lnSpc>
                  <a:spcBef>
                    <a:spcPts val="20"/>
                  </a:spcBef>
                </a:pPr>
                <a:endParaRPr sz="650"/>
              </a:p>
            </p:txBody>
          </p:sp>
          <p:sp>
            <p:nvSpPr>
              <p:cNvPr id="32" name="object 11"/>
              <p:cNvSpPr txBox="1"/>
              <p:nvPr/>
            </p:nvSpPr>
            <p:spPr>
              <a:xfrm>
                <a:off x="2993970" y="3065009"/>
                <a:ext cx="1434590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3" name="object 10"/>
              <p:cNvSpPr txBox="1"/>
              <p:nvPr/>
            </p:nvSpPr>
            <p:spPr>
              <a:xfrm>
                <a:off x="4428560" y="3065009"/>
                <a:ext cx="104507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4" name="object 9"/>
              <p:cNvSpPr txBox="1"/>
              <p:nvPr/>
            </p:nvSpPr>
            <p:spPr>
              <a:xfrm>
                <a:off x="4533067" y="3065009"/>
                <a:ext cx="1634773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5" name="object 8"/>
              <p:cNvSpPr txBox="1"/>
              <p:nvPr/>
            </p:nvSpPr>
            <p:spPr>
              <a:xfrm>
                <a:off x="2819171" y="5798577"/>
                <a:ext cx="62697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6" name="object 7"/>
              <p:cNvSpPr txBox="1"/>
              <p:nvPr/>
            </p:nvSpPr>
            <p:spPr>
              <a:xfrm>
                <a:off x="2881868" y="5798577"/>
                <a:ext cx="112102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</p:grpSp>
        <p:sp>
          <p:nvSpPr>
            <p:cNvPr id="11" name="object 5"/>
            <p:cNvSpPr txBox="1"/>
            <p:nvPr/>
          </p:nvSpPr>
          <p:spPr>
            <a:xfrm>
              <a:off x="4428560" y="5798577"/>
              <a:ext cx="104507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/>
            </a:p>
          </p:txBody>
        </p:sp>
        <p:sp>
          <p:nvSpPr>
            <p:cNvPr id="12" name="object 4"/>
            <p:cNvSpPr txBox="1"/>
            <p:nvPr/>
          </p:nvSpPr>
          <p:spPr>
            <a:xfrm>
              <a:off x="4533067" y="5798577"/>
              <a:ext cx="1634773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41332">
                <a:lnSpc>
                  <a:spcPct val="95825"/>
                </a:lnSpc>
                <a:spcBef>
                  <a:spcPts val="190"/>
                </a:spcBef>
              </a:pP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50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60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70       </a:t>
              </a:r>
              <a:r>
                <a:rPr sz="950" b="1" spc="10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80</a:t>
              </a:r>
              <a:endParaRPr sz="950">
                <a:latin typeface="Arial"/>
                <a:cs typeface="Arial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41166" y="2345825"/>
            <a:ext cx="24731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u="sng" dirty="0"/>
              <a:t>Feasible Solutions</a:t>
            </a:r>
            <a:r>
              <a:rPr lang="en-US" sz="2400" dirty="0"/>
              <a:t>: If a solution satisfies all of the</a:t>
            </a:r>
            <a:r>
              <a:rPr lang="tr-TR" sz="2400" dirty="0"/>
              <a:t> </a:t>
            </a:r>
            <a:r>
              <a:rPr lang="en-US" sz="2400" dirty="0"/>
              <a:t>constraints, then the solution is feasible.</a:t>
            </a:r>
            <a:r>
              <a:rPr lang="tr-TR" sz="2400" dirty="0"/>
              <a:t> </a:t>
            </a:r>
          </a:p>
        </p:txBody>
      </p:sp>
      <p:sp>
        <p:nvSpPr>
          <p:cNvPr id="38" name="Star: 5 Points 4">
            <a:extLst>
              <a:ext uri="{FF2B5EF4-FFF2-40B4-BE49-F238E27FC236}">
                <a16:creationId xmlns:a16="http://schemas.microsoft.com/office/drawing/2014/main" id="{C5B22155-52E5-4322-A1E9-5CB2D57C4884}"/>
              </a:ext>
            </a:extLst>
          </p:cNvPr>
          <p:cNvSpPr/>
          <p:nvPr/>
        </p:nvSpPr>
        <p:spPr>
          <a:xfrm>
            <a:off x="3492655" y="6213834"/>
            <a:ext cx="304800" cy="28762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9" name="Star: 5 Points 4">
            <a:extLst>
              <a:ext uri="{FF2B5EF4-FFF2-40B4-BE49-F238E27FC236}">
                <a16:creationId xmlns:a16="http://schemas.microsoft.com/office/drawing/2014/main" id="{C5B22155-52E5-4322-A1E9-5CB2D57C4884}"/>
              </a:ext>
            </a:extLst>
          </p:cNvPr>
          <p:cNvSpPr/>
          <p:nvPr/>
        </p:nvSpPr>
        <p:spPr>
          <a:xfrm>
            <a:off x="4636738" y="5174146"/>
            <a:ext cx="304800" cy="28762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74203" y="4834546"/>
                <a:ext cx="23851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57150" indent="0">
                  <a:buNone/>
                </a:pPr>
                <a:r>
                  <a:rPr lang="fr-FR" sz="2400" i="1" dirty="0"/>
                  <a:t>Ex</a:t>
                </a:r>
                <a:r>
                  <a:rPr lang="fr-FR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sz="2400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sz="2400" dirty="0"/>
                  <a:t> = 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sz="2400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sz="2400" dirty="0"/>
                  <a:t> = 0 </a:t>
                </a:r>
                <a:endParaRPr lang="tr-TR" sz="2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203" y="4834546"/>
                <a:ext cx="2385140" cy="461665"/>
              </a:xfrm>
              <a:prstGeom prst="rect">
                <a:avLst/>
              </a:prstGeom>
              <a:blipFill>
                <a:blip r:embed="rId2"/>
                <a:stretch>
                  <a:fillRect l="-1790" t="-10526" r="-281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381000" y="5347910"/>
            <a:ext cx="511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" indent="0">
              <a:buNone/>
            </a:pPr>
            <a:r>
              <a:rPr lang="fr-FR" sz="2400" dirty="0"/>
              <a:t>or</a:t>
            </a:r>
            <a:endParaRPr lang="tr-TR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70062" y="5809575"/>
                <a:ext cx="22040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sz="2400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sz="2400" dirty="0"/>
                  <a:t> = 30,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sz="2400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sz="2400" dirty="0"/>
                  <a:t> = 30</a:t>
                </a:r>
                <a:endParaRPr lang="tr-TR" sz="24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62" y="5809575"/>
                <a:ext cx="2204001" cy="461665"/>
              </a:xfrm>
              <a:prstGeom prst="rect">
                <a:avLst/>
              </a:prstGeom>
              <a:blipFill>
                <a:blip r:embed="rId3"/>
                <a:stretch>
                  <a:fillRect t="-10526" r="-3047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976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/>
      <p:bldP spid="41" grpId="0"/>
      <p:bldP spid="4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ight Triangle 42"/>
          <p:cNvSpPr/>
          <p:nvPr/>
        </p:nvSpPr>
        <p:spPr>
          <a:xfrm>
            <a:off x="3618161" y="4613533"/>
            <a:ext cx="1144505" cy="622115"/>
          </a:xfrm>
          <a:prstGeom prst="rtTriangl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nip and Round Single Corner Rectangle 43"/>
          <p:cNvSpPr/>
          <p:nvPr/>
        </p:nvSpPr>
        <p:spPr>
          <a:xfrm>
            <a:off x="3613721" y="5259260"/>
            <a:ext cx="1740661" cy="1116463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Analysis of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763000" cy="1335593"/>
          </a:xfrm>
        </p:spPr>
        <p:txBody>
          <a:bodyPr>
            <a:normAutofit fontScale="92500" lnSpcReduction="20000"/>
          </a:bodyPr>
          <a:lstStyle/>
          <a:p>
            <a:r>
              <a:rPr lang="en-US" sz="3400" b="1" dirty="0"/>
              <a:t>Solution</a:t>
            </a:r>
            <a:r>
              <a:rPr lang="en-US" dirty="0"/>
              <a:t>: A solution to a mathematical problem </a:t>
            </a:r>
            <a:r>
              <a:rPr lang="tr-TR" dirty="0"/>
              <a:t>can be idenfied by the points in the feasible region </a:t>
            </a:r>
            <a:r>
              <a:rPr lang="en-US" dirty="0"/>
              <a:t>as follows:</a:t>
            </a:r>
            <a:endParaRPr lang="tr-TR" dirty="0"/>
          </a:p>
        </p:txBody>
      </p:sp>
      <p:grpSp>
        <p:nvGrpSpPr>
          <p:cNvPr id="5" name="Group 4"/>
          <p:cNvGrpSpPr/>
          <p:nvPr/>
        </p:nvGrpSpPr>
        <p:grpSpPr>
          <a:xfrm>
            <a:off x="3384167" y="2391252"/>
            <a:ext cx="4388232" cy="4251049"/>
            <a:chOff x="2810454" y="2790344"/>
            <a:chExt cx="3584024" cy="3206795"/>
          </a:xfrm>
        </p:grpSpPr>
        <p:sp>
          <p:nvSpPr>
            <p:cNvPr id="6" name="object 44"/>
            <p:cNvSpPr/>
            <p:nvPr/>
          </p:nvSpPr>
          <p:spPr>
            <a:xfrm>
              <a:off x="4428560" y="3065009"/>
              <a:ext cx="104507" cy="2915716"/>
            </a:xfrm>
            <a:custGeom>
              <a:avLst/>
              <a:gdLst/>
              <a:ahLst/>
              <a:cxnLst/>
              <a:rect l="l" t="t" r="r" b="b"/>
              <a:pathLst>
                <a:path w="104507" h="2915716">
                  <a:moveTo>
                    <a:pt x="0" y="0"/>
                  </a:moveTo>
                  <a:lnTo>
                    <a:pt x="0" y="2915716"/>
                  </a:lnTo>
                  <a:lnTo>
                    <a:pt x="104507" y="2915716"/>
                  </a:lnTo>
                  <a:lnTo>
                    <a:pt x="1045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" name="object 47"/>
            <p:cNvSpPr/>
            <p:nvPr/>
          </p:nvSpPr>
          <p:spPr>
            <a:xfrm>
              <a:off x="2923196" y="4147991"/>
              <a:ext cx="2102108" cy="1674414"/>
            </a:xfrm>
            <a:custGeom>
              <a:avLst/>
              <a:gdLst/>
              <a:ahLst/>
              <a:cxnLst/>
              <a:rect l="l" t="t" r="r" b="b"/>
              <a:pathLst>
                <a:path w="2643987" h="2644002">
                  <a:moveTo>
                    <a:pt x="0" y="74645"/>
                  </a:moveTo>
                  <a:lnTo>
                    <a:pt x="2569342" y="2644002"/>
                  </a:lnTo>
                  <a:lnTo>
                    <a:pt x="2643987" y="2569357"/>
                  </a:lnTo>
                  <a:lnTo>
                    <a:pt x="74645" y="0"/>
                  </a:lnTo>
                  <a:lnTo>
                    <a:pt x="0" y="74645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" name="object 54"/>
            <p:cNvSpPr/>
            <p:nvPr/>
          </p:nvSpPr>
          <p:spPr>
            <a:xfrm>
              <a:off x="2890584" y="4147991"/>
              <a:ext cx="2134720" cy="1696869"/>
            </a:xfrm>
            <a:custGeom>
              <a:avLst/>
              <a:gdLst/>
              <a:ahLst/>
              <a:cxnLst/>
              <a:rect l="l" t="t" r="r" b="b"/>
              <a:pathLst>
                <a:path w="2546954" h="2546954">
                  <a:moveTo>
                    <a:pt x="0" y="0"/>
                  </a:moveTo>
                  <a:lnTo>
                    <a:pt x="2546954" y="2546954"/>
                  </a:lnTo>
                </a:path>
              </a:pathLst>
            </a:custGeom>
            <a:ln w="12441">
              <a:solidFill>
                <a:srgbClr val="0070C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" name="object 55"/>
            <p:cNvSpPr/>
            <p:nvPr/>
          </p:nvSpPr>
          <p:spPr>
            <a:xfrm>
              <a:off x="4415119" y="3042606"/>
              <a:ext cx="4480" cy="2954533"/>
            </a:xfrm>
            <a:custGeom>
              <a:avLst/>
              <a:gdLst/>
              <a:ahLst/>
              <a:cxnLst/>
              <a:rect l="l" t="t" r="r" b="b"/>
              <a:pathLst>
                <a:path w="4480" h="2954533">
                  <a:moveTo>
                    <a:pt x="4480" y="2954533"/>
                  </a:moveTo>
                  <a:lnTo>
                    <a:pt x="0" y="0"/>
                  </a:lnTo>
                </a:path>
              </a:pathLst>
            </a:custGeom>
            <a:ln w="12441">
              <a:solidFill>
                <a:srgbClr val="00B05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2810454" y="2790344"/>
              <a:ext cx="3584024" cy="3184407"/>
              <a:chOff x="2810454" y="2790344"/>
              <a:chExt cx="3584024" cy="3184407"/>
            </a:xfrm>
          </p:grpSpPr>
          <p:sp>
            <p:nvSpPr>
              <p:cNvPr id="13" name="object 45"/>
              <p:cNvSpPr/>
              <p:nvPr/>
            </p:nvSpPr>
            <p:spPr>
              <a:xfrm>
                <a:off x="2881868" y="2979908"/>
                <a:ext cx="104507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w="104507" h="2994842">
                    <a:moveTo>
                      <a:pt x="0" y="0"/>
                    </a:moveTo>
                    <a:lnTo>
                      <a:pt x="0" y="2994842"/>
                    </a:lnTo>
                    <a:lnTo>
                      <a:pt x="104507" y="2994842"/>
                    </a:lnTo>
                    <a:lnTo>
                      <a:pt x="104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4" name="object 46"/>
              <p:cNvSpPr/>
              <p:nvPr/>
            </p:nvSpPr>
            <p:spPr>
              <a:xfrm>
                <a:off x="2819171" y="5798577"/>
                <a:ext cx="3348669" cy="111968"/>
              </a:xfrm>
              <a:custGeom>
                <a:avLst/>
                <a:gdLst/>
                <a:ahLst/>
                <a:cxnLst/>
                <a:rect l="l" t="t" r="r" b="b"/>
                <a:pathLst>
                  <a:path w="3348669" h="111968">
                    <a:moveTo>
                      <a:pt x="0" y="111968"/>
                    </a:moveTo>
                    <a:lnTo>
                      <a:pt x="3348669" y="105994"/>
                    </a:lnTo>
                    <a:lnTo>
                      <a:pt x="3348669" y="0"/>
                    </a:lnTo>
                    <a:lnTo>
                      <a:pt x="0" y="5974"/>
                    </a:lnTo>
                    <a:lnTo>
                      <a:pt x="0" y="111968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5" name="object 48"/>
              <p:cNvSpPr/>
              <p:nvPr/>
            </p:nvSpPr>
            <p:spPr>
              <a:xfrm>
                <a:off x="2948297" y="4376469"/>
                <a:ext cx="2948300" cy="1595749"/>
              </a:xfrm>
              <a:custGeom>
                <a:avLst/>
                <a:gdLst/>
                <a:ahLst/>
                <a:cxnLst/>
                <a:rect l="l" t="t" r="r" b="b"/>
                <a:pathLst>
                  <a:path w="3288944" h="2042342">
                    <a:moveTo>
                      <a:pt x="0" y="91074"/>
                    </a:moveTo>
                    <a:lnTo>
                      <a:pt x="3233699" y="2042342"/>
                    </a:lnTo>
                    <a:lnTo>
                      <a:pt x="3288944" y="1951268"/>
                    </a:lnTo>
                    <a:lnTo>
                      <a:pt x="55229" y="0"/>
                    </a:lnTo>
                    <a:lnTo>
                      <a:pt x="0" y="91074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6" name="object 49"/>
              <p:cNvSpPr/>
              <p:nvPr/>
            </p:nvSpPr>
            <p:spPr>
              <a:xfrm>
                <a:off x="2995345" y="2979908"/>
                <a:ext cx="0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h="2994842">
                    <a:moveTo>
                      <a:pt x="0" y="0"/>
                    </a:moveTo>
                    <a:lnTo>
                      <a:pt x="0" y="2994842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7" name="object 50"/>
              <p:cNvSpPr/>
              <p:nvPr/>
            </p:nvSpPr>
            <p:spPr>
              <a:xfrm>
                <a:off x="2949061" y="2979908"/>
                <a:ext cx="92552" cy="46283"/>
              </a:xfrm>
              <a:custGeom>
                <a:avLst/>
                <a:gdLst/>
                <a:ahLst/>
                <a:cxnLst/>
                <a:rect l="l" t="t" r="r" b="b"/>
                <a:pathLst>
                  <a:path w="92552" h="46283">
                    <a:moveTo>
                      <a:pt x="92552" y="46283"/>
                    </a:moveTo>
                    <a:lnTo>
                      <a:pt x="46283" y="0"/>
                    </a:lnTo>
                    <a:lnTo>
                      <a:pt x="0" y="46283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8" name="object 51"/>
              <p:cNvSpPr/>
              <p:nvPr/>
            </p:nvSpPr>
            <p:spPr>
              <a:xfrm>
                <a:off x="2819171" y="5798577"/>
                <a:ext cx="334866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48669">
                    <a:moveTo>
                      <a:pt x="3348669" y="0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9" name="object 52"/>
              <p:cNvSpPr/>
              <p:nvPr/>
            </p:nvSpPr>
            <p:spPr>
              <a:xfrm>
                <a:off x="6121557" y="5752293"/>
                <a:ext cx="46283" cy="92567"/>
              </a:xfrm>
              <a:custGeom>
                <a:avLst/>
                <a:gdLst/>
                <a:ahLst/>
                <a:cxnLst/>
                <a:rect l="l" t="t" r="r" b="b"/>
                <a:pathLst>
                  <a:path w="46283" h="92567">
                    <a:moveTo>
                      <a:pt x="0" y="92567"/>
                    </a:moveTo>
                    <a:lnTo>
                      <a:pt x="46283" y="46283"/>
                    </a:ln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20" name="object 53"/>
              <p:cNvSpPr/>
              <p:nvPr/>
            </p:nvSpPr>
            <p:spPr>
              <a:xfrm>
                <a:off x="2979613" y="4435399"/>
                <a:ext cx="2916984" cy="1487091"/>
              </a:xfrm>
              <a:custGeom>
                <a:avLst/>
                <a:gdLst/>
                <a:ahLst/>
                <a:cxnLst/>
                <a:rect l="l" t="t" r="r" b="b"/>
                <a:pathLst>
                  <a:path w="3241167" h="1957242">
                    <a:moveTo>
                      <a:pt x="3241167" y="1957242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21" name="object 24"/>
              <p:cNvSpPr txBox="1"/>
              <p:nvPr/>
            </p:nvSpPr>
            <p:spPr>
              <a:xfrm>
                <a:off x="2948297" y="2790344"/>
                <a:ext cx="122440" cy="174693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295"/>
                  </a:lnSpc>
                  <a:spcBef>
                    <a:spcPts val="64"/>
                  </a:spcBef>
                </a:pPr>
                <a:r>
                  <a:rPr sz="1150" b="1" i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endParaRPr sz="1150">
                  <a:latin typeface="Times New Roman"/>
                  <a:cs typeface="Times New Roman"/>
                </a:endParaRPr>
              </a:p>
            </p:txBody>
          </p:sp>
          <p:sp>
            <p:nvSpPr>
              <p:cNvPr id="22" name="object 23"/>
              <p:cNvSpPr txBox="1"/>
              <p:nvPr/>
            </p:nvSpPr>
            <p:spPr>
              <a:xfrm>
                <a:off x="3022948" y="2881150"/>
                <a:ext cx="90093" cy="12492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30"/>
                  </a:spcBef>
                </a:pPr>
                <a:r>
                  <a:rPr sz="750" b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2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23" name="object 21"/>
              <p:cNvSpPr txBox="1"/>
              <p:nvPr/>
            </p:nvSpPr>
            <p:spPr>
              <a:xfrm>
                <a:off x="6216349" y="5697093"/>
                <a:ext cx="178129" cy="21424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610"/>
                  </a:lnSpc>
                  <a:spcBef>
                    <a:spcPts val="80"/>
                  </a:spcBef>
                </a:pPr>
                <a:r>
                  <a:rPr sz="1725" b="1" i="1" baseline="12603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125" b="1" baseline="-11595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1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24" name="object 20"/>
              <p:cNvSpPr txBox="1"/>
              <p:nvPr/>
            </p:nvSpPr>
            <p:spPr>
              <a:xfrm>
                <a:off x="3278243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25" name="object 19"/>
              <p:cNvSpPr txBox="1"/>
              <p:nvPr/>
            </p:nvSpPr>
            <p:spPr>
              <a:xfrm>
                <a:off x="3624107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26" name="object 18"/>
              <p:cNvSpPr txBox="1"/>
              <p:nvPr/>
            </p:nvSpPr>
            <p:spPr>
              <a:xfrm>
                <a:off x="3969972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27" name="object 17"/>
              <p:cNvSpPr txBox="1"/>
              <p:nvPr/>
            </p:nvSpPr>
            <p:spPr>
              <a:xfrm>
                <a:off x="4315836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28" name="object 15"/>
              <p:cNvSpPr txBox="1"/>
              <p:nvPr/>
            </p:nvSpPr>
            <p:spPr>
              <a:xfrm rot="16200000">
                <a:off x="1713594" y="4317706"/>
                <a:ext cx="2314370" cy="12065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10"/>
                  </a:spcBef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50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60       </a:t>
                </a:r>
                <a:r>
                  <a:rPr sz="950" b="1" spc="10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70</a:t>
                </a:r>
                <a:endParaRPr sz="950" dirty="0">
                  <a:latin typeface="Arial"/>
                  <a:cs typeface="Arial"/>
                </a:endParaRPr>
              </a:p>
            </p:txBody>
          </p:sp>
          <p:sp>
            <p:nvSpPr>
              <p:cNvPr id="29" name="object 14"/>
              <p:cNvSpPr txBox="1"/>
              <p:nvPr/>
            </p:nvSpPr>
            <p:spPr>
              <a:xfrm>
                <a:off x="2819171" y="2979908"/>
                <a:ext cx="62697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0" name="object 13"/>
              <p:cNvSpPr txBox="1"/>
              <p:nvPr/>
            </p:nvSpPr>
            <p:spPr>
              <a:xfrm>
                <a:off x="2881868" y="2979908"/>
                <a:ext cx="112102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1" name="object 12"/>
              <p:cNvSpPr txBox="1"/>
              <p:nvPr/>
            </p:nvSpPr>
            <p:spPr>
              <a:xfrm>
                <a:off x="2993970" y="2979908"/>
                <a:ext cx="3173870" cy="851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650"/>
                  </a:lnSpc>
                  <a:spcBef>
                    <a:spcPts val="20"/>
                  </a:spcBef>
                </a:pPr>
                <a:endParaRPr sz="650"/>
              </a:p>
            </p:txBody>
          </p:sp>
          <p:sp>
            <p:nvSpPr>
              <p:cNvPr id="32" name="object 11"/>
              <p:cNvSpPr txBox="1"/>
              <p:nvPr/>
            </p:nvSpPr>
            <p:spPr>
              <a:xfrm>
                <a:off x="2993970" y="3065009"/>
                <a:ext cx="1434590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3" name="object 10"/>
              <p:cNvSpPr txBox="1"/>
              <p:nvPr/>
            </p:nvSpPr>
            <p:spPr>
              <a:xfrm>
                <a:off x="4428560" y="3065009"/>
                <a:ext cx="104507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4" name="object 9"/>
              <p:cNvSpPr txBox="1"/>
              <p:nvPr/>
            </p:nvSpPr>
            <p:spPr>
              <a:xfrm>
                <a:off x="4533067" y="3065009"/>
                <a:ext cx="1634773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5" name="object 8"/>
              <p:cNvSpPr txBox="1"/>
              <p:nvPr/>
            </p:nvSpPr>
            <p:spPr>
              <a:xfrm>
                <a:off x="2819171" y="5798577"/>
                <a:ext cx="62697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6" name="object 7"/>
              <p:cNvSpPr txBox="1"/>
              <p:nvPr/>
            </p:nvSpPr>
            <p:spPr>
              <a:xfrm>
                <a:off x="2881868" y="5798577"/>
                <a:ext cx="112102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</p:grpSp>
        <p:sp>
          <p:nvSpPr>
            <p:cNvPr id="11" name="object 5"/>
            <p:cNvSpPr txBox="1"/>
            <p:nvPr/>
          </p:nvSpPr>
          <p:spPr>
            <a:xfrm>
              <a:off x="4428560" y="5798577"/>
              <a:ext cx="104507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/>
            </a:p>
          </p:txBody>
        </p:sp>
        <p:sp>
          <p:nvSpPr>
            <p:cNvPr id="12" name="object 4"/>
            <p:cNvSpPr txBox="1"/>
            <p:nvPr/>
          </p:nvSpPr>
          <p:spPr>
            <a:xfrm>
              <a:off x="4533067" y="5798577"/>
              <a:ext cx="1634773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41332">
                <a:lnSpc>
                  <a:spcPct val="95825"/>
                </a:lnSpc>
                <a:spcBef>
                  <a:spcPts val="190"/>
                </a:spcBef>
              </a:pP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50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60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70       </a:t>
              </a:r>
              <a:r>
                <a:rPr sz="950" b="1" spc="10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80</a:t>
              </a:r>
              <a:endParaRPr sz="950">
                <a:latin typeface="Arial"/>
                <a:cs typeface="Arial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3541415" y="3056429"/>
            <a:ext cx="2473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i="1" dirty="0"/>
              <a:t>Interior Points</a:t>
            </a:r>
            <a:endParaRPr lang="tr-TR" sz="2400" dirty="0"/>
          </a:p>
        </p:txBody>
      </p:sp>
      <p:sp>
        <p:nvSpPr>
          <p:cNvPr id="45" name="Line 45"/>
          <p:cNvSpPr>
            <a:spLocks noChangeShapeType="1"/>
          </p:cNvSpPr>
          <p:nvPr/>
        </p:nvSpPr>
        <p:spPr bwMode="auto">
          <a:xfrm flipH="1">
            <a:off x="3949991" y="3622025"/>
            <a:ext cx="0" cy="127269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602233" y="3749836"/>
            <a:ext cx="2473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i="1" dirty="0"/>
              <a:t>Boundary Points</a:t>
            </a:r>
            <a:endParaRPr lang="tr-TR" sz="2400" dirty="0"/>
          </a:p>
        </p:txBody>
      </p:sp>
      <p:sp>
        <p:nvSpPr>
          <p:cNvPr id="47" name="TextBox 46"/>
          <p:cNvSpPr txBox="1"/>
          <p:nvPr/>
        </p:nvSpPr>
        <p:spPr>
          <a:xfrm>
            <a:off x="5994491" y="4603206"/>
            <a:ext cx="2473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i="1" dirty="0"/>
              <a:t>Extreme Points</a:t>
            </a:r>
            <a:endParaRPr lang="tr-TR" sz="2400" dirty="0"/>
          </a:p>
        </p:txBody>
      </p:sp>
      <p:sp>
        <p:nvSpPr>
          <p:cNvPr id="49" name="Line 45"/>
          <p:cNvSpPr>
            <a:spLocks noChangeShapeType="1"/>
          </p:cNvSpPr>
          <p:nvPr/>
        </p:nvSpPr>
        <p:spPr bwMode="auto">
          <a:xfrm>
            <a:off x="5027203" y="4196779"/>
            <a:ext cx="13660" cy="123028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" name="Line 45"/>
          <p:cNvSpPr>
            <a:spLocks noChangeShapeType="1"/>
          </p:cNvSpPr>
          <p:nvPr/>
        </p:nvSpPr>
        <p:spPr bwMode="auto">
          <a:xfrm flipH="1">
            <a:off x="5425044" y="5066550"/>
            <a:ext cx="935491" cy="63384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lowchart: Connector 3"/>
          <p:cNvSpPr/>
          <p:nvPr/>
        </p:nvSpPr>
        <p:spPr>
          <a:xfrm>
            <a:off x="3865167" y="4918332"/>
            <a:ext cx="144825" cy="14747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lowchart: Connector 50"/>
          <p:cNvSpPr/>
          <p:nvPr/>
        </p:nvSpPr>
        <p:spPr>
          <a:xfrm>
            <a:off x="4963608" y="5460097"/>
            <a:ext cx="144825" cy="14747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Connector 51"/>
          <p:cNvSpPr/>
          <p:nvPr/>
        </p:nvSpPr>
        <p:spPr>
          <a:xfrm>
            <a:off x="5301958" y="5686217"/>
            <a:ext cx="144825" cy="14747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367544" y="4165918"/>
            <a:ext cx="24731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An extreme point (vertex) is the intersection of </a:t>
            </a:r>
            <a:r>
              <a:rPr lang="tr-TR" sz="2400" dirty="0" err="1"/>
              <a:t>constraints</a:t>
            </a:r>
            <a:r>
              <a:rPr lang="tr-TR" sz="2400" dirty="0"/>
              <a:t> that lies at the boundary of the feasible region.</a:t>
            </a:r>
          </a:p>
        </p:txBody>
      </p:sp>
      <p:sp>
        <p:nvSpPr>
          <p:cNvPr id="48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00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6" grpId="0"/>
      <p:bldP spid="47" grpId="0"/>
      <p:bldP spid="4" grpId="0" animBg="1"/>
      <p:bldP spid="51" grpId="0" animBg="1"/>
      <p:bldP spid="52" grpId="0" animBg="1"/>
      <p:bldP spid="5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Analysis of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1295400"/>
          </a:xfrm>
        </p:spPr>
        <p:txBody>
          <a:bodyPr>
            <a:normAutofit fontScale="77500" lnSpcReduction="20000"/>
          </a:bodyPr>
          <a:lstStyle/>
          <a:p>
            <a:r>
              <a:rPr lang="en-US" sz="3400" b="1" dirty="0"/>
              <a:t>Solution</a:t>
            </a:r>
            <a:r>
              <a:rPr lang="en-US" dirty="0"/>
              <a:t>: A solution to a mathematical problem is obtained by</a:t>
            </a:r>
          </a:p>
          <a:p>
            <a:pPr marL="0" indent="0">
              <a:buNone/>
            </a:pPr>
            <a:r>
              <a:rPr lang="en-US" dirty="0"/>
              <a:t>specifying certain values for decision variables. Solutions are</a:t>
            </a:r>
          </a:p>
          <a:p>
            <a:pPr marL="0" indent="0">
              <a:buNone/>
            </a:pPr>
            <a:r>
              <a:rPr lang="en-US" dirty="0"/>
              <a:t>categorized as follows:</a:t>
            </a:r>
            <a:endParaRPr lang="tr-TR" dirty="0"/>
          </a:p>
          <a:p>
            <a:pPr marL="40005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5638" y="2306647"/>
                <a:ext cx="2868562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u="sng" dirty="0"/>
                  <a:t>Optimal Solution(s)</a:t>
                </a:r>
                <a:r>
                  <a:rPr lang="en-US" sz="2400" dirty="0"/>
                  <a:t>: If a solution gives the best objective</a:t>
                </a:r>
                <a:r>
                  <a:rPr lang="tr-TR" sz="2400" dirty="0"/>
                  <a:t> </a:t>
                </a:r>
                <a:r>
                  <a:rPr lang="en-US" sz="2400" dirty="0"/>
                  <a:t>function value while satisfying all of the constraints, then</a:t>
                </a:r>
                <a:r>
                  <a:rPr lang="tr-TR" sz="2400" dirty="0"/>
                  <a:t> </a:t>
                </a:r>
                <a:r>
                  <a:rPr lang="en-US" sz="2400" dirty="0"/>
                  <a:t>the solution is optimal.</a:t>
                </a:r>
                <a:endParaRPr lang="tr-TR" sz="2400" dirty="0"/>
              </a:p>
              <a:p>
                <a:endParaRPr lang="tr-TR" sz="2400" dirty="0"/>
              </a:p>
              <a:p>
                <a:r>
                  <a:rPr lang="en-US" sz="2400" i="1" dirty="0"/>
                  <a:t>Ex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sz="2400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= 40,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sz="2400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= 20 is the optimal solution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38" y="2306647"/>
                <a:ext cx="2868562" cy="4154984"/>
              </a:xfrm>
              <a:prstGeom prst="rect">
                <a:avLst/>
              </a:prstGeom>
              <a:blipFill>
                <a:blip r:embed="rId2"/>
                <a:stretch>
                  <a:fillRect l="-3397" t="-1173" r="-3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3384167" y="2391252"/>
            <a:ext cx="4388232" cy="4251049"/>
            <a:chOff x="2810454" y="2790344"/>
            <a:chExt cx="3584024" cy="3206795"/>
          </a:xfrm>
        </p:grpSpPr>
        <p:sp>
          <p:nvSpPr>
            <p:cNvPr id="7" name="object 44"/>
            <p:cNvSpPr/>
            <p:nvPr/>
          </p:nvSpPr>
          <p:spPr>
            <a:xfrm>
              <a:off x="4428560" y="3065009"/>
              <a:ext cx="104507" cy="2915716"/>
            </a:xfrm>
            <a:custGeom>
              <a:avLst/>
              <a:gdLst/>
              <a:ahLst/>
              <a:cxnLst/>
              <a:rect l="l" t="t" r="r" b="b"/>
              <a:pathLst>
                <a:path w="104507" h="2915716">
                  <a:moveTo>
                    <a:pt x="0" y="0"/>
                  </a:moveTo>
                  <a:lnTo>
                    <a:pt x="0" y="2915716"/>
                  </a:lnTo>
                  <a:lnTo>
                    <a:pt x="104507" y="2915716"/>
                  </a:lnTo>
                  <a:lnTo>
                    <a:pt x="1045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" name="object 47"/>
            <p:cNvSpPr/>
            <p:nvPr/>
          </p:nvSpPr>
          <p:spPr>
            <a:xfrm>
              <a:off x="2923196" y="4147991"/>
              <a:ext cx="2102108" cy="1674414"/>
            </a:xfrm>
            <a:custGeom>
              <a:avLst/>
              <a:gdLst/>
              <a:ahLst/>
              <a:cxnLst/>
              <a:rect l="l" t="t" r="r" b="b"/>
              <a:pathLst>
                <a:path w="2643987" h="2644002">
                  <a:moveTo>
                    <a:pt x="0" y="74645"/>
                  </a:moveTo>
                  <a:lnTo>
                    <a:pt x="2569342" y="2644002"/>
                  </a:lnTo>
                  <a:lnTo>
                    <a:pt x="2643987" y="2569357"/>
                  </a:lnTo>
                  <a:lnTo>
                    <a:pt x="74645" y="0"/>
                  </a:lnTo>
                  <a:lnTo>
                    <a:pt x="0" y="74645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" name="object 54"/>
            <p:cNvSpPr/>
            <p:nvPr/>
          </p:nvSpPr>
          <p:spPr>
            <a:xfrm>
              <a:off x="2890584" y="4147991"/>
              <a:ext cx="2134720" cy="1696869"/>
            </a:xfrm>
            <a:custGeom>
              <a:avLst/>
              <a:gdLst/>
              <a:ahLst/>
              <a:cxnLst/>
              <a:rect l="l" t="t" r="r" b="b"/>
              <a:pathLst>
                <a:path w="2546954" h="2546954">
                  <a:moveTo>
                    <a:pt x="0" y="0"/>
                  </a:moveTo>
                  <a:lnTo>
                    <a:pt x="2546954" y="2546954"/>
                  </a:lnTo>
                </a:path>
              </a:pathLst>
            </a:custGeom>
            <a:ln w="12441">
              <a:solidFill>
                <a:srgbClr val="0070C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" name="object 55"/>
            <p:cNvSpPr/>
            <p:nvPr/>
          </p:nvSpPr>
          <p:spPr>
            <a:xfrm>
              <a:off x="4415119" y="3042606"/>
              <a:ext cx="4480" cy="2954533"/>
            </a:xfrm>
            <a:custGeom>
              <a:avLst/>
              <a:gdLst/>
              <a:ahLst/>
              <a:cxnLst/>
              <a:rect l="l" t="t" r="r" b="b"/>
              <a:pathLst>
                <a:path w="4480" h="2954533">
                  <a:moveTo>
                    <a:pt x="4480" y="2954533"/>
                  </a:moveTo>
                  <a:lnTo>
                    <a:pt x="0" y="0"/>
                  </a:lnTo>
                </a:path>
              </a:pathLst>
            </a:custGeom>
            <a:ln w="12441">
              <a:solidFill>
                <a:srgbClr val="00B05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2810454" y="2790344"/>
              <a:ext cx="3584024" cy="3184407"/>
              <a:chOff x="2810454" y="2790344"/>
              <a:chExt cx="3584024" cy="3184407"/>
            </a:xfrm>
          </p:grpSpPr>
          <p:sp>
            <p:nvSpPr>
              <p:cNvPr id="14" name="object 45"/>
              <p:cNvSpPr/>
              <p:nvPr/>
            </p:nvSpPr>
            <p:spPr>
              <a:xfrm>
                <a:off x="2881868" y="2979908"/>
                <a:ext cx="104507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w="104507" h="2994842">
                    <a:moveTo>
                      <a:pt x="0" y="0"/>
                    </a:moveTo>
                    <a:lnTo>
                      <a:pt x="0" y="2994842"/>
                    </a:lnTo>
                    <a:lnTo>
                      <a:pt x="104507" y="2994842"/>
                    </a:lnTo>
                    <a:lnTo>
                      <a:pt x="104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5" name="object 46"/>
              <p:cNvSpPr/>
              <p:nvPr/>
            </p:nvSpPr>
            <p:spPr>
              <a:xfrm>
                <a:off x="2819171" y="5798577"/>
                <a:ext cx="3348669" cy="111968"/>
              </a:xfrm>
              <a:custGeom>
                <a:avLst/>
                <a:gdLst/>
                <a:ahLst/>
                <a:cxnLst/>
                <a:rect l="l" t="t" r="r" b="b"/>
                <a:pathLst>
                  <a:path w="3348669" h="111968">
                    <a:moveTo>
                      <a:pt x="0" y="111968"/>
                    </a:moveTo>
                    <a:lnTo>
                      <a:pt x="3348669" y="105994"/>
                    </a:lnTo>
                    <a:lnTo>
                      <a:pt x="3348669" y="0"/>
                    </a:lnTo>
                    <a:lnTo>
                      <a:pt x="0" y="5974"/>
                    </a:lnTo>
                    <a:lnTo>
                      <a:pt x="0" y="111968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6" name="object 48"/>
              <p:cNvSpPr/>
              <p:nvPr/>
            </p:nvSpPr>
            <p:spPr>
              <a:xfrm>
                <a:off x="2948297" y="4376469"/>
                <a:ext cx="2948300" cy="1595749"/>
              </a:xfrm>
              <a:custGeom>
                <a:avLst/>
                <a:gdLst/>
                <a:ahLst/>
                <a:cxnLst/>
                <a:rect l="l" t="t" r="r" b="b"/>
                <a:pathLst>
                  <a:path w="3288944" h="2042342">
                    <a:moveTo>
                      <a:pt x="0" y="91074"/>
                    </a:moveTo>
                    <a:lnTo>
                      <a:pt x="3233699" y="2042342"/>
                    </a:lnTo>
                    <a:lnTo>
                      <a:pt x="3288944" y="1951268"/>
                    </a:lnTo>
                    <a:lnTo>
                      <a:pt x="55229" y="0"/>
                    </a:lnTo>
                    <a:lnTo>
                      <a:pt x="0" y="91074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7" name="object 49"/>
              <p:cNvSpPr/>
              <p:nvPr/>
            </p:nvSpPr>
            <p:spPr>
              <a:xfrm>
                <a:off x="2995345" y="2979908"/>
                <a:ext cx="0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h="2994842">
                    <a:moveTo>
                      <a:pt x="0" y="0"/>
                    </a:moveTo>
                    <a:lnTo>
                      <a:pt x="0" y="2994842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8" name="object 50"/>
              <p:cNvSpPr/>
              <p:nvPr/>
            </p:nvSpPr>
            <p:spPr>
              <a:xfrm>
                <a:off x="2949061" y="2979908"/>
                <a:ext cx="92552" cy="46283"/>
              </a:xfrm>
              <a:custGeom>
                <a:avLst/>
                <a:gdLst/>
                <a:ahLst/>
                <a:cxnLst/>
                <a:rect l="l" t="t" r="r" b="b"/>
                <a:pathLst>
                  <a:path w="92552" h="46283">
                    <a:moveTo>
                      <a:pt x="92552" y="46283"/>
                    </a:moveTo>
                    <a:lnTo>
                      <a:pt x="46283" y="0"/>
                    </a:lnTo>
                    <a:lnTo>
                      <a:pt x="0" y="46283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9" name="object 51"/>
              <p:cNvSpPr/>
              <p:nvPr/>
            </p:nvSpPr>
            <p:spPr>
              <a:xfrm>
                <a:off x="2819171" y="5798577"/>
                <a:ext cx="334866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48669">
                    <a:moveTo>
                      <a:pt x="3348669" y="0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20" name="object 52"/>
              <p:cNvSpPr/>
              <p:nvPr/>
            </p:nvSpPr>
            <p:spPr>
              <a:xfrm>
                <a:off x="6121557" y="5752293"/>
                <a:ext cx="46283" cy="92567"/>
              </a:xfrm>
              <a:custGeom>
                <a:avLst/>
                <a:gdLst/>
                <a:ahLst/>
                <a:cxnLst/>
                <a:rect l="l" t="t" r="r" b="b"/>
                <a:pathLst>
                  <a:path w="46283" h="92567">
                    <a:moveTo>
                      <a:pt x="0" y="92567"/>
                    </a:moveTo>
                    <a:lnTo>
                      <a:pt x="46283" y="46283"/>
                    </a:ln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21" name="object 53"/>
              <p:cNvSpPr/>
              <p:nvPr/>
            </p:nvSpPr>
            <p:spPr>
              <a:xfrm>
                <a:off x="2979613" y="4435399"/>
                <a:ext cx="2916984" cy="1487091"/>
              </a:xfrm>
              <a:custGeom>
                <a:avLst/>
                <a:gdLst/>
                <a:ahLst/>
                <a:cxnLst/>
                <a:rect l="l" t="t" r="r" b="b"/>
                <a:pathLst>
                  <a:path w="3241167" h="1957242">
                    <a:moveTo>
                      <a:pt x="3241167" y="1957242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22" name="object 24"/>
              <p:cNvSpPr txBox="1"/>
              <p:nvPr/>
            </p:nvSpPr>
            <p:spPr>
              <a:xfrm>
                <a:off x="2948297" y="2790344"/>
                <a:ext cx="122440" cy="174693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295"/>
                  </a:lnSpc>
                  <a:spcBef>
                    <a:spcPts val="64"/>
                  </a:spcBef>
                </a:pPr>
                <a:r>
                  <a:rPr sz="1150" b="1" i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endParaRPr sz="1150">
                  <a:latin typeface="Times New Roman"/>
                  <a:cs typeface="Times New Roman"/>
                </a:endParaRPr>
              </a:p>
            </p:txBody>
          </p:sp>
          <p:sp>
            <p:nvSpPr>
              <p:cNvPr id="23" name="object 23"/>
              <p:cNvSpPr txBox="1"/>
              <p:nvPr/>
            </p:nvSpPr>
            <p:spPr>
              <a:xfrm>
                <a:off x="3022948" y="2881150"/>
                <a:ext cx="90093" cy="12492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30"/>
                  </a:spcBef>
                </a:pPr>
                <a:r>
                  <a:rPr sz="750" b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2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24" name="object 21"/>
              <p:cNvSpPr txBox="1"/>
              <p:nvPr/>
            </p:nvSpPr>
            <p:spPr>
              <a:xfrm>
                <a:off x="6216349" y="5697093"/>
                <a:ext cx="178129" cy="21424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610"/>
                  </a:lnSpc>
                  <a:spcBef>
                    <a:spcPts val="80"/>
                  </a:spcBef>
                </a:pPr>
                <a:r>
                  <a:rPr sz="1725" b="1" i="1" baseline="12603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125" b="1" baseline="-11595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1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25" name="object 20"/>
              <p:cNvSpPr txBox="1"/>
              <p:nvPr/>
            </p:nvSpPr>
            <p:spPr>
              <a:xfrm>
                <a:off x="3278243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26" name="object 19"/>
              <p:cNvSpPr txBox="1"/>
              <p:nvPr/>
            </p:nvSpPr>
            <p:spPr>
              <a:xfrm>
                <a:off x="3624107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27" name="object 18"/>
              <p:cNvSpPr txBox="1"/>
              <p:nvPr/>
            </p:nvSpPr>
            <p:spPr>
              <a:xfrm>
                <a:off x="3969972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28" name="object 17"/>
              <p:cNvSpPr txBox="1"/>
              <p:nvPr/>
            </p:nvSpPr>
            <p:spPr>
              <a:xfrm>
                <a:off x="4315836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29" name="object 15"/>
              <p:cNvSpPr txBox="1"/>
              <p:nvPr/>
            </p:nvSpPr>
            <p:spPr>
              <a:xfrm rot="16200000">
                <a:off x="1713594" y="4317706"/>
                <a:ext cx="2314370" cy="12065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10"/>
                  </a:spcBef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50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60       </a:t>
                </a:r>
                <a:r>
                  <a:rPr sz="950" b="1" spc="10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70</a:t>
                </a:r>
                <a:endParaRPr sz="950" dirty="0">
                  <a:latin typeface="Arial"/>
                  <a:cs typeface="Arial"/>
                </a:endParaRPr>
              </a:p>
            </p:txBody>
          </p:sp>
          <p:sp>
            <p:nvSpPr>
              <p:cNvPr id="30" name="object 14"/>
              <p:cNvSpPr txBox="1"/>
              <p:nvPr/>
            </p:nvSpPr>
            <p:spPr>
              <a:xfrm>
                <a:off x="2819171" y="2979908"/>
                <a:ext cx="62697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1" name="object 13"/>
              <p:cNvSpPr txBox="1"/>
              <p:nvPr/>
            </p:nvSpPr>
            <p:spPr>
              <a:xfrm>
                <a:off x="2881868" y="2979908"/>
                <a:ext cx="112102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2" name="object 12"/>
              <p:cNvSpPr txBox="1"/>
              <p:nvPr/>
            </p:nvSpPr>
            <p:spPr>
              <a:xfrm>
                <a:off x="2993970" y="2979908"/>
                <a:ext cx="3173870" cy="851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650"/>
                  </a:lnSpc>
                  <a:spcBef>
                    <a:spcPts val="20"/>
                  </a:spcBef>
                </a:pPr>
                <a:endParaRPr sz="650"/>
              </a:p>
            </p:txBody>
          </p:sp>
          <p:sp>
            <p:nvSpPr>
              <p:cNvPr id="33" name="object 11"/>
              <p:cNvSpPr txBox="1"/>
              <p:nvPr/>
            </p:nvSpPr>
            <p:spPr>
              <a:xfrm>
                <a:off x="2993970" y="3065009"/>
                <a:ext cx="1434590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4" name="object 10"/>
              <p:cNvSpPr txBox="1"/>
              <p:nvPr/>
            </p:nvSpPr>
            <p:spPr>
              <a:xfrm>
                <a:off x="4428560" y="3065009"/>
                <a:ext cx="104507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5" name="object 9"/>
              <p:cNvSpPr txBox="1"/>
              <p:nvPr/>
            </p:nvSpPr>
            <p:spPr>
              <a:xfrm>
                <a:off x="4533067" y="3065009"/>
                <a:ext cx="1634773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6" name="object 8"/>
              <p:cNvSpPr txBox="1"/>
              <p:nvPr/>
            </p:nvSpPr>
            <p:spPr>
              <a:xfrm>
                <a:off x="2819171" y="5798577"/>
                <a:ext cx="62697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7" name="object 7"/>
              <p:cNvSpPr txBox="1"/>
              <p:nvPr/>
            </p:nvSpPr>
            <p:spPr>
              <a:xfrm>
                <a:off x="2881868" y="5798577"/>
                <a:ext cx="112102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</p:grpSp>
        <p:sp>
          <p:nvSpPr>
            <p:cNvPr id="12" name="object 5"/>
            <p:cNvSpPr txBox="1"/>
            <p:nvPr/>
          </p:nvSpPr>
          <p:spPr>
            <a:xfrm>
              <a:off x="4428560" y="5798577"/>
              <a:ext cx="104507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/>
            </a:p>
          </p:txBody>
        </p:sp>
        <p:sp>
          <p:nvSpPr>
            <p:cNvPr id="13" name="object 4"/>
            <p:cNvSpPr txBox="1"/>
            <p:nvPr/>
          </p:nvSpPr>
          <p:spPr>
            <a:xfrm>
              <a:off x="4533067" y="5798577"/>
              <a:ext cx="1634773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41332">
                <a:lnSpc>
                  <a:spcPct val="95825"/>
                </a:lnSpc>
                <a:spcBef>
                  <a:spcPts val="190"/>
                </a:spcBef>
              </a:pP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50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60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70       </a:t>
              </a:r>
              <a:r>
                <a:rPr sz="950" b="1" spc="10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80</a:t>
              </a:r>
              <a:endParaRPr sz="950">
                <a:latin typeface="Arial"/>
                <a:cs typeface="Arial"/>
              </a:endParaRPr>
            </a:p>
          </p:txBody>
        </p:sp>
      </p:grpSp>
      <p:sp>
        <p:nvSpPr>
          <p:cNvPr id="38" name="Star: 5 Points 4">
            <a:extLst>
              <a:ext uri="{FF2B5EF4-FFF2-40B4-BE49-F238E27FC236}">
                <a16:creationId xmlns:a16="http://schemas.microsoft.com/office/drawing/2014/main" id="{C5B22155-52E5-4322-A1E9-5CB2D57C4884}"/>
              </a:ext>
            </a:extLst>
          </p:cNvPr>
          <p:cNvSpPr/>
          <p:nvPr/>
        </p:nvSpPr>
        <p:spPr>
          <a:xfrm>
            <a:off x="5212955" y="5657598"/>
            <a:ext cx="304800" cy="28762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9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D82584-1BDF-5259-158D-E897F14B5F08}"/>
              </a:ext>
            </a:extLst>
          </p:cNvPr>
          <p:cNvCxnSpPr>
            <a:cxnSpLocks/>
          </p:cNvCxnSpPr>
          <p:nvPr/>
        </p:nvCxnSpPr>
        <p:spPr>
          <a:xfrm>
            <a:off x="3369750" y="4502867"/>
            <a:ext cx="1702325" cy="2228166"/>
          </a:xfrm>
          <a:prstGeom prst="line">
            <a:avLst/>
          </a:prstGeom>
          <a:ln w="3492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E6C642D-ADBB-4F1D-BF5D-E3D5782E6199}"/>
              </a:ext>
            </a:extLst>
          </p:cNvPr>
          <p:cNvCxnSpPr>
            <a:cxnSpLocks/>
          </p:cNvCxnSpPr>
          <p:nvPr/>
        </p:nvCxnSpPr>
        <p:spPr>
          <a:xfrm flipV="1">
            <a:off x="4319737" y="4933763"/>
            <a:ext cx="992198" cy="761796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E24800F-E3BE-FA5A-6E0C-25CF287DFD73}"/>
              </a:ext>
            </a:extLst>
          </p:cNvPr>
          <p:cNvCxnSpPr>
            <a:cxnSpLocks/>
          </p:cNvCxnSpPr>
          <p:nvPr/>
        </p:nvCxnSpPr>
        <p:spPr>
          <a:xfrm>
            <a:off x="4193777" y="4284968"/>
            <a:ext cx="1702325" cy="2228166"/>
          </a:xfrm>
          <a:prstGeom prst="line">
            <a:avLst/>
          </a:prstGeom>
          <a:ln w="3492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2D3A15F-079F-34C2-45FF-22C08EFC7C4C}"/>
              </a:ext>
            </a:extLst>
          </p:cNvPr>
          <p:cNvCxnSpPr>
            <a:cxnSpLocks/>
          </p:cNvCxnSpPr>
          <p:nvPr/>
        </p:nvCxnSpPr>
        <p:spPr>
          <a:xfrm flipV="1">
            <a:off x="5143764" y="4715864"/>
            <a:ext cx="992198" cy="761796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779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92FC23-84E0-4240-9F70-3385ED3FD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Analysis of Solutions</a:t>
            </a:r>
            <a:endParaRPr lang="tr-T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D27B77-6CAF-4622-86AB-322C21CF6A5B}"/>
              </a:ext>
            </a:extLst>
          </p:cNvPr>
          <p:cNvSpPr txBox="1">
            <a:spLocks/>
          </p:cNvSpPr>
          <p:nvPr/>
        </p:nvSpPr>
        <p:spPr>
          <a:xfrm>
            <a:off x="228600" y="1417638"/>
            <a:ext cx="8686800" cy="1295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400" b="1" dirty="0"/>
              <a:t>Solution</a:t>
            </a:r>
            <a:r>
              <a:rPr lang="en-US" dirty="0"/>
              <a:t>: A solution to a mathematical problem is obtained by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specifying certain values for decision variables. Solutions are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categorized as follows:</a:t>
            </a:r>
            <a:endParaRPr lang="tr-TR" dirty="0"/>
          </a:p>
          <a:p>
            <a:pPr marL="400050" lvl="1" indent="0">
              <a:buFont typeface="Arial" pitchFamily="34" charset="0"/>
              <a:buNone/>
            </a:pPr>
            <a:endParaRPr lang="en-US" dirty="0"/>
          </a:p>
          <a:p>
            <a:pPr marL="457200" lvl="1" indent="0">
              <a:buFont typeface="Arial" pitchFamily="34" charset="0"/>
              <a:buNone/>
            </a:pP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4BA765-8F42-4499-BE1D-18C71EA6462B}"/>
              </a:ext>
            </a:extLst>
          </p:cNvPr>
          <p:cNvSpPr txBox="1"/>
          <p:nvPr/>
        </p:nvSpPr>
        <p:spPr>
          <a:xfrm>
            <a:off x="228600" y="2703016"/>
            <a:ext cx="3124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i="1" u="sng" dirty="0" err="1"/>
              <a:t>Unbounded</a:t>
            </a:r>
            <a:r>
              <a:rPr lang="en-US" sz="2400" i="1" u="sng" dirty="0"/>
              <a:t> Solution(s)</a:t>
            </a:r>
            <a:r>
              <a:rPr lang="en-US" sz="2400" dirty="0"/>
              <a:t>: </a:t>
            </a:r>
            <a:r>
              <a:rPr lang="tr-TR" sz="2400" dirty="0"/>
              <a:t>I</a:t>
            </a:r>
            <a:r>
              <a:rPr lang="en-US" sz="2400" dirty="0"/>
              <a:t>f </a:t>
            </a:r>
            <a:r>
              <a:rPr lang="tr-TR" sz="2400" dirty="0"/>
              <a:t>a</a:t>
            </a:r>
            <a:r>
              <a:rPr lang="en-US" sz="2400" dirty="0"/>
              <a:t> solution can be made infinitely large without violating any of the constraints in the problem, then</a:t>
            </a:r>
            <a:r>
              <a:rPr lang="tr-TR" sz="2400" dirty="0"/>
              <a:t> </a:t>
            </a:r>
            <a:r>
              <a:rPr lang="en-US" sz="2400" dirty="0"/>
              <a:t>the solution is unbounded.</a:t>
            </a:r>
            <a:endParaRPr lang="tr-TR" sz="24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D85D294-8E62-4139-95B9-44AFF14CCC66}"/>
              </a:ext>
            </a:extLst>
          </p:cNvPr>
          <p:cNvGrpSpPr/>
          <p:nvPr/>
        </p:nvGrpSpPr>
        <p:grpSpPr>
          <a:xfrm>
            <a:off x="3384167" y="2391252"/>
            <a:ext cx="4388232" cy="4251049"/>
            <a:chOff x="2810454" y="2790344"/>
            <a:chExt cx="3584024" cy="3206795"/>
          </a:xfrm>
        </p:grpSpPr>
        <p:sp>
          <p:nvSpPr>
            <p:cNvPr id="39" name="object 44">
              <a:extLst>
                <a:ext uri="{FF2B5EF4-FFF2-40B4-BE49-F238E27FC236}">
                  <a16:creationId xmlns:a16="http://schemas.microsoft.com/office/drawing/2014/main" id="{E4B37754-2CA0-49D7-A475-1F07BD74D3B1}"/>
                </a:ext>
              </a:extLst>
            </p:cNvPr>
            <p:cNvSpPr/>
            <p:nvPr/>
          </p:nvSpPr>
          <p:spPr>
            <a:xfrm>
              <a:off x="4428560" y="3065009"/>
              <a:ext cx="104507" cy="2915716"/>
            </a:xfrm>
            <a:custGeom>
              <a:avLst/>
              <a:gdLst/>
              <a:ahLst/>
              <a:cxnLst/>
              <a:rect l="l" t="t" r="r" b="b"/>
              <a:pathLst>
                <a:path w="104507" h="2915716">
                  <a:moveTo>
                    <a:pt x="0" y="0"/>
                  </a:moveTo>
                  <a:lnTo>
                    <a:pt x="0" y="2915716"/>
                  </a:lnTo>
                  <a:lnTo>
                    <a:pt x="104507" y="2915716"/>
                  </a:lnTo>
                  <a:lnTo>
                    <a:pt x="1045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40" name="object 47">
              <a:extLst>
                <a:ext uri="{FF2B5EF4-FFF2-40B4-BE49-F238E27FC236}">
                  <a16:creationId xmlns:a16="http://schemas.microsoft.com/office/drawing/2014/main" id="{5ACCB5DA-D8BB-475F-B83C-823C28EF0047}"/>
                </a:ext>
              </a:extLst>
            </p:cNvPr>
            <p:cNvSpPr/>
            <p:nvPr/>
          </p:nvSpPr>
          <p:spPr>
            <a:xfrm>
              <a:off x="2923196" y="4147991"/>
              <a:ext cx="2102108" cy="1674414"/>
            </a:xfrm>
            <a:custGeom>
              <a:avLst/>
              <a:gdLst/>
              <a:ahLst/>
              <a:cxnLst/>
              <a:rect l="l" t="t" r="r" b="b"/>
              <a:pathLst>
                <a:path w="2643987" h="2644002">
                  <a:moveTo>
                    <a:pt x="0" y="74645"/>
                  </a:moveTo>
                  <a:lnTo>
                    <a:pt x="2569342" y="2644002"/>
                  </a:lnTo>
                  <a:lnTo>
                    <a:pt x="2643987" y="2569357"/>
                  </a:lnTo>
                  <a:lnTo>
                    <a:pt x="74645" y="0"/>
                  </a:lnTo>
                  <a:lnTo>
                    <a:pt x="0" y="74645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41" name="object 54">
              <a:extLst>
                <a:ext uri="{FF2B5EF4-FFF2-40B4-BE49-F238E27FC236}">
                  <a16:creationId xmlns:a16="http://schemas.microsoft.com/office/drawing/2014/main" id="{EBF6E605-7C14-4C94-BFAD-FD39F5BAFCA7}"/>
                </a:ext>
              </a:extLst>
            </p:cNvPr>
            <p:cNvSpPr/>
            <p:nvPr/>
          </p:nvSpPr>
          <p:spPr>
            <a:xfrm>
              <a:off x="2890584" y="4147991"/>
              <a:ext cx="2134720" cy="1696869"/>
            </a:xfrm>
            <a:custGeom>
              <a:avLst/>
              <a:gdLst/>
              <a:ahLst/>
              <a:cxnLst/>
              <a:rect l="l" t="t" r="r" b="b"/>
              <a:pathLst>
                <a:path w="2546954" h="2546954">
                  <a:moveTo>
                    <a:pt x="0" y="0"/>
                  </a:moveTo>
                  <a:lnTo>
                    <a:pt x="2546954" y="2546954"/>
                  </a:lnTo>
                </a:path>
              </a:pathLst>
            </a:custGeom>
            <a:ln w="12441">
              <a:solidFill>
                <a:srgbClr val="0070C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42" name="object 55">
              <a:extLst>
                <a:ext uri="{FF2B5EF4-FFF2-40B4-BE49-F238E27FC236}">
                  <a16:creationId xmlns:a16="http://schemas.microsoft.com/office/drawing/2014/main" id="{B1F79510-67F4-444A-946D-62503999A8DE}"/>
                </a:ext>
              </a:extLst>
            </p:cNvPr>
            <p:cNvSpPr/>
            <p:nvPr/>
          </p:nvSpPr>
          <p:spPr>
            <a:xfrm>
              <a:off x="4415119" y="3042606"/>
              <a:ext cx="4480" cy="2954533"/>
            </a:xfrm>
            <a:custGeom>
              <a:avLst/>
              <a:gdLst/>
              <a:ahLst/>
              <a:cxnLst/>
              <a:rect l="l" t="t" r="r" b="b"/>
              <a:pathLst>
                <a:path w="4480" h="2954533">
                  <a:moveTo>
                    <a:pt x="4480" y="2954533"/>
                  </a:moveTo>
                  <a:lnTo>
                    <a:pt x="0" y="0"/>
                  </a:lnTo>
                </a:path>
              </a:pathLst>
            </a:custGeom>
            <a:ln w="12441">
              <a:solidFill>
                <a:srgbClr val="00B05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435C431-50B8-43E0-AFD6-A955D395C4B8}"/>
                </a:ext>
              </a:extLst>
            </p:cNvPr>
            <p:cNvGrpSpPr/>
            <p:nvPr/>
          </p:nvGrpSpPr>
          <p:grpSpPr>
            <a:xfrm>
              <a:off x="2810454" y="2790344"/>
              <a:ext cx="3584024" cy="3184407"/>
              <a:chOff x="2810454" y="2790344"/>
              <a:chExt cx="3584024" cy="3184407"/>
            </a:xfrm>
          </p:grpSpPr>
          <p:sp>
            <p:nvSpPr>
              <p:cNvPr id="46" name="object 45">
                <a:extLst>
                  <a:ext uri="{FF2B5EF4-FFF2-40B4-BE49-F238E27FC236}">
                    <a16:creationId xmlns:a16="http://schemas.microsoft.com/office/drawing/2014/main" id="{B789FBBB-AAF8-490B-9471-814B3C1C5C06}"/>
                  </a:ext>
                </a:extLst>
              </p:cNvPr>
              <p:cNvSpPr/>
              <p:nvPr/>
            </p:nvSpPr>
            <p:spPr>
              <a:xfrm>
                <a:off x="2881868" y="2979908"/>
                <a:ext cx="104507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w="104507" h="2994842">
                    <a:moveTo>
                      <a:pt x="0" y="0"/>
                    </a:moveTo>
                    <a:lnTo>
                      <a:pt x="0" y="2994842"/>
                    </a:lnTo>
                    <a:lnTo>
                      <a:pt x="104507" y="2994842"/>
                    </a:lnTo>
                    <a:lnTo>
                      <a:pt x="104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47" name="object 46">
                <a:extLst>
                  <a:ext uri="{FF2B5EF4-FFF2-40B4-BE49-F238E27FC236}">
                    <a16:creationId xmlns:a16="http://schemas.microsoft.com/office/drawing/2014/main" id="{640CB810-5D9C-4854-B11E-7FE7A10AAAFD}"/>
                  </a:ext>
                </a:extLst>
              </p:cNvPr>
              <p:cNvSpPr/>
              <p:nvPr/>
            </p:nvSpPr>
            <p:spPr>
              <a:xfrm>
                <a:off x="2819171" y="5798577"/>
                <a:ext cx="3348669" cy="111968"/>
              </a:xfrm>
              <a:custGeom>
                <a:avLst/>
                <a:gdLst/>
                <a:ahLst/>
                <a:cxnLst/>
                <a:rect l="l" t="t" r="r" b="b"/>
                <a:pathLst>
                  <a:path w="3348669" h="111968">
                    <a:moveTo>
                      <a:pt x="0" y="111968"/>
                    </a:moveTo>
                    <a:lnTo>
                      <a:pt x="3348669" y="105994"/>
                    </a:lnTo>
                    <a:lnTo>
                      <a:pt x="3348669" y="0"/>
                    </a:lnTo>
                    <a:lnTo>
                      <a:pt x="0" y="5974"/>
                    </a:lnTo>
                    <a:lnTo>
                      <a:pt x="0" y="111968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48" name="object 48">
                <a:extLst>
                  <a:ext uri="{FF2B5EF4-FFF2-40B4-BE49-F238E27FC236}">
                    <a16:creationId xmlns:a16="http://schemas.microsoft.com/office/drawing/2014/main" id="{09C81C34-7305-4A93-A14F-65C1D50A8EF3}"/>
                  </a:ext>
                </a:extLst>
              </p:cNvPr>
              <p:cNvSpPr/>
              <p:nvPr/>
            </p:nvSpPr>
            <p:spPr>
              <a:xfrm>
                <a:off x="2948297" y="4376469"/>
                <a:ext cx="2948300" cy="1595749"/>
              </a:xfrm>
              <a:custGeom>
                <a:avLst/>
                <a:gdLst/>
                <a:ahLst/>
                <a:cxnLst/>
                <a:rect l="l" t="t" r="r" b="b"/>
                <a:pathLst>
                  <a:path w="3288944" h="2042342">
                    <a:moveTo>
                      <a:pt x="0" y="91074"/>
                    </a:moveTo>
                    <a:lnTo>
                      <a:pt x="3233699" y="2042342"/>
                    </a:lnTo>
                    <a:lnTo>
                      <a:pt x="3288944" y="1951268"/>
                    </a:lnTo>
                    <a:lnTo>
                      <a:pt x="55229" y="0"/>
                    </a:lnTo>
                    <a:lnTo>
                      <a:pt x="0" y="91074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49" name="object 49">
                <a:extLst>
                  <a:ext uri="{FF2B5EF4-FFF2-40B4-BE49-F238E27FC236}">
                    <a16:creationId xmlns:a16="http://schemas.microsoft.com/office/drawing/2014/main" id="{87A4ED42-3761-4877-BA8B-0A18B20B0E6D}"/>
                  </a:ext>
                </a:extLst>
              </p:cNvPr>
              <p:cNvSpPr/>
              <p:nvPr/>
            </p:nvSpPr>
            <p:spPr>
              <a:xfrm>
                <a:off x="2995345" y="2979908"/>
                <a:ext cx="0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h="2994842">
                    <a:moveTo>
                      <a:pt x="0" y="0"/>
                    </a:moveTo>
                    <a:lnTo>
                      <a:pt x="0" y="2994842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50" name="object 50">
                <a:extLst>
                  <a:ext uri="{FF2B5EF4-FFF2-40B4-BE49-F238E27FC236}">
                    <a16:creationId xmlns:a16="http://schemas.microsoft.com/office/drawing/2014/main" id="{4DE6F855-BF4C-4F2C-888D-0742E0A64ACB}"/>
                  </a:ext>
                </a:extLst>
              </p:cNvPr>
              <p:cNvSpPr/>
              <p:nvPr/>
            </p:nvSpPr>
            <p:spPr>
              <a:xfrm>
                <a:off x="2949061" y="2979908"/>
                <a:ext cx="92552" cy="46283"/>
              </a:xfrm>
              <a:custGeom>
                <a:avLst/>
                <a:gdLst/>
                <a:ahLst/>
                <a:cxnLst/>
                <a:rect l="l" t="t" r="r" b="b"/>
                <a:pathLst>
                  <a:path w="92552" h="46283">
                    <a:moveTo>
                      <a:pt x="92552" y="46283"/>
                    </a:moveTo>
                    <a:lnTo>
                      <a:pt x="46283" y="0"/>
                    </a:lnTo>
                    <a:lnTo>
                      <a:pt x="0" y="46283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51" name="object 51">
                <a:extLst>
                  <a:ext uri="{FF2B5EF4-FFF2-40B4-BE49-F238E27FC236}">
                    <a16:creationId xmlns:a16="http://schemas.microsoft.com/office/drawing/2014/main" id="{84AB18B4-92B1-4870-B45E-DA607F1468E5}"/>
                  </a:ext>
                </a:extLst>
              </p:cNvPr>
              <p:cNvSpPr/>
              <p:nvPr/>
            </p:nvSpPr>
            <p:spPr>
              <a:xfrm>
                <a:off x="2819171" y="5798577"/>
                <a:ext cx="334866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48669">
                    <a:moveTo>
                      <a:pt x="3348669" y="0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52" name="object 52">
                <a:extLst>
                  <a:ext uri="{FF2B5EF4-FFF2-40B4-BE49-F238E27FC236}">
                    <a16:creationId xmlns:a16="http://schemas.microsoft.com/office/drawing/2014/main" id="{FEBE56F8-040E-493E-A3A0-C6EDB27573E3}"/>
                  </a:ext>
                </a:extLst>
              </p:cNvPr>
              <p:cNvSpPr/>
              <p:nvPr/>
            </p:nvSpPr>
            <p:spPr>
              <a:xfrm>
                <a:off x="6121557" y="5752293"/>
                <a:ext cx="46283" cy="92567"/>
              </a:xfrm>
              <a:custGeom>
                <a:avLst/>
                <a:gdLst/>
                <a:ahLst/>
                <a:cxnLst/>
                <a:rect l="l" t="t" r="r" b="b"/>
                <a:pathLst>
                  <a:path w="46283" h="92567">
                    <a:moveTo>
                      <a:pt x="0" y="92567"/>
                    </a:moveTo>
                    <a:lnTo>
                      <a:pt x="46283" y="46283"/>
                    </a:ln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53" name="object 53">
                <a:extLst>
                  <a:ext uri="{FF2B5EF4-FFF2-40B4-BE49-F238E27FC236}">
                    <a16:creationId xmlns:a16="http://schemas.microsoft.com/office/drawing/2014/main" id="{677F16F5-0B2D-4603-8A83-E0D04CFC19D6}"/>
                  </a:ext>
                </a:extLst>
              </p:cNvPr>
              <p:cNvSpPr/>
              <p:nvPr/>
            </p:nvSpPr>
            <p:spPr>
              <a:xfrm>
                <a:off x="2979613" y="4435399"/>
                <a:ext cx="2916984" cy="1487091"/>
              </a:xfrm>
              <a:custGeom>
                <a:avLst/>
                <a:gdLst/>
                <a:ahLst/>
                <a:cxnLst/>
                <a:rect l="l" t="t" r="r" b="b"/>
                <a:pathLst>
                  <a:path w="3241167" h="1957242">
                    <a:moveTo>
                      <a:pt x="3241167" y="1957242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54" name="object 24">
                <a:extLst>
                  <a:ext uri="{FF2B5EF4-FFF2-40B4-BE49-F238E27FC236}">
                    <a16:creationId xmlns:a16="http://schemas.microsoft.com/office/drawing/2014/main" id="{11C29E5E-2D39-4097-90F5-ECCF60899F89}"/>
                  </a:ext>
                </a:extLst>
              </p:cNvPr>
              <p:cNvSpPr txBox="1"/>
              <p:nvPr/>
            </p:nvSpPr>
            <p:spPr>
              <a:xfrm>
                <a:off x="2948297" y="2790344"/>
                <a:ext cx="122440" cy="174693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295"/>
                  </a:lnSpc>
                  <a:spcBef>
                    <a:spcPts val="64"/>
                  </a:spcBef>
                </a:pPr>
                <a:r>
                  <a:rPr sz="1150" b="1" i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endParaRPr sz="1150">
                  <a:latin typeface="Times New Roman"/>
                  <a:cs typeface="Times New Roman"/>
                </a:endParaRPr>
              </a:p>
            </p:txBody>
          </p:sp>
          <p:sp>
            <p:nvSpPr>
              <p:cNvPr id="55" name="object 23">
                <a:extLst>
                  <a:ext uri="{FF2B5EF4-FFF2-40B4-BE49-F238E27FC236}">
                    <a16:creationId xmlns:a16="http://schemas.microsoft.com/office/drawing/2014/main" id="{98F5E730-EFF4-4B07-AC9A-E4050D1431D2}"/>
                  </a:ext>
                </a:extLst>
              </p:cNvPr>
              <p:cNvSpPr txBox="1"/>
              <p:nvPr/>
            </p:nvSpPr>
            <p:spPr>
              <a:xfrm>
                <a:off x="3022948" y="2881150"/>
                <a:ext cx="90093" cy="12492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30"/>
                  </a:spcBef>
                </a:pPr>
                <a:r>
                  <a:rPr sz="750" b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2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56" name="object 21">
                <a:extLst>
                  <a:ext uri="{FF2B5EF4-FFF2-40B4-BE49-F238E27FC236}">
                    <a16:creationId xmlns:a16="http://schemas.microsoft.com/office/drawing/2014/main" id="{C98D046F-115A-4AAD-98D8-3A83BEBE0C35}"/>
                  </a:ext>
                </a:extLst>
              </p:cNvPr>
              <p:cNvSpPr txBox="1"/>
              <p:nvPr/>
            </p:nvSpPr>
            <p:spPr>
              <a:xfrm>
                <a:off x="6216349" y="5697093"/>
                <a:ext cx="178129" cy="21424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610"/>
                  </a:lnSpc>
                  <a:spcBef>
                    <a:spcPts val="80"/>
                  </a:spcBef>
                </a:pPr>
                <a:r>
                  <a:rPr sz="1725" b="1" i="1" baseline="12603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125" b="1" baseline="-11595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1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57" name="object 20">
                <a:extLst>
                  <a:ext uri="{FF2B5EF4-FFF2-40B4-BE49-F238E27FC236}">
                    <a16:creationId xmlns:a16="http://schemas.microsoft.com/office/drawing/2014/main" id="{86CA1C52-4352-4209-ADD0-679861287FCC}"/>
                  </a:ext>
                </a:extLst>
              </p:cNvPr>
              <p:cNvSpPr txBox="1"/>
              <p:nvPr/>
            </p:nvSpPr>
            <p:spPr>
              <a:xfrm>
                <a:off x="3278243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58" name="object 19">
                <a:extLst>
                  <a:ext uri="{FF2B5EF4-FFF2-40B4-BE49-F238E27FC236}">
                    <a16:creationId xmlns:a16="http://schemas.microsoft.com/office/drawing/2014/main" id="{F8E8C5F7-5150-4005-AF27-015F64A6D489}"/>
                  </a:ext>
                </a:extLst>
              </p:cNvPr>
              <p:cNvSpPr txBox="1"/>
              <p:nvPr/>
            </p:nvSpPr>
            <p:spPr>
              <a:xfrm>
                <a:off x="3624107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59" name="object 18">
                <a:extLst>
                  <a:ext uri="{FF2B5EF4-FFF2-40B4-BE49-F238E27FC236}">
                    <a16:creationId xmlns:a16="http://schemas.microsoft.com/office/drawing/2014/main" id="{B77069AD-D793-4D47-903C-DF4DE34C3FD0}"/>
                  </a:ext>
                </a:extLst>
              </p:cNvPr>
              <p:cNvSpPr txBox="1"/>
              <p:nvPr/>
            </p:nvSpPr>
            <p:spPr>
              <a:xfrm>
                <a:off x="3969972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60" name="object 17">
                <a:extLst>
                  <a:ext uri="{FF2B5EF4-FFF2-40B4-BE49-F238E27FC236}">
                    <a16:creationId xmlns:a16="http://schemas.microsoft.com/office/drawing/2014/main" id="{B8D184AD-6E7D-4E1D-9361-33EF05B2AE33}"/>
                  </a:ext>
                </a:extLst>
              </p:cNvPr>
              <p:cNvSpPr txBox="1"/>
              <p:nvPr/>
            </p:nvSpPr>
            <p:spPr>
              <a:xfrm>
                <a:off x="4315836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61" name="object 15">
                <a:extLst>
                  <a:ext uri="{FF2B5EF4-FFF2-40B4-BE49-F238E27FC236}">
                    <a16:creationId xmlns:a16="http://schemas.microsoft.com/office/drawing/2014/main" id="{54A6E525-A086-48F7-B263-3D88148FAA06}"/>
                  </a:ext>
                </a:extLst>
              </p:cNvPr>
              <p:cNvSpPr txBox="1"/>
              <p:nvPr/>
            </p:nvSpPr>
            <p:spPr>
              <a:xfrm rot="16200000">
                <a:off x="1713594" y="4317706"/>
                <a:ext cx="2314370" cy="12065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10"/>
                  </a:spcBef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50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60       </a:t>
                </a:r>
                <a:r>
                  <a:rPr sz="950" b="1" spc="10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70</a:t>
                </a:r>
                <a:endParaRPr sz="950" dirty="0">
                  <a:latin typeface="Arial"/>
                  <a:cs typeface="Arial"/>
                </a:endParaRPr>
              </a:p>
            </p:txBody>
          </p:sp>
          <p:sp>
            <p:nvSpPr>
              <p:cNvPr id="62" name="object 14">
                <a:extLst>
                  <a:ext uri="{FF2B5EF4-FFF2-40B4-BE49-F238E27FC236}">
                    <a16:creationId xmlns:a16="http://schemas.microsoft.com/office/drawing/2014/main" id="{5969D145-0A7D-43D3-8CF6-BB907EEC0D7E}"/>
                  </a:ext>
                </a:extLst>
              </p:cNvPr>
              <p:cNvSpPr txBox="1"/>
              <p:nvPr/>
            </p:nvSpPr>
            <p:spPr>
              <a:xfrm>
                <a:off x="2819171" y="2979908"/>
                <a:ext cx="62697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63" name="object 13">
                <a:extLst>
                  <a:ext uri="{FF2B5EF4-FFF2-40B4-BE49-F238E27FC236}">
                    <a16:creationId xmlns:a16="http://schemas.microsoft.com/office/drawing/2014/main" id="{1096CECD-ACF8-405D-A1EF-D9AA34FA66A7}"/>
                  </a:ext>
                </a:extLst>
              </p:cNvPr>
              <p:cNvSpPr txBox="1"/>
              <p:nvPr/>
            </p:nvSpPr>
            <p:spPr>
              <a:xfrm>
                <a:off x="2881868" y="2979908"/>
                <a:ext cx="112102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64" name="object 12">
                <a:extLst>
                  <a:ext uri="{FF2B5EF4-FFF2-40B4-BE49-F238E27FC236}">
                    <a16:creationId xmlns:a16="http://schemas.microsoft.com/office/drawing/2014/main" id="{45AD7329-B66A-47F0-A4BF-8021D558AE30}"/>
                  </a:ext>
                </a:extLst>
              </p:cNvPr>
              <p:cNvSpPr txBox="1"/>
              <p:nvPr/>
            </p:nvSpPr>
            <p:spPr>
              <a:xfrm>
                <a:off x="2993970" y="2979908"/>
                <a:ext cx="3173870" cy="851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650"/>
                  </a:lnSpc>
                  <a:spcBef>
                    <a:spcPts val="20"/>
                  </a:spcBef>
                </a:pPr>
                <a:endParaRPr sz="650"/>
              </a:p>
            </p:txBody>
          </p:sp>
          <p:sp>
            <p:nvSpPr>
              <p:cNvPr id="65" name="object 11">
                <a:extLst>
                  <a:ext uri="{FF2B5EF4-FFF2-40B4-BE49-F238E27FC236}">
                    <a16:creationId xmlns:a16="http://schemas.microsoft.com/office/drawing/2014/main" id="{477CD256-A76A-42EA-B19D-625862B40A73}"/>
                  </a:ext>
                </a:extLst>
              </p:cNvPr>
              <p:cNvSpPr txBox="1"/>
              <p:nvPr/>
            </p:nvSpPr>
            <p:spPr>
              <a:xfrm>
                <a:off x="2993970" y="3065009"/>
                <a:ext cx="1434590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66" name="object 10">
                <a:extLst>
                  <a:ext uri="{FF2B5EF4-FFF2-40B4-BE49-F238E27FC236}">
                    <a16:creationId xmlns:a16="http://schemas.microsoft.com/office/drawing/2014/main" id="{781A6480-52D2-47A7-9EEF-A372E5DFEE87}"/>
                  </a:ext>
                </a:extLst>
              </p:cNvPr>
              <p:cNvSpPr txBox="1"/>
              <p:nvPr/>
            </p:nvSpPr>
            <p:spPr>
              <a:xfrm>
                <a:off x="4428560" y="3065009"/>
                <a:ext cx="104507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67" name="object 9">
                <a:extLst>
                  <a:ext uri="{FF2B5EF4-FFF2-40B4-BE49-F238E27FC236}">
                    <a16:creationId xmlns:a16="http://schemas.microsoft.com/office/drawing/2014/main" id="{D46FED83-9246-4F06-AFB0-F41DE1412635}"/>
                  </a:ext>
                </a:extLst>
              </p:cNvPr>
              <p:cNvSpPr txBox="1"/>
              <p:nvPr/>
            </p:nvSpPr>
            <p:spPr>
              <a:xfrm>
                <a:off x="4533067" y="3065009"/>
                <a:ext cx="1634773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68" name="object 8">
                <a:extLst>
                  <a:ext uri="{FF2B5EF4-FFF2-40B4-BE49-F238E27FC236}">
                    <a16:creationId xmlns:a16="http://schemas.microsoft.com/office/drawing/2014/main" id="{28751F56-19C9-45ED-BA0B-9FB7EF784957}"/>
                  </a:ext>
                </a:extLst>
              </p:cNvPr>
              <p:cNvSpPr txBox="1"/>
              <p:nvPr/>
            </p:nvSpPr>
            <p:spPr>
              <a:xfrm>
                <a:off x="2819171" y="5798577"/>
                <a:ext cx="62697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69" name="object 7">
                <a:extLst>
                  <a:ext uri="{FF2B5EF4-FFF2-40B4-BE49-F238E27FC236}">
                    <a16:creationId xmlns:a16="http://schemas.microsoft.com/office/drawing/2014/main" id="{EF67792E-B814-4CF7-84CB-93E0AD88CC5C}"/>
                  </a:ext>
                </a:extLst>
              </p:cNvPr>
              <p:cNvSpPr txBox="1"/>
              <p:nvPr/>
            </p:nvSpPr>
            <p:spPr>
              <a:xfrm>
                <a:off x="2881868" y="5798577"/>
                <a:ext cx="112102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</p:grpSp>
        <p:sp>
          <p:nvSpPr>
            <p:cNvPr id="44" name="object 5">
              <a:extLst>
                <a:ext uri="{FF2B5EF4-FFF2-40B4-BE49-F238E27FC236}">
                  <a16:creationId xmlns:a16="http://schemas.microsoft.com/office/drawing/2014/main" id="{B03308FB-711B-4F90-9A37-174C63CD9FBC}"/>
                </a:ext>
              </a:extLst>
            </p:cNvPr>
            <p:cNvSpPr txBox="1"/>
            <p:nvPr/>
          </p:nvSpPr>
          <p:spPr>
            <a:xfrm>
              <a:off x="4428560" y="5798577"/>
              <a:ext cx="104507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/>
            </a:p>
          </p:txBody>
        </p:sp>
        <p:sp>
          <p:nvSpPr>
            <p:cNvPr id="45" name="object 4">
              <a:extLst>
                <a:ext uri="{FF2B5EF4-FFF2-40B4-BE49-F238E27FC236}">
                  <a16:creationId xmlns:a16="http://schemas.microsoft.com/office/drawing/2014/main" id="{87B665F5-9792-475E-8482-076D8567EE87}"/>
                </a:ext>
              </a:extLst>
            </p:cNvPr>
            <p:cNvSpPr txBox="1"/>
            <p:nvPr/>
          </p:nvSpPr>
          <p:spPr>
            <a:xfrm>
              <a:off x="4533067" y="5798577"/>
              <a:ext cx="1634773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41332">
                <a:lnSpc>
                  <a:spcPct val="95825"/>
                </a:lnSpc>
                <a:spcBef>
                  <a:spcPts val="190"/>
                </a:spcBef>
              </a:pP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50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60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70       </a:t>
              </a:r>
              <a:r>
                <a:rPr sz="950" b="1" spc="10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80</a:t>
              </a:r>
              <a:endParaRPr sz="950">
                <a:latin typeface="Arial"/>
                <a:cs typeface="Arial"/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126C79CF-247E-4FC3-9044-F5D7DC5DCD55}"/>
              </a:ext>
            </a:extLst>
          </p:cNvPr>
          <p:cNvSpPr txBox="1"/>
          <p:nvPr/>
        </p:nvSpPr>
        <p:spPr>
          <a:xfrm>
            <a:off x="6265108" y="5539111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Constraint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E257D84-8A4D-41F5-9B30-4D93E3156B4B}"/>
              </a:ext>
            </a:extLst>
          </p:cNvPr>
          <p:cNvSpPr txBox="1"/>
          <p:nvPr/>
        </p:nvSpPr>
        <p:spPr>
          <a:xfrm>
            <a:off x="3628316" y="3818311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0070C0"/>
                </a:solidFill>
              </a:rPr>
              <a:t>Constraint 2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3511587-8084-4835-8082-3158A037A643}"/>
              </a:ext>
            </a:extLst>
          </p:cNvPr>
          <p:cNvSpPr txBox="1"/>
          <p:nvPr/>
        </p:nvSpPr>
        <p:spPr>
          <a:xfrm>
            <a:off x="4043968" y="2897470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00B050"/>
                </a:solidFill>
              </a:rPr>
              <a:t>Constraint 3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5CA6801-BF65-4F51-BCA3-1EA3D0FC7E66}"/>
              </a:ext>
            </a:extLst>
          </p:cNvPr>
          <p:cNvCxnSpPr>
            <a:cxnSpLocks/>
          </p:cNvCxnSpPr>
          <p:nvPr/>
        </p:nvCxnSpPr>
        <p:spPr>
          <a:xfrm flipV="1">
            <a:off x="3591284" y="4109243"/>
            <a:ext cx="374470" cy="4627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187E50A-C2BE-474B-B0C5-1239C62B293C}"/>
              </a:ext>
            </a:extLst>
          </p:cNvPr>
          <p:cNvCxnSpPr>
            <a:cxnSpLocks/>
          </p:cNvCxnSpPr>
          <p:nvPr/>
        </p:nvCxnSpPr>
        <p:spPr>
          <a:xfrm flipV="1">
            <a:off x="7154947" y="6015759"/>
            <a:ext cx="361009" cy="5264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555B0CF-A8E4-4F43-9137-CDC440F24D43}"/>
              </a:ext>
            </a:extLst>
          </p:cNvPr>
          <p:cNvCxnSpPr>
            <a:cxnSpLocks/>
          </p:cNvCxnSpPr>
          <p:nvPr/>
        </p:nvCxnSpPr>
        <p:spPr>
          <a:xfrm flipV="1">
            <a:off x="3580313" y="3818311"/>
            <a:ext cx="376609" cy="50447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406461B-90D3-4EF7-9E54-AD417B609589}"/>
              </a:ext>
            </a:extLst>
          </p:cNvPr>
          <p:cNvCxnSpPr>
            <a:cxnSpLocks/>
          </p:cNvCxnSpPr>
          <p:nvPr/>
        </p:nvCxnSpPr>
        <p:spPr>
          <a:xfrm flipV="1">
            <a:off x="6078026" y="5908443"/>
            <a:ext cx="364350" cy="49561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48D94BC-D3F5-4688-AF62-E8ACBC0035ED}"/>
              </a:ext>
            </a:extLst>
          </p:cNvPr>
          <p:cNvCxnSpPr>
            <a:cxnSpLocks/>
          </p:cNvCxnSpPr>
          <p:nvPr/>
        </p:nvCxnSpPr>
        <p:spPr>
          <a:xfrm>
            <a:off x="5327467" y="2758714"/>
            <a:ext cx="937641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60DBB13-B348-4F19-B1F6-DF517121DFB1}"/>
              </a:ext>
            </a:extLst>
          </p:cNvPr>
          <p:cNvCxnSpPr>
            <a:cxnSpLocks/>
          </p:cNvCxnSpPr>
          <p:nvPr/>
        </p:nvCxnSpPr>
        <p:spPr>
          <a:xfrm>
            <a:off x="4427002" y="4196687"/>
            <a:ext cx="1702325" cy="2228166"/>
          </a:xfrm>
          <a:prstGeom prst="line">
            <a:avLst/>
          </a:prstGeom>
          <a:ln w="3492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1DBE722-4728-44B8-B341-AE08F38B0936}"/>
              </a:ext>
            </a:extLst>
          </p:cNvPr>
          <p:cNvCxnSpPr>
            <a:cxnSpLocks/>
          </p:cNvCxnSpPr>
          <p:nvPr/>
        </p:nvCxnSpPr>
        <p:spPr>
          <a:xfrm>
            <a:off x="5650752" y="3454046"/>
            <a:ext cx="1702325" cy="2228166"/>
          </a:xfrm>
          <a:prstGeom prst="line">
            <a:avLst/>
          </a:prstGeom>
          <a:ln w="3492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3B38849-D7D5-4A93-A7CE-9BE828457994}"/>
              </a:ext>
            </a:extLst>
          </p:cNvPr>
          <p:cNvCxnSpPr>
            <a:cxnSpLocks/>
          </p:cNvCxnSpPr>
          <p:nvPr/>
        </p:nvCxnSpPr>
        <p:spPr>
          <a:xfrm flipV="1">
            <a:off x="5376989" y="4627583"/>
            <a:ext cx="992198" cy="761796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D01D4D5B-3BB9-4D63-AF10-2BD32A82918D}"/>
                  </a:ext>
                </a:extLst>
              </p:cNvPr>
              <p:cNvSpPr txBox="1"/>
              <p:nvPr/>
            </p:nvSpPr>
            <p:spPr>
              <a:xfrm>
                <a:off x="5536918" y="3160135"/>
                <a:ext cx="32268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tr-TR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tr-TR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max</m:t>
                          </m:r>
                          <m:r>
                            <m:rPr>
                              <m:sty m:val="p"/>
                            </m:rPr>
                            <a:rPr lang="tr-TR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imize</m:t>
                          </m:r>
                          <m:r>
                            <a:rPr lang="tr-TR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   </m:t>
                          </m:r>
                        </m:fName>
                        <m:e>
                          <m:r>
                            <a:rPr lang="tr-TR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3000</m:t>
                          </m:r>
                        </m:e>
                      </m:func>
                      <m:sSub>
                        <m:sSubPr>
                          <m:ctrlPr>
                            <a:rPr lang="tr-TR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tr-TR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+2000 </m:t>
                      </m:r>
                      <m:sSub>
                        <m:sSubPr>
                          <m:ctrlPr>
                            <a:rPr lang="tr-TR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D01D4D5B-3BB9-4D63-AF10-2BD32A829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6918" y="3160135"/>
                <a:ext cx="322684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8F36519-D2AA-4C02-AAE1-90AA5DEBBF43}"/>
              </a:ext>
            </a:extLst>
          </p:cNvPr>
          <p:cNvCxnSpPr>
            <a:cxnSpLocks/>
          </p:cNvCxnSpPr>
          <p:nvPr/>
        </p:nvCxnSpPr>
        <p:spPr>
          <a:xfrm flipV="1">
            <a:off x="6675586" y="3930887"/>
            <a:ext cx="992198" cy="761796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48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/>
      <p:bldP spid="72" grpId="0"/>
      <p:bldP spid="8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c8d1ff64-2a61-4ac7-9c62-a1c6a8830ab9"/>
  <p:tag name="TPVERSION" val="8"/>
  <p:tag name="TPFULLVERSION" val="8.2.6.7"/>
  <p:tag name="PPTVERSION" val="16"/>
  <p:tag name="TPOS" val="2"/>
  <p:tag name="TPLASTSAVEVERSION" val="6.2 P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A6517E19E6431E4C8A7F2D18BC1C9A95" ma:contentTypeVersion="15" ma:contentTypeDescription="Yeni belge oluşturun." ma:contentTypeScope="" ma:versionID="78c2748d14fd25ae1efbce9d1d6f453f">
  <xsd:schema xmlns:xsd="http://www.w3.org/2001/XMLSchema" xmlns:xs="http://www.w3.org/2001/XMLSchema" xmlns:p="http://schemas.microsoft.com/office/2006/metadata/properties" xmlns:ns3="65edfe5a-496a-4133-a6fa-9b9305227640" xmlns:ns4="9f613a20-c6af-4a69-a0b9-b93c46c5b1f4" targetNamespace="http://schemas.microsoft.com/office/2006/metadata/properties" ma:root="true" ma:fieldsID="727ace8560e388592fb74c59d2b0aae7" ns3:_="" ns4:_="">
    <xsd:import namespace="65edfe5a-496a-4133-a6fa-9b9305227640"/>
    <xsd:import namespace="9f613a20-c6af-4a69-a0b9-b93c46c5b1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edfe5a-496a-4133-a6fa-9b93052276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613a20-c6af-4a69-a0b9-b93c46c5b1f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Paylaşılanl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Ayrıntıları ile Paylaşıld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İpucu Paylaşımı Karması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44450A-0106-4271-8A50-C88FB6C47E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edfe5a-496a-4133-a6fa-9b9305227640"/>
    <ds:schemaRef ds:uri="9f613a20-c6af-4a69-a0b9-b93c46c5b1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A02B94-4B4D-4718-B22B-D670309B87A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5008471-915D-4FFD-A91E-179150D0BA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24394</TotalTime>
  <Words>2278</Words>
  <Application>Microsoft Office PowerPoint</Application>
  <PresentationFormat>On-screen Show (4:3)</PresentationFormat>
  <Paragraphs>466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Arial Narrow</vt:lpstr>
      <vt:lpstr>Calibri</vt:lpstr>
      <vt:lpstr>Cambria Math</vt:lpstr>
      <vt:lpstr>Comic Sans MS</vt:lpstr>
      <vt:lpstr>Times New Roman</vt:lpstr>
      <vt:lpstr>Wingdings</vt:lpstr>
      <vt:lpstr>Office Theme</vt:lpstr>
      <vt:lpstr>Default Design</vt:lpstr>
      <vt:lpstr>INDR 100   INTRODUCTION TO INDUSTRIAL ENGINEERING</vt:lpstr>
      <vt:lpstr>Agenda of the Day</vt:lpstr>
      <vt:lpstr>How to Build a Good Model?</vt:lpstr>
      <vt:lpstr>How to Build a Good Model?</vt:lpstr>
      <vt:lpstr>How to Build a Good Model?</vt:lpstr>
      <vt:lpstr>Mathematical Programming Model Types</vt:lpstr>
      <vt:lpstr>Mathematical Model: Linear Programming</vt:lpstr>
      <vt:lpstr>Linear Programming</vt:lpstr>
      <vt:lpstr>Linear Programming Models</vt:lpstr>
      <vt:lpstr>Linear Programming Example: Automotive Manufacturing Plant</vt:lpstr>
      <vt:lpstr>Linear Programming Models</vt:lpstr>
      <vt:lpstr>Nonlinear Programming Models</vt:lpstr>
      <vt:lpstr>Integer Linear Programming Models</vt:lpstr>
      <vt:lpstr>Basic Forms of Integer Programming Models</vt:lpstr>
      <vt:lpstr>Example: Automotive Manufacturing Plant</vt:lpstr>
      <vt:lpstr>Example: Decision Variables</vt:lpstr>
      <vt:lpstr>Graphical Representation</vt:lpstr>
      <vt:lpstr>Graphical Representation of the Problem</vt:lpstr>
      <vt:lpstr>Graphical Representation of the Problem</vt:lpstr>
      <vt:lpstr>Graphical Representation of the Problem</vt:lpstr>
      <vt:lpstr>Graphical Representation of the Problem</vt:lpstr>
      <vt:lpstr>Graphical Representation of the Problem</vt:lpstr>
      <vt:lpstr>Solution of Problems</vt:lpstr>
      <vt:lpstr>Analysis of Solutions</vt:lpstr>
      <vt:lpstr>Analysis of Solutions</vt:lpstr>
      <vt:lpstr>Analysis of Solutions</vt:lpstr>
      <vt:lpstr>Analysis of Solutions</vt:lpstr>
      <vt:lpstr>Analysis of Solutions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Ceyda Oguz</dc:creator>
  <cp:lastModifiedBy>Barış Yıldız</cp:lastModifiedBy>
  <cp:revision>192</cp:revision>
  <dcterms:created xsi:type="dcterms:W3CDTF">2014-10-13T19:35:04Z</dcterms:created>
  <dcterms:modified xsi:type="dcterms:W3CDTF">2026-04-21T06:23:31Z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0x010100A6517E19E6431E4C8A7F2D18BC1C9A95</vt:lpwstr>
  </property>
</Properties>
</file>