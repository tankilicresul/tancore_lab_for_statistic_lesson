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0" r:id="rId4"/>
  </p:sldMasterIdLst>
  <p:notesMasterIdLst>
    <p:notesMasterId r:id="rId21"/>
  </p:notesMasterIdLst>
  <p:handoutMasterIdLst>
    <p:handoutMasterId r:id="rId22"/>
  </p:handoutMasterIdLst>
  <p:sldIdLst>
    <p:sldId id="483" r:id="rId5"/>
    <p:sldId id="488" r:id="rId6"/>
    <p:sldId id="485" r:id="rId7"/>
    <p:sldId id="489" r:id="rId8"/>
    <p:sldId id="490" r:id="rId9"/>
    <p:sldId id="491" r:id="rId10"/>
    <p:sldId id="497" r:id="rId11"/>
    <p:sldId id="486" r:id="rId12"/>
    <p:sldId id="495" r:id="rId13"/>
    <p:sldId id="492" r:id="rId14"/>
    <p:sldId id="493" r:id="rId15"/>
    <p:sldId id="494" r:id="rId16"/>
    <p:sldId id="498" r:id="rId17"/>
    <p:sldId id="499" r:id="rId18"/>
    <p:sldId id="501" r:id="rId19"/>
    <p:sldId id="50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 autoAdjust="0"/>
    <p:restoredTop sz="90426" autoAdjust="0"/>
  </p:normalViewPr>
  <p:slideViewPr>
    <p:cSldViewPr>
      <p:cViewPr varScale="1">
        <p:scale>
          <a:sx n="106" d="100"/>
          <a:sy n="106" d="100"/>
        </p:scale>
        <p:origin x="164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B1751-53FA-494E-A22D-83BC3D3BD15E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F49E5-F237-422F-BECF-948F219AA8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115075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5E1D1-EDAF-4317-8CC1-85D29715138F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5FECA-DFE6-4B41-B2F2-CC6A3A14CD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80474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2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3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4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4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3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6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B047-1C70-B4CE-E006-DC8F046C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259E-9F3D-7062-75D5-D7497E42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0F9D-542D-4C55-5E6D-A6B540BC8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426075"/>
          </a:xfrm>
        </p:spPr>
        <p:txBody>
          <a:bodyPr>
            <a:normAutofit/>
          </a:bodyPr>
          <a:lstStyle/>
          <a:p>
            <a:pPr marL="0" indent="0">
              <a:buClr>
                <a:srgbClr val="0066FF"/>
              </a:buClr>
              <a:buSzPct val="80000"/>
              <a:buNone/>
            </a:pP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Examples of mathematical models: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mathematical programming models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simulation models</a:t>
            </a:r>
          </a:p>
          <a:p>
            <a:pPr lvl="1">
              <a:buClr>
                <a:srgbClr val="0066FF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econometric models</a:t>
            </a:r>
          </a:p>
          <a:p>
            <a:pPr marL="457200" lvl="1" indent="0">
              <a:buClr>
                <a:srgbClr val="0066FF"/>
              </a:buClr>
              <a:buSzPct val="90000"/>
              <a:buNone/>
            </a:pPr>
            <a:endParaRPr lang="en-US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9951FD-5C51-57ED-5B40-07650D89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02E1-23B5-439A-A138-A14DE58A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57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A8B6F-4DC5-9CF9-B14D-B9A0B33E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EA01-8878-259D-990C-CBAF3DAD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11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Econometric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F1A94-D509-A3AD-4703-2A2AA3B96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112837"/>
            <a:ext cx="8991600" cy="5426075"/>
          </a:xfrm>
        </p:spPr>
        <p:txBody>
          <a:bodyPr>
            <a:normAutofit/>
          </a:bodyPr>
          <a:lstStyle/>
          <a:p>
            <a:pPr marL="457200" lvl="1" indent="0">
              <a:buClr>
                <a:srgbClr val="0066FF"/>
              </a:buClr>
              <a:buSzPct val="90000"/>
              <a:buNone/>
            </a:pP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sz="3200" dirty="0"/>
              <a:t>Using statistical models to quantify relationships in data to support decisions.</a:t>
            </a:r>
          </a:p>
          <a:p>
            <a:pPr lvl="1">
              <a:buClr>
                <a:srgbClr val="0066FF"/>
              </a:buClr>
              <a:buSzPct val="90000"/>
            </a:pPr>
            <a:r>
              <a:rPr lang="en-US" sz="3200" dirty="0">
                <a:latin typeface="+mj-lt"/>
                <a:cs typeface="Arial" panose="020B0604020202020204" pitchFamily="34" charset="0"/>
              </a:rPr>
              <a:t>Causation vs Correlation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398EDC-48DE-EAD7-6DDF-65A14192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290D8-636B-2232-0F39-357A8693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graph of dots and numbers&#10;&#10;AI-generated content may be incorrect.">
            <a:extLst>
              <a:ext uri="{FF2B5EF4-FFF2-40B4-BE49-F238E27FC236}">
                <a16:creationId xmlns:a16="http://schemas.microsoft.com/office/drawing/2014/main" id="{BCF540AD-3251-5109-8D61-89A1B88C7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7"/>
          <a:stretch>
            <a:fillRect/>
          </a:stretch>
        </p:blipFill>
        <p:spPr>
          <a:xfrm>
            <a:off x="1524000" y="2857417"/>
            <a:ext cx="6096000" cy="346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1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CD8E-B138-20CF-4E53-9478B17C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026F-579C-6D95-E4EA-29F978A4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589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Ordinary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15D58-1C34-1452-2530-2053FEE87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1485899"/>
                <a:ext cx="8991600" cy="4870449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0"/>
                  </a:spcBef>
                  <a:spcAft>
                    <a:spcPts val="900"/>
                  </a:spcAft>
                </a:pPr>
                <a:r>
                  <a:rPr lang="en-US" dirty="0"/>
                  <a:t>We want to understand how one variable (say </a:t>
                </a:r>
                <a:r>
                  <a:rPr lang="en-US" b="1" dirty="0"/>
                  <a:t>y</a:t>
                </a:r>
                <a:r>
                  <a:rPr lang="en-US" dirty="0"/>
                  <a:t>) depends on another variable (say </a:t>
                </a:r>
                <a:r>
                  <a:rPr lang="en-US" b="1" dirty="0"/>
                  <a:t>x</a:t>
                </a:r>
                <a:r>
                  <a:rPr lang="en-US" dirty="0"/>
                  <a:t>).</a:t>
                </a:r>
                <a:br>
                  <a:rPr lang="en-US" dirty="0"/>
                </a:br>
                <a:r>
                  <a:rPr lang="en-US" dirty="0"/>
                  <a:t>For example: </a:t>
                </a:r>
                <a:r>
                  <a:rPr lang="en-US" i="1" dirty="0"/>
                  <a:t>Does study time predict exam score?</a:t>
                </a:r>
                <a:endParaRPr lang="en-US" dirty="0"/>
              </a:p>
              <a:p>
                <a:pPr>
                  <a:spcBef>
                    <a:spcPts val="0"/>
                  </a:spcBef>
                  <a:spcAft>
                    <a:spcPts val="900"/>
                  </a:spcAft>
                </a:pPr>
                <a:r>
                  <a:rPr lang="en-US" dirty="0"/>
                  <a:t>We have data points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en-US" dirty="0"/>
                  <a:t>These are observations collected from the real world.</a:t>
                </a:r>
              </a:p>
              <a:p>
                <a:pPr>
                  <a:spcBef>
                    <a:spcPts val="0"/>
                  </a:spcBef>
                  <a:spcAft>
                    <a:spcPts val="900"/>
                  </a:spcAft>
                </a:pPr>
                <a:r>
                  <a:rPr lang="en-US" dirty="0"/>
                  <a:t>Goal: Find a straight line that best fits the data.</a:t>
                </a:r>
              </a:p>
              <a:p>
                <a:pPr marL="0" indent="0">
                  <a:spcBef>
                    <a:spcPts val="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𝑏𝑥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0"/>
                  </a:spcBef>
                  <a:spcAft>
                    <a:spcPts val="900"/>
                  </a:spcAft>
                </a:pPr>
                <a:r>
                  <a:rPr lang="en-US" dirty="0"/>
                  <a:t>"Best" means the line should be as close as possible to the data points.</a:t>
                </a:r>
                <a:br>
                  <a:rPr lang="en-US" dirty="0"/>
                </a:br>
                <a:r>
                  <a:rPr lang="en-US" dirty="0"/>
                  <a:t>We measure closeness using the </a:t>
                </a:r>
                <a:r>
                  <a:rPr lang="en-US" b="1" dirty="0"/>
                  <a:t>sum of squared errors</a:t>
                </a:r>
                <a:r>
                  <a:rPr lang="en-US" dirty="0"/>
                  <a:t>.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900"/>
                  </a:spcAft>
                  <a:buClr>
                    <a:srgbClr val="0066FF"/>
                  </a:buClr>
                  <a:buSzPct val="90000"/>
                  <a:buNone/>
                </a:pPr>
                <a:endParaRPr lang="en-US" sz="32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15D58-1C34-1452-2530-2053FEE87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485899"/>
                <a:ext cx="8991600" cy="4870449"/>
              </a:xfrm>
              <a:blipFill>
                <a:blip r:embed="rId2"/>
                <a:stretch>
                  <a:fillRect l="-1410" t="-3125" r="-1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18529-5A15-9264-A97D-42B36998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5D23-4227-544D-7832-795E4690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62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B4998-2087-5C66-8E01-F26D8EFB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4EF6-53BC-8A0A-906B-5CCB29BE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589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Ordinary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F5C91A-08E8-5B6B-23E2-DD4485BC9B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1239589"/>
                <a:ext cx="8991600" cy="53136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Model (prediction equation):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ar-AE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ar-AE" sz="2800" dirty="0"/>
                  <a:t>: </a:t>
                </a:r>
                <a:r>
                  <a:rPr lang="en-US" sz="2800" dirty="0"/>
                  <a:t>intercept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: slope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800" dirty="0"/>
                  <a:t>: </a:t>
                </a:r>
                <a:r>
                  <a:rPr lang="en-US" sz="2800" dirty="0"/>
                  <a:t>predicted value</a:t>
                </a:r>
              </a:p>
              <a:p>
                <a:r>
                  <a:rPr lang="en-US" sz="2800" b="1" dirty="0"/>
                  <a:t>Error for each data point: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  <a:p>
                <a:pPr marL="457200" lvl="1" indent="0">
                  <a:spcBef>
                    <a:spcPts val="0"/>
                  </a:spcBef>
                  <a:spcAft>
                    <a:spcPts val="900"/>
                  </a:spcAft>
                  <a:buClr>
                    <a:srgbClr val="0066FF"/>
                  </a:buClr>
                  <a:buSzPct val="90000"/>
                  <a:buNone/>
                </a:pPr>
                <a:endPara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F5C91A-08E8-5B6B-23E2-DD4485BC9B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239589"/>
                <a:ext cx="8991600" cy="5313611"/>
              </a:xfrm>
              <a:blipFill>
                <a:blip r:embed="rId2"/>
                <a:stretch>
                  <a:fillRect l="-1410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23FDFE-C121-CE43-3B7E-EDE01680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1E3E7-BAEA-E802-2E0F-879A0E8D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77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A6DF-B0DD-7F9B-6874-8C679290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C6B6-1902-72D0-F365-420CA6DC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589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Ordinary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09835-C307-A6F0-747A-671CA9034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1239589"/>
                <a:ext cx="8991600" cy="53136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Objective (least squares):</a:t>
                </a:r>
              </a:p>
              <a:p>
                <a:pPr marL="0" indent="0">
                  <a:buNone/>
                </a:pPr>
                <a:r>
                  <a:rPr lang="en-US" sz="2800" dirty="0"/>
                  <a:t>Choose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to minimize the total squared error: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  <a:p>
                <a:pPr marL="0" indent="0" algn="ctr">
                  <a:buNone/>
                </a:pPr>
                <a:endParaRPr lang="en-US" sz="2800" dirty="0"/>
              </a:p>
              <a:p>
                <a:r>
                  <a:rPr lang="en-US" sz="2800" b="1" dirty="0"/>
                  <a:t>Optimal (closed-form) solution: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tr-T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tr-T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tr-TR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tr-TR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ar-AE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09835-C307-A6F0-747A-671CA9034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239589"/>
                <a:ext cx="8991600" cy="5313611"/>
              </a:xfrm>
              <a:blipFill>
                <a:blip r:embed="rId2"/>
                <a:stretch>
                  <a:fillRect l="-1410" t="-7160" b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6943F0-03CE-D4DA-9FAF-8C5658B8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1F9CC-5C48-3199-DC7C-77B9E763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96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3924-86DA-C2C1-8F86-E04F6646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B9D4-5AB0-EE0F-99D3-C4ED1A72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815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Ordinary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18C9-5533-76A4-9604-EEA831B2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38200"/>
            <a:ext cx="8991600" cy="5313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Example:</a:t>
            </a:r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ECA4D6-E0C5-26E9-EEFB-B3F9D7A3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8D2FD-9AC9-9211-AE75-C1079AFC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0818B-AD13-CFD0-2E8F-6B730C6C1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477591"/>
              </p:ext>
            </p:extLst>
          </p:nvPr>
        </p:nvGraphicFramePr>
        <p:xfrm>
          <a:off x="5966460" y="954349"/>
          <a:ext cx="3002280" cy="1676400"/>
        </p:xfrm>
        <a:graphic>
          <a:graphicData uri="http://schemas.openxmlformats.org/drawingml/2006/table">
            <a:tbl>
              <a:tblPr/>
              <a:tblGrid>
                <a:gridCol w="1000760">
                  <a:extLst>
                    <a:ext uri="{9D8B030D-6E8A-4147-A177-3AD203B41FA5}">
                      <a16:colId xmlns:a16="http://schemas.microsoft.com/office/drawing/2014/main" val="3199120433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1162724053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58026818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Hours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Score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44105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63734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62512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02238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3673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F1B847-874D-91ED-8AF9-148F752B73D1}"/>
                  </a:ext>
                </a:extLst>
              </p:cNvPr>
              <p:cNvSpPr txBox="1"/>
              <p:nvPr/>
            </p:nvSpPr>
            <p:spPr>
              <a:xfrm>
                <a:off x="76200" y="1787469"/>
                <a:ext cx="8732520" cy="4755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- Step 1: Compute averages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1+2+3+4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50+55+65+70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=60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sz="2000" b="1" dirty="0"/>
                  <a:t>- Step 2: Compute the numerator and denominator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−1.5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−0.5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dirty="0"/>
                  <a:t> = 35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tr-T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−1.5</m:t>
                            </m:r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r>
                  <a:rPr lang="en-US" sz="2000" b="1" dirty="0"/>
                  <a:t>- Step 3: Compute slope and intercept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=35/5=7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lim>
                          <m:r>
                            <a:rPr lang="ar-AE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</m:t>
                      </m:r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lim>
                          <m:r>
                            <a:rPr lang="ar-AE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>
                          <a:latin typeface="Cambria Math" panose="02040503050406030204" pitchFamily="18" charset="0"/>
                        </a:rPr>
                        <m:t>=60−7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=60−17.5=42.5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sz="2000" b="1" dirty="0"/>
                  <a:t>Step 4: Final regression line:</a:t>
                </a:r>
              </a:p>
              <a:p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42.5+7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F1B847-874D-91ED-8AF9-148F752B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787469"/>
                <a:ext cx="8732520" cy="4755725"/>
              </a:xfrm>
              <a:prstGeom prst="rect">
                <a:avLst/>
              </a:prstGeom>
              <a:blipFill>
                <a:blip r:embed="rId2"/>
                <a:stretch>
                  <a:fillRect l="-3779" t="-532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05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2FF4-A5E5-372F-25AA-AFFCE648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445A-3847-7620-75F0-D5A9445B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well does our regression line fit the data?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9A81D-1D03-C5E9-5169-7F714C066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1238310"/>
                <a:ext cx="8991600" cy="53136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R² (Coefficient of Determination)</a:t>
                </a:r>
              </a:p>
              <a:p>
                <a:pPr marL="0" indent="0">
                  <a:buNone/>
                </a:pPr>
                <a:r>
                  <a:rPr lang="en-US" sz="2800" b="1" dirty="0"/>
                  <a:t>- </a:t>
                </a:r>
                <a:r>
                  <a:rPr lang="en-US" sz="2800" dirty="0"/>
                  <a:t>R² measures the proportion of variation in the dependent variable (Y) that is explained by the regression model.</a:t>
                </a:r>
              </a:p>
              <a:p>
                <a:pPr marL="0" indent="0">
                  <a:buNone/>
                </a:pPr>
                <a:r>
                  <a:rPr lang="en-US" sz="2800" dirty="0"/>
                  <a:t>- It answers:</a:t>
                </a:r>
              </a:p>
              <a:p>
                <a:pPr marL="0" indent="0">
                  <a:buNone/>
                </a:pPr>
                <a:r>
                  <a:rPr lang="en-US" sz="2800" dirty="0"/>
                  <a:t>“How much better do we predict Y using the model compared to using the mean of Y?”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2800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8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R² = 0 → model explains none of the variation</a:t>
                </a:r>
              </a:p>
              <a:p>
                <a:pPr marL="0" indent="0">
                  <a:buNone/>
                </a:pPr>
                <a:r>
                  <a:rPr lang="en-US" sz="2800" dirty="0"/>
                  <a:t>R² = 1 → model explains all variation</a:t>
                </a:r>
              </a:p>
              <a:p>
                <a:pPr marL="0" indent="0">
                  <a:buNone/>
                </a:pPr>
                <a:r>
                  <a:rPr lang="en-US" sz="2800" dirty="0"/>
                  <a:t>R² = 0.72 → “72% of the variation in Y is explained by X.”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09A81D-1D03-C5E9-5169-7F714C066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238310"/>
                <a:ext cx="8991600" cy="5313611"/>
              </a:xfrm>
              <a:blipFill>
                <a:blip r:embed="rId2"/>
                <a:stretch>
                  <a:fillRect l="-1410" t="-1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4E80A0-E2D0-E5D5-8009-EA8E2B2B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4E553-7A48-75A5-1D28-1993C5FB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90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8BFF-20F4-ECAF-F112-41B59AAD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788F-A86B-1540-195E-B28D4DC0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mtcars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256E71-529E-4423-CFF9-C42C8FE9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DB5BF-6337-21FD-C5FA-8BA4CB5C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0800" y="6356349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7B31A5-3442-45F3-91E3-A89D7A874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387982"/>
              </p:ext>
            </p:extLst>
          </p:nvPr>
        </p:nvGraphicFramePr>
        <p:xfrm>
          <a:off x="762000" y="1219200"/>
          <a:ext cx="8077200" cy="50390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30152232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29170619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585258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113592680"/>
                    </a:ext>
                  </a:extLst>
                </a:gridCol>
              </a:tblGrid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Column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Meaning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Units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Example Interpretation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96285"/>
                  </a:ext>
                </a:extLst>
              </a:tr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mpg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Miles per gallon (fuel efficiency)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miles/gallon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Higher = more fuel-efficient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299038"/>
                  </a:ext>
                </a:extLst>
              </a:tr>
              <a:tr h="47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cyl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Number of cylinders in the engine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count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4, 6, or 8 cylinders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45386"/>
                  </a:ext>
                </a:extLst>
              </a:tr>
              <a:tr h="47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disp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Engine displacement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cubic inches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 measure of engine size (larger = more powerful)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1952"/>
                  </a:ext>
                </a:extLst>
              </a:tr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hp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Horsepower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horsepower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= stronger engine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904450"/>
                  </a:ext>
                </a:extLst>
              </a:tr>
              <a:tr h="47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drat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Rear axle ratio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–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Affects acceleration and fuel consumption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29001"/>
                  </a:ext>
                </a:extLst>
              </a:tr>
              <a:tr h="188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wt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Weight of the car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1000 lbs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2.5 means 2500 </a:t>
                      </a:r>
                      <a:r>
                        <a:rPr lang="en-US" sz="1400" dirty="0" err="1"/>
                        <a:t>lbs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864880"/>
                  </a:ext>
                </a:extLst>
              </a:tr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qsec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1/4 mile time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seconds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Lower = faster acceleration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2187"/>
                  </a:ext>
                </a:extLst>
              </a:tr>
              <a:tr h="47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vs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Engine shape/type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 = V-engine, 1 = straight engine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 engines are usually more powerful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501346"/>
                  </a:ext>
                </a:extLst>
              </a:tr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am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Transmission type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 = automatic, 1 = manual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Manual often gives better mpg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955132"/>
                  </a:ext>
                </a:extLst>
              </a:tr>
              <a:tr h="330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gear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Number of forward gears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count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3, 4, or 5 gears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647966"/>
                  </a:ext>
                </a:extLst>
              </a:tr>
              <a:tr h="471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carb</a:t>
                      </a:r>
                      <a:endParaRPr lang="en-US" sz="1400" dirty="0"/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Number of carburetors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count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More carburetors = more airflow → more power</a:t>
                      </a:r>
                    </a:p>
                  </a:txBody>
                  <a:tcPr marL="47145" marR="47145" marT="23573" marB="23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79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759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BDC3-8442-FC8C-1C19-28017818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4C986A8-BA9F-BE68-45AD-9806A123D8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9570304"/>
              </p:ext>
            </p:extLst>
          </p:nvPr>
        </p:nvGraphicFramePr>
        <p:xfrm>
          <a:off x="1522139" y="1322208"/>
          <a:ext cx="5811645" cy="2106790"/>
        </p:xfrm>
        <a:graphic>
          <a:graphicData uri="http://schemas.openxmlformats.org/drawingml/2006/table">
            <a:tbl>
              <a:tblPr/>
              <a:tblGrid>
                <a:gridCol w="1212319">
                  <a:extLst>
                    <a:ext uri="{9D8B030D-6E8A-4147-A177-3AD203B41FA5}">
                      <a16:colId xmlns:a16="http://schemas.microsoft.com/office/drawing/2014/main" val="23131250"/>
                    </a:ext>
                  </a:extLst>
                </a:gridCol>
                <a:gridCol w="2017248">
                  <a:extLst>
                    <a:ext uri="{9D8B030D-6E8A-4147-A177-3AD203B41FA5}">
                      <a16:colId xmlns:a16="http://schemas.microsoft.com/office/drawing/2014/main" val="3597416039"/>
                    </a:ext>
                  </a:extLst>
                </a:gridCol>
                <a:gridCol w="2582078">
                  <a:extLst>
                    <a:ext uri="{9D8B030D-6E8A-4147-A177-3AD203B41FA5}">
                      <a16:colId xmlns:a16="http://schemas.microsoft.com/office/drawing/2014/main" val="2184303542"/>
                    </a:ext>
                  </a:extLst>
                </a:gridCol>
              </a:tblGrid>
              <a:tr h="42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Temperature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Iced-coffee sales (y)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054012"/>
                  </a:ext>
                </a:extLst>
              </a:tr>
              <a:tr h="42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599365"/>
                  </a:ext>
                </a:extLst>
              </a:tr>
              <a:tr h="42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234647"/>
                  </a:ext>
                </a:extLst>
              </a:tr>
              <a:tr h="42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89513"/>
                  </a:ext>
                </a:extLst>
              </a:tr>
              <a:tr h="42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7187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450D-5CC4-B470-F210-681CD3A9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2586A-2FCA-E9BE-6F98-D2B8CBA6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0E9E5-E6FC-3F8C-DD4C-831BF6BE9B5A}"/>
              </a:ext>
            </a:extLst>
          </p:cNvPr>
          <p:cNvSpPr txBox="1"/>
          <p:nvPr/>
        </p:nvSpPr>
        <p:spPr>
          <a:xfrm>
            <a:off x="493504" y="4122625"/>
            <a:ext cx="80408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Find the linear regression model to estimate sales using </a:t>
            </a:r>
            <a:r>
              <a:rPr lang="en-US" sz="2800" dirty="0" err="1"/>
              <a:t>temprature</a:t>
            </a:r>
            <a:r>
              <a:rPr lang="en-US" sz="28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Calculate the R2 value</a:t>
            </a:r>
          </a:p>
        </p:txBody>
      </p:sp>
    </p:spTree>
    <p:extLst>
      <p:ext uri="{BB962C8B-B14F-4D97-AF65-F5344CB8AC3E}">
        <p14:creationId xmlns:p14="http://schemas.microsoft.com/office/powerpoint/2010/main" val="1182012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778B-661F-5D60-F7B6-5D71F6C8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Econometrics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5505-CE3B-8DA5-5C2B-352AB2EC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Econometrics = </a:t>
            </a:r>
            <a:r>
              <a:rPr lang="en-US" dirty="0"/>
              <a:t>regression + economic reasoning + causal interpretation attempts.</a:t>
            </a:r>
          </a:p>
          <a:p>
            <a:pPr marL="0" indent="0">
              <a:buNone/>
            </a:pPr>
            <a:r>
              <a:rPr lang="en-US" dirty="0"/>
              <a:t>Econometric models often include:</a:t>
            </a:r>
          </a:p>
          <a:p>
            <a:r>
              <a:rPr lang="en-US" dirty="0"/>
              <a:t>indicator variables (also called dummy variables)</a:t>
            </a:r>
          </a:p>
          <a:p>
            <a:r>
              <a:rPr lang="en-US" dirty="0"/>
              <a:t>nonlinear terms (quadratic, logs)</a:t>
            </a:r>
          </a:p>
          <a:p>
            <a:r>
              <a:rPr lang="en-US" dirty="0"/>
              <a:t>interaction terms</a:t>
            </a:r>
          </a:p>
          <a:p>
            <a:r>
              <a:rPr lang="en-US" dirty="0"/>
              <a:t>endogeneity issues (later…)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72033-FECA-5BD8-1FD3-FEC7191B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989CF-64CA-0DB2-8760-FCE5F4F3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3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C3652-413C-F271-CBA1-D033F2BF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 1: Wage Equation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(Mincer Equation)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6C6A36-2BA2-D315-D2A9-9ECAC36361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dirty="0"/>
                  <a:t>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𝑤𝑎𝑔</m:t>
                              </m:r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​+</m:t>
                      </m:r>
                      <m:sSub>
                        <m:sSubPr>
                          <m:ctrlPr>
                            <a:rPr lang="tr-T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tr-TR" b="0" i="1" dirty="0" smtClean="0">
                          <a:latin typeface="Cambria Math" panose="02040503050406030204" pitchFamily="18" charset="0"/>
                        </a:rPr>
                        <m:t>𝑒𝑑</m:t>
                      </m:r>
                      <m:sSub>
                        <m:sSubPr>
                          <m:ctrlPr>
                            <a:rPr lang="tr-T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tr-TR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tr-T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  <m:sub>
                              <m:r>
                                <a:rPr lang="tr-TR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sSub>
                        <m:sSubPr>
                          <m:ctrlPr>
                            <a:rPr lang="tr-T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tr-T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tr-TR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  <m:sub>
                              <m:r>
                                <a:rPr lang="tr-TR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tr-TR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fName>
                        <m:e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Logs → percentage changes</a:t>
                </a:r>
              </a:p>
              <a:p>
                <a:r>
                  <a:rPr lang="en-US" dirty="0"/>
                  <a:t>Quadratic experience → diminishing returns</a:t>
                </a:r>
              </a:p>
              <a:p>
                <a:r>
                  <a:rPr lang="en-US" b="1" dirty="0"/>
                  <a:t>Interpretation</a:t>
                </a:r>
              </a:p>
              <a:p>
                <a:r>
                  <a:rPr lang="el-GR" dirty="0"/>
                  <a:t>β₁ = </a:t>
                </a:r>
                <a:r>
                  <a:rPr lang="en-US" dirty="0"/>
                  <a:t>return to education (% per year)</a:t>
                </a:r>
              </a:p>
              <a:p>
                <a:r>
                  <a:rPr lang="el-GR" dirty="0"/>
                  <a:t>β₂, β₃ = </a:t>
                </a:r>
                <a:r>
                  <a:rPr lang="en-US" dirty="0"/>
                  <a:t>increasing but diminishing returns to experience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6C6A36-2BA2-D315-D2A9-9ECAC3636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8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13867-2318-D966-41D4-95A1A3005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5C8DF-24A4-B320-D963-5BD2FB29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8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2039-9DFF-A606-E4BE-DC12738F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2: Gender Wage Gap (Dummy Variables)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161A1-4C31-6399-F954-5F2C9A452A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𝑤𝑎𝑔</m:t>
                              </m:r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𝑒𝑑</m:t>
                      </m:r>
                      <m:sSub>
                        <m:sSubPr>
                          <m:ctrlPr>
                            <a:rPr lang="tr-T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tr-TR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tr-TR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tr-T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tr-TR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  <m:sub>
                              <m:r>
                                <a:rPr lang="tr-TR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sSub>
                        <m:sSubPr>
                          <m:ctrlPr>
                            <a:rPr lang="tr-T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tr-TR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tr-TR" dirty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  <m:sub>
                              <m:r>
                                <a:rPr lang="tr-TR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tr-TR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fName>
                        <m:e>
                          <m:r>
                            <a:rPr lang="tr-T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func>
                            <m:funcPr>
                              <m:ctrlPr>
                                <a:rPr lang="tr-TR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tr-T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b="0" i="1" dirty="0" smtClean="0">
                                      <a:latin typeface="Cambria Math" panose="02040503050406030204" pitchFamily="18" charset="0"/>
                                    </a:rPr>
                                    <m:t>𝑓𝑒𝑚𝑎𝑙𝑒</m:t>
                                  </m:r>
                                </m:e>
                                <m:sub>
                                  <m:r>
                                    <a:rPr lang="tr-TR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  <m:sSub>
                            <m:sSubPr>
                              <m:ctrlPr>
                                <a:rPr lang="tr-T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female = 1 if worker is female, 0 if male.</a:t>
                </a:r>
              </a:p>
              <a:p>
                <a:pPr marL="0" indent="0">
                  <a:buNone/>
                </a:pPr>
                <a:r>
                  <a:rPr lang="en-US" b="1" dirty="0"/>
                  <a:t>Interpretation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l-GR" dirty="0"/>
                  <a:t> &lt; 0 </a:t>
                </a:r>
                <a:r>
                  <a:rPr lang="en-US" dirty="0"/>
                  <a:t>means female workers earn 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l-GR" dirty="0"/>
                  <a:t>)-1 % </a:t>
                </a:r>
                <a:r>
                  <a:rPr lang="en-US" dirty="0"/>
                  <a:t>less holding education &amp; experience constant.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161A1-4C31-6399-F954-5F2C9A452A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r="-266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1BBD9-1EAA-44FD-1010-1FF04C9A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9D8E8-2A7A-2851-5C4F-F5017AD8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3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FEC9-FBCB-40B7-A100-F08BF2C7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Endogeneity issues</a:t>
            </a:r>
            <a:endParaRPr lang="tr-TR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E5686-FF72-481B-BED4-2B1F5E67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variable in a regression model is endogenous when it is correlated with the error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In other words: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Cov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ϵ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When this happens, </a:t>
                </a:r>
              </a:p>
              <a:p>
                <a:pPr lvl="1"/>
                <a:r>
                  <a:rPr lang="en-US" dirty="0"/>
                  <a:t>the estimated coefficients (e.g.,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ar-AE" dirty="0"/>
                  <a:t>) </a:t>
                </a:r>
                <a:r>
                  <a:rPr lang="en-US" dirty="0"/>
                  <a:t>become </a:t>
                </a:r>
                <a:r>
                  <a:rPr lang="en-US" b="1" dirty="0"/>
                  <a:t>biased and inconsistent</a:t>
                </a:r>
                <a:r>
                  <a:rPr lang="en-US" dirty="0"/>
                  <a:t>, meaning: the regression gives the </a:t>
                </a:r>
                <a:r>
                  <a:rPr lang="en-US" b="1" dirty="0"/>
                  <a:t>wrong effect</a:t>
                </a:r>
                <a:endParaRPr lang="en-US" dirty="0"/>
              </a:p>
              <a:p>
                <a:pPr lvl="1"/>
                <a:r>
                  <a:rPr lang="en-US" dirty="0"/>
                  <a:t>the estimates do </a:t>
                </a:r>
                <a:r>
                  <a:rPr lang="en-US" b="1" dirty="0"/>
                  <a:t>not converge to the truth</a:t>
                </a:r>
                <a:r>
                  <a:rPr lang="en-US" dirty="0"/>
                  <a:t>, even with more data</a:t>
                </a:r>
              </a:p>
              <a:p>
                <a:pPr marL="0" indent="0">
                  <a:buNone/>
                </a:pPr>
                <a:endParaRPr lang="ar-AE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E5686-FF72-481B-BED4-2B1F5E67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801" r="-1543" b="-11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B3C43-B8B5-4C1A-BE6A-C0BAFF61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FBD42-21E8-4ABC-9DB6-56AD6B09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26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3BD1-A810-6B2E-D59B-FC689CBA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Does Endogeneity Happen?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2FCA3-299A-6662-A8A1-83EAA8901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382000" cy="470852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1. Omitted Variable Bias</a:t>
                </a:r>
              </a:p>
              <a:p>
                <a:pPr marL="0" indent="0">
                  <a:buNone/>
                </a:pPr>
                <a:r>
                  <a:rPr lang="en-US" dirty="0"/>
                  <a:t>You leave out an important variable that affects both X and Y.</a:t>
                </a:r>
              </a:p>
              <a:p>
                <a:pPr marL="0" indent="0">
                  <a:buNone/>
                </a:pPr>
                <a:r>
                  <a:rPr lang="en-US" dirty="0"/>
                  <a:t>Example:</a:t>
                </a:r>
              </a:p>
              <a:p>
                <a:r>
                  <a:rPr lang="en-US" dirty="0"/>
                  <a:t>Model: wage = </a:t>
                </a:r>
                <a:r>
                  <a:rPr lang="el-GR" dirty="0"/>
                  <a:t>β₀ + β₁ </a:t>
                </a:r>
                <a:r>
                  <a:rPr lang="en-US" dirty="0"/>
                  <a:t>education +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Missing variable: </a:t>
                </a:r>
                <a:r>
                  <a:rPr lang="en-US" b="1" dirty="0"/>
                  <a:t>ability</a:t>
                </a:r>
                <a:endParaRPr lang="en-US" dirty="0"/>
              </a:p>
              <a:p>
                <a:r>
                  <a:rPr lang="en-US" dirty="0"/>
                  <a:t>Ability affects:</a:t>
                </a:r>
              </a:p>
              <a:p>
                <a:pPr lvl="1"/>
                <a:r>
                  <a:rPr lang="en-US" dirty="0"/>
                  <a:t>education (high-ability → more schooling)</a:t>
                </a:r>
              </a:p>
              <a:p>
                <a:pPr lvl="1"/>
                <a:r>
                  <a:rPr lang="en-US" dirty="0"/>
                  <a:t>wages (high-ability → higher earnings)</a:t>
                </a:r>
              </a:p>
              <a:p>
                <a:r>
                  <a:rPr lang="en-US" dirty="0"/>
                  <a:t>So education is correlated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dirty="0"/>
                  <a:t> → endogeneity.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2FCA3-299A-6662-A8A1-83EAA8901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382000" cy="4708525"/>
              </a:xfrm>
              <a:blipFill>
                <a:blip r:embed="rId2"/>
                <a:stretch>
                  <a:fillRect l="-1818" t="-3226" r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E6A39-25C4-A247-25E3-BD17AB4E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B6AA5-E688-C376-CDA4-86DF2B0F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08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62E6-D6FE-1E91-AC48-65DB31A8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5540-365E-11D4-F8F9-159301F4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44451"/>
            <a:ext cx="8229600" cy="79374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Does Endogeneity Happen?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BF7FD-9091-5923-ECC2-52DB1ADB3D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304" y="975518"/>
                <a:ext cx="8875296" cy="5380832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u="sng" dirty="0"/>
                  <a:t>2. Simultaneity (Reverse Causality)</a:t>
                </a:r>
              </a:p>
              <a:p>
                <a:pPr marL="0" indent="0">
                  <a:buNone/>
                </a:pPr>
                <a:r>
                  <a:rPr lang="en-US" dirty="0"/>
                  <a:t>X affects Y, but Y also affects X.</a:t>
                </a:r>
              </a:p>
              <a:p>
                <a:pPr marL="0" indent="0">
                  <a:buNone/>
                </a:pPr>
                <a:r>
                  <a:rPr lang="en-US" dirty="0"/>
                  <a:t>Example: Suppose we estimate: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Income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Health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At first glance, it seems natural to think:</a:t>
                </a:r>
              </a:p>
              <a:p>
                <a:pPr marL="0" indent="0">
                  <a:buNone/>
                </a:pPr>
                <a:r>
                  <a:rPr lang="en-US" dirty="0"/>
                  <a:t>	better health → higher productivity → higher income</a:t>
                </a:r>
              </a:p>
              <a:p>
                <a:r>
                  <a:rPr lang="en-US" dirty="0"/>
                  <a:t>But the causality also works in the opposite direction:</a:t>
                </a:r>
              </a:p>
              <a:p>
                <a:pPr lvl="1"/>
                <a:r>
                  <a:rPr lang="en-US" dirty="0"/>
                  <a:t>higher income → better nutrition</a:t>
                </a:r>
              </a:p>
              <a:p>
                <a:pPr lvl="1"/>
                <a:r>
                  <a:rPr lang="en-US" dirty="0"/>
                  <a:t>higher income → better access to healthcare</a:t>
                </a:r>
              </a:p>
              <a:p>
                <a:pPr lvl="1"/>
                <a:r>
                  <a:rPr lang="en-US" dirty="0"/>
                  <a:t>higher income → less physically damaging work</a:t>
                </a:r>
              </a:p>
              <a:p>
                <a:r>
                  <a:rPr lang="en-US" dirty="0"/>
                  <a:t>Because </a:t>
                </a:r>
                <a:r>
                  <a:rPr lang="en-US" b="1" dirty="0"/>
                  <a:t>income affects health and health affects income</a:t>
                </a:r>
                <a:r>
                  <a:rPr lang="en-US" dirty="0"/>
                  <a:t>, the regressor (Health) becomes correlated with the error term.</a:t>
                </a:r>
              </a:p>
              <a:p>
                <a:r>
                  <a:rPr lang="en-US" dirty="0"/>
                  <a:t>But in your regression, the part of Income that affects Health is </a:t>
                </a:r>
                <a:r>
                  <a:rPr lang="en-US" b="1" dirty="0"/>
                  <a:t>inside the error term </a:t>
                </a:r>
                <a:r>
                  <a:rPr lang="el-GR" b="1" dirty="0"/>
                  <a:t>ε</a:t>
                </a:r>
                <a:r>
                  <a:rPr lang="el-GR" dirty="0"/>
                  <a:t>, </a:t>
                </a:r>
                <a:r>
                  <a:rPr lang="en-US" dirty="0"/>
                  <a:t>because </a:t>
                </a:r>
                <a:r>
                  <a:rPr lang="el-GR" dirty="0"/>
                  <a:t>ε </a:t>
                </a:r>
                <a:r>
                  <a:rPr lang="en-US" dirty="0"/>
                  <a:t>contains all unobserved determinants of income.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BF7FD-9091-5923-ECC2-52DB1ADB3D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304" y="975518"/>
                <a:ext cx="8875296" cy="5380832"/>
              </a:xfrm>
              <a:blipFill>
                <a:blip r:embed="rId2"/>
                <a:stretch>
                  <a:fillRect l="-1001" t="-1882" r="-1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AC19D-A572-A39B-A85B-8F65E2E0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2DEAC-34A2-635E-D4DA-ADE17E5C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5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45EF-CB77-AC5A-1A51-67FAA46E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Does Endogeneity Happen?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D201D-D10F-B7DA-4B07-C5E2911FE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3. Measurement Error</a:t>
            </a:r>
          </a:p>
          <a:p>
            <a:r>
              <a:rPr lang="en-US" dirty="0"/>
              <a:t>When X is measured with error, especially systematic error.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self-reported income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A23B1-98B5-13F0-BD42-4994A6B0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0CD1C-0250-80D4-F07D-26E2EF80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02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6517E19E6431E4C8A7F2D18BC1C9A95" ma:contentTypeVersion="15" ma:contentTypeDescription="Yeni belge oluşturun." ma:contentTypeScope="" ma:versionID="78c2748d14fd25ae1efbce9d1d6f453f">
  <xsd:schema xmlns:xsd="http://www.w3.org/2001/XMLSchema" xmlns:xs="http://www.w3.org/2001/XMLSchema" xmlns:p="http://schemas.microsoft.com/office/2006/metadata/properties" xmlns:ns3="65edfe5a-496a-4133-a6fa-9b9305227640" xmlns:ns4="9f613a20-c6af-4a69-a0b9-b93c46c5b1f4" targetNamespace="http://schemas.microsoft.com/office/2006/metadata/properties" ma:root="true" ma:fieldsID="727ace8560e388592fb74c59d2b0aae7" ns3:_="" ns4:_="">
    <xsd:import namespace="65edfe5a-496a-4133-a6fa-9b9305227640"/>
    <xsd:import namespace="9f613a20-c6af-4a69-a0b9-b93c46c5b1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dfe5a-496a-4133-a6fa-9b93052276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13a20-c6af-4a69-a0b9-b93c46c5b1f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İpucu Paylaşımı Karması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F7B37-273B-4B15-96CC-1168BADC8CF5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9f613a20-c6af-4a69-a0b9-b93c46c5b1f4"/>
    <ds:schemaRef ds:uri="65edfe5a-496a-4133-a6fa-9b930522764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2C4DD5-9FCF-4844-91BF-E06AC471A9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53B8D3-4787-4803-A694-906077018F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edfe5a-496a-4133-a6fa-9b9305227640"/>
    <ds:schemaRef ds:uri="9f613a20-c6af-4a69-a0b9-b93c46c5b1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19505</TotalTime>
  <Words>1101</Words>
  <Application>Microsoft Macintosh PowerPoint</Application>
  <PresentationFormat>On-screen Show (4:3)</PresentationFormat>
  <Paragraphs>223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Wingdings</vt:lpstr>
      <vt:lpstr>Office Theme</vt:lpstr>
      <vt:lpstr>Mathematical Models</vt:lpstr>
      <vt:lpstr>Econometric models</vt:lpstr>
      <vt:lpstr>Ordinary Linear Regression</vt:lpstr>
      <vt:lpstr>Ordinary Linear Regression</vt:lpstr>
      <vt:lpstr>Ordinary Linear Regression</vt:lpstr>
      <vt:lpstr>Ordinary Linear Regression</vt:lpstr>
      <vt:lpstr>How well does our regression line fit the data?</vt:lpstr>
      <vt:lpstr>Example: mtcars </vt:lpstr>
      <vt:lpstr>Class Exercise</vt:lpstr>
      <vt:lpstr>Econometrics</vt:lpstr>
      <vt:lpstr>Example 1: Wage Equation  (Mincer Equation) </vt:lpstr>
      <vt:lpstr>Example 2: Gender Wage Gap (Dummy Variables)</vt:lpstr>
      <vt:lpstr>Endogeneity issues</vt:lpstr>
      <vt:lpstr>Why Does Endogeneity Happen?</vt:lpstr>
      <vt:lpstr>Why Does Endogeneity Happen?</vt:lpstr>
      <vt:lpstr>Why Does Endogeneity Happen?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Ceyda Oguz</dc:creator>
  <cp:lastModifiedBy>Reviewer</cp:lastModifiedBy>
  <cp:revision>215</cp:revision>
  <dcterms:created xsi:type="dcterms:W3CDTF">2014-10-13T19:35:04Z</dcterms:created>
  <dcterms:modified xsi:type="dcterms:W3CDTF">2025-11-26T16:42:52Z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0x010100A6517E19E6431E4C8A7F2D18BC1C9A95</vt:lpwstr>
  </property>
</Properties>
</file>