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960" r:id="rId4"/>
  </p:sldMasterIdLst>
  <p:notesMasterIdLst>
    <p:notesMasterId r:id="rId15"/>
  </p:notesMasterIdLst>
  <p:handoutMasterIdLst>
    <p:handoutMasterId r:id="rId16"/>
  </p:handoutMasterIdLst>
  <p:sldIdLst>
    <p:sldId id="483" r:id="rId5"/>
    <p:sldId id="484" r:id="rId6"/>
    <p:sldId id="485" r:id="rId7"/>
    <p:sldId id="486" r:id="rId8"/>
    <p:sldId id="488" r:id="rId9"/>
    <p:sldId id="489" r:id="rId10"/>
    <p:sldId id="490" r:id="rId11"/>
    <p:sldId id="487" r:id="rId12"/>
    <p:sldId id="491" r:id="rId13"/>
    <p:sldId id="492" r:id="rId14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2371" autoAdjust="0"/>
    <p:restoredTop sz="90406" autoAdjust="0"/>
  </p:normalViewPr>
  <p:slideViewPr>
    <p:cSldViewPr>
      <p:cViewPr varScale="1">
        <p:scale>
          <a:sx n="174" d="100"/>
          <a:sy n="174" d="100"/>
        </p:scale>
        <p:origin x="1936" y="23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1884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handoutMaster" Target="handoutMasters/handoutMaster1.xml"/><Relationship Id="rId20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6.xml"/><Relationship Id="rId19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tr-TR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6FB1751-53FA-494E-A22D-83BC3D3BD15E}" type="datetimeFigureOut">
              <a:rPr lang="tr-TR" smtClean="0"/>
              <a:t>18.11.2025</a:t>
            </a:fld>
            <a:endParaRPr lang="tr-T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tr-TR"/>
              <a:t>INDR 100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2BF49E5-F237-422F-BECF-948F219AA8C8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201150750"/>
      </p:ext>
    </p:extLst>
  </p:cSld>
  <p:clrMap bg1="lt1" tx1="dk1" bg2="lt2" tx2="dk2" accent1="accent1" accent2="accent2" accent3="accent3" accent4="accent4" accent5="accent5" accent6="accent6" hlink="hlink" folHlink="folHlink"/>
  <p:hf hd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tr-TR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6B5E1D1-EDAF-4317-8CC1-85D29715138F}" type="datetimeFigureOut">
              <a:rPr lang="tr-TR" smtClean="0"/>
              <a:t>18.11.2025</a:t>
            </a:fld>
            <a:endParaRPr lang="tr-TR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tr-TR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r-T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tr-TR"/>
              <a:t>INDR 100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055FECA-DFE6-4B41-B2F2-CC6A3A14CD41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208047497"/>
      </p:ext>
    </p:extLst>
  </p:cSld>
  <p:clrMap bg1="lt1" tx1="dk1" bg2="lt2" tx2="dk2" accent1="accent1" accent2="accent2" accent3="accent3" accent4="accent4" accent5="accent5" accent6="accent6" hlink="hlink" folHlink="folHlink"/>
  <p:hf hd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INDR 100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INDR 100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4C189D-BDFE-4396-970F-5D7218EBAA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16658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INDR 100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INDR 100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4C189D-BDFE-4396-970F-5D7218EBAA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25224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INDR 100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INDR 100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4C189D-BDFE-4396-970F-5D7218EBAA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45660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INDR 100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INDR 100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4C189D-BDFE-4396-970F-5D7218EBAA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66012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INDR 100</a:t>
            </a: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INDR 100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4C189D-BDFE-4396-970F-5D7218EBAA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83072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INDR 100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INDR 100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4C189D-BDFE-4396-970F-5D7218EBAA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5461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INDR 100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INDR 100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4C189D-BDFE-4396-970F-5D7218EBAA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57366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INDR 100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INDR 100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4C189D-BDFE-4396-970F-5D7218EBAA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47487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INDR 100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INDR 100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4C189D-BDFE-4396-970F-5D7218EBAA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21411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INDR 100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INDR 100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4C189D-BDFE-4396-970F-5D7218EBAA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84343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INDR 100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INDR 100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4C189D-BDFE-4396-970F-5D7218EBAA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926624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INDR 100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INDR 100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D4C189D-BDFE-4396-970F-5D7218EBAA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9708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61" r:id="rId1"/>
    <p:sldLayoutId id="2147483962" r:id="rId2"/>
    <p:sldLayoutId id="2147483963" r:id="rId3"/>
    <p:sldLayoutId id="2147483964" r:id="rId4"/>
    <p:sldLayoutId id="2147483965" r:id="rId5"/>
    <p:sldLayoutId id="2147483966" r:id="rId6"/>
    <p:sldLayoutId id="2147483967" r:id="rId7"/>
    <p:sldLayoutId id="2147483968" r:id="rId8"/>
    <p:sldLayoutId id="2147483969" r:id="rId9"/>
    <p:sldLayoutId id="2147483970" r:id="rId10"/>
    <p:sldLayoutId id="2147483971" r:id="rId11"/>
  </p:sldLayoutIdLst>
  <p:hf hdr="0" ftr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B9B047-1C70-B4CE-E006-DC8F046C41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74259E-9F3D-7062-75D5-D7497E4260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Mathematical Models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DE0F9D-542D-4C55-5E6D-A6B540BC830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295400"/>
            <a:ext cx="8686800" cy="5426075"/>
          </a:xfrm>
        </p:spPr>
        <p:txBody>
          <a:bodyPr>
            <a:normAutofit/>
          </a:bodyPr>
          <a:lstStyle/>
          <a:p>
            <a:pPr marL="0" indent="0">
              <a:buClr>
                <a:srgbClr val="0066FF"/>
              </a:buClr>
              <a:buSzPct val="80000"/>
              <a:buNone/>
            </a:pPr>
            <a:r>
              <a:rPr lang="en-US" sz="3300" dirty="0">
                <a:latin typeface="Arial" panose="020B0604020202020204" pitchFamily="34" charset="0"/>
                <a:cs typeface="Arial" panose="020B0604020202020204" pitchFamily="34" charset="0"/>
              </a:rPr>
              <a:t>Examples of mathematical models:</a:t>
            </a:r>
          </a:p>
          <a:p>
            <a:pPr lvl="1">
              <a:buClr>
                <a:srgbClr val="0066FF"/>
              </a:buClr>
              <a:buSzPct val="90000"/>
              <a:buFont typeface="Wingdings" panose="05000000000000000000" pitchFamily="2" charset="2"/>
              <a:buChar char="§"/>
            </a:pPr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mathematical programming models</a:t>
            </a:r>
          </a:p>
          <a:p>
            <a:pPr lvl="1">
              <a:buClr>
                <a:srgbClr val="0066FF"/>
              </a:buClr>
              <a:buSzPct val="90000"/>
              <a:buFont typeface="Wingdings" panose="05000000000000000000" pitchFamily="2" charset="2"/>
              <a:buChar char="§"/>
            </a:pPr>
            <a:r>
              <a:rPr lang="en-US" sz="32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simulation models</a:t>
            </a:r>
          </a:p>
          <a:p>
            <a:pPr lvl="1">
              <a:buClr>
                <a:srgbClr val="0066FF"/>
              </a:buClr>
              <a:buSzPct val="90000"/>
              <a:buFont typeface="Wingdings" panose="05000000000000000000" pitchFamily="2" charset="2"/>
              <a:buChar char="§"/>
            </a:pPr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econometric models</a:t>
            </a:r>
          </a:p>
          <a:p>
            <a:pPr marL="457200" lvl="1" indent="0">
              <a:buClr>
                <a:srgbClr val="0066FF"/>
              </a:buClr>
              <a:buSzPct val="90000"/>
              <a:buNone/>
            </a:pPr>
            <a:endParaRPr lang="en-US" sz="3200" dirty="0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519951FD-5C51-57ED-5B40-07650D89BF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>
                <a:latin typeface="Arial" panose="020B0604020202020204" pitchFamily="34" charset="0"/>
                <a:cs typeface="Arial" panose="020B0604020202020204" pitchFamily="34" charset="0"/>
              </a:rPr>
              <a:t>INDR 100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A0602E1-23B5-439A-A138-A14DE58A2E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4C189D-BDFE-4396-970F-5D7218EBAA16}" type="slidenum">
              <a:rPr lang="en-US" smtClean="0">
                <a:latin typeface="Arial" panose="020B0604020202020204" pitchFamily="34" charset="0"/>
                <a:cs typeface="Arial" panose="020B0604020202020204" pitchFamily="34" charset="0"/>
              </a:rPr>
              <a:t>1</a:t>
            </a:fld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8857086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A03E7D-43EA-DD7F-F095-1F13276BEA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7B96AC-E939-8A52-3C10-71DBEBF035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Simulation models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C8BB93-9A6C-63B7-1577-7EB1199E2EE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200" y="1295400"/>
            <a:ext cx="8991600" cy="5426075"/>
          </a:xfrm>
        </p:spPr>
        <p:txBody>
          <a:bodyPr>
            <a:normAutofit/>
          </a:bodyPr>
          <a:lstStyle/>
          <a:p>
            <a:pPr marL="457200" lvl="1" indent="0">
              <a:buClr>
                <a:srgbClr val="0066FF"/>
              </a:buClr>
              <a:buSzPct val="90000"/>
              <a:buNone/>
            </a:pPr>
            <a:r>
              <a:rPr lang="en-US" sz="32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Definition: </a:t>
            </a:r>
            <a:r>
              <a:rPr lang="en-US" sz="3200" dirty="0"/>
              <a:t>A simulation model is a mathematical representation of a real system that allows us to study how it behaves over time under different conditions.</a:t>
            </a:r>
            <a:endParaRPr lang="en-US" sz="3200" dirty="0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BE6EEA1B-FBC6-B023-7800-2E4DAAB659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>
                <a:latin typeface="Arial" panose="020B0604020202020204" pitchFamily="34" charset="0"/>
                <a:cs typeface="Arial" panose="020B0604020202020204" pitchFamily="34" charset="0"/>
              </a:rPr>
              <a:t>INDR 100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05AEF56-7338-989C-0429-EDA6459E60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4C189D-BDFE-4396-970F-5D7218EBAA16}" type="slidenum">
              <a:rPr lang="en-US" smtClean="0">
                <a:latin typeface="Arial" panose="020B0604020202020204" pitchFamily="34" charset="0"/>
                <a:cs typeface="Arial" panose="020B0604020202020204" pitchFamily="34" charset="0"/>
              </a:rPr>
              <a:t>2</a:t>
            </a:fld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026" name="Picture 2" descr="Types of simulation models – choosing ...">
            <a:extLst>
              <a:ext uri="{FF2B5EF4-FFF2-40B4-BE49-F238E27FC236}">
                <a16:creationId xmlns:a16="http://schemas.microsoft.com/office/drawing/2014/main" id="{75D73EFC-7992-7669-0F56-14559BAA796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90800" y="3276600"/>
            <a:ext cx="4530696" cy="30149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3567993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4ACD8E-B138-20CF-4E53-9478B17C78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B7026F-579C-6D95-E4EA-29F978A4B0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Simulation models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215D58-1C34-1452-2530-2053FEE87E1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200" y="1295401"/>
            <a:ext cx="8991600" cy="3886200"/>
          </a:xfrm>
        </p:spPr>
        <p:txBody>
          <a:bodyPr>
            <a:normAutofit/>
          </a:bodyPr>
          <a:lstStyle/>
          <a:p>
            <a:pPr marL="457200" lvl="1" indent="0">
              <a:buClr>
                <a:srgbClr val="0066FF"/>
              </a:buClr>
              <a:buSzPct val="90000"/>
              <a:buNone/>
            </a:pPr>
            <a:r>
              <a:rPr lang="en-US" sz="32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What we need to build a simulation model: </a:t>
            </a:r>
          </a:p>
          <a:p>
            <a:pPr lvl="1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2000" b="1" dirty="0">
                <a:latin typeface="Arial" panose="020B0604020202020204" pitchFamily="34" charset="0"/>
              </a:rPr>
              <a:t>System:</a:t>
            </a:r>
            <a:r>
              <a:rPr lang="en-US" altLang="en-US" sz="2000" dirty="0">
                <a:latin typeface="Arial" panose="020B0604020202020204" pitchFamily="34" charset="0"/>
              </a:rPr>
              <a:t> what we are studying (e.g., coffee shop, factory, hospital)</a:t>
            </a:r>
          </a:p>
          <a:p>
            <a:pPr lvl="1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2000" b="1" dirty="0">
                <a:latin typeface="Arial" panose="020B0604020202020204" pitchFamily="34" charset="0"/>
              </a:rPr>
              <a:t>Entities:</a:t>
            </a:r>
            <a:r>
              <a:rPr lang="en-US" altLang="en-US" sz="2000" dirty="0">
                <a:latin typeface="Arial" panose="020B0604020202020204" pitchFamily="34" charset="0"/>
              </a:rPr>
              <a:t> things moving through the system (customers, parts, patients)</a:t>
            </a:r>
          </a:p>
          <a:p>
            <a:pPr lvl="1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2000" b="1" dirty="0">
                <a:latin typeface="Arial" panose="020B0604020202020204" pitchFamily="34" charset="0"/>
              </a:rPr>
              <a:t>Events:</a:t>
            </a:r>
            <a:r>
              <a:rPr lang="en-US" altLang="en-US" sz="2000" dirty="0">
                <a:latin typeface="Arial" panose="020B0604020202020204" pitchFamily="34" charset="0"/>
              </a:rPr>
              <a:t> arrivals, service starts, departures</a:t>
            </a:r>
          </a:p>
          <a:p>
            <a:pPr lvl="1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2000" b="1" dirty="0">
                <a:latin typeface="Arial" panose="020B0604020202020204" pitchFamily="34" charset="0"/>
              </a:rPr>
              <a:t>Logic  (data):</a:t>
            </a:r>
            <a:r>
              <a:rPr lang="en-US" altLang="en-US" sz="2000" dirty="0">
                <a:latin typeface="Arial" panose="020B0604020202020204" pitchFamily="34" charset="0"/>
              </a:rPr>
              <a:t> how the system behaves</a:t>
            </a:r>
          </a:p>
          <a:p>
            <a:pPr lvl="1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2000" b="1" dirty="0">
                <a:latin typeface="Arial" panose="020B0604020202020204" pitchFamily="34" charset="0"/>
              </a:rPr>
              <a:t>Outputs:</a:t>
            </a:r>
            <a:r>
              <a:rPr lang="en-US" altLang="en-US" sz="2000" dirty="0">
                <a:latin typeface="Arial" panose="020B0604020202020204" pitchFamily="34" charset="0"/>
              </a:rPr>
              <a:t> performance measures (waiting time, utilization, cost)</a:t>
            </a:r>
            <a:endParaRPr lang="en-US" sz="3200" dirty="0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lvl="1" indent="0">
              <a:buClr>
                <a:srgbClr val="0066FF"/>
              </a:buClr>
              <a:buSzPct val="90000"/>
              <a:buNone/>
            </a:pPr>
            <a:endParaRPr lang="en-US" sz="3200" dirty="0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91C18529-5A15-9264-A97D-42B36998EB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>
                <a:latin typeface="Arial" panose="020B0604020202020204" pitchFamily="34" charset="0"/>
                <a:cs typeface="Arial" panose="020B0604020202020204" pitchFamily="34" charset="0"/>
              </a:rPr>
              <a:t>INDR 100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66C5D23-4227-544D-7832-795E46907C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00800" y="6356349"/>
            <a:ext cx="2133600" cy="365125"/>
          </a:xfrm>
        </p:spPr>
        <p:txBody>
          <a:bodyPr/>
          <a:lstStyle/>
          <a:p>
            <a:fld id="{ED4C189D-BDFE-4396-970F-5D7218EBAA16}" type="slidenum">
              <a:rPr lang="en-US" smtClean="0">
                <a:latin typeface="Arial" panose="020B0604020202020204" pitchFamily="34" charset="0"/>
                <a:cs typeface="Arial" panose="020B0604020202020204" pitchFamily="34" charset="0"/>
              </a:rPr>
              <a:t>3</a:t>
            </a:fld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4062373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8C8BFF-20F4-ECAF-F112-41B59AADB5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1F788F-A86B-1540-195E-B28D4DC0EE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Simulation models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9739E0-9ABB-2688-6FC0-09619FAD9B7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200" y="1295401"/>
            <a:ext cx="8991600" cy="3886200"/>
          </a:xfrm>
        </p:spPr>
        <p:txBody>
          <a:bodyPr>
            <a:normAutofit/>
          </a:bodyPr>
          <a:lstStyle/>
          <a:p>
            <a:pPr marL="457200" lvl="1" indent="0">
              <a:buClr>
                <a:srgbClr val="0066FF"/>
              </a:buClr>
              <a:buSzPct val="90000"/>
              <a:buNone/>
            </a:pPr>
            <a:r>
              <a:rPr lang="en-US" sz="32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Where industrial engineers use it: </a:t>
            </a:r>
          </a:p>
          <a:p>
            <a:pPr lvl="1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2000" b="1" dirty="0">
                <a:latin typeface="Arial" panose="020B0604020202020204" pitchFamily="34" charset="0"/>
              </a:rPr>
              <a:t>Manufacturing: </a:t>
            </a:r>
            <a:r>
              <a:rPr lang="en-US" altLang="en-US" sz="2000" dirty="0">
                <a:latin typeface="Arial" panose="020B0604020202020204" pitchFamily="34" charset="0"/>
              </a:rPr>
              <a:t>machine reliability, production line flow</a:t>
            </a:r>
          </a:p>
          <a:p>
            <a:pPr lvl="1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2000" b="1" dirty="0">
                <a:latin typeface="Arial" panose="020B0604020202020204" pitchFamily="34" charset="0"/>
              </a:rPr>
              <a:t>Service systems: </a:t>
            </a:r>
            <a:r>
              <a:rPr lang="en-US" altLang="en-US" sz="2000" dirty="0">
                <a:latin typeface="Arial" panose="020B0604020202020204" pitchFamily="34" charset="0"/>
              </a:rPr>
              <a:t>hospitals, banks, airports</a:t>
            </a:r>
          </a:p>
          <a:p>
            <a:pPr lvl="1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2000" b="1" dirty="0">
                <a:latin typeface="Arial" panose="020B0604020202020204" pitchFamily="34" charset="0"/>
              </a:rPr>
              <a:t>Logistics: </a:t>
            </a:r>
            <a:r>
              <a:rPr lang="en-US" altLang="en-US" sz="2000" dirty="0">
                <a:latin typeface="Arial" panose="020B0604020202020204" pitchFamily="34" charset="0"/>
              </a:rPr>
              <a:t>warehouse operations, delivery routing</a:t>
            </a:r>
          </a:p>
          <a:p>
            <a:pPr lvl="1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2000" b="1" dirty="0">
                <a:latin typeface="Arial" panose="020B0604020202020204" pitchFamily="34" charset="0"/>
              </a:rPr>
              <a:t>Transportation: </a:t>
            </a:r>
            <a:r>
              <a:rPr lang="en-US" altLang="en-US" sz="2000" dirty="0">
                <a:latin typeface="Arial" panose="020B0604020202020204" pitchFamily="34" charset="0"/>
              </a:rPr>
              <a:t>traffic signal timing, parking management</a:t>
            </a:r>
            <a:endParaRPr lang="en-US" sz="3200" dirty="0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CF256E71-529E-4423-CFF9-C42C8FE939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>
                <a:latin typeface="Arial" panose="020B0604020202020204" pitchFamily="34" charset="0"/>
                <a:cs typeface="Arial" panose="020B0604020202020204" pitchFamily="34" charset="0"/>
              </a:rPr>
              <a:t>INDR 100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0ADB5BF-6337-21FD-C5FA-8BA4CB5CA8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00800" y="6356349"/>
            <a:ext cx="2133600" cy="365125"/>
          </a:xfrm>
        </p:spPr>
        <p:txBody>
          <a:bodyPr/>
          <a:lstStyle/>
          <a:p>
            <a:fld id="{ED4C189D-BDFE-4396-970F-5D7218EBAA16}" type="slidenum">
              <a:rPr lang="en-US" smtClean="0">
                <a:latin typeface="Arial" panose="020B0604020202020204" pitchFamily="34" charset="0"/>
                <a:cs typeface="Arial" panose="020B0604020202020204" pitchFamily="34" charset="0"/>
              </a:rPr>
              <a:t>4</a:t>
            </a:fld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7175997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6C9BBD-D61E-F15C-0F2D-E479CF8403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B73BB9-6ACA-092D-F73F-4E292C73F0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Simulation models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5D88BD-6831-F114-6441-78064C51547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200" y="1295401"/>
            <a:ext cx="8991600" cy="3886200"/>
          </a:xfrm>
        </p:spPr>
        <p:txBody>
          <a:bodyPr>
            <a:normAutofit/>
          </a:bodyPr>
          <a:lstStyle/>
          <a:p>
            <a:pPr marL="457200" lvl="1" indent="0">
              <a:buClr>
                <a:srgbClr val="0066FF"/>
              </a:buClr>
              <a:buSzPct val="90000"/>
              <a:buNone/>
            </a:pPr>
            <a:r>
              <a:rPr lang="en-US" sz="32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Be careful with inputs: </a:t>
            </a:r>
          </a:p>
          <a:p>
            <a:pPr lvl="1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2000" b="1" dirty="0">
                <a:latin typeface="Arial" panose="020B0604020202020204" pitchFamily="34" charset="0"/>
              </a:rPr>
              <a:t>Garbage in, garbage out</a:t>
            </a:r>
          </a:p>
          <a:p>
            <a:pPr lvl="2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1800" dirty="0">
                <a:latin typeface="Arial" panose="020B0604020202020204" pitchFamily="34" charset="0"/>
              </a:rPr>
              <a:t>Collect real world data</a:t>
            </a:r>
          </a:p>
          <a:p>
            <a:pPr lvl="2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1800" dirty="0">
                <a:latin typeface="Arial" panose="020B0604020202020204" pitchFamily="34" charset="0"/>
              </a:rPr>
              <a:t>Use theory about potential distributions</a:t>
            </a:r>
          </a:p>
          <a:p>
            <a:pPr lvl="2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1800" dirty="0">
                <a:latin typeface="Arial" panose="020B0604020202020204" pitchFamily="34" charset="0"/>
              </a:rPr>
              <a:t>Conduct fitness tests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F31DE482-99A7-F1B2-D902-B3F9C06B57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>
                <a:latin typeface="Arial" panose="020B0604020202020204" pitchFamily="34" charset="0"/>
                <a:cs typeface="Arial" panose="020B0604020202020204" pitchFamily="34" charset="0"/>
              </a:rPr>
              <a:t>INDR 100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B145471-400E-9005-91EE-EEAC86CD97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00800" y="6356349"/>
            <a:ext cx="2133600" cy="365125"/>
          </a:xfrm>
        </p:spPr>
        <p:txBody>
          <a:bodyPr/>
          <a:lstStyle/>
          <a:p>
            <a:fld id="{ED4C189D-BDFE-4396-970F-5D7218EBAA16}" type="slidenum">
              <a:rPr lang="en-US" smtClean="0">
                <a:latin typeface="Arial" panose="020B0604020202020204" pitchFamily="34" charset="0"/>
                <a:cs typeface="Arial" panose="020B0604020202020204" pitchFamily="34" charset="0"/>
              </a:rPr>
              <a:t>5</a:t>
            </a:fld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378674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68DA86-1620-9811-FD1B-5304C74F75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A55C9F-3047-F37B-C688-6BB8DE1BDA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Simulation models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AAB6D3-7B02-DC3C-907E-52BFF303CC3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200" y="1295401"/>
            <a:ext cx="8991600" cy="3886200"/>
          </a:xfrm>
        </p:spPr>
        <p:txBody>
          <a:bodyPr>
            <a:normAutofit/>
          </a:bodyPr>
          <a:lstStyle/>
          <a:p>
            <a:pPr marL="0" indent="0">
              <a:spcBef>
                <a:spcPts val="1320"/>
              </a:spcBef>
              <a:buNone/>
            </a:pPr>
            <a:r>
              <a:rPr lang="en-US" sz="28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Validation</a:t>
            </a:r>
            <a:r>
              <a:rPr lang="en-US" sz="2800" dirty="0"/>
              <a:t> is the process of checking whether a simulation model accurately represents the real-world system it is meant to imitate.</a:t>
            </a:r>
          </a:p>
          <a:p>
            <a:pPr>
              <a:spcBef>
                <a:spcPts val="1320"/>
              </a:spcBef>
            </a:pPr>
            <a:r>
              <a:rPr lang="en-US" sz="2600" dirty="0"/>
              <a:t>A model is valid if its outputs behave like the real system’s outputs within an acceptable level of accuracy.</a:t>
            </a:r>
          </a:p>
          <a:p>
            <a:r>
              <a:rPr lang="en-US" sz="2600" dirty="0"/>
              <a:t>Validation answers the question: </a:t>
            </a:r>
            <a:r>
              <a:rPr lang="en-US" sz="2600" i="1" u="sng" dirty="0"/>
              <a:t>Does my model capture reality well enough to be useful?</a:t>
            </a:r>
            <a:endParaRPr lang="en-US" sz="2600" u="sng" dirty="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181BF496-4512-422B-7A90-A197D57B3A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>
                <a:latin typeface="Arial" panose="020B0604020202020204" pitchFamily="34" charset="0"/>
                <a:cs typeface="Arial" panose="020B0604020202020204" pitchFamily="34" charset="0"/>
              </a:rPr>
              <a:t>INDR 100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848F733-1181-87E4-E491-2DF01EE6FB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00800" y="6356349"/>
            <a:ext cx="2133600" cy="365125"/>
          </a:xfrm>
        </p:spPr>
        <p:txBody>
          <a:bodyPr/>
          <a:lstStyle/>
          <a:p>
            <a:fld id="{ED4C189D-BDFE-4396-970F-5D7218EBAA16}" type="slidenum">
              <a:rPr lang="en-US" smtClean="0">
                <a:latin typeface="Arial" panose="020B0604020202020204" pitchFamily="34" charset="0"/>
                <a:cs typeface="Arial" panose="020B0604020202020204" pitchFamily="34" charset="0"/>
              </a:rPr>
              <a:t>6</a:t>
            </a:fld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4050634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072615-9696-4363-CE65-F954525FB6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36525"/>
            <a:ext cx="8229600" cy="715962"/>
          </a:xfrm>
        </p:spPr>
        <p:txBody>
          <a:bodyPr>
            <a:normAutofit fontScale="90000"/>
          </a:bodyPr>
          <a:lstStyle/>
          <a:p>
            <a:r>
              <a:rPr lang="en-US" dirty="0">
                <a:solidFill>
                  <a:srgbClr val="FF0000"/>
                </a:solidFill>
              </a:rPr>
              <a:t>Validation methods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50F37A-CFCC-35E7-6696-4618E7531E8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150143"/>
            <a:ext cx="8534400" cy="4557713"/>
          </a:xfrm>
        </p:spPr>
        <p:txBody>
          <a:bodyPr>
            <a:normAutofit fontScale="85000" lnSpcReduction="20000"/>
          </a:bodyPr>
          <a:lstStyle/>
          <a:p>
            <a:pPr marL="0" indent="0" defTabSz="18288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2000" b="1" dirty="0"/>
              <a:t>1. Compare model output with real-world data</a:t>
            </a:r>
          </a:p>
          <a:p>
            <a:pPr marL="0" indent="0" defTabSz="18288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2000" b="1" dirty="0"/>
              <a:t>	- </a:t>
            </a:r>
            <a:r>
              <a:rPr lang="en-US" sz="2000" dirty="0"/>
              <a:t>Check whether averages, variances, distributions, or performance measures match observed historical data.</a:t>
            </a:r>
          </a:p>
          <a:p>
            <a:pPr marL="0" indent="0" defTabSz="18288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2000" b="1" dirty="0"/>
              <a:t>2. Face validity</a:t>
            </a:r>
          </a:p>
          <a:p>
            <a:pPr marL="0" indent="0" defTabSz="18288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2000" dirty="0"/>
              <a:t>	- Ask domain experts (e.g., managers, operators) if the model’s logic and behavior look reasonable and realistic.</a:t>
            </a:r>
          </a:p>
          <a:p>
            <a:pPr marL="0" indent="0" defTabSz="18288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2000" b="1" dirty="0"/>
              <a:t>3. Sensitivity analysis</a:t>
            </a:r>
          </a:p>
          <a:p>
            <a:pPr marL="0" indent="0" defTabSz="18288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2000" dirty="0"/>
              <a:t>	- Change input parameters and see if the model behaves in a believable and consistent way.</a:t>
            </a:r>
          </a:p>
          <a:p>
            <a:pPr marL="0" indent="0" defTabSz="18288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2000" dirty="0"/>
              <a:t>	- Test the model with very high or very low input values to see if it reacts logically.</a:t>
            </a:r>
          </a:p>
          <a:p>
            <a:pPr marL="0" indent="0" defTabSz="18288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2000" b="1" dirty="0"/>
              <a:t>4. Trace / step-through debugging</a:t>
            </a:r>
          </a:p>
          <a:p>
            <a:pPr marL="0" indent="0" defTabSz="18288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2000" dirty="0"/>
              <a:t>	- Follow individual entities (customers, jobs, vehicles) through the simulation to check if the logic works as intended.</a:t>
            </a:r>
          </a:p>
          <a:p>
            <a:pPr marL="0" indent="0" defTabSz="18288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2000" b="1" dirty="0"/>
              <a:t>5. Comparison with simpler models</a:t>
            </a:r>
          </a:p>
          <a:p>
            <a:pPr marL="0" indent="0" defTabSz="18288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2000" dirty="0"/>
              <a:t>	- Compare results with theoretical formulas (e.g., M/M/1 queue results), or</a:t>
            </a:r>
          </a:p>
          <a:p>
            <a:pPr marL="0" indent="0" defTabSz="18288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2000" dirty="0"/>
              <a:t>simpler hand-made calculations.</a:t>
            </a:r>
          </a:p>
          <a:p>
            <a:pPr marL="0" indent="0" defTabSz="18288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2000" dirty="0"/>
              <a:t>	- Compare with the results with a simpler but validated simulation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D9F3C6B-439A-1F3A-BEC1-D2F22B291A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INDR 100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A0630BF-AF0D-69E5-EAA8-6A8A4924B4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4C189D-BDFE-4396-970F-5D7218EBAA16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476887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30F4A6-629F-B83D-618B-6DED0C52B5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FF0000"/>
                </a:solidFill>
              </a:rPr>
              <a:t>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3DDE3D-1383-BC75-1EC2-61C24CC275A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Coffee shop simulation</a:t>
            </a:r>
          </a:p>
          <a:p>
            <a:pPr lvl="1"/>
            <a:r>
              <a:rPr lang="en-US" dirty="0"/>
              <a:t>Stochastic and time varying customer arrivals</a:t>
            </a:r>
            <a:endParaRPr lang="tr-TR" dirty="0"/>
          </a:p>
          <a:p>
            <a:pPr lvl="2"/>
            <a:r>
              <a:rPr lang="tr-TR" dirty="0" err="1"/>
              <a:t>One</a:t>
            </a:r>
            <a:r>
              <a:rPr lang="tr-TR" dirty="0"/>
              <a:t> customer arrival per minute </a:t>
            </a:r>
          </a:p>
          <a:p>
            <a:pPr lvl="1"/>
            <a:r>
              <a:rPr lang="en-US" dirty="0"/>
              <a:t>Stochastic service times for the servers (baristas)</a:t>
            </a:r>
            <a:endParaRPr lang="tr-TR" dirty="0"/>
          </a:p>
          <a:p>
            <a:pPr lvl="2"/>
            <a:r>
              <a:rPr lang="tr-TR" dirty="0"/>
              <a:t>One barista prepares two orders in three minutes</a:t>
            </a:r>
            <a:endParaRPr lang="en-US" dirty="0"/>
          </a:p>
          <a:p>
            <a:pPr lvl="1"/>
            <a:r>
              <a:rPr lang="en-US" dirty="0"/>
              <a:t>Customers get impatient and bulk the system if the waiting queue is long</a:t>
            </a:r>
            <a:endParaRPr lang="tr-TR" dirty="0"/>
          </a:p>
          <a:p>
            <a:pPr lvl="2"/>
            <a:r>
              <a:rPr lang="tr-TR" dirty="0"/>
              <a:t>Customers go to another shop if the queue length is more than five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C91E59D-8037-E7F2-56B8-E0F04A43A5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INDR 100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2D53A98-D13A-C51A-D236-94003968D6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4C189D-BDFE-4396-970F-5D7218EBAA16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124732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E33831-B8C2-AC41-9F3A-FC7CFCCF98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36525"/>
            <a:ext cx="8229600" cy="457199"/>
          </a:xfrm>
        </p:spPr>
        <p:txBody>
          <a:bodyPr>
            <a:normAutofit fontScale="90000"/>
          </a:bodyPr>
          <a:lstStyle/>
          <a:p>
            <a:r>
              <a:rPr lang="en-US" dirty="0"/>
              <a:t>Class exercise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B31418-3FCD-A6CC-4FFC-ED679165FC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762000"/>
            <a:ext cx="8229600" cy="5364163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sz="2400" b="1" dirty="0"/>
              <a:t>Setting:</a:t>
            </a:r>
            <a:endParaRPr lang="en-US" sz="2400" dirty="0"/>
          </a:p>
          <a:p>
            <a:r>
              <a:rPr lang="en-US" sz="2000" dirty="0"/>
              <a:t>1 barista</a:t>
            </a:r>
          </a:p>
          <a:p>
            <a:r>
              <a:rPr lang="en-US" sz="2000" dirty="0"/>
              <a:t>FIFO (first-come, first-served) queue</a:t>
            </a:r>
          </a:p>
          <a:p>
            <a:r>
              <a:rPr lang="en-US" sz="2000" dirty="0"/>
              <a:t>No balking or reneging</a:t>
            </a:r>
          </a:p>
          <a:p>
            <a:r>
              <a:rPr lang="en-US" sz="2000" dirty="0"/>
              <a:t>Shop opens at time 0, system initially empty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sz="2200" dirty="0"/>
              <a:t>For each customer, find:</a:t>
            </a:r>
          </a:p>
          <a:p>
            <a:pPr lvl="1"/>
            <a:r>
              <a:rPr lang="en-US" sz="1900" dirty="0"/>
              <a:t>Service start time</a:t>
            </a:r>
          </a:p>
          <a:p>
            <a:pPr lvl="1"/>
            <a:r>
              <a:rPr lang="en-US" sz="1900" dirty="0"/>
              <a:t>Service completion (departure) time</a:t>
            </a:r>
          </a:p>
          <a:p>
            <a:pPr lvl="1"/>
            <a:r>
              <a:rPr lang="en-US" sz="1900" dirty="0"/>
              <a:t>Waiting time in queue</a:t>
            </a:r>
          </a:p>
          <a:p>
            <a:pPr marL="0" indent="0">
              <a:buNone/>
            </a:pPr>
            <a:r>
              <a:rPr lang="en-US" sz="2200" dirty="0"/>
              <a:t>Compute:</a:t>
            </a:r>
          </a:p>
          <a:p>
            <a:pPr lvl="1"/>
            <a:r>
              <a:rPr lang="en-US" sz="1900" dirty="0"/>
              <a:t>Average waiting time</a:t>
            </a:r>
          </a:p>
          <a:p>
            <a:pPr lvl="1"/>
            <a:r>
              <a:rPr lang="en-US" sz="1900" dirty="0"/>
              <a:t>Maximum queue length</a:t>
            </a:r>
          </a:p>
          <a:p>
            <a:pPr lvl="1"/>
            <a:r>
              <a:rPr lang="en-US" sz="1900" dirty="0"/>
              <a:t>Barista utilization during the period from the first arrival until the last departure.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0374AB-2520-FAEA-7929-DA1A915FCA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INDR 100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4FEA7B1-08A4-ED5A-BED4-215394875F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4C189D-BDFE-4396-970F-5D7218EBAA16}" type="slidenum">
              <a:rPr lang="en-US" smtClean="0"/>
              <a:t>9</a:t>
            </a:fld>
            <a:endParaRPr lang="en-US"/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A795BDAE-E0EE-D4E7-EF06-E40A5F1E0D6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91391295"/>
              </p:ext>
            </p:extLst>
          </p:nvPr>
        </p:nvGraphicFramePr>
        <p:xfrm>
          <a:off x="5181600" y="3045476"/>
          <a:ext cx="3505200" cy="1524000"/>
        </p:xfrm>
        <a:graphic>
          <a:graphicData uri="http://schemas.openxmlformats.org/drawingml/2006/table">
            <a:tbl>
              <a:tblPr/>
              <a:tblGrid>
                <a:gridCol w="906517">
                  <a:extLst>
                    <a:ext uri="{9D8B030D-6E8A-4147-A177-3AD203B41FA5}">
                      <a16:colId xmlns:a16="http://schemas.microsoft.com/office/drawing/2014/main" val="3667006403"/>
                    </a:ext>
                  </a:extLst>
                </a:gridCol>
                <a:gridCol w="1389993">
                  <a:extLst>
                    <a:ext uri="{9D8B030D-6E8A-4147-A177-3AD203B41FA5}">
                      <a16:colId xmlns:a16="http://schemas.microsoft.com/office/drawing/2014/main" val="2307843132"/>
                    </a:ext>
                  </a:extLst>
                </a:gridCol>
                <a:gridCol w="1208690">
                  <a:extLst>
                    <a:ext uri="{9D8B030D-6E8A-4147-A177-3AD203B41FA5}">
                      <a16:colId xmlns:a16="http://schemas.microsoft.com/office/drawing/2014/main" val="4260214166"/>
                    </a:ext>
                  </a:extLst>
                </a:gridCol>
              </a:tblGrid>
              <a:tr h="29041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/>
                        <a:t>Customer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/>
                        <a:t>Interarrival time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/>
                        <a:t>Service time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57150179"/>
                  </a:ext>
                </a:extLst>
              </a:tr>
              <a:tr h="29041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/>
                        <a:t>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/>
                        <a:t>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/>
                        <a:t>4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69998492"/>
                  </a:ext>
                </a:extLst>
              </a:tr>
              <a:tr h="29041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/>
                        <a:t>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/>
                        <a:t>3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59676026"/>
                  </a:ext>
                </a:extLst>
              </a:tr>
              <a:tr h="29041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3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/>
                        <a:t>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/>
                        <a:t>6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62355282"/>
                  </a:ext>
                </a:extLst>
              </a:tr>
              <a:tr h="29041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4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/>
                        <a:t>4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/>
                        <a:t>3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9836758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4034910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544644-9B0C-23E5-75AD-404E1A34E8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2900" y="-76200"/>
            <a:ext cx="8229600" cy="1143000"/>
          </a:xfrm>
        </p:spPr>
        <p:txBody>
          <a:bodyPr/>
          <a:lstStyle/>
          <a:p>
            <a:r>
              <a:rPr lang="en-US" dirty="0"/>
              <a:t>Class Exercise</a:t>
            </a:r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3A70BD5E-7410-D078-FFAA-EEA0761027D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33043593"/>
              </p:ext>
            </p:extLst>
          </p:nvPr>
        </p:nvGraphicFramePr>
        <p:xfrm>
          <a:off x="342900" y="1219200"/>
          <a:ext cx="8458200" cy="1828800"/>
        </p:xfrm>
        <a:graphic>
          <a:graphicData uri="http://schemas.openxmlformats.org/drawingml/2006/table">
            <a:tbl>
              <a:tblPr/>
              <a:tblGrid>
                <a:gridCol w="1409700">
                  <a:extLst>
                    <a:ext uri="{9D8B030D-6E8A-4147-A177-3AD203B41FA5}">
                      <a16:colId xmlns:a16="http://schemas.microsoft.com/office/drawing/2014/main" val="2065008548"/>
                    </a:ext>
                  </a:extLst>
                </a:gridCol>
                <a:gridCol w="1409700">
                  <a:extLst>
                    <a:ext uri="{9D8B030D-6E8A-4147-A177-3AD203B41FA5}">
                      <a16:colId xmlns:a16="http://schemas.microsoft.com/office/drawing/2014/main" val="2714023541"/>
                    </a:ext>
                  </a:extLst>
                </a:gridCol>
                <a:gridCol w="1409700">
                  <a:extLst>
                    <a:ext uri="{9D8B030D-6E8A-4147-A177-3AD203B41FA5}">
                      <a16:colId xmlns:a16="http://schemas.microsoft.com/office/drawing/2014/main" val="411767812"/>
                    </a:ext>
                  </a:extLst>
                </a:gridCol>
                <a:gridCol w="1409700">
                  <a:extLst>
                    <a:ext uri="{9D8B030D-6E8A-4147-A177-3AD203B41FA5}">
                      <a16:colId xmlns:a16="http://schemas.microsoft.com/office/drawing/2014/main" val="3608196552"/>
                    </a:ext>
                  </a:extLst>
                </a:gridCol>
                <a:gridCol w="1409700">
                  <a:extLst>
                    <a:ext uri="{9D8B030D-6E8A-4147-A177-3AD203B41FA5}">
                      <a16:colId xmlns:a16="http://schemas.microsoft.com/office/drawing/2014/main" val="3368819271"/>
                    </a:ext>
                  </a:extLst>
                </a:gridCol>
                <a:gridCol w="1409700">
                  <a:extLst>
                    <a:ext uri="{9D8B030D-6E8A-4147-A177-3AD203B41FA5}">
                      <a16:colId xmlns:a16="http://schemas.microsoft.com/office/drawing/2014/main" val="321802059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Cust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Arrival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Service time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Service start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Departure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Waiting time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1915707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5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1369921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4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5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7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2790164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3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6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6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7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13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4817364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10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3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13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16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3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3514319"/>
                  </a:ext>
                </a:extLst>
              </a:tr>
            </a:tbl>
          </a:graphicData>
        </a:graphic>
      </p:graphicFrame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BCB16A3-EE71-5ABD-401F-4536CEA853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INDR 100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5285453-D771-ABCA-4EB9-4A40EDD7C2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4C189D-BDFE-4396-970F-5D7218EBAA16}" type="slidenum">
              <a:rPr lang="en-US" smtClean="0"/>
              <a:t>10</a:t>
            </a:fld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61C71429-293C-79EB-1004-E9353EE5768A}"/>
                  </a:ext>
                </a:extLst>
              </p:cNvPr>
              <p:cNvSpPr txBox="1"/>
              <p:nvPr/>
            </p:nvSpPr>
            <p:spPr>
              <a:xfrm>
                <a:off x="228600" y="3505200"/>
                <a:ext cx="6878871" cy="256018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lvl="0"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altLang="en-US" u="sng" dirty="0">
                    <a:latin typeface="Arial" panose="020B0604020202020204" pitchFamily="34" charset="0"/>
                  </a:rPr>
                  <a:t>Average waiting time</a:t>
                </a:r>
              </a:p>
              <a:p>
                <a:pPr lvl="0"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altLang="en-US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nor/>
                            </m:rPr>
                            <a:rPr lang="en-US" altLang="en-US" dirty="0" smtClean="0">
                              <a:latin typeface="Arial" panose="020B0604020202020204" pitchFamily="34" charset="0"/>
                            </a:rPr>
                            <m:t>0+</m:t>
                          </m:r>
                          <m:r>
                            <m:rPr>
                              <m:nor/>
                            </m:rPr>
                            <a:rPr lang="en-US" altLang="en-US" dirty="0">
                              <a:latin typeface="Arial" panose="020B0604020202020204" pitchFamily="34" charset="0"/>
                            </a:rPr>
                            <m:t>1+1+3 </m:t>
                          </m:r>
                        </m:num>
                        <m:den>
                          <m:r>
                            <a:rPr lang="en-US" altLang="en-US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den>
                      </m:f>
                      <m:r>
                        <a:rPr lang="en-US" altLang="en-US" b="0" i="1" smtClean="0">
                          <a:latin typeface="Cambria Math" panose="02040503050406030204" pitchFamily="18" charset="0"/>
                        </a:rPr>
                        <m:t>=1.25</m:t>
                      </m:r>
                      <m:r>
                        <a:rPr lang="en-US" altLang="en-US" b="0" i="1" smtClean="0">
                          <a:latin typeface="Cambria Math" panose="02040503050406030204" pitchFamily="18" charset="0"/>
                        </a:rPr>
                        <m:t>𝑚𝑖𝑛</m:t>
                      </m:r>
                    </m:oMath>
                  </m:oMathPara>
                </a14:m>
                <a:endParaRPr lang="en-US" altLang="en-US" dirty="0">
                  <a:latin typeface="Arial" panose="020B0604020202020204" pitchFamily="34" charset="0"/>
                </a:endParaRPr>
              </a:p>
              <a:p>
                <a:pPr lvl="0"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en-US" altLang="en-US" dirty="0">
                  <a:latin typeface="Arial" panose="020B0604020202020204" pitchFamily="34" charset="0"/>
                </a:endParaRPr>
              </a:p>
              <a:p>
                <a:pPr lvl="0"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altLang="en-US" u="sng" dirty="0">
                    <a:latin typeface="Arial" panose="020B0604020202020204" pitchFamily="34" charset="0"/>
                  </a:rPr>
                  <a:t>Maximum queue length</a:t>
                </a:r>
              </a:p>
              <a:p>
                <a:pPr lvl="0"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altLang="en-US" dirty="0">
                    <a:latin typeface="Arial" panose="020B0604020202020204" pitchFamily="34" charset="0"/>
                  </a:rPr>
                  <a:t>   At t=3,5,9 there is 1 customer waiting → </a:t>
                </a:r>
                <a:r>
                  <a:rPr lang="en-US" altLang="en-US" b="1" dirty="0">
                    <a:latin typeface="Arial" panose="020B0604020202020204" pitchFamily="34" charset="0"/>
                  </a:rPr>
                  <a:t>max queue length = 1</a:t>
                </a:r>
                <a:endParaRPr lang="en-US" altLang="en-US" dirty="0">
                  <a:latin typeface="Arial" panose="020B0604020202020204" pitchFamily="34" charset="0"/>
                </a:endParaRPr>
              </a:p>
              <a:p>
                <a:pPr lvl="0"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altLang="en-US" u="sng" dirty="0">
                    <a:latin typeface="Arial" panose="020B0604020202020204" pitchFamily="34" charset="0"/>
                  </a:rPr>
                  <a:t>Barista utilization</a:t>
                </a:r>
              </a:p>
              <a:p>
                <a:pPr lvl="0"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altLang="en-US" dirty="0">
                    <a:latin typeface="Arial" panose="020B0604020202020204" pitchFamily="34" charset="0"/>
                  </a:rPr>
                  <a:t>Total busy time = 4 + 2 + 6 + 3 = 15</a:t>
                </a:r>
              </a:p>
              <a:p>
                <a:pPr lvl="0"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altLang="en-US" dirty="0">
                    <a:latin typeface="Arial" panose="020B0604020202020204" pitchFamily="34" charset="0"/>
                  </a:rPr>
                  <a:t>Time horizon = 0 to 16 → utilization = 15/16</a:t>
                </a:r>
              </a:p>
            </p:txBody>
          </p:sp>
        </mc:Choice>
        <mc:Fallback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61C71429-293C-79EB-1004-E9353EE5768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8600" y="3505200"/>
                <a:ext cx="6878871" cy="2560188"/>
              </a:xfrm>
              <a:prstGeom prst="rect">
                <a:avLst/>
              </a:prstGeom>
              <a:blipFill>
                <a:blip r:embed="rId2"/>
                <a:stretch>
                  <a:fillRect l="-923" t="-990" b="-247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6852244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Belge" ma:contentTypeID="0x010100A6517E19E6431E4C8A7F2D18BC1C9A95" ma:contentTypeVersion="15" ma:contentTypeDescription="Yeni belge oluşturun." ma:contentTypeScope="" ma:versionID="78c2748d14fd25ae1efbce9d1d6f453f">
  <xsd:schema xmlns:xsd="http://www.w3.org/2001/XMLSchema" xmlns:xs="http://www.w3.org/2001/XMLSchema" xmlns:p="http://schemas.microsoft.com/office/2006/metadata/properties" xmlns:ns3="65edfe5a-496a-4133-a6fa-9b9305227640" xmlns:ns4="9f613a20-c6af-4a69-a0b9-b93c46c5b1f4" targetNamespace="http://schemas.microsoft.com/office/2006/metadata/properties" ma:root="true" ma:fieldsID="727ace8560e388592fb74c59d2b0aae7" ns3:_="" ns4:_="">
    <xsd:import namespace="65edfe5a-496a-4133-a6fa-9b9305227640"/>
    <xsd:import namespace="9f613a20-c6af-4a69-a0b9-b93c46c5b1f4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AutoKeyPoints" minOccurs="0"/>
                <xsd:element ref="ns3:MediaServiceKeyPoints" minOccurs="0"/>
                <xsd:element ref="ns3:MediaLengthInSeconds" minOccurs="0"/>
                <xsd:element ref="ns3:MediaServiceDateTaken" minOccurs="0"/>
                <xsd:element ref="ns3:MediaServiceAutoTags" minOccurs="0"/>
                <xsd:element ref="ns3:MediaServiceGenerationTime" minOccurs="0"/>
                <xsd:element ref="ns3:MediaServiceEventHashCode" minOccurs="0"/>
                <xsd:element ref="ns3:MediaServiceOCR" minOccurs="0"/>
                <xsd:element ref="ns3:MediaServiceLocation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5edfe5a-496a-4133-a6fa-9b9305227640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LengthInSeconds" ma:index="12" nillable="true" ma:displayName="Length (seconds)" ma:internalName="MediaLengthInSeconds" ma:readOnly="true">
      <xsd:simpleType>
        <xsd:restriction base="dms:Unknown"/>
      </xsd:simpleType>
    </xsd:element>
    <xsd:element name="MediaServiceDateTaken" ma:index="13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4" nillable="true" ma:displayName="Tags" ma:internalName="MediaServiceAutoTags" ma:readOnly="true">
      <xsd:simpleType>
        <xsd:restriction base="dms:Text"/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7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18" nillable="true" ma:displayName="Location" ma:internalName="MediaServiceLocation" ma:readOnly="true">
      <xsd:simpleType>
        <xsd:restriction base="dms:Text"/>
      </xsd:simpleType>
    </xsd:element>
    <xsd:element name="MediaServiceSearchProperties" ma:index="22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f613a20-c6af-4a69-a0b9-b93c46c5b1f4" elementFormDefault="qualified">
    <xsd:import namespace="http://schemas.microsoft.com/office/2006/documentManagement/types"/>
    <xsd:import namespace="http://schemas.microsoft.com/office/infopath/2007/PartnerControls"/>
    <xsd:element name="SharedWithUsers" ma:index="19" nillable="true" ma:displayName="Paylaşılanlar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20" nillable="true" ma:displayName="Ayrıntıları ile Paylaşıldı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21" nillable="true" ma:displayName="İpucu Paylaşımı Karması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İçerik Türü"/>
        <xsd:element ref="dc:title" minOccurs="0" maxOccurs="1" ma:index="4" ma:displayName="Başlık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3A2C4DD5-9FCF-4844-91BF-E06AC471A9F2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C04F7B37-273B-4B15-96CC-1168BADC8CF5}">
  <ds:schemaRefs>
    <ds:schemaRef ds:uri="http://schemas.microsoft.com/office/2006/documentManagement/types"/>
    <ds:schemaRef ds:uri="http://schemas.microsoft.com/office/2006/metadata/properties"/>
    <ds:schemaRef ds:uri="http://purl.org/dc/dcmitype/"/>
    <ds:schemaRef ds:uri="http://purl.org/dc/elements/1.1/"/>
    <ds:schemaRef ds:uri="http://schemas.openxmlformats.org/package/2006/metadata/core-properties"/>
    <ds:schemaRef ds:uri="http://purl.org/dc/terms/"/>
    <ds:schemaRef ds:uri="http://schemas.microsoft.com/office/infopath/2007/PartnerControls"/>
    <ds:schemaRef ds:uri="9f613a20-c6af-4a69-a0b9-b93c46c5b1f4"/>
    <ds:schemaRef ds:uri="65edfe5a-496a-4133-a6fa-9b9305227640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1253B8D3-4787-4803-A694-906077018F79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65edfe5a-496a-4133-a6fa-9b9305227640"/>
    <ds:schemaRef ds:uri="9f613a20-c6af-4a69-a0b9-b93c46c5b1f4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19004</TotalTime>
  <Words>666</Words>
  <Application>Microsoft Macintosh PowerPoint</Application>
  <PresentationFormat>On-screen Show (4:3)</PresentationFormat>
  <Paragraphs>141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Arial</vt:lpstr>
      <vt:lpstr>Calibri</vt:lpstr>
      <vt:lpstr>Cambria Math</vt:lpstr>
      <vt:lpstr>Wingdings</vt:lpstr>
      <vt:lpstr>Office Theme</vt:lpstr>
      <vt:lpstr>Mathematical Models</vt:lpstr>
      <vt:lpstr>Simulation models</vt:lpstr>
      <vt:lpstr>Simulation models</vt:lpstr>
      <vt:lpstr>Simulation models</vt:lpstr>
      <vt:lpstr>Simulation models</vt:lpstr>
      <vt:lpstr>Simulation models</vt:lpstr>
      <vt:lpstr>Validation methods</vt:lpstr>
      <vt:lpstr>Example</vt:lpstr>
      <vt:lpstr>Class exercise</vt:lpstr>
      <vt:lpstr>Class Exercise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Linear Programming</dc:title>
  <dc:creator>Ceyda Oguz</dc:creator>
  <cp:lastModifiedBy>Barış Yıldız</cp:lastModifiedBy>
  <cp:revision>199</cp:revision>
  <dcterms:created xsi:type="dcterms:W3CDTF">2014-10-13T19:35:04Z</dcterms:created>
  <dcterms:modified xsi:type="dcterms:W3CDTF">2025-11-18T07:23:45Z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0x010100A6517E19E6431E4C8A7F2D18BC1C9A95</vt:lpwstr>
  </property>
</Properties>
</file>