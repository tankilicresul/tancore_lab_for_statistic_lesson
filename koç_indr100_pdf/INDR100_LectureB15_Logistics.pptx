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1"/>
  </p:notesMasterIdLst>
  <p:handoutMasterIdLst>
    <p:handoutMasterId r:id="rId32"/>
  </p:handoutMasterIdLst>
  <p:sldIdLst>
    <p:sldId id="256" r:id="rId5"/>
    <p:sldId id="471" r:id="rId6"/>
    <p:sldId id="482" r:id="rId7"/>
    <p:sldId id="483" r:id="rId8"/>
    <p:sldId id="484" r:id="rId9"/>
    <p:sldId id="485" r:id="rId10"/>
    <p:sldId id="486" r:id="rId11"/>
    <p:sldId id="331" r:id="rId12"/>
    <p:sldId id="449" r:id="rId13"/>
    <p:sldId id="480" r:id="rId14"/>
    <p:sldId id="370" r:id="rId15"/>
    <p:sldId id="447" r:id="rId16"/>
    <p:sldId id="487" r:id="rId17"/>
    <p:sldId id="489" r:id="rId18"/>
    <p:sldId id="490" r:id="rId19"/>
    <p:sldId id="448" r:id="rId20"/>
    <p:sldId id="491" r:id="rId21"/>
    <p:sldId id="492" r:id="rId22"/>
    <p:sldId id="493" r:id="rId23"/>
    <p:sldId id="494" r:id="rId24"/>
    <p:sldId id="495" r:id="rId25"/>
    <p:sldId id="497" r:id="rId26"/>
    <p:sldId id="498" r:id="rId27"/>
    <p:sldId id="499" r:id="rId28"/>
    <p:sldId id="500" r:id="rId29"/>
    <p:sldId id="501" r:id="rId30"/>
  </p:sldIdLst>
  <p:sldSz cx="9144000" cy="6858000" type="screen4x3"/>
  <p:notesSz cx="6669088"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9EB"/>
    <a:srgbClr val="D4E3EC"/>
    <a:srgbClr val="D7EBED"/>
    <a:srgbClr val="CAE5E8"/>
    <a:srgbClr val="C4E3E6"/>
    <a:srgbClr val="FFFC8E"/>
    <a:srgbClr val="FF00FF"/>
    <a:srgbClr val="0033CC"/>
    <a:srgbClr val="0066CC"/>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73" autoAdjust="0"/>
    <p:restoredTop sz="88743" autoAdjust="0"/>
  </p:normalViewPr>
  <p:slideViewPr>
    <p:cSldViewPr>
      <p:cViewPr>
        <p:scale>
          <a:sx n="265" d="100"/>
          <a:sy n="265" d="100"/>
        </p:scale>
        <p:origin x="144" y="-36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3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yda Oğuz" userId="84bc0a04-df01-4c62-bf4b-b758d8f4fb09" providerId="ADAL" clId="{E95263AD-07D2-43CE-857B-573B0D6E0E0B}"/>
    <pc:docChg chg="delSld">
      <pc:chgData name="Ceyda Oğuz" userId="84bc0a04-df01-4c62-bf4b-b758d8f4fb09" providerId="ADAL" clId="{E95263AD-07D2-43CE-857B-573B0D6E0E0B}" dt="2025-07-25T12:53:53.971" v="1" actId="2696"/>
      <pc:docMkLst>
        <pc:docMk/>
      </pc:docMkLst>
      <pc:sldChg chg="del">
        <pc:chgData name="Ceyda Oğuz" userId="84bc0a04-df01-4c62-bf4b-b758d8f4fb09" providerId="ADAL" clId="{E95263AD-07D2-43CE-857B-573B0D6E0E0B}" dt="2025-07-25T12:53:39.986" v="0" actId="2696"/>
        <pc:sldMkLst>
          <pc:docMk/>
          <pc:sldMk cId="589463232" sldId="470"/>
        </pc:sldMkLst>
      </pc:sldChg>
      <pc:sldChg chg="del">
        <pc:chgData name="Ceyda Oğuz" userId="84bc0a04-df01-4c62-bf4b-b758d8f4fb09" providerId="ADAL" clId="{E95263AD-07D2-43CE-857B-573B0D6E0E0B}" dt="2025-07-25T12:53:53.971" v="1" actId="2696"/>
        <pc:sldMkLst>
          <pc:docMk/>
          <pc:sldMk cId="955963112" sldId="477"/>
        </pc:sldMkLst>
      </pc:sldChg>
      <pc:sldChg chg="del">
        <pc:chgData name="Ceyda Oğuz" userId="84bc0a04-df01-4c62-bf4b-b758d8f4fb09" providerId="ADAL" clId="{E95263AD-07D2-43CE-857B-573B0D6E0E0B}" dt="2025-07-25T12:53:53.971" v="1" actId="2696"/>
        <pc:sldMkLst>
          <pc:docMk/>
          <pc:sldMk cId="973329288" sldId="47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89938"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7607" y="2"/>
            <a:ext cx="2889938" cy="498056"/>
          </a:xfrm>
          <a:prstGeom prst="rect">
            <a:avLst/>
          </a:prstGeom>
        </p:spPr>
        <p:txBody>
          <a:bodyPr vert="horz" lIns="91440" tIns="45720" rIns="91440" bIns="45720" rtlCol="0"/>
          <a:lstStyle>
            <a:lvl1pPr algn="r">
              <a:defRPr sz="1200"/>
            </a:lvl1pPr>
          </a:lstStyle>
          <a:p>
            <a:fld id="{64EA81BA-9211-4B8A-A668-71AC78E0712C}" type="datetimeFigureOut">
              <a:rPr lang="en-US" smtClean="0"/>
              <a:t>6/1/26</a:t>
            </a:fld>
            <a:endParaRPr lang="en-US"/>
          </a:p>
        </p:txBody>
      </p:sp>
      <p:sp>
        <p:nvSpPr>
          <p:cNvPr id="4" name="Footer Placeholder 3"/>
          <p:cNvSpPr>
            <a:spLocks noGrp="1"/>
          </p:cNvSpPr>
          <p:nvPr>
            <p:ph type="ftr" sz="quarter" idx="2"/>
          </p:nvPr>
        </p:nvSpPr>
        <p:spPr>
          <a:xfrm>
            <a:off x="0" y="9428584"/>
            <a:ext cx="2889938" cy="49805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7607" y="9428584"/>
            <a:ext cx="2889938" cy="498054"/>
          </a:xfrm>
          <a:prstGeom prst="rect">
            <a:avLst/>
          </a:prstGeom>
        </p:spPr>
        <p:txBody>
          <a:bodyPr vert="horz" lIns="91440" tIns="45720" rIns="91440" bIns="45720" rtlCol="0" anchor="b"/>
          <a:lstStyle>
            <a:lvl1pPr algn="r">
              <a:defRPr sz="1200"/>
            </a:lvl1pPr>
          </a:lstStyle>
          <a:p>
            <a:fld id="{5129382C-1449-4B94-9A9F-32D5175EE2DC}" type="slidenum">
              <a:rPr lang="en-US" smtClean="0"/>
              <a:t>‹#›</a:t>
            </a:fld>
            <a:endParaRPr lang="en-US"/>
          </a:p>
        </p:txBody>
      </p:sp>
    </p:spTree>
    <p:extLst>
      <p:ext uri="{BB962C8B-B14F-4D97-AF65-F5344CB8AC3E}">
        <p14:creationId xmlns:p14="http://schemas.microsoft.com/office/powerpoint/2010/main" val="27291741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F28F6D58-3ED7-428E-8110-4E6B9384BA83}" type="datetimeFigureOut">
              <a:rPr lang="tr-TR" smtClean="0"/>
              <a:pPr/>
              <a:t>1.06.2026</a:t>
            </a:fld>
            <a:endParaRPr lang="tr-TR"/>
          </a:p>
        </p:txBody>
      </p:sp>
      <p:sp>
        <p:nvSpPr>
          <p:cNvPr id="4" name="3 Slayt Görüntüsü Yer Tutucusu"/>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9428584"/>
            <a:ext cx="2889938" cy="496332"/>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777607" y="9428584"/>
            <a:ext cx="2889938" cy="496332"/>
          </a:xfrm>
          <a:prstGeom prst="rect">
            <a:avLst/>
          </a:prstGeom>
        </p:spPr>
        <p:txBody>
          <a:bodyPr vert="horz" lIns="91440" tIns="45720" rIns="91440" bIns="45720" rtlCol="0" anchor="b"/>
          <a:lstStyle>
            <a:lvl1pPr algn="r">
              <a:defRPr sz="1200"/>
            </a:lvl1pPr>
          </a:lstStyle>
          <a:p>
            <a:fld id="{599BF9F0-A87B-4B55-892E-86379474A341}" type="slidenum">
              <a:rPr lang="tr-TR" smtClean="0"/>
              <a:pPr/>
              <a:t>‹#›</a:t>
            </a:fld>
            <a:endParaRPr lang="tr-TR"/>
          </a:p>
        </p:txBody>
      </p:sp>
    </p:spTree>
    <p:extLst>
      <p:ext uri="{BB962C8B-B14F-4D97-AF65-F5344CB8AC3E}">
        <p14:creationId xmlns:p14="http://schemas.microsoft.com/office/powerpoint/2010/main" val="1706616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599BF9F0-A87B-4B55-892E-86379474A341}" type="slidenum">
              <a:rPr lang="tr-TR" smtClean="0"/>
              <a:pPr/>
              <a:t>1</a:t>
            </a:fld>
            <a:endParaRPr lang="tr-TR"/>
          </a:p>
        </p:txBody>
      </p:sp>
    </p:spTree>
    <p:extLst>
      <p:ext uri="{BB962C8B-B14F-4D97-AF65-F5344CB8AC3E}">
        <p14:creationId xmlns:p14="http://schemas.microsoft.com/office/powerpoint/2010/main" val="893205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dirty="0"/>
              <a:t>Logistics is a specialized field of its own comprised of shipping, warehousing, courier services, road/rail transportation, and air freight.</a:t>
            </a:r>
          </a:p>
        </p:txBody>
      </p:sp>
      <p:sp>
        <p:nvSpPr>
          <p:cNvPr id="4" name="Slide Number Placeholder 3"/>
          <p:cNvSpPr>
            <a:spLocks noGrp="1"/>
          </p:cNvSpPr>
          <p:nvPr>
            <p:ph type="sldNum" sz="quarter" idx="10"/>
          </p:nvPr>
        </p:nvSpPr>
        <p:spPr/>
        <p:txBody>
          <a:bodyPr/>
          <a:lstStyle/>
          <a:p>
            <a:fld id="{599BF9F0-A87B-4B55-892E-86379474A341}" type="slidenum">
              <a:rPr lang="tr-TR" smtClean="0"/>
              <a:pPr/>
              <a:t>2</a:t>
            </a:fld>
            <a:endParaRPr lang="tr-TR"/>
          </a:p>
        </p:txBody>
      </p:sp>
    </p:spTree>
    <p:extLst>
      <p:ext uri="{BB962C8B-B14F-4D97-AF65-F5344CB8AC3E}">
        <p14:creationId xmlns:p14="http://schemas.microsoft.com/office/powerpoint/2010/main" val="2885195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p:txBody>
          <a:bodyPr/>
          <a:lstStyle/>
          <a:p>
            <a:pPr>
              <a:defRPr/>
            </a:pPr>
            <a:fld id="{3CBEC605-78C1-4EFB-94D8-4F73555D4437}" type="slidenum">
              <a:rPr lang="zh-CN" altLang="en-US" smtClean="0">
                <a:latin typeface="Arial" pitchFamily="34" charset="0"/>
                <a:cs typeface="Arial" pitchFamily="34" charset="0"/>
              </a:rPr>
              <a:pPr>
                <a:defRPr/>
              </a:pPr>
              <a:t>8</a:t>
            </a:fld>
            <a:endParaRPr lang="en-US" altLang="zh-CN">
              <a:latin typeface="Arial" pitchFamily="34" charset="0"/>
              <a:cs typeface="Arial" pitchFamily="34" charset="0"/>
            </a:endParaRPr>
          </a:p>
        </p:txBody>
      </p:sp>
      <p:sp>
        <p:nvSpPr>
          <p:cNvPr id="57347" name="Rectangle 2"/>
          <p:cNvSpPr>
            <a:spLocks noGrp="1" noRot="1" noChangeAspect="1" noChangeArrowheads="1" noTextEdit="1"/>
          </p:cNvSpPr>
          <p:nvPr>
            <p:ph type="sldImg"/>
          </p:nvPr>
        </p:nvSpPr>
        <p:spPr>
          <a:xfrm>
            <a:off x="854075" y="744538"/>
            <a:ext cx="4960938" cy="3722687"/>
          </a:xfrm>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itchFamily="34" charset="0"/>
              <a:cs typeface="Arial" pitchFamily="34" charset="0"/>
            </a:endParaRPr>
          </a:p>
        </p:txBody>
      </p:sp>
    </p:spTree>
    <p:extLst>
      <p:ext uri="{BB962C8B-B14F-4D97-AF65-F5344CB8AC3E}">
        <p14:creationId xmlns:p14="http://schemas.microsoft.com/office/powerpoint/2010/main" val="2025660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p:txBody>
          <a:bodyPr/>
          <a:lstStyle/>
          <a:p>
            <a:pPr>
              <a:defRPr/>
            </a:pPr>
            <a:fld id="{FBB9FC66-C2AE-4B1D-B729-B0339A6FCD81}" type="slidenum">
              <a:rPr lang="zh-CN" altLang="en-US" smtClean="0">
                <a:latin typeface="Arial" pitchFamily="34" charset="0"/>
                <a:cs typeface="Arial" pitchFamily="34" charset="0"/>
              </a:rPr>
              <a:pPr>
                <a:defRPr/>
              </a:pPr>
              <a:t>11</a:t>
            </a:fld>
            <a:endParaRPr lang="en-US" altLang="zh-CN">
              <a:latin typeface="Arial" pitchFamily="34" charset="0"/>
              <a:cs typeface="Arial" pitchFamily="34" charset="0"/>
            </a:endParaRPr>
          </a:p>
        </p:txBody>
      </p:sp>
      <p:sp>
        <p:nvSpPr>
          <p:cNvPr id="58371" name="Rectangle 2"/>
          <p:cNvSpPr>
            <a:spLocks noGrp="1" noRot="1" noChangeAspect="1" noChangeArrowheads="1" noTextEdit="1"/>
          </p:cNvSpPr>
          <p:nvPr>
            <p:ph type="sldImg"/>
          </p:nvPr>
        </p:nvSpPr>
        <p:spPr>
          <a:xfrm>
            <a:off x="854075" y="744538"/>
            <a:ext cx="4960938" cy="3722687"/>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itchFamily="34" charset="0"/>
              <a:cs typeface="Arial" pitchFamily="34" charset="0"/>
            </a:endParaRPr>
          </a:p>
        </p:txBody>
      </p:sp>
    </p:spTree>
    <p:extLst>
      <p:ext uri="{BB962C8B-B14F-4D97-AF65-F5344CB8AC3E}">
        <p14:creationId xmlns:p14="http://schemas.microsoft.com/office/powerpoint/2010/main" val="671171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lvl1pPr>
              <a:defRPr/>
            </a:lvl1pPr>
          </a:lstStyle>
          <a:p>
            <a:r>
              <a:rPr lang="tr-TR"/>
              <a:t>INDR 100</a:t>
            </a:r>
            <a:endParaRPr lang="en-US"/>
          </a:p>
        </p:txBody>
      </p:sp>
      <p:sp>
        <p:nvSpPr>
          <p:cNvPr id="5" name="4 Altbilgi Yer Tutucusu"/>
          <p:cNvSpPr>
            <a:spLocks noGrp="1"/>
          </p:cNvSpPr>
          <p:nvPr>
            <p:ph type="ftr" sz="quarter" idx="11"/>
          </p:nvPr>
        </p:nvSpPr>
        <p:spPr/>
        <p:txBody>
          <a:bodyPr/>
          <a:lstStyle>
            <a:lvl1pPr>
              <a:defRPr/>
            </a:lvl1pPr>
          </a:lstStyle>
          <a:p>
            <a:endParaRPr lang="en-US"/>
          </a:p>
        </p:txBody>
      </p:sp>
      <p:sp>
        <p:nvSpPr>
          <p:cNvPr id="6" name="5 Slayt Numarası Yer Tutucusu"/>
          <p:cNvSpPr>
            <a:spLocks noGrp="1"/>
          </p:cNvSpPr>
          <p:nvPr>
            <p:ph type="sldNum" sz="quarter" idx="12"/>
          </p:nvPr>
        </p:nvSpPr>
        <p:spPr/>
        <p:txBody>
          <a:bodyPr/>
          <a:lstStyle>
            <a:lvl1pPr>
              <a:defRPr/>
            </a:lvl1pPr>
          </a:lstStyle>
          <a:p>
            <a:fld id="{975930EE-3348-477B-AF5E-98386206D29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lvl1pPr>
              <a:defRPr/>
            </a:lvl1pPr>
          </a:lstStyle>
          <a:p>
            <a:r>
              <a:rPr lang="tr-TR"/>
              <a:t>INDR 100</a:t>
            </a:r>
            <a:endParaRPr lang="en-US"/>
          </a:p>
        </p:txBody>
      </p:sp>
      <p:sp>
        <p:nvSpPr>
          <p:cNvPr id="5" name="4 Altbilgi Yer Tutucusu"/>
          <p:cNvSpPr>
            <a:spLocks noGrp="1"/>
          </p:cNvSpPr>
          <p:nvPr>
            <p:ph type="ftr" sz="quarter" idx="11"/>
          </p:nvPr>
        </p:nvSpPr>
        <p:spPr/>
        <p:txBody>
          <a:bodyPr/>
          <a:lstStyle>
            <a:lvl1pPr>
              <a:defRPr/>
            </a:lvl1pPr>
          </a:lstStyle>
          <a:p>
            <a:endParaRPr lang="en-US"/>
          </a:p>
        </p:txBody>
      </p:sp>
      <p:sp>
        <p:nvSpPr>
          <p:cNvPr id="6" name="5 Slayt Numarası Yer Tutucusu"/>
          <p:cNvSpPr>
            <a:spLocks noGrp="1"/>
          </p:cNvSpPr>
          <p:nvPr>
            <p:ph type="sldNum" sz="quarter" idx="12"/>
          </p:nvPr>
        </p:nvSpPr>
        <p:spPr/>
        <p:txBody>
          <a:bodyPr/>
          <a:lstStyle>
            <a:lvl1pPr>
              <a:defRPr/>
            </a:lvl1pPr>
          </a:lstStyle>
          <a:p>
            <a:fld id="{EEA0C0C4-74CF-4C80-AB86-CA62A4B1ED1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lvl1pPr>
              <a:defRPr/>
            </a:lvl1pPr>
          </a:lstStyle>
          <a:p>
            <a:r>
              <a:rPr lang="tr-TR"/>
              <a:t>INDR 100</a:t>
            </a:r>
            <a:endParaRPr lang="en-US"/>
          </a:p>
        </p:txBody>
      </p:sp>
      <p:sp>
        <p:nvSpPr>
          <p:cNvPr id="5" name="4 Altbilgi Yer Tutucusu"/>
          <p:cNvSpPr>
            <a:spLocks noGrp="1"/>
          </p:cNvSpPr>
          <p:nvPr>
            <p:ph type="ftr" sz="quarter" idx="11"/>
          </p:nvPr>
        </p:nvSpPr>
        <p:spPr/>
        <p:txBody>
          <a:bodyPr/>
          <a:lstStyle>
            <a:lvl1pPr>
              <a:defRPr/>
            </a:lvl1pPr>
          </a:lstStyle>
          <a:p>
            <a:endParaRPr lang="en-US"/>
          </a:p>
        </p:txBody>
      </p:sp>
      <p:sp>
        <p:nvSpPr>
          <p:cNvPr id="6" name="5 Slayt Numarası Yer Tutucusu"/>
          <p:cNvSpPr>
            <a:spLocks noGrp="1"/>
          </p:cNvSpPr>
          <p:nvPr>
            <p:ph type="sldNum" sz="quarter" idx="12"/>
          </p:nvPr>
        </p:nvSpPr>
        <p:spPr/>
        <p:txBody>
          <a:bodyPr/>
          <a:lstStyle>
            <a:lvl1pPr>
              <a:defRPr/>
            </a:lvl1pPr>
          </a:lstStyle>
          <a:p>
            <a:fld id="{A00F54BB-B7A2-4F96-AB97-69E9CDD48CA7}"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lvl1pPr>
              <a:defRPr/>
            </a:lvl1pPr>
          </a:lstStyle>
          <a:p>
            <a:r>
              <a:rPr lang="tr-TR"/>
              <a:t>INDR 100</a:t>
            </a:r>
            <a:endParaRPr lang="en-US"/>
          </a:p>
        </p:txBody>
      </p:sp>
      <p:sp>
        <p:nvSpPr>
          <p:cNvPr id="6" name="5 Altbilgi Yer Tutucusu"/>
          <p:cNvSpPr>
            <a:spLocks noGrp="1"/>
          </p:cNvSpPr>
          <p:nvPr>
            <p:ph type="ftr" sz="quarter" idx="11"/>
          </p:nvPr>
        </p:nvSpPr>
        <p:spPr/>
        <p:txBody>
          <a:bodyPr/>
          <a:lstStyle>
            <a:lvl1pPr>
              <a:defRPr/>
            </a:lvl1pPr>
          </a:lstStyle>
          <a:p>
            <a:endParaRPr lang="en-US"/>
          </a:p>
        </p:txBody>
      </p:sp>
      <p:sp>
        <p:nvSpPr>
          <p:cNvPr id="7" name="6 Slayt Numarası Yer Tutucusu"/>
          <p:cNvSpPr>
            <a:spLocks noGrp="1"/>
          </p:cNvSpPr>
          <p:nvPr>
            <p:ph type="sldNum" sz="quarter" idx="12"/>
          </p:nvPr>
        </p:nvSpPr>
        <p:spPr/>
        <p:txBody>
          <a:bodyPr/>
          <a:lstStyle>
            <a:lvl1pPr>
              <a:defRPr/>
            </a:lvl1pPr>
          </a:lstStyle>
          <a:p>
            <a:fld id="{517285B1-85F7-4040-9EA9-3F5042BBC00B}"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lvl1pPr>
              <a:defRPr/>
            </a:lvl1pPr>
          </a:lstStyle>
          <a:p>
            <a:r>
              <a:rPr lang="tr-TR"/>
              <a:t>INDR 100</a:t>
            </a:r>
            <a:endParaRPr lang="en-US"/>
          </a:p>
        </p:txBody>
      </p:sp>
      <p:sp>
        <p:nvSpPr>
          <p:cNvPr id="8" name="7 Altbilgi Yer Tutucusu"/>
          <p:cNvSpPr>
            <a:spLocks noGrp="1"/>
          </p:cNvSpPr>
          <p:nvPr>
            <p:ph type="ftr" sz="quarter" idx="11"/>
          </p:nvPr>
        </p:nvSpPr>
        <p:spPr/>
        <p:txBody>
          <a:bodyPr/>
          <a:lstStyle>
            <a:lvl1pPr>
              <a:defRPr/>
            </a:lvl1pPr>
          </a:lstStyle>
          <a:p>
            <a:endParaRPr lang="en-US"/>
          </a:p>
        </p:txBody>
      </p:sp>
      <p:sp>
        <p:nvSpPr>
          <p:cNvPr id="9" name="8 Slayt Numarası Yer Tutucusu"/>
          <p:cNvSpPr>
            <a:spLocks noGrp="1"/>
          </p:cNvSpPr>
          <p:nvPr>
            <p:ph type="sldNum" sz="quarter" idx="12"/>
          </p:nvPr>
        </p:nvSpPr>
        <p:spPr/>
        <p:txBody>
          <a:bodyPr/>
          <a:lstStyle>
            <a:lvl1pPr>
              <a:defRPr/>
            </a:lvl1pPr>
          </a:lstStyle>
          <a:p>
            <a:fld id="{AB139AE3-4E91-4384-A142-CEBE9D86C51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lvl1pPr>
              <a:defRPr/>
            </a:lvl1pPr>
          </a:lstStyle>
          <a:p>
            <a:r>
              <a:rPr lang="tr-TR"/>
              <a:t>INDR 100</a:t>
            </a:r>
            <a:endParaRPr lang="en-US"/>
          </a:p>
        </p:txBody>
      </p:sp>
      <p:sp>
        <p:nvSpPr>
          <p:cNvPr id="4" name="3 Altbilgi Yer Tutucusu"/>
          <p:cNvSpPr>
            <a:spLocks noGrp="1"/>
          </p:cNvSpPr>
          <p:nvPr>
            <p:ph type="ftr" sz="quarter" idx="11"/>
          </p:nvPr>
        </p:nvSpPr>
        <p:spPr/>
        <p:txBody>
          <a:bodyPr/>
          <a:lstStyle>
            <a:lvl1pPr>
              <a:defRPr/>
            </a:lvl1pPr>
          </a:lstStyle>
          <a:p>
            <a:endParaRPr lang="en-US"/>
          </a:p>
        </p:txBody>
      </p:sp>
      <p:sp>
        <p:nvSpPr>
          <p:cNvPr id="5" name="4 Slayt Numarası Yer Tutucusu"/>
          <p:cNvSpPr>
            <a:spLocks noGrp="1"/>
          </p:cNvSpPr>
          <p:nvPr>
            <p:ph type="sldNum" sz="quarter" idx="12"/>
          </p:nvPr>
        </p:nvSpPr>
        <p:spPr/>
        <p:txBody>
          <a:bodyPr/>
          <a:lstStyle>
            <a:lvl1pPr>
              <a:defRPr/>
            </a:lvl1pPr>
          </a:lstStyle>
          <a:p>
            <a:fld id="{D79C554E-21B7-484B-AFEF-B478EEFE7FD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lvl1pPr>
              <a:defRPr/>
            </a:lvl1pPr>
          </a:lstStyle>
          <a:p>
            <a:r>
              <a:rPr lang="tr-TR"/>
              <a:t>INDR 100</a:t>
            </a:r>
            <a:endParaRPr lang="en-US"/>
          </a:p>
        </p:txBody>
      </p:sp>
      <p:sp>
        <p:nvSpPr>
          <p:cNvPr id="3" name="2 Altbilgi Yer Tutucusu"/>
          <p:cNvSpPr>
            <a:spLocks noGrp="1"/>
          </p:cNvSpPr>
          <p:nvPr>
            <p:ph type="ftr" sz="quarter" idx="11"/>
          </p:nvPr>
        </p:nvSpPr>
        <p:spPr/>
        <p:txBody>
          <a:bodyPr/>
          <a:lstStyle>
            <a:lvl1pPr>
              <a:defRPr/>
            </a:lvl1pPr>
          </a:lstStyle>
          <a:p>
            <a:endParaRPr lang="en-US"/>
          </a:p>
        </p:txBody>
      </p:sp>
      <p:sp>
        <p:nvSpPr>
          <p:cNvPr id="4" name="3 Slayt Numarası Yer Tutucusu"/>
          <p:cNvSpPr>
            <a:spLocks noGrp="1"/>
          </p:cNvSpPr>
          <p:nvPr>
            <p:ph type="sldNum" sz="quarter" idx="12"/>
          </p:nvPr>
        </p:nvSpPr>
        <p:spPr/>
        <p:txBody>
          <a:bodyPr/>
          <a:lstStyle>
            <a:lvl1pPr>
              <a:defRPr/>
            </a:lvl1pPr>
          </a:lstStyle>
          <a:p>
            <a:fld id="{89B83043-F2C2-4C95-AE7D-6EAEF2DF1E67}"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lvl1pPr>
              <a:defRPr/>
            </a:lvl1pPr>
          </a:lstStyle>
          <a:p>
            <a:r>
              <a:rPr lang="tr-TR"/>
              <a:t>INDR 100</a:t>
            </a:r>
            <a:endParaRPr lang="en-US"/>
          </a:p>
        </p:txBody>
      </p:sp>
      <p:sp>
        <p:nvSpPr>
          <p:cNvPr id="6" name="5 Altbilgi Yer Tutucusu"/>
          <p:cNvSpPr>
            <a:spLocks noGrp="1"/>
          </p:cNvSpPr>
          <p:nvPr>
            <p:ph type="ftr" sz="quarter" idx="11"/>
          </p:nvPr>
        </p:nvSpPr>
        <p:spPr/>
        <p:txBody>
          <a:bodyPr/>
          <a:lstStyle>
            <a:lvl1pPr>
              <a:defRPr/>
            </a:lvl1pPr>
          </a:lstStyle>
          <a:p>
            <a:endParaRPr lang="en-US"/>
          </a:p>
        </p:txBody>
      </p:sp>
      <p:sp>
        <p:nvSpPr>
          <p:cNvPr id="7" name="6 Slayt Numarası Yer Tutucusu"/>
          <p:cNvSpPr>
            <a:spLocks noGrp="1"/>
          </p:cNvSpPr>
          <p:nvPr>
            <p:ph type="sldNum" sz="quarter" idx="12"/>
          </p:nvPr>
        </p:nvSpPr>
        <p:spPr/>
        <p:txBody>
          <a:bodyPr/>
          <a:lstStyle>
            <a:lvl1pPr>
              <a:defRPr/>
            </a:lvl1pPr>
          </a:lstStyle>
          <a:p>
            <a:fld id="{0FA32ABE-DBCB-4254-81D4-05CCB37D06FF}"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lvl1pPr>
              <a:defRPr/>
            </a:lvl1pPr>
          </a:lstStyle>
          <a:p>
            <a:r>
              <a:rPr lang="tr-TR"/>
              <a:t>INDR 100</a:t>
            </a:r>
            <a:endParaRPr lang="en-US"/>
          </a:p>
        </p:txBody>
      </p:sp>
      <p:sp>
        <p:nvSpPr>
          <p:cNvPr id="6" name="5 Altbilgi Yer Tutucusu"/>
          <p:cNvSpPr>
            <a:spLocks noGrp="1"/>
          </p:cNvSpPr>
          <p:nvPr>
            <p:ph type="ftr" sz="quarter" idx="11"/>
          </p:nvPr>
        </p:nvSpPr>
        <p:spPr/>
        <p:txBody>
          <a:bodyPr/>
          <a:lstStyle>
            <a:lvl1pPr>
              <a:defRPr/>
            </a:lvl1pPr>
          </a:lstStyle>
          <a:p>
            <a:endParaRPr lang="en-US"/>
          </a:p>
        </p:txBody>
      </p:sp>
      <p:sp>
        <p:nvSpPr>
          <p:cNvPr id="7" name="6 Slayt Numarası Yer Tutucusu"/>
          <p:cNvSpPr>
            <a:spLocks noGrp="1"/>
          </p:cNvSpPr>
          <p:nvPr>
            <p:ph type="sldNum" sz="quarter" idx="12"/>
          </p:nvPr>
        </p:nvSpPr>
        <p:spPr/>
        <p:txBody>
          <a:bodyPr/>
          <a:lstStyle>
            <a:lvl1pPr>
              <a:defRPr/>
            </a:lvl1pPr>
          </a:lstStyle>
          <a:p>
            <a:fld id="{61D0520A-9775-4F05-94A3-70663C4891D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lvl1pPr>
              <a:defRPr/>
            </a:lvl1pPr>
          </a:lstStyle>
          <a:p>
            <a:r>
              <a:rPr lang="tr-TR"/>
              <a:t>INDR 100</a:t>
            </a:r>
            <a:endParaRPr lang="en-US"/>
          </a:p>
        </p:txBody>
      </p:sp>
      <p:sp>
        <p:nvSpPr>
          <p:cNvPr id="5" name="4 Altbilgi Yer Tutucusu"/>
          <p:cNvSpPr>
            <a:spLocks noGrp="1"/>
          </p:cNvSpPr>
          <p:nvPr>
            <p:ph type="ftr" sz="quarter" idx="11"/>
          </p:nvPr>
        </p:nvSpPr>
        <p:spPr/>
        <p:txBody>
          <a:bodyPr/>
          <a:lstStyle>
            <a:lvl1pPr>
              <a:defRPr/>
            </a:lvl1pPr>
          </a:lstStyle>
          <a:p>
            <a:endParaRPr lang="en-US"/>
          </a:p>
        </p:txBody>
      </p:sp>
      <p:sp>
        <p:nvSpPr>
          <p:cNvPr id="6" name="5 Slayt Numarası Yer Tutucusu"/>
          <p:cNvSpPr>
            <a:spLocks noGrp="1"/>
          </p:cNvSpPr>
          <p:nvPr>
            <p:ph type="sldNum" sz="quarter" idx="12"/>
          </p:nvPr>
        </p:nvSpPr>
        <p:spPr/>
        <p:txBody>
          <a:bodyPr/>
          <a:lstStyle>
            <a:lvl1pPr>
              <a:defRPr/>
            </a:lvl1pPr>
          </a:lstStyle>
          <a:p>
            <a:fld id="{95F4DB37-FA15-4B20-AC30-674F326F1051}"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lvl1pPr>
              <a:defRPr/>
            </a:lvl1pPr>
          </a:lstStyle>
          <a:p>
            <a:r>
              <a:rPr lang="tr-TR"/>
              <a:t>INDR 100</a:t>
            </a:r>
            <a:endParaRPr lang="en-US"/>
          </a:p>
        </p:txBody>
      </p:sp>
      <p:sp>
        <p:nvSpPr>
          <p:cNvPr id="5" name="4 Altbilgi Yer Tutucusu"/>
          <p:cNvSpPr>
            <a:spLocks noGrp="1"/>
          </p:cNvSpPr>
          <p:nvPr>
            <p:ph type="ftr" sz="quarter" idx="11"/>
          </p:nvPr>
        </p:nvSpPr>
        <p:spPr/>
        <p:txBody>
          <a:bodyPr/>
          <a:lstStyle>
            <a:lvl1pPr>
              <a:defRPr/>
            </a:lvl1pPr>
          </a:lstStyle>
          <a:p>
            <a:endParaRPr lang="en-US"/>
          </a:p>
        </p:txBody>
      </p:sp>
      <p:sp>
        <p:nvSpPr>
          <p:cNvPr id="6" name="5 Slayt Numarası Yer Tutucusu"/>
          <p:cNvSpPr>
            <a:spLocks noGrp="1"/>
          </p:cNvSpPr>
          <p:nvPr>
            <p:ph type="sldNum" sz="quarter" idx="12"/>
          </p:nvPr>
        </p:nvSpPr>
        <p:spPr/>
        <p:txBody>
          <a:bodyPr/>
          <a:lstStyle>
            <a:lvl1pPr>
              <a:defRPr/>
            </a:lvl1pPr>
          </a:lstStyle>
          <a:p>
            <a:fld id="{C6C6B182-9BA6-4EB0-B233-C27C15F43D3D}"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r>
              <a:rPr lang="tr-TR"/>
              <a:t>INDR 100</a:t>
            </a: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89DA0F5B-E0A9-4BE9-A1B6-9215DCC175A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fontAlgn="base">
        <a:spcBef>
          <a:spcPct val="0"/>
        </a:spcBef>
        <a:spcAft>
          <a:spcPct val="0"/>
        </a:spcAft>
        <a:defRPr sz="4400">
          <a:solidFill>
            <a:srgbClr val="FF3300"/>
          </a:solidFill>
          <a:latin typeface="+mj-lt"/>
          <a:ea typeface="+mj-ea"/>
          <a:cs typeface="+mj-cs"/>
        </a:defRPr>
      </a:lvl1pPr>
      <a:lvl2pPr algn="ctr" rtl="0" fontAlgn="base">
        <a:spcBef>
          <a:spcPct val="0"/>
        </a:spcBef>
        <a:spcAft>
          <a:spcPct val="0"/>
        </a:spcAft>
        <a:defRPr sz="4400">
          <a:solidFill>
            <a:srgbClr val="FF3300"/>
          </a:solidFill>
          <a:latin typeface="Arial" charset="0"/>
          <a:cs typeface="Arial" charset="0"/>
        </a:defRPr>
      </a:lvl2pPr>
      <a:lvl3pPr algn="ctr" rtl="0" fontAlgn="base">
        <a:spcBef>
          <a:spcPct val="0"/>
        </a:spcBef>
        <a:spcAft>
          <a:spcPct val="0"/>
        </a:spcAft>
        <a:defRPr sz="4400">
          <a:solidFill>
            <a:srgbClr val="FF3300"/>
          </a:solidFill>
          <a:latin typeface="Arial" charset="0"/>
          <a:cs typeface="Arial" charset="0"/>
        </a:defRPr>
      </a:lvl3pPr>
      <a:lvl4pPr algn="ctr" rtl="0" fontAlgn="base">
        <a:spcBef>
          <a:spcPct val="0"/>
        </a:spcBef>
        <a:spcAft>
          <a:spcPct val="0"/>
        </a:spcAft>
        <a:defRPr sz="4400">
          <a:solidFill>
            <a:srgbClr val="FF3300"/>
          </a:solidFill>
          <a:latin typeface="Arial" charset="0"/>
          <a:cs typeface="Arial" charset="0"/>
        </a:defRPr>
      </a:lvl4pPr>
      <a:lvl5pPr algn="ctr" rtl="0" fontAlgn="base">
        <a:spcBef>
          <a:spcPct val="0"/>
        </a:spcBef>
        <a:spcAft>
          <a:spcPct val="0"/>
        </a:spcAft>
        <a:defRPr sz="4400">
          <a:solidFill>
            <a:srgbClr val="FF3300"/>
          </a:solidFill>
          <a:latin typeface="Arial" charset="0"/>
          <a:cs typeface="Arial" charset="0"/>
        </a:defRPr>
      </a:lvl5pPr>
      <a:lvl6pPr marL="457200" algn="ctr" rtl="0" fontAlgn="base">
        <a:spcBef>
          <a:spcPct val="0"/>
        </a:spcBef>
        <a:spcAft>
          <a:spcPct val="0"/>
        </a:spcAft>
        <a:defRPr sz="4400">
          <a:solidFill>
            <a:srgbClr val="FF3300"/>
          </a:solidFill>
          <a:latin typeface="Arial" charset="0"/>
          <a:cs typeface="Arial" charset="0"/>
        </a:defRPr>
      </a:lvl6pPr>
      <a:lvl7pPr marL="914400" algn="ctr" rtl="0" fontAlgn="base">
        <a:spcBef>
          <a:spcPct val="0"/>
        </a:spcBef>
        <a:spcAft>
          <a:spcPct val="0"/>
        </a:spcAft>
        <a:defRPr sz="4400">
          <a:solidFill>
            <a:srgbClr val="FF3300"/>
          </a:solidFill>
          <a:latin typeface="Arial" charset="0"/>
          <a:cs typeface="Arial" charset="0"/>
        </a:defRPr>
      </a:lvl7pPr>
      <a:lvl8pPr marL="1371600" algn="ctr" rtl="0" fontAlgn="base">
        <a:spcBef>
          <a:spcPct val="0"/>
        </a:spcBef>
        <a:spcAft>
          <a:spcPct val="0"/>
        </a:spcAft>
        <a:defRPr sz="4400">
          <a:solidFill>
            <a:srgbClr val="FF3300"/>
          </a:solidFill>
          <a:latin typeface="Arial" charset="0"/>
          <a:cs typeface="Arial" charset="0"/>
        </a:defRPr>
      </a:lvl8pPr>
      <a:lvl9pPr marL="1828800" algn="ctr" rtl="0" fontAlgn="base">
        <a:spcBef>
          <a:spcPct val="0"/>
        </a:spcBef>
        <a:spcAft>
          <a:spcPct val="0"/>
        </a:spcAft>
        <a:defRPr sz="4400">
          <a:solidFill>
            <a:srgbClr val="FF3300"/>
          </a:solidFill>
          <a:latin typeface="Arial" charset="0"/>
          <a:cs typeface="Arial" charset="0"/>
        </a:defRPr>
      </a:lvl9pPr>
    </p:titleStyle>
    <p:bodyStyle>
      <a:lvl1pPr marL="342900" indent="-342900" algn="l" rtl="0" fontAlgn="base">
        <a:spcBef>
          <a:spcPct val="20000"/>
        </a:spcBef>
        <a:spcAft>
          <a:spcPct val="0"/>
        </a:spcAft>
        <a:buClr>
          <a:srgbClr val="000099"/>
        </a:buClr>
        <a:buSzPct val="65000"/>
        <a:buFont typeface="Wingdings" pitchFamily="2" charset="2"/>
        <a:buChar char="q"/>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image" Target="../media/image1.wmf"/><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image" Target="../media/image4.gif"/><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92063" y="228600"/>
            <a:ext cx="8001000" cy="3124200"/>
          </a:xfrm>
        </p:spPr>
        <p:txBody>
          <a:bodyPr/>
          <a:lstStyle/>
          <a:p>
            <a:r>
              <a:rPr lang="tr-TR" sz="4000" dirty="0">
                <a:cs typeface="Times New Roman" pitchFamily="18" charset="0"/>
              </a:rPr>
              <a:t>INDR 100</a:t>
            </a:r>
            <a:br>
              <a:rPr lang="tr-TR" sz="4000" dirty="0">
                <a:cs typeface="Times New Roman" pitchFamily="18" charset="0"/>
              </a:rPr>
            </a:br>
            <a:br>
              <a:rPr lang="en-US" sz="4000" dirty="0">
                <a:cs typeface="Times New Roman" pitchFamily="18" charset="0"/>
              </a:rPr>
            </a:br>
            <a:r>
              <a:rPr lang="en-US" sz="4000" dirty="0">
                <a:solidFill>
                  <a:srgbClr val="000000"/>
                </a:solidFill>
                <a:cs typeface="Times New Roman" pitchFamily="18" charset="0"/>
              </a:rPr>
              <a:t> </a:t>
            </a:r>
            <a:r>
              <a:rPr lang="tr-TR" sz="4000" dirty="0">
                <a:solidFill>
                  <a:srgbClr val="000000"/>
                </a:solidFill>
                <a:latin typeface="Comic Sans MS" pitchFamily="66" charset="0"/>
                <a:cs typeface="Times New Roman" pitchFamily="18" charset="0"/>
              </a:rPr>
              <a:t>INTRODUCTION TO </a:t>
            </a:r>
            <a:r>
              <a:rPr lang="en-US" sz="4000" dirty="0">
                <a:solidFill>
                  <a:srgbClr val="000000"/>
                </a:solidFill>
                <a:latin typeface="Comic Sans MS" pitchFamily="66" charset="0"/>
                <a:cs typeface="Times New Roman" pitchFamily="18" charset="0"/>
              </a:rPr>
              <a:t>INDUSTRIAL ENGINEERING</a:t>
            </a:r>
          </a:p>
        </p:txBody>
      </p:sp>
      <p:sp>
        <p:nvSpPr>
          <p:cNvPr id="2051" name="Rectangle 3"/>
          <p:cNvSpPr>
            <a:spLocks noGrp="1" noChangeArrowheads="1"/>
          </p:cNvSpPr>
          <p:nvPr>
            <p:ph type="subTitle" idx="1"/>
          </p:nvPr>
        </p:nvSpPr>
        <p:spPr>
          <a:xfrm>
            <a:off x="685800" y="3505200"/>
            <a:ext cx="8001000" cy="2286000"/>
          </a:xfrm>
        </p:spPr>
        <p:txBody>
          <a:bodyPr/>
          <a:lstStyle/>
          <a:p>
            <a:pPr>
              <a:lnSpc>
                <a:spcPct val="90000"/>
              </a:lnSpc>
            </a:pPr>
            <a:r>
              <a:rPr lang="tr-TR" dirty="0" err="1"/>
              <a:t>Introduction</a:t>
            </a:r>
            <a:r>
              <a:rPr lang="tr-TR" dirty="0"/>
              <a:t> </a:t>
            </a:r>
            <a:r>
              <a:rPr lang="tr-TR" dirty="0" err="1"/>
              <a:t>to</a:t>
            </a:r>
            <a:r>
              <a:rPr lang="tr-TR" dirty="0"/>
              <a:t> </a:t>
            </a:r>
            <a:r>
              <a:rPr lang="tr-TR" dirty="0" err="1"/>
              <a:t>Logistics</a:t>
            </a:r>
            <a:endParaRPr lang="tr-TR" dirty="0"/>
          </a:p>
        </p:txBody>
      </p:sp>
      <p:sp>
        <p:nvSpPr>
          <p:cNvPr id="3" name="TextBox 2"/>
          <p:cNvSpPr txBox="1"/>
          <p:nvPr/>
        </p:nvSpPr>
        <p:spPr>
          <a:xfrm>
            <a:off x="685800" y="6491383"/>
            <a:ext cx="8001000" cy="307777"/>
          </a:xfrm>
          <a:prstGeom prst="rect">
            <a:avLst/>
          </a:prstGeom>
          <a:noFill/>
        </p:spPr>
        <p:txBody>
          <a:bodyPr wrap="square" rtlCol="0">
            <a:spAutoFit/>
          </a:bodyPr>
          <a:lstStyle/>
          <a:p>
            <a:pPr algn="ctr"/>
            <a:r>
              <a:rPr lang="en-US" sz="1400" dirty="0" err="1"/>
              <a:t>Koç</a:t>
            </a:r>
            <a:r>
              <a:rPr lang="en-US" sz="1400" dirty="0"/>
              <a:t>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a:xfrm>
            <a:off x="533400" y="457200"/>
            <a:ext cx="7924800" cy="1371600"/>
          </a:xfrm>
        </p:spPr>
        <p:txBody>
          <a:bodyPr>
            <a:normAutofit/>
          </a:bodyPr>
          <a:lstStyle/>
          <a:p>
            <a:pPr algn="ctr" eaLnBrk="1" hangingPunct="1"/>
            <a:r>
              <a:rPr lang="en-US" altLang="tr-TR" sz="4000" b="1" dirty="0"/>
              <a:t>Logistics vs. Supply Chain Management</a:t>
            </a:r>
          </a:p>
        </p:txBody>
      </p:sp>
      <p:sp>
        <p:nvSpPr>
          <p:cNvPr id="872451" name="Rectangle 3"/>
          <p:cNvSpPr>
            <a:spLocks noGrp="1" noChangeArrowheads="1"/>
          </p:cNvSpPr>
          <p:nvPr>
            <p:ph idx="1"/>
          </p:nvPr>
        </p:nvSpPr>
        <p:spPr>
          <a:xfrm>
            <a:off x="457200" y="2133600"/>
            <a:ext cx="8229600" cy="4191000"/>
          </a:xfrm>
        </p:spPr>
        <p:txBody>
          <a:bodyPr>
            <a:normAutofit/>
          </a:bodyPr>
          <a:lstStyle/>
          <a:p>
            <a:pPr eaLnBrk="1" hangingPunct="1">
              <a:lnSpc>
                <a:spcPct val="80000"/>
              </a:lnSpc>
            </a:pPr>
            <a:r>
              <a:rPr lang="en-CA" altLang="tr-TR" sz="2400" dirty="0">
                <a:solidFill>
                  <a:srgbClr val="FF0000"/>
                </a:solidFill>
                <a:latin typeface="+mj-lt"/>
                <a:cs typeface="Arial" pitchFamily="34" charset="0"/>
              </a:rPr>
              <a:t>What is "Supply Chain Management?"</a:t>
            </a:r>
            <a:br>
              <a:rPr lang="en-CA" altLang="tr-TR" sz="2400" dirty="0">
                <a:solidFill>
                  <a:srgbClr val="FF0000"/>
                </a:solidFill>
                <a:latin typeface="+mj-lt"/>
                <a:cs typeface="Arial" pitchFamily="34" charset="0"/>
              </a:rPr>
            </a:br>
            <a:endParaRPr lang="en-CA" altLang="tr-TR" sz="800" dirty="0">
              <a:solidFill>
                <a:srgbClr val="FF0000"/>
              </a:solidFill>
              <a:latin typeface="+mj-lt"/>
              <a:cs typeface="Arial" pitchFamily="34" charset="0"/>
            </a:endParaRPr>
          </a:p>
          <a:p>
            <a:pPr algn="just" eaLnBrk="1" hangingPunct="1">
              <a:lnSpc>
                <a:spcPct val="80000"/>
              </a:lnSpc>
              <a:buFont typeface="Wingdings 2" pitchFamily="18" charset="2"/>
              <a:buNone/>
            </a:pPr>
            <a:r>
              <a:rPr lang="en-CA" altLang="tr-TR" sz="800" dirty="0">
                <a:latin typeface="+mj-lt"/>
                <a:cs typeface="Arial" pitchFamily="34" charset="0"/>
              </a:rPr>
              <a:t>	</a:t>
            </a:r>
            <a:r>
              <a:rPr lang="en-CA" altLang="tr-TR" sz="2200" dirty="0">
                <a:latin typeface="+mj-lt"/>
                <a:cs typeface="Arial" pitchFamily="34" charset="0"/>
              </a:rPr>
              <a:t>Supply Chain Management is the </a:t>
            </a:r>
            <a:r>
              <a:rPr lang="en-CA" altLang="tr-TR" sz="2200" dirty="0">
                <a:solidFill>
                  <a:srgbClr val="0000FF"/>
                </a:solidFill>
                <a:latin typeface="+mj-lt"/>
                <a:cs typeface="Arial" pitchFamily="34" charset="0"/>
              </a:rPr>
              <a:t>integration </a:t>
            </a:r>
            <a:r>
              <a:rPr lang="en-CA" altLang="tr-TR" sz="2200" dirty="0">
                <a:latin typeface="+mj-lt"/>
                <a:cs typeface="Arial" pitchFamily="34" charset="0"/>
              </a:rPr>
              <a:t>of key </a:t>
            </a:r>
            <a:r>
              <a:rPr lang="en-CA" altLang="tr-TR" sz="2200" i="1" dirty="0">
                <a:solidFill>
                  <a:srgbClr val="0000FF"/>
                </a:solidFill>
                <a:latin typeface="+mj-lt"/>
                <a:cs typeface="Arial" pitchFamily="34" charset="0"/>
              </a:rPr>
              <a:t>business</a:t>
            </a:r>
            <a:r>
              <a:rPr lang="en-CA" altLang="tr-TR" sz="2200" i="1" dirty="0">
                <a:latin typeface="+mj-lt"/>
                <a:cs typeface="Arial" pitchFamily="34" charset="0"/>
              </a:rPr>
              <a:t> </a:t>
            </a:r>
            <a:r>
              <a:rPr lang="en-CA" altLang="tr-TR" sz="2200" i="1" dirty="0">
                <a:solidFill>
                  <a:srgbClr val="0000FF"/>
                </a:solidFill>
                <a:latin typeface="+mj-lt"/>
                <a:cs typeface="Arial" pitchFamily="34" charset="0"/>
              </a:rPr>
              <a:t>processes</a:t>
            </a:r>
            <a:r>
              <a:rPr lang="en-CA" altLang="tr-TR" sz="2200" dirty="0">
                <a:solidFill>
                  <a:srgbClr val="0000FF"/>
                </a:solidFill>
                <a:latin typeface="+mj-lt"/>
                <a:cs typeface="Arial" pitchFamily="34" charset="0"/>
              </a:rPr>
              <a:t> </a:t>
            </a:r>
            <a:r>
              <a:rPr lang="en-CA" altLang="tr-TR" sz="2200" dirty="0">
                <a:latin typeface="+mj-lt"/>
                <a:cs typeface="Arial" pitchFamily="34" charset="0"/>
              </a:rPr>
              <a:t>from end user through original suppliers, that provides products, services, and information that add value for customers and other stakeholders. </a:t>
            </a:r>
          </a:p>
          <a:p>
            <a:pPr eaLnBrk="1" hangingPunct="1">
              <a:lnSpc>
                <a:spcPct val="80000"/>
              </a:lnSpc>
            </a:pPr>
            <a:endParaRPr lang="en-CA" altLang="tr-TR" sz="2200" dirty="0">
              <a:solidFill>
                <a:srgbClr val="2A327A"/>
              </a:solidFill>
              <a:latin typeface="+mj-lt"/>
              <a:cs typeface="Arial" pitchFamily="34" charset="0"/>
            </a:endParaRPr>
          </a:p>
          <a:p>
            <a:pPr eaLnBrk="1" hangingPunct="1">
              <a:lnSpc>
                <a:spcPct val="80000"/>
              </a:lnSpc>
            </a:pPr>
            <a:r>
              <a:rPr lang="en-CA" altLang="tr-TR" sz="2400" dirty="0">
                <a:solidFill>
                  <a:srgbClr val="FF0000"/>
                </a:solidFill>
                <a:latin typeface="+mj-lt"/>
                <a:cs typeface="Arial" pitchFamily="34" charset="0"/>
              </a:rPr>
              <a:t>What is "Logistics Management?"</a:t>
            </a:r>
            <a:br>
              <a:rPr lang="en-CA" altLang="tr-TR" sz="2400" dirty="0">
                <a:latin typeface="+mj-lt"/>
                <a:cs typeface="Arial" pitchFamily="34" charset="0"/>
              </a:rPr>
            </a:br>
            <a:endParaRPr lang="en-CA" altLang="tr-TR" sz="800" dirty="0">
              <a:latin typeface="+mj-lt"/>
              <a:cs typeface="Arial" pitchFamily="34" charset="0"/>
            </a:endParaRPr>
          </a:p>
          <a:p>
            <a:pPr algn="just" eaLnBrk="1" hangingPunct="1">
              <a:lnSpc>
                <a:spcPct val="80000"/>
              </a:lnSpc>
              <a:buFont typeface="Wingdings 2" pitchFamily="18" charset="2"/>
              <a:buNone/>
            </a:pPr>
            <a:r>
              <a:rPr lang="en-CA" altLang="tr-TR" sz="800" dirty="0">
                <a:latin typeface="+mj-lt"/>
                <a:cs typeface="Arial" pitchFamily="34" charset="0"/>
              </a:rPr>
              <a:t>	</a:t>
            </a:r>
            <a:r>
              <a:rPr lang="en-CA" altLang="tr-TR" sz="2200" dirty="0">
                <a:latin typeface="+mj-lt"/>
                <a:cs typeface="Arial" pitchFamily="34" charset="0"/>
              </a:rPr>
              <a:t>Logistics </a:t>
            </a:r>
            <a:r>
              <a:rPr lang="en-CA" altLang="tr-TR" sz="2200" i="1" dirty="0">
                <a:solidFill>
                  <a:srgbClr val="0000FF"/>
                </a:solidFill>
                <a:latin typeface="+mj-lt"/>
                <a:cs typeface="Arial" pitchFamily="34" charset="0"/>
              </a:rPr>
              <a:t>is that part of the supply chain</a:t>
            </a:r>
            <a:r>
              <a:rPr lang="en-CA" altLang="tr-TR" sz="2200" dirty="0">
                <a:solidFill>
                  <a:srgbClr val="0000FF"/>
                </a:solidFill>
                <a:latin typeface="+mj-lt"/>
                <a:cs typeface="Arial" pitchFamily="34" charset="0"/>
              </a:rPr>
              <a:t> </a:t>
            </a:r>
            <a:r>
              <a:rPr lang="en-CA" altLang="tr-TR" sz="2200" dirty="0">
                <a:latin typeface="+mj-lt"/>
                <a:cs typeface="Arial" pitchFamily="34" charset="0"/>
              </a:rPr>
              <a:t>process that plans, implements, and controls the efficient, effective </a:t>
            </a:r>
            <a:r>
              <a:rPr lang="en-CA" altLang="tr-TR" sz="2200" i="1" dirty="0">
                <a:solidFill>
                  <a:srgbClr val="0000FF"/>
                </a:solidFill>
                <a:latin typeface="+mj-lt"/>
                <a:cs typeface="Arial" pitchFamily="34" charset="0"/>
              </a:rPr>
              <a:t>flow and storage of goods</a:t>
            </a:r>
            <a:r>
              <a:rPr lang="en-CA" altLang="tr-TR" sz="2200" dirty="0">
                <a:latin typeface="+mj-lt"/>
                <a:cs typeface="Arial" pitchFamily="34" charset="0"/>
              </a:rPr>
              <a:t>, services, and related information from point of origin to point of consumption in order to meet a customers' requirements. </a:t>
            </a:r>
          </a:p>
          <a:p>
            <a:pPr eaLnBrk="1" hangingPunct="1">
              <a:lnSpc>
                <a:spcPct val="80000"/>
              </a:lnSpc>
            </a:pPr>
            <a:endParaRPr lang="en-CA" altLang="tr-TR" sz="2200" dirty="0">
              <a:latin typeface="+mj-lt"/>
              <a:cs typeface="Arial" pitchFamily="34" charset="0"/>
            </a:endParaRPr>
          </a:p>
        </p:txBody>
      </p:sp>
      <p:sp>
        <p:nvSpPr>
          <p:cNvPr id="2" name="Slide Number Placeholder 1"/>
          <p:cNvSpPr>
            <a:spLocks noGrp="1"/>
          </p:cNvSpPr>
          <p:nvPr>
            <p:ph type="sldNum" sz="quarter" idx="12"/>
          </p:nvPr>
        </p:nvSpPr>
        <p:spPr/>
        <p:txBody>
          <a:bodyPr/>
          <a:lstStyle/>
          <a:p>
            <a:fld id="{EEA0C0C4-74CF-4C80-AB86-CA62A4B1ED10}" type="slidenum">
              <a:rPr lang="en-US" smtClean="0">
                <a:latin typeface="+mj-lt"/>
              </a:rPr>
              <a:pPr/>
              <a:t>2</a:t>
            </a:fld>
            <a:endParaRPr lang="en-US">
              <a:latin typeface="+mj-lt"/>
            </a:endParaRPr>
          </a:p>
        </p:txBody>
      </p:sp>
      <p:sp>
        <p:nvSpPr>
          <p:cNvPr id="3" name="Date Placeholder 2"/>
          <p:cNvSpPr>
            <a:spLocks noGrp="1"/>
          </p:cNvSpPr>
          <p:nvPr>
            <p:ph type="dt" sz="half" idx="10"/>
          </p:nvPr>
        </p:nvSpPr>
        <p:spPr/>
        <p:txBody>
          <a:bodyPr/>
          <a:lstStyle/>
          <a:p>
            <a:r>
              <a:rPr lang="tr-TR">
                <a:latin typeface="+mj-lt"/>
              </a:rPr>
              <a:t>INDR 100</a:t>
            </a:r>
            <a:endParaRPr lang="en-US">
              <a:latin typeface="+mj-lt"/>
            </a:endParaRPr>
          </a:p>
        </p:txBody>
      </p:sp>
    </p:spTree>
    <p:extLst>
      <p:ext uri="{BB962C8B-B14F-4D97-AF65-F5344CB8AC3E}">
        <p14:creationId xmlns:p14="http://schemas.microsoft.com/office/powerpoint/2010/main" val="15049391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55F05-38A1-431D-ABA5-C6946A1D83BE}"/>
              </a:ext>
            </a:extLst>
          </p:cNvPr>
          <p:cNvSpPr>
            <a:spLocks noGrp="1"/>
          </p:cNvSpPr>
          <p:nvPr>
            <p:ph type="title"/>
          </p:nvPr>
        </p:nvSpPr>
        <p:spPr>
          <a:xfrm>
            <a:off x="457200" y="106708"/>
            <a:ext cx="8229600" cy="715962"/>
          </a:xfrm>
        </p:spPr>
        <p:txBody>
          <a:bodyPr/>
          <a:lstStyle/>
          <a:p>
            <a:r>
              <a:rPr lang="en-US" dirty="0"/>
              <a:t>Supplier selection problem</a:t>
            </a:r>
          </a:p>
        </p:txBody>
      </p:sp>
      <p:sp>
        <p:nvSpPr>
          <p:cNvPr id="3" name="Content Placeholder 2">
            <a:extLst>
              <a:ext uri="{FF2B5EF4-FFF2-40B4-BE49-F238E27FC236}">
                <a16:creationId xmlns:a16="http://schemas.microsoft.com/office/drawing/2014/main" id="{0612C5FD-4343-1018-DE24-CDBCB6C9B789}"/>
              </a:ext>
            </a:extLst>
          </p:cNvPr>
          <p:cNvSpPr>
            <a:spLocks noGrp="1"/>
          </p:cNvSpPr>
          <p:nvPr>
            <p:ph idx="1"/>
          </p:nvPr>
        </p:nvSpPr>
        <p:spPr>
          <a:xfrm>
            <a:off x="420757" y="990601"/>
            <a:ext cx="8229600" cy="2438400"/>
          </a:xfrm>
        </p:spPr>
        <p:txBody>
          <a:bodyPr/>
          <a:lstStyle/>
          <a:p>
            <a:r>
              <a:rPr lang="en-US" sz="2400" dirty="0"/>
              <a:t>A firm needs </a:t>
            </a:r>
            <a:r>
              <a:rPr lang="en-US" sz="2400" b="1" dirty="0"/>
              <a:t>500 units</a:t>
            </a:r>
            <a:r>
              <a:rPr lang="en-US" sz="2400" dirty="0"/>
              <a:t> of a component. </a:t>
            </a:r>
          </a:p>
          <a:p>
            <a:r>
              <a:rPr lang="en-US" sz="2400" dirty="0"/>
              <a:t>It can buy from </a:t>
            </a:r>
            <a:r>
              <a:rPr lang="en-US" sz="2400" b="1" dirty="0"/>
              <a:t>3 suppliers</a:t>
            </a:r>
            <a:r>
              <a:rPr lang="en-US" sz="2400" dirty="0"/>
              <a:t>. </a:t>
            </a:r>
          </a:p>
          <a:p>
            <a:r>
              <a:rPr lang="en-US" sz="2400" dirty="0"/>
              <a:t>If a supplier is used, there is a </a:t>
            </a:r>
            <a:r>
              <a:rPr lang="en-US" sz="2400" b="1" dirty="0"/>
              <a:t>fixed contracting cost</a:t>
            </a:r>
            <a:r>
              <a:rPr lang="en-US" sz="2400" dirty="0"/>
              <a:t>. </a:t>
            </a:r>
          </a:p>
          <a:p>
            <a:r>
              <a:rPr lang="en-US" sz="2400" dirty="0"/>
              <a:t>Each supplier also has a </a:t>
            </a:r>
            <a:r>
              <a:rPr lang="en-US" sz="2400" b="1" dirty="0"/>
              <a:t>capacity</a:t>
            </a:r>
            <a:r>
              <a:rPr lang="en-US" sz="2400" dirty="0"/>
              <a:t> and a </a:t>
            </a:r>
            <a:r>
              <a:rPr lang="en-US" sz="2400" b="1" dirty="0"/>
              <a:t>unit cost</a:t>
            </a:r>
            <a:r>
              <a:rPr lang="en-US" sz="2400" dirty="0"/>
              <a:t>. </a:t>
            </a:r>
          </a:p>
          <a:p>
            <a:r>
              <a:rPr lang="en-US" sz="2400" dirty="0"/>
              <a:t>The firm wants to minimize total cost.</a:t>
            </a:r>
          </a:p>
        </p:txBody>
      </p:sp>
      <p:sp>
        <p:nvSpPr>
          <p:cNvPr id="4" name="Date Placeholder 3">
            <a:extLst>
              <a:ext uri="{FF2B5EF4-FFF2-40B4-BE49-F238E27FC236}">
                <a16:creationId xmlns:a16="http://schemas.microsoft.com/office/drawing/2014/main" id="{C5687508-B905-67EA-A469-CBEE50F024D1}"/>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E58AE55D-F5F4-0031-2540-B1C5F06EE5BF}"/>
              </a:ext>
            </a:extLst>
          </p:cNvPr>
          <p:cNvSpPr>
            <a:spLocks noGrp="1"/>
          </p:cNvSpPr>
          <p:nvPr>
            <p:ph type="sldNum" sz="quarter" idx="12"/>
          </p:nvPr>
        </p:nvSpPr>
        <p:spPr/>
        <p:txBody>
          <a:bodyPr/>
          <a:lstStyle/>
          <a:p>
            <a:fld id="{EEA0C0C4-74CF-4C80-AB86-CA62A4B1ED10}" type="slidenum">
              <a:rPr lang="en-US" smtClean="0"/>
              <a:pPr/>
              <a:t>3</a:t>
            </a:fld>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A4A77DB-EC9B-B24F-A120-0E5FC3B6474F}"/>
                  </a:ext>
                </a:extLst>
              </p:cNvPr>
              <p:cNvGraphicFramePr>
                <a:graphicFrameLocks noGrp="1"/>
              </p:cNvGraphicFramePr>
              <p:nvPr>
                <p:extLst>
                  <p:ext uri="{D42A27DB-BD31-4B8C-83A1-F6EECF244321}">
                    <p14:modId xmlns:p14="http://schemas.microsoft.com/office/powerpoint/2010/main" val="883006328"/>
                  </p:ext>
                </p:extLst>
              </p:nvPr>
            </p:nvGraphicFramePr>
            <p:xfrm>
              <a:off x="420757" y="3733800"/>
              <a:ext cx="8229600" cy="1463040"/>
            </p:xfrm>
            <a:graphic>
              <a:graphicData uri="http://schemas.openxmlformats.org/drawingml/2006/table">
                <a:tbl>
                  <a:tblPr/>
                  <a:tblGrid>
                    <a:gridCol w="2057400">
                      <a:extLst>
                        <a:ext uri="{9D8B030D-6E8A-4147-A177-3AD203B41FA5}">
                          <a16:colId xmlns:a16="http://schemas.microsoft.com/office/drawing/2014/main" val="1429821279"/>
                        </a:ext>
                      </a:extLst>
                    </a:gridCol>
                    <a:gridCol w="2057400">
                      <a:extLst>
                        <a:ext uri="{9D8B030D-6E8A-4147-A177-3AD203B41FA5}">
                          <a16:colId xmlns:a16="http://schemas.microsoft.com/office/drawing/2014/main" val="1533515594"/>
                        </a:ext>
                      </a:extLst>
                    </a:gridCol>
                    <a:gridCol w="2057400">
                      <a:extLst>
                        <a:ext uri="{9D8B030D-6E8A-4147-A177-3AD203B41FA5}">
                          <a16:colId xmlns:a16="http://schemas.microsoft.com/office/drawing/2014/main" val="2397353590"/>
                        </a:ext>
                      </a:extLst>
                    </a:gridCol>
                    <a:gridCol w="2057400">
                      <a:extLst>
                        <a:ext uri="{9D8B030D-6E8A-4147-A177-3AD203B41FA5}">
                          <a16:colId xmlns:a16="http://schemas.microsoft.com/office/drawing/2014/main" val="3318503154"/>
                        </a:ext>
                      </a:extLst>
                    </a:gridCol>
                  </a:tblGrid>
                  <a:tr h="0">
                    <a:tc>
                      <a:txBody>
                        <a:bodyPr/>
                        <a:lstStyle/>
                        <a:p>
                          <a:pPr>
                            <a:buNone/>
                          </a:pPr>
                          <a:r>
                            <a:rPr lang="en-US"/>
                            <a:t>Supplier </a:t>
                          </a:r>
                          <a14:m>
                            <m:oMath xmlns:m="http://schemas.openxmlformats.org/officeDocument/2006/math">
                              <m:r>
                                <a:rPr lang="en-US" i="1">
                                  <a:latin typeface="Cambria Math" panose="02040503050406030204" pitchFamily="18" charset="0"/>
                                </a:rPr>
                                <m:t>𝑖</m:t>
                              </m:r>
                            </m:oMath>
                          </a14:m>
                          <a:endParaRPr lang="en-US"/>
                        </a:p>
                      </a:txBody>
                      <a:tcPr anchor="ctr">
                        <a:lnL>
                          <a:noFill/>
                        </a:lnL>
                        <a:lnR>
                          <a:noFill/>
                        </a:lnR>
                        <a:lnT>
                          <a:noFill/>
                        </a:lnT>
                        <a:lnB>
                          <a:noFill/>
                        </a:lnB>
                        <a:noFill/>
                      </a:tcPr>
                    </a:tc>
                    <a:tc>
                      <a:txBody>
                        <a:bodyPr/>
                        <a:lstStyle/>
                        <a:p>
                          <a:pPr>
                            <a:buNone/>
                          </a:pPr>
                          <a:r>
                            <a:rPr lang="en-US" dirty="0"/>
                            <a:t>Unit cost</a:t>
                          </a:r>
                        </a:p>
                      </a:txBody>
                      <a:tcPr anchor="ctr">
                        <a:lnL>
                          <a:noFill/>
                        </a:lnL>
                        <a:lnR>
                          <a:noFill/>
                        </a:lnR>
                        <a:lnT>
                          <a:noFill/>
                        </a:lnT>
                        <a:lnB>
                          <a:noFill/>
                        </a:lnB>
                        <a:noFill/>
                      </a:tcPr>
                    </a:tc>
                    <a:tc>
                      <a:txBody>
                        <a:bodyPr/>
                        <a:lstStyle/>
                        <a:p>
                          <a:pPr>
                            <a:buNone/>
                          </a:pPr>
                          <a:r>
                            <a:rPr lang="en-US" dirty="0"/>
                            <a:t>Fixed cost</a:t>
                          </a:r>
                          <a:endParaRPr lang="ar-AE" dirty="0"/>
                        </a:p>
                      </a:txBody>
                      <a:tcPr anchor="ctr">
                        <a:lnL>
                          <a:noFill/>
                        </a:lnL>
                        <a:lnR>
                          <a:noFill/>
                        </a:lnR>
                        <a:lnT>
                          <a:noFill/>
                        </a:lnT>
                        <a:lnB>
                          <a:noFill/>
                        </a:lnB>
                        <a:noFill/>
                      </a:tcPr>
                    </a:tc>
                    <a:tc>
                      <a:txBody>
                        <a:bodyPr/>
                        <a:lstStyle/>
                        <a:p>
                          <a:pPr>
                            <a:buNone/>
                          </a:pPr>
                          <a:r>
                            <a:rPr lang="en-US" dirty="0"/>
                            <a:t>Capacity</a:t>
                          </a:r>
                        </a:p>
                      </a:txBody>
                      <a:tcPr anchor="ctr">
                        <a:lnL>
                          <a:noFill/>
                        </a:lnL>
                        <a:lnR>
                          <a:noFill/>
                        </a:lnR>
                        <a:lnT>
                          <a:noFill/>
                        </a:lnT>
                        <a:lnB>
                          <a:noFill/>
                        </a:lnB>
                        <a:noFill/>
                      </a:tcPr>
                    </a:tc>
                    <a:extLst>
                      <a:ext uri="{0D108BD9-81ED-4DB2-BD59-A6C34878D82A}">
                        <a16:rowId xmlns:a16="http://schemas.microsoft.com/office/drawing/2014/main" val="2810238575"/>
                      </a:ext>
                    </a:extLst>
                  </a:tr>
                  <a:tr h="0">
                    <a:tc>
                      <a:txBody>
                        <a:bodyPr/>
                        <a:lstStyle/>
                        <a:p>
                          <a:pPr>
                            <a:buNone/>
                          </a:pPr>
                          <a:r>
                            <a:rPr lang="en-US"/>
                            <a:t>A</a:t>
                          </a:r>
                        </a:p>
                      </a:txBody>
                      <a:tcPr anchor="ctr">
                        <a:lnL>
                          <a:noFill/>
                        </a:lnL>
                        <a:lnR>
                          <a:noFill/>
                        </a:lnR>
                        <a:lnT>
                          <a:noFill/>
                        </a:lnT>
                        <a:lnB>
                          <a:noFill/>
                        </a:lnB>
                        <a:noFill/>
                      </a:tcPr>
                    </a:tc>
                    <a:tc>
                      <a:txBody>
                        <a:bodyPr/>
                        <a:lstStyle/>
                        <a:p>
                          <a:pPr>
                            <a:buNone/>
                          </a:pPr>
                          <a:r>
                            <a:rPr lang="en-US"/>
                            <a:t>6</a:t>
                          </a:r>
                        </a:p>
                      </a:txBody>
                      <a:tcPr anchor="ctr">
                        <a:lnL>
                          <a:noFill/>
                        </a:lnL>
                        <a:lnR>
                          <a:noFill/>
                        </a:lnR>
                        <a:lnT>
                          <a:noFill/>
                        </a:lnT>
                        <a:lnB>
                          <a:noFill/>
                        </a:lnB>
                        <a:noFill/>
                      </a:tcPr>
                    </a:tc>
                    <a:tc>
                      <a:txBody>
                        <a:bodyPr/>
                        <a:lstStyle/>
                        <a:p>
                          <a:pPr>
                            <a:buNone/>
                          </a:pPr>
                          <a:r>
                            <a:rPr lang="en-US"/>
                            <a:t>400</a:t>
                          </a:r>
                        </a:p>
                      </a:txBody>
                      <a:tcPr anchor="ctr">
                        <a:lnL>
                          <a:noFill/>
                        </a:lnL>
                        <a:lnR>
                          <a:noFill/>
                        </a:lnR>
                        <a:lnT>
                          <a:noFill/>
                        </a:lnT>
                        <a:lnB>
                          <a:noFill/>
                        </a:lnB>
                        <a:noFill/>
                      </a:tcPr>
                    </a:tc>
                    <a:tc>
                      <a:txBody>
                        <a:bodyPr/>
                        <a:lstStyle/>
                        <a:p>
                          <a:pPr>
                            <a:buNone/>
                          </a:pPr>
                          <a:r>
                            <a:rPr lang="en-US"/>
                            <a:t>300</a:t>
                          </a:r>
                        </a:p>
                      </a:txBody>
                      <a:tcPr anchor="ctr">
                        <a:lnL>
                          <a:noFill/>
                        </a:lnL>
                        <a:lnR>
                          <a:noFill/>
                        </a:lnR>
                        <a:lnT>
                          <a:noFill/>
                        </a:lnT>
                        <a:lnB>
                          <a:noFill/>
                        </a:lnB>
                        <a:noFill/>
                      </a:tcPr>
                    </a:tc>
                    <a:extLst>
                      <a:ext uri="{0D108BD9-81ED-4DB2-BD59-A6C34878D82A}">
                        <a16:rowId xmlns:a16="http://schemas.microsoft.com/office/drawing/2014/main" val="1101942266"/>
                      </a:ext>
                    </a:extLst>
                  </a:tr>
                  <a:tr h="0">
                    <a:tc>
                      <a:txBody>
                        <a:bodyPr/>
                        <a:lstStyle/>
                        <a:p>
                          <a:pPr>
                            <a:buNone/>
                          </a:pPr>
                          <a:r>
                            <a:rPr lang="en-US"/>
                            <a:t>B</a:t>
                          </a:r>
                        </a:p>
                      </a:txBody>
                      <a:tcPr anchor="ctr">
                        <a:lnL>
                          <a:noFill/>
                        </a:lnL>
                        <a:lnR>
                          <a:noFill/>
                        </a:lnR>
                        <a:lnT>
                          <a:noFill/>
                        </a:lnT>
                        <a:lnB>
                          <a:noFill/>
                        </a:lnB>
                        <a:noFill/>
                      </a:tcPr>
                    </a:tc>
                    <a:tc>
                      <a:txBody>
                        <a:bodyPr/>
                        <a:lstStyle/>
                        <a:p>
                          <a:pPr>
                            <a:buNone/>
                          </a:pPr>
                          <a:r>
                            <a:rPr lang="en-US"/>
                            <a:t>5</a:t>
                          </a:r>
                        </a:p>
                      </a:txBody>
                      <a:tcPr anchor="ctr">
                        <a:lnL>
                          <a:noFill/>
                        </a:lnL>
                        <a:lnR>
                          <a:noFill/>
                        </a:lnR>
                        <a:lnT>
                          <a:noFill/>
                        </a:lnT>
                        <a:lnB>
                          <a:noFill/>
                        </a:lnB>
                        <a:noFill/>
                      </a:tcPr>
                    </a:tc>
                    <a:tc>
                      <a:txBody>
                        <a:bodyPr/>
                        <a:lstStyle/>
                        <a:p>
                          <a:pPr>
                            <a:buNone/>
                          </a:pPr>
                          <a:r>
                            <a:rPr lang="en-US"/>
                            <a:t>550</a:t>
                          </a:r>
                        </a:p>
                      </a:txBody>
                      <a:tcPr anchor="ctr">
                        <a:lnL>
                          <a:noFill/>
                        </a:lnL>
                        <a:lnR>
                          <a:noFill/>
                        </a:lnR>
                        <a:lnT>
                          <a:noFill/>
                        </a:lnT>
                        <a:lnB>
                          <a:noFill/>
                        </a:lnB>
                        <a:noFill/>
                      </a:tcPr>
                    </a:tc>
                    <a:tc>
                      <a:txBody>
                        <a:bodyPr/>
                        <a:lstStyle/>
                        <a:p>
                          <a:pPr>
                            <a:buNone/>
                          </a:pPr>
                          <a:r>
                            <a:rPr lang="en-US"/>
                            <a:t>250</a:t>
                          </a:r>
                        </a:p>
                      </a:txBody>
                      <a:tcPr anchor="ctr">
                        <a:lnL>
                          <a:noFill/>
                        </a:lnL>
                        <a:lnR>
                          <a:noFill/>
                        </a:lnR>
                        <a:lnT>
                          <a:noFill/>
                        </a:lnT>
                        <a:lnB>
                          <a:noFill/>
                        </a:lnB>
                        <a:noFill/>
                      </a:tcPr>
                    </a:tc>
                    <a:extLst>
                      <a:ext uri="{0D108BD9-81ED-4DB2-BD59-A6C34878D82A}">
                        <a16:rowId xmlns:a16="http://schemas.microsoft.com/office/drawing/2014/main" val="2417684149"/>
                      </a:ext>
                    </a:extLst>
                  </a:tr>
                  <a:tr h="0">
                    <a:tc>
                      <a:txBody>
                        <a:bodyPr/>
                        <a:lstStyle/>
                        <a:p>
                          <a:pPr>
                            <a:buNone/>
                          </a:pPr>
                          <a:r>
                            <a:rPr lang="en-US"/>
                            <a:t>C</a:t>
                          </a:r>
                        </a:p>
                      </a:txBody>
                      <a:tcPr anchor="ctr">
                        <a:lnL>
                          <a:noFill/>
                        </a:lnL>
                        <a:lnR>
                          <a:noFill/>
                        </a:lnR>
                        <a:lnT>
                          <a:noFill/>
                        </a:lnT>
                        <a:lnB>
                          <a:noFill/>
                        </a:lnB>
                        <a:noFill/>
                      </a:tcPr>
                    </a:tc>
                    <a:tc>
                      <a:txBody>
                        <a:bodyPr/>
                        <a:lstStyle/>
                        <a:p>
                          <a:pPr>
                            <a:buNone/>
                          </a:pPr>
                          <a:r>
                            <a:rPr lang="en-US"/>
                            <a:t>7</a:t>
                          </a:r>
                        </a:p>
                      </a:txBody>
                      <a:tcPr anchor="ctr">
                        <a:lnL>
                          <a:noFill/>
                        </a:lnL>
                        <a:lnR>
                          <a:noFill/>
                        </a:lnR>
                        <a:lnT>
                          <a:noFill/>
                        </a:lnT>
                        <a:lnB>
                          <a:noFill/>
                        </a:lnB>
                        <a:noFill/>
                      </a:tcPr>
                    </a:tc>
                    <a:tc>
                      <a:txBody>
                        <a:bodyPr/>
                        <a:lstStyle/>
                        <a:p>
                          <a:pPr>
                            <a:buNone/>
                          </a:pPr>
                          <a:r>
                            <a:rPr lang="en-US" dirty="0"/>
                            <a:t>200</a:t>
                          </a:r>
                        </a:p>
                      </a:txBody>
                      <a:tcPr anchor="ctr">
                        <a:lnL>
                          <a:noFill/>
                        </a:lnL>
                        <a:lnR>
                          <a:noFill/>
                        </a:lnR>
                        <a:lnT>
                          <a:noFill/>
                        </a:lnT>
                        <a:lnB>
                          <a:noFill/>
                        </a:lnB>
                        <a:noFill/>
                      </a:tcPr>
                    </a:tc>
                    <a:tc>
                      <a:txBody>
                        <a:bodyPr/>
                        <a:lstStyle/>
                        <a:p>
                          <a:pPr>
                            <a:buNone/>
                          </a:pPr>
                          <a:r>
                            <a:rPr lang="en-US" dirty="0"/>
                            <a:t>400</a:t>
                          </a:r>
                        </a:p>
                      </a:txBody>
                      <a:tcPr anchor="ctr">
                        <a:lnL>
                          <a:noFill/>
                        </a:lnL>
                        <a:lnR>
                          <a:noFill/>
                        </a:lnR>
                        <a:lnT>
                          <a:noFill/>
                        </a:lnT>
                        <a:lnB>
                          <a:noFill/>
                        </a:lnB>
                        <a:noFill/>
                      </a:tcPr>
                    </a:tc>
                    <a:extLst>
                      <a:ext uri="{0D108BD9-81ED-4DB2-BD59-A6C34878D82A}">
                        <a16:rowId xmlns:a16="http://schemas.microsoft.com/office/drawing/2014/main" val="2699928976"/>
                      </a:ext>
                    </a:extLst>
                  </a:tr>
                </a:tbl>
              </a:graphicData>
            </a:graphic>
          </p:graphicFrame>
        </mc:Choice>
        <mc:Fallback xmlns="">
          <p:graphicFrame>
            <p:nvGraphicFramePr>
              <p:cNvPr id="6" name="Table 5">
                <a:extLst>
                  <a:ext uri="{FF2B5EF4-FFF2-40B4-BE49-F238E27FC236}">
                    <a16:creationId xmlns:a16="http://schemas.microsoft.com/office/drawing/2014/main" id="{8A4A77DB-EC9B-B24F-A120-0E5FC3B6474F}"/>
                  </a:ext>
                </a:extLst>
              </p:cNvPr>
              <p:cNvGraphicFramePr>
                <a:graphicFrameLocks noGrp="1"/>
              </p:cNvGraphicFramePr>
              <p:nvPr>
                <p:extLst>
                  <p:ext uri="{D42A27DB-BD31-4B8C-83A1-F6EECF244321}">
                    <p14:modId xmlns:p14="http://schemas.microsoft.com/office/powerpoint/2010/main" val="883006328"/>
                  </p:ext>
                </p:extLst>
              </p:nvPr>
            </p:nvGraphicFramePr>
            <p:xfrm>
              <a:off x="420757" y="3733800"/>
              <a:ext cx="8229600" cy="1463040"/>
            </p:xfrm>
            <a:graphic>
              <a:graphicData uri="http://schemas.openxmlformats.org/drawingml/2006/table">
                <a:tbl>
                  <a:tblPr/>
                  <a:tblGrid>
                    <a:gridCol w="2057400">
                      <a:extLst>
                        <a:ext uri="{9D8B030D-6E8A-4147-A177-3AD203B41FA5}">
                          <a16:colId xmlns:a16="http://schemas.microsoft.com/office/drawing/2014/main" val="1429821279"/>
                        </a:ext>
                      </a:extLst>
                    </a:gridCol>
                    <a:gridCol w="2057400">
                      <a:extLst>
                        <a:ext uri="{9D8B030D-6E8A-4147-A177-3AD203B41FA5}">
                          <a16:colId xmlns:a16="http://schemas.microsoft.com/office/drawing/2014/main" val="1533515594"/>
                        </a:ext>
                      </a:extLst>
                    </a:gridCol>
                    <a:gridCol w="2057400">
                      <a:extLst>
                        <a:ext uri="{9D8B030D-6E8A-4147-A177-3AD203B41FA5}">
                          <a16:colId xmlns:a16="http://schemas.microsoft.com/office/drawing/2014/main" val="2397353590"/>
                        </a:ext>
                      </a:extLst>
                    </a:gridCol>
                    <a:gridCol w="2057400">
                      <a:extLst>
                        <a:ext uri="{9D8B030D-6E8A-4147-A177-3AD203B41FA5}">
                          <a16:colId xmlns:a16="http://schemas.microsoft.com/office/drawing/2014/main" val="3318503154"/>
                        </a:ext>
                      </a:extLst>
                    </a:gridCol>
                  </a:tblGrid>
                  <a:tr h="365760">
                    <a:tc>
                      <a:txBody>
                        <a:bodyPr/>
                        <a:lstStyle/>
                        <a:p>
                          <a:endParaRPr lang="en-US"/>
                        </a:p>
                      </a:txBody>
                      <a:tcPr anchor="ctr">
                        <a:lnL>
                          <a:noFill/>
                        </a:lnL>
                        <a:lnR>
                          <a:noFill/>
                        </a:lnR>
                        <a:lnT>
                          <a:noFill/>
                        </a:lnT>
                        <a:lnB>
                          <a:noFill/>
                        </a:lnB>
                        <a:blipFill>
                          <a:blip r:embed="rId2"/>
                          <a:stretch>
                            <a:fillRect t="-10345" r="-300617" b="-327586"/>
                          </a:stretch>
                        </a:blipFill>
                      </a:tcPr>
                    </a:tc>
                    <a:tc>
                      <a:txBody>
                        <a:bodyPr/>
                        <a:lstStyle/>
                        <a:p>
                          <a:pPr>
                            <a:buNone/>
                          </a:pPr>
                          <a:r>
                            <a:rPr lang="en-US" dirty="0"/>
                            <a:t>Unit cost</a:t>
                          </a:r>
                        </a:p>
                      </a:txBody>
                      <a:tcPr anchor="ctr">
                        <a:lnL>
                          <a:noFill/>
                        </a:lnL>
                        <a:lnR>
                          <a:noFill/>
                        </a:lnR>
                        <a:lnT>
                          <a:noFill/>
                        </a:lnT>
                        <a:lnB>
                          <a:noFill/>
                        </a:lnB>
                        <a:noFill/>
                      </a:tcPr>
                    </a:tc>
                    <a:tc>
                      <a:txBody>
                        <a:bodyPr/>
                        <a:lstStyle/>
                        <a:p>
                          <a:pPr>
                            <a:buNone/>
                          </a:pPr>
                          <a:r>
                            <a:rPr lang="en-US" dirty="0"/>
                            <a:t>Fixed cost</a:t>
                          </a:r>
                          <a:endParaRPr lang="ar-AE" dirty="0"/>
                        </a:p>
                      </a:txBody>
                      <a:tcPr anchor="ctr">
                        <a:lnL>
                          <a:noFill/>
                        </a:lnL>
                        <a:lnR>
                          <a:noFill/>
                        </a:lnR>
                        <a:lnT>
                          <a:noFill/>
                        </a:lnT>
                        <a:lnB>
                          <a:noFill/>
                        </a:lnB>
                        <a:noFill/>
                      </a:tcPr>
                    </a:tc>
                    <a:tc>
                      <a:txBody>
                        <a:bodyPr/>
                        <a:lstStyle/>
                        <a:p>
                          <a:pPr>
                            <a:buNone/>
                          </a:pPr>
                          <a:r>
                            <a:rPr lang="en-US" dirty="0"/>
                            <a:t>Capacity</a:t>
                          </a:r>
                        </a:p>
                      </a:txBody>
                      <a:tcPr anchor="ctr">
                        <a:lnL>
                          <a:noFill/>
                        </a:lnL>
                        <a:lnR>
                          <a:noFill/>
                        </a:lnR>
                        <a:lnT>
                          <a:noFill/>
                        </a:lnT>
                        <a:lnB>
                          <a:noFill/>
                        </a:lnB>
                        <a:noFill/>
                      </a:tcPr>
                    </a:tc>
                    <a:extLst>
                      <a:ext uri="{0D108BD9-81ED-4DB2-BD59-A6C34878D82A}">
                        <a16:rowId xmlns:a16="http://schemas.microsoft.com/office/drawing/2014/main" val="2810238575"/>
                      </a:ext>
                    </a:extLst>
                  </a:tr>
                  <a:tr h="365760">
                    <a:tc>
                      <a:txBody>
                        <a:bodyPr/>
                        <a:lstStyle/>
                        <a:p>
                          <a:pPr>
                            <a:buNone/>
                          </a:pPr>
                          <a:r>
                            <a:rPr lang="en-US"/>
                            <a:t>A</a:t>
                          </a:r>
                        </a:p>
                      </a:txBody>
                      <a:tcPr anchor="ctr">
                        <a:lnL>
                          <a:noFill/>
                        </a:lnL>
                        <a:lnR>
                          <a:noFill/>
                        </a:lnR>
                        <a:lnT>
                          <a:noFill/>
                        </a:lnT>
                        <a:lnB>
                          <a:noFill/>
                        </a:lnB>
                        <a:noFill/>
                      </a:tcPr>
                    </a:tc>
                    <a:tc>
                      <a:txBody>
                        <a:bodyPr/>
                        <a:lstStyle/>
                        <a:p>
                          <a:pPr>
                            <a:buNone/>
                          </a:pPr>
                          <a:r>
                            <a:rPr lang="en-US"/>
                            <a:t>6</a:t>
                          </a:r>
                        </a:p>
                      </a:txBody>
                      <a:tcPr anchor="ctr">
                        <a:lnL>
                          <a:noFill/>
                        </a:lnL>
                        <a:lnR>
                          <a:noFill/>
                        </a:lnR>
                        <a:lnT>
                          <a:noFill/>
                        </a:lnT>
                        <a:lnB>
                          <a:noFill/>
                        </a:lnB>
                        <a:noFill/>
                      </a:tcPr>
                    </a:tc>
                    <a:tc>
                      <a:txBody>
                        <a:bodyPr/>
                        <a:lstStyle/>
                        <a:p>
                          <a:pPr>
                            <a:buNone/>
                          </a:pPr>
                          <a:r>
                            <a:rPr lang="en-US"/>
                            <a:t>400</a:t>
                          </a:r>
                        </a:p>
                      </a:txBody>
                      <a:tcPr anchor="ctr">
                        <a:lnL>
                          <a:noFill/>
                        </a:lnL>
                        <a:lnR>
                          <a:noFill/>
                        </a:lnR>
                        <a:lnT>
                          <a:noFill/>
                        </a:lnT>
                        <a:lnB>
                          <a:noFill/>
                        </a:lnB>
                        <a:noFill/>
                      </a:tcPr>
                    </a:tc>
                    <a:tc>
                      <a:txBody>
                        <a:bodyPr/>
                        <a:lstStyle/>
                        <a:p>
                          <a:pPr>
                            <a:buNone/>
                          </a:pPr>
                          <a:r>
                            <a:rPr lang="en-US"/>
                            <a:t>300</a:t>
                          </a:r>
                        </a:p>
                      </a:txBody>
                      <a:tcPr anchor="ctr">
                        <a:lnL>
                          <a:noFill/>
                        </a:lnL>
                        <a:lnR>
                          <a:noFill/>
                        </a:lnR>
                        <a:lnT>
                          <a:noFill/>
                        </a:lnT>
                        <a:lnB>
                          <a:noFill/>
                        </a:lnB>
                        <a:noFill/>
                      </a:tcPr>
                    </a:tc>
                    <a:extLst>
                      <a:ext uri="{0D108BD9-81ED-4DB2-BD59-A6C34878D82A}">
                        <a16:rowId xmlns:a16="http://schemas.microsoft.com/office/drawing/2014/main" val="1101942266"/>
                      </a:ext>
                    </a:extLst>
                  </a:tr>
                  <a:tr h="365760">
                    <a:tc>
                      <a:txBody>
                        <a:bodyPr/>
                        <a:lstStyle/>
                        <a:p>
                          <a:pPr>
                            <a:buNone/>
                          </a:pPr>
                          <a:r>
                            <a:rPr lang="en-US"/>
                            <a:t>B</a:t>
                          </a:r>
                        </a:p>
                      </a:txBody>
                      <a:tcPr anchor="ctr">
                        <a:lnL>
                          <a:noFill/>
                        </a:lnL>
                        <a:lnR>
                          <a:noFill/>
                        </a:lnR>
                        <a:lnT>
                          <a:noFill/>
                        </a:lnT>
                        <a:lnB>
                          <a:noFill/>
                        </a:lnB>
                        <a:noFill/>
                      </a:tcPr>
                    </a:tc>
                    <a:tc>
                      <a:txBody>
                        <a:bodyPr/>
                        <a:lstStyle/>
                        <a:p>
                          <a:pPr>
                            <a:buNone/>
                          </a:pPr>
                          <a:r>
                            <a:rPr lang="en-US"/>
                            <a:t>5</a:t>
                          </a:r>
                        </a:p>
                      </a:txBody>
                      <a:tcPr anchor="ctr">
                        <a:lnL>
                          <a:noFill/>
                        </a:lnL>
                        <a:lnR>
                          <a:noFill/>
                        </a:lnR>
                        <a:lnT>
                          <a:noFill/>
                        </a:lnT>
                        <a:lnB>
                          <a:noFill/>
                        </a:lnB>
                        <a:noFill/>
                      </a:tcPr>
                    </a:tc>
                    <a:tc>
                      <a:txBody>
                        <a:bodyPr/>
                        <a:lstStyle/>
                        <a:p>
                          <a:pPr>
                            <a:buNone/>
                          </a:pPr>
                          <a:r>
                            <a:rPr lang="en-US"/>
                            <a:t>550</a:t>
                          </a:r>
                        </a:p>
                      </a:txBody>
                      <a:tcPr anchor="ctr">
                        <a:lnL>
                          <a:noFill/>
                        </a:lnL>
                        <a:lnR>
                          <a:noFill/>
                        </a:lnR>
                        <a:lnT>
                          <a:noFill/>
                        </a:lnT>
                        <a:lnB>
                          <a:noFill/>
                        </a:lnB>
                        <a:noFill/>
                      </a:tcPr>
                    </a:tc>
                    <a:tc>
                      <a:txBody>
                        <a:bodyPr/>
                        <a:lstStyle/>
                        <a:p>
                          <a:pPr>
                            <a:buNone/>
                          </a:pPr>
                          <a:r>
                            <a:rPr lang="en-US"/>
                            <a:t>250</a:t>
                          </a:r>
                        </a:p>
                      </a:txBody>
                      <a:tcPr anchor="ctr">
                        <a:lnL>
                          <a:noFill/>
                        </a:lnL>
                        <a:lnR>
                          <a:noFill/>
                        </a:lnR>
                        <a:lnT>
                          <a:noFill/>
                        </a:lnT>
                        <a:lnB>
                          <a:noFill/>
                        </a:lnB>
                        <a:noFill/>
                      </a:tcPr>
                    </a:tc>
                    <a:extLst>
                      <a:ext uri="{0D108BD9-81ED-4DB2-BD59-A6C34878D82A}">
                        <a16:rowId xmlns:a16="http://schemas.microsoft.com/office/drawing/2014/main" val="2417684149"/>
                      </a:ext>
                    </a:extLst>
                  </a:tr>
                  <a:tr h="365760">
                    <a:tc>
                      <a:txBody>
                        <a:bodyPr/>
                        <a:lstStyle/>
                        <a:p>
                          <a:pPr>
                            <a:buNone/>
                          </a:pPr>
                          <a:r>
                            <a:rPr lang="en-US"/>
                            <a:t>C</a:t>
                          </a:r>
                        </a:p>
                      </a:txBody>
                      <a:tcPr anchor="ctr">
                        <a:lnL>
                          <a:noFill/>
                        </a:lnL>
                        <a:lnR>
                          <a:noFill/>
                        </a:lnR>
                        <a:lnT>
                          <a:noFill/>
                        </a:lnT>
                        <a:lnB>
                          <a:noFill/>
                        </a:lnB>
                        <a:noFill/>
                      </a:tcPr>
                    </a:tc>
                    <a:tc>
                      <a:txBody>
                        <a:bodyPr/>
                        <a:lstStyle/>
                        <a:p>
                          <a:pPr>
                            <a:buNone/>
                          </a:pPr>
                          <a:r>
                            <a:rPr lang="en-US"/>
                            <a:t>7</a:t>
                          </a:r>
                        </a:p>
                      </a:txBody>
                      <a:tcPr anchor="ctr">
                        <a:lnL>
                          <a:noFill/>
                        </a:lnL>
                        <a:lnR>
                          <a:noFill/>
                        </a:lnR>
                        <a:lnT>
                          <a:noFill/>
                        </a:lnT>
                        <a:lnB>
                          <a:noFill/>
                        </a:lnB>
                        <a:noFill/>
                      </a:tcPr>
                    </a:tc>
                    <a:tc>
                      <a:txBody>
                        <a:bodyPr/>
                        <a:lstStyle/>
                        <a:p>
                          <a:pPr>
                            <a:buNone/>
                          </a:pPr>
                          <a:r>
                            <a:rPr lang="en-US" dirty="0"/>
                            <a:t>200</a:t>
                          </a:r>
                        </a:p>
                      </a:txBody>
                      <a:tcPr anchor="ctr">
                        <a:lnL>
                          <a:noFill/>
                        </a:lnL>
                        <a:lnR>
                          <a:noFill/>
                        </a:lnR>
                        <a:lnT>
                          <a:noFill/>
                        </a:lnT>
                        <a:lnB>
                          <a:noFill/>
                        </a:lnB>
                        <a:noFill/>
                      </a:tcPr>
                    </a:tc>
                    <a:tc>
                      <a:txBody>
                        <a:bodyPr/>
                        <a:lstStyle/>
                        <a:p>
                          <a:pPr>
                            <a:buNone/>
                          </a:pPr>
                          <a:r>
                            <a:rPr lang="en-US" dirty="0"/>
                            <a:t>400</a:t>
                          </a:r>
                        </a:p>
                      </a:txBody>
                      <a:tcPr anchor="ctr">
                        <a:lnL>
                          <a:noFill/>
                        </a:lnL>
                        <a:lnR>
                          <a:noFill/>
                        </a:lnR>
                        <a:lnT>
                          <a:noFill/>
                        </a:lnT>
                        <a:lnB>
                          <a:noFill/>
                        </a:lnB>
                        <a:noFill/>
                      </a:tcPr>
                    </a:tc>
                    <a:extLst>
                      <a:ext uri="{0D108BD9-81ED-4DB2-BD59-A6C34878D82A}">
                        <a16:rowId xmlns:a16="http://schemas.microsoft.com/office/drawing/2014/main" val="2699928976"/>
                      </a:ext>
                    </a:extLst>
                  </a:tr>
                </a:tbl>
              </a:graphicData>
            </a:graphic>
          </p:graphicFrame>
        </mc:Fallback>
      </mc:AlternateContent>
    </p:spTree>
    <p:extLst>
      <p:ext uri="{BB962C8B-B14F-4D97-AF65-F5344CB8AC3E}">
        <p14:creationId xmlns:p14="http://schemas.microsoft.com/office/powerpoint/2010/main" val="179855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F8E3-2BD5-2A72-1F6C-89F370E6F9E4}"/>
              </a:ext>
            </a:extLst>
          </p:cNvPr>
          <p:cNvSpPr>
            <a:spLocks noGrp="1"/>
          </p:cNvSpPr>
          <p:nvPr>
            <p:ph type="title"/>
          </p:nvPr>
        </p:nvSpPr>
        <p:spPr>
          <a:xfrm>
            <a:off x="457200" y="274638"/>
            <a:ext cx="8229600" cy="792162"/>
          </a:xfrm>
        </p:spPr>
        <p:txBody>
          <a:bodyPr/>
          <a:lstStyle/>
          <a:p>
            <a:r>
              <a:rPr lang="en-US" dirty="0"/>
              <a:t>MILP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4A8835-D2FC-EB2D-CEFF-810CEA85177C}"/>
                  </a:ext>
                </a:extLst>
              </p:cNvPr>
              <p:cNvSpPr>
                <a:spLocks noGrp="1"/>
              </p:cNvSpPr>
              <p:nvPr>
                <p:ph idx="1"/>
              </p:nvPr>
            </p:nvSpPr>
            <p:spPr>
              <a:xfrm>
                <a:off x="430696" y="1166018"/>
                <a:ext cx="8229600" cy="4525963"/>
              </a:xfrm>
            </p:spPr>
            <p:txBody>
              <a:bodyPr/>
              <a:lstStyle/>
              <a:p>
                <a:r>
                  <a:rPr lang="en-US" sz="2400" b="1" dirty="0"/>
                  <a:t>Objective (minimize total cost)</a:t>
                </a:r>
              </a:p>
              <a:p>
                <a:pPr marL="0" indent="0">
                  <a:buNone/>
                </a:pPr>
                <a14:m>
                  <m:oMathPara xmlns:m="http://schemas.openxmlformats.org/officeDocument/2006/math">
                    <m:oMathParaPr>
                      <m:jc m:val="centerGroup"/>
                    </m:oMathParaPr>
                    <m:oMath xmlns:m="http://schemas.openxmlformats.org/officeDocument/2006/math">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min</m:t>
                          </m:r>
                        </m:fName>
                        <m:e>
                          <m:r>
                            <m:rPr>
                              <m:nor/>
                            </m:rPr>
                            <a:rPr lang="ar-AE" sz="2400" i="1"/>
                            <m:t>  </m:t>
                          </m:r>
                        </m:e>
                      </m:func>
                      <m:r>
                        <a:rPr lang="ar-AE" sz="2400">
                          <a:latin typeface="Cambria Math" panose="02040503050406030204" pitchFamily="18" charset="0"/>
                        </a:rPr>
                        <m:t>6</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𝐴</m:t>
                          </m:r>
                        </m:sub>
                      </m:sSub>
                      <m:r>
                        <a:rPr lang="ar-AE" sz="2400">
                          <a:latin typeface="Cambria Math" panose="02040503050406030204" pitchFamily="18" charset="0"/>
                        </a:rPr>
                        <m:t>+5</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𝐵</m:t>
                          </m:r>
                        </m:sub>
                      </m:sSub>
                      <m:r>
                        <a:rPr lang="ar-AE" sz="2400">
                          <a:latin typeface="Cambria Math" panose="02040503050406030204" pitchFamily="18" charset="0"/>
                        </a:rPr>
                        <m:t>+7</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𝐶</m:t>
                          </m:r>
                        </m:sub>
                      </m:sSub>
                      <m:r>
                        <m:rPr>
                          <m:nor/>
                        </m:rPr>
                        <a:rPr lang="ar-AE" sz="2400" i="1"/>
                        <m:t>  </m:t>
                      </m:r>
                      <m:r>
                        <a:rPr lang="ar-AE" sz="2400">
                          <a:latin typeface="Cambria Math" panose="02040503050406030204" pitchFamily="18" charset="0"/>
                        </a:rPr>
                        <m:t>+</m:t>
                      </m:r>
                      <m:r>
                        <m:rPr>
                          <m:nor/>
                        </m:rPr>
                        <a:rPr lang="ar-AE" sz="2400" i="1"/>
                        <m:t>  </m:t>
                      </m:r>
                      <m:r>
                        <a:rPr lang="ar-AE" sz="2400">
                          <a:latin typeface="Cambria Math" panose="02040503050406030204" pitchFamily="18" charset="0"/>
                        </a:rPr>
                        <m:t>400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𝐴</m:t>
                          </m:r>
                        </m:sub>
                      </m:sSub>
                      <m:r>
                        <a:rPr lang="ar-AE" sz="2400">
                          <a:latin typeface="Cambria Math" panose="02040503050406030204" pitchFamily="18" charset="0"/>
                        </a:rPr>
                        <m:t>+550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𝐵</m:t>
                          </m:r>
                        </m:sub>
                      </m:sSub>
                      <m:r>
                        <a:rPr lang="ar-AE" sz="2400">
                          <a:latin typeface="Cambria Math" panose="02040503050406030204" pitchFamily="18" charset="0"/>
                        </a:rPr>
                        <m:t>+200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𝐶</m:t>
                          </m:r>
                        </m:sub>
                      </m:sSub>
                    </m:oMath>
                  </m:oMathPara>
                </a14:m>
                <a:endParaRPr lang="ar-AE" sz="2400" b="0" dirty="0"/>
              </a:p>
              <a:p>
                <a:r>
                  <a:rPr lang="en-US" sz="2400" b="1" dirty="0"/>
                  <a:t>Constraints</a:t>
                </a:r>
              </a:p>
              <a:p>
                <a:pPr lvl="1"/>
                <a:r>
                  <a:rPr lang="en-US" sz="2000" b="1" dirty="0"/>
                  <a:t>Demand satisfaction</a:t>
                </a:r>
              </a:p>
              <a:p>
                <a:pPr marL="0" indent="0">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𝐴</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𝐵</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𝐶</m:t>
                          </m:r>
                        </m:sub>
                      </m:sSub>
                      <m:r>
                        <a:rPr lang="ar-AE" sz="2400">
                          <a:latin typeface="Cambria Math" panose="02040503050406030204" pitchFamily="18" charset="0"/>
                        </a:rPr>
                        <m:t>=500</m:t>
                      </m:r>
                    </m:oMath>
                  </m:oMathPara>
                </a14:m>
                <a:endParaRPr lang="ar-AE" sz="2400" dirty="0"/>
              </a:p>
              <a:p>
                <a:pPr lvl="1"/>
                <a:r>
                  <a:rPr lang="en-US" sz="2000" b="1" dirty="0"/>
                  <a:t>Capacity + “only buy if selected” linking constraints</a:t>
                </a:r>
              </a:p>
              <a:p>
                <a:pPr marL="0" indent="0">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𝐴</m:t>
                          </m:r>
                        </m:sub>
                      </m:sSub>
                      <m:r>
                        <a:rPr lang="ar-AE" sz="2400">
                          <a:latin typeface="Cambria Math" panose="02040503050406030204" pitchFamily="18" charset="0"/>
                        </a:rPr>
                        <m:t>≤300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𝐴</m:t>
                          </m:r>
                        </m:sub>
                      </m:sSub>
                    </m:oMath>
                  </m:oMathPara>
                </a14:m>
                <a:endParaRPr lang="ar-AE" sz="2400" dirty="0"/>
              </a:p>
              <a:p>
                <a:pPr marL="0" indent="0">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𝐵</m:t>
                          </m:r>
                        </m:sub>
                      </m:sSub>
                      <m:r>
                        <a:rPr lang="ar-AE" sz="2400">
                          <a:latin typeface="Cambria Math" panose="02040503050406030204" pitchFamily="18" charset="0"/>
                        </a:rPr>
                        <m:t>≤250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𝐵</m:t>
                          </m:r>
                        </m:sub>
                      </m:sSub>
                    </m:oMath>
                  </m:oMathPara>
                </a14:m>
                <a:endParaRPr lang="ar-AE" sz="2400" dirty="0"/>
              </a:p>
              <a:p>
                <a:pPr marL="0" indent="0">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𝐶</m:t>
                          </m:r>
                        </m:sub>
                      </m:sSub>
                      <m:r>
                        <a:rPr lang="ar-AE" sz="2400">
                          <a:latin typeface="Cambria Math" panose="02040503050406030204" pitchFamily="18" charset="0"/>
                        </a:rPr>
                        <m:t>≤400</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𝐶</m:t>
                          </m:r>
                        </m:sub>
                      </m:sSub>
                    </m:oMath>
                  </m:oMathPara>
                </a14:m>
                <a:endParaRPr lang="ar-AE" sz="2400" dirty="0"/>
              </a:p>
              <a:p>
                <a:r>
                  <a:rPr lang="en-US" sz="2400" b="1" dirty="0"/>
                  <a:t>Variable domains</a:t>
                </a:r>
              </a:p>
              <a:p>
                <a:pPr marL="0" indent="0">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r>
                        <a:rPr lang="ar-AE" sz="2400">
                          <a:latin typeface="Cambria Math" panose="02040503050406030204" pitchFamily="18" charset="0"/>
                        </a:rPr>
                        <m:t>≥0, </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r>
                            <a:rPr lang="ar-AE" sz="2400">
                              <a:latin typeface="Cambria Math" panose="02040503050406030204" pitchFamily="18" charset="0"/>
                            </a:rPr>
                            <m:t>0</m:t>
                          </m:r>
                        </m:e>
                        <m:e>
                          <m:r>
                            <a:rPr lang="ar-AE" sz="2400">
                              <a:latin typeface="Cambria Math" panose="02040503050406030204" pitchFamily="18" charset="0"/>
                            </a:rPr>
                            <m:t>1</m:t>
                          </m:r>
                        </m:e>
                      </m:d>
                      <m:r>
                        <a:rPr lang="ar-AE" sz="2400">
                          <a:latin typeface="Cambria Math" panose="02040503050406030204" pitchFamily="18" charset="0"/>
                        </a:rPr>
                        <m:t> ∀</m:t>
                      </m:r>
                      <m:r>
                        <a:rPr lang="ar-AE" sz="2400" i="1">
                          <a:latin typeface="Cambria Math" panose="02040503050406030204" pitchFamily="18" charset="0"/>
                        </a:rPr>
                        <m:t>𝑖</m:t>
                      </m:r>
                    </m:oMath>
                  </m:oMathPara>
                </a14:m>
                <a:endParaRPr lang="ar-AE" sz="2400" dirty="0"/>
              </a:p>
              <a:p>
                <a:endParaRPr lang="en-US" sz="2400" dirty="0"/>
              </a:p>
            </p:txBody>
          </p:sp>
        </mc:Choice>
        <mc:Fallback xmlns="">
          <p:sp>
            <p:nvSpPr>
              <p:cNvPr id="3" name="Content Placeholder 2">
                <a:extLst>
                  <a:ext uri="{FF2B5EF4-FFF2-40B4-BE49-F238E27FC236}">
                    <a16:creationId xmlns:a16="http://schemas.microsoft.com/office/drawing/2014/main" id="{5E4A8835-D2FC-EB2D-CEFF-810CEA85177C}"/>
                  </a:ext>
                </a:extLst>
              </p:cNvPr>
              <p:cNvSpPr>
                <a:spLocks noGrp="1" noRot="1" noChangeAspect="1" noMove="1" noResize="1" noEditPoints="1" noAdjustHandles="1" noChangeArrowheads="1" noChangeShapeType="1" noTextEdit="1"/>
              </p:cNvSpPr>
              <p:nvPr>
                <p:ph idx="1"/>
              </p:nvPr>
            </p:nvSpPr>
            <p:spPr>
              <a:xfrm>
                <a:off x="430696" y="1166018"/>
                <a:ext cx="8229600" cy="4525963"/>
              </a:xfrm>
              <a:blipFill>
                <a:blip r:embed="rId2"/>
                <a:stretch>
                  <a:fillRect l="-308" t="-111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E0B4AEC-9513-EC6A-3838-3CEECACF55BA}"/>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3399511C-228A-2FF2-E160-F7CB3A055530}"/>
              </a:ext>
            </a:extLst>
          </p:cNvPr>
          <p:cNvSpPr>
            <a:spLocks noGrp="1"/>
          </p:cNvSpPr>
          <p:nvPr>
            <p:ph type="sldNum" sz="quarter" idx="12"/>
          </p:nvPr>
        </p:nvSpPr>
        <p:spPr/>
        <p:txBody>
          <a:bodyPr/>
          <a:lstStyle/>
          <a:p>
            <a:fld id="{EEA0C0C4-74CF-4C80-AB86-CA62A4B1ED10}" type="slidenum">
              <a:rPr lang="en-US" smtClean="0"/>
              <a:pPr/>
              <a:t>4</a:t>
            </a:fld>
            <a:endParaRPr lang="en-US"/>
          </a:p>
        </p:txBody>
      </p:sp>
    </p:spTree>
    <p:extLst>
      <p:ext uri="{BB962C8B-B14F-4D97-AF65-F5344CB8AC3E}">
        <p14:creationId xmlns:p14="http://schemas.microsoft.com/office/powerpoint/2010/main" val="1781963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D5A1-3C84-8071-0ACF-01DA4FBC849E}"/>
              </a:ext>
            </a:extLst>
          </p:cNvPr>
          <p:cNvSpPr>
            <a:spLocks noGrp="1"/>
          </p:cNvSpPr>
          <p:nvPr>
            <p:ph type="title"/>
          </p:nvPr>
        </p:nvSpPr>
        <p:spPr/>
        <p:txBody>
          <a:bodyPr/>
          <a:lstStyle/>
          <a:p>
            <a:r>
              <a:rPr lang="en-US" dirty="0"/>
              <a:t>Class Exercise</a:t>
            </a:r>
          </a:p>
        </p:txBody>
      </p:sp>
      <p:sp>
        <p:nvSpPr>
          <p:cNvPr id="3" name="Content Placeholder 2">
            <a:extLst>
              <a:ext uri="{FF2B5EF4-FFF2-40B4-BE49-F238E27FC236}">
                <a16:creationId xmlns:a16="http://schemas.microsoft.com/office/drawing/2014/main" id="{22DD52D7-719A-1E30-5F9C-2D69AD8B271A}"/>
              </a:ext>
            </a:extLst>
          </p:cNvPr>
          <p:cNvSpPr>
            <a:spLocks noGrp="1"/>
          </p:cNvSpPr>
          <p:nvPr>
            <p:ph idx="1"/>
          </p:nvPr>
        </p:nvSpPr>
        <p:spPr/>
        <p:txBody>
          <a:bodyPr/>
          <a:lstStyle/>
          <a:p>
            <a:r>
              <a:rPr lang="en-US" dirty="0"/>
              <a:t>Now assume that it is required that if a supplier is selected at least 200 items must be purchased from that suppliers. </a:t>
            </a:r>
          </a:p>
        </p:txBody>
      </p:sp>
      <p:sp>
        <p:nvSpPr>
          <p:cNvPr id="4" name="Date Placeholder 3">
            <a:extLst>
              <a:ext uri="{FF2B5EF4-FFF2-40B4-BE49-F238E27FC236}">
                <a16:creationId xmlns:a16="http://schemas.microsoft.com/office/drawing/2014/main" id="{D479C5D5-B5F4-EA1C-F501-98070A3A7ACE}"/>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5D9ECFA0-B994-C336-BD30-E65B09271537}"/>
              </a:ext>
            </a:extLst>
          </p:cNvPr>
          <p:cNvSpPr>
            <a:spLocks noGrp="1"/>
          </p:cNvSpPr>
          <p:nvPr>
            <p:ph type="sldNum" sz="quarter" idx="12"/>
          </p:nvPr>
        </p:nvSpPr>
        <p:spPr/>
        <p:txBody>
          <a:bodyPr/>
          <a:lstStyle/>
          <a:p>
            <a:fld id="{EEA0C0C4-74CF-4C80-AB86-CA62A4B1ED10}" type="slidenum">
              <a:rPr lang="en-US" smtClean="0"/>
              <a:pPr/>
              <a:t>5</a:t>
            </a:fld>
            <a:endParaRPr lang="en-US"/>
          </a:p>
        </p:txBody>
      </p:sp>
    </p:spTree>
    <p:extLst>
      <p:ext uri="{BB962C8B-B14F-4D97-AF65-F5344CB8AC3E}">
        <p14:creationId xmlns:p14="http://schemas.microsoft.com/office/powerpoint/2010/main" val="3318338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BD2C2-7498-DC53-8A1F-816C23D0EC98}"/>
              </a:ext>
            </a:extLst>
          </p:cNvPr>
          <p:cNvSpPr>
            <a:spLocks noGrp="1"/>
          </p:cNvSpPr>
          <p:nvPr>
            <p:ph type="title"/>
          </p:nvPr>
        </p:nvSpPr>
        <p:spPr>
          <a:xfrm>
            <a:off x="457200" y="443811"/>
            <a:ext cx="8229600" cy="1020762"/>
          </a:xfrm>
        </p:spPr>
        <p:txBody>
          <a:bodyPr/>
          <a:lstStyle/>
          <a:p>
            <a:r>
              <a:rPr lang="en-US" sz="4000" dirty="0"/>
              <a:t>Robust Supplier Selection under Correlated Disruptions</a:t>
            </a:r>
            <a:br>
              <a:rPr lang="en-US" sz="4000" dirty="0"/>
            </a:b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526D8-2944-2234-E1F1-D20E085F71FE}"/>
                  </a:ext>
                </a:extLst>
              </p:cNvPr>
              <p:cNvSpPr>
                <a:spLocks noGrp="1"/>
              </p:cNvSpPr>
              <p:nvPr>
                <p:ph idx="1"/>
              </p:nvPr>
            </p:nvSpPr>
            <p:spPr/>
            <p:txBody>
              <a:bodyPr/>
              <a:lstStyle/>
              <a:p>
                <a14:m>
                  <m:oMath xmlns:m="http://schemas.openxmlformats.org/officeDocument/2006/math">
                    <m:r>
                      <a:rPr lang="en-US" sz="2400" i="1" smtClean="0">
                        <a:latin typeface="Cambria Math" panose="02040503050406030204" pitchFamily="18" charset="0"/>
                      </a:rPr>
                      <m:t>𝐼</m:t>
                    </m:r>
                  </m:oMath>
                </a14:m>
                <a:r>
                  <a:rPr lang="en-US" sz="2400" dirty="0"/>
                  <a:t>: set of suppliers</a:t>
                </a:r>
              </a:p>
              <a:p>
                <a14:m>
                  <m:oMath xmlns:m="http://schemas.openxmlformats.org/officeDocument/2006/math">
                    <m:r>
                      <a:rPr lang="en-US" sz="2400" i="1">
                        <a:latin typeface="Cambria Math" panose="02040503050406030204" pitchFamily="18" charset="0"/>
                      </a:rPr>
                      <m:t>𝑆</m:t>
                    </m:r>
                  </m:oMath>
                </a14:m>
                <a:r>
                  <a:rPr lang="en-US" sz="2400" dirty="0"/>
                  <a:t>: set of disruption scenarios</a:t>
                </a:r>
              </a:p>
              <a:p>
                <a14:m>
                  <m:oMath xmlns:m="http://schemas.openxmlformats.org/officeDocument/2006/math">
                    <m:r>
                      <a:rPr lang="en-US" sz="2800" i="1">
                        <a:latin typeface="Cambria Math" panose="02040503050406030204" pitchFamily="18" charset="0"/>
                      </a:rPr>
                      <m:t>𝐷</m:t>
                    </m:r>
                  </m:oMath>
                </a14:m>
                <a:r>
                  <a:rPr lang="en-US" sz="2400" dirty="0"/>
                  <a:t>: total demand</a:t>
                </a:r>
              </a:p>
              <a:p>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𝑈</m:t>
                        </m:r>
                      </m:e>
                      <m:sub>
                        <m:r>
                          <a:rPr lang="ar-AE" sz="2800" i="1">
                            <a:latin typeface="Cambria Math" panose="02040503050406030204" pitchFamily="18" charset="0"/>
                          </a:rPr>
                          <m:t>𝑖</m:t>
                        </m:r>
                      </m:sub>
                    </m:sSub>
                  </m:oMath>
                </a14:m>
                <a:r>
                  <a:rPr lang="ar-AE" sz="2400" dirty="0"/>
                  <a:t>: </a:t>
                </a:r>
                <a:r>
                  <a:rPr lang="en-US" sz="2400" dirty="0"/>
                  <a:t>nominal capacity of supplier </a:t>
                </a:r>
                <a14:m>
                  <m:oMath xmlns:m="http://schemas.openxmlformats.org/officeDocument/2006/math">
                    <m:r>
                      <a:rPr lang="en-US" sz="2800" i="1">
                        <a:latin typeface="Cambria Math" panose="02040503050406030204" pitchFamily="18" charset="0"/>
                      </a:rPr>
                      <m:t>𝑖</m:t>
                    </m:r>
                  </m:oMath>
                </a14:m>
                <a:endParaRPr lang="en-US" sz="2400" dirty="0"/>
              </a:p>
              <a:p>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𝑐</m:t>
                        </m:r>
                      </m:e>
                      <m:sub>
                        <m:r>
                          <a:rPr lang="ar-AE" sz="2800" i="1">
                            <a:latin typeface="Cambria Math" panose="02040503050406030204" pitchFamily="18" charset="0"/>
                          </a:rPr>
                          <m:t>𝑖</m:t>
                        </m:r>
                      </m:sub>
                    </m:sSub>
                  </m:oMath>
                </a14:m>
                <a:r>
                  <a:rPr lang="ar-AE" sz="2400" dirty="0"/>
                  <a:t>: </a:t>
                </a:r>
                <a:r>
                  <a:rPr lang="en-US" sz="2400" dirty="0"/>
                  <a:t>unit purchasing cost of supplier </a:t>
                </a:r>
                <a14:m>
                  <m:oMath xmlns:m="http://schemas.openxmlformats.org/officeDocument/2006/math">
                    <m:r>
                      <a:rPr lang="en-US" sz="2800" i="1">
                        <a:latin typeface="Cambria Math" panose="02040503050406030204" pitchFamily="18" charset="0"/>
                      </a:rPr>
                      <m:t>𝑖</m:t>
                    </m:r>
                  </m:oMath>
                </a14:m>
                <a:endParaRPr lang="en-US" sz="2400" dirty="0"/>
              </a:p>
              <a:p>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𝐹</m:t>
                        </m:r>
                      </m:e>
                      <m:sub>
                        <m:r>
                          <a:rPr lang="ar-AE" sz="2800" i="1">
                            <a:latin typeface="Cambria Math" panose="02040503050406030204" pitchFamily="18" charset="0"/>
                          </a:rPr>
                          <m:t>𝑖</m:t>
                        </m:r>
                      </m:sub>
                    </m:sSub>
                  </m:oMath>
                </a14:m>
                <a:r>
                  <a:rPr lang="ar-AE" sz="2400" dirty="0"/>
                  <a:t>: </a:t>
                </a:r>
                <a:r>
                  <a:rPr lang="en-US" sz="2400" dirty="0"/>
                  <a:t>fixed contracting cost of supplier </a:t>
                </a:r>
                <a14:m>
                  <m:oMath xmlns:m="http://schemas.openxmlformats.org/officeDocument/2006/math">
                    <m:r>
                      <a:rPr lang="en-US" sz="2800" i="1">
                        <a:latin typeface="Cambria Math" panose="02040503050406030204" pitchFamily="18" charset="0"/>
                      </a:rPr>
                      <m:t>𝑖</m:t>
                    </m:r>
                  </m:oMath>
                </a14:m>
                <a:endParaRPr lang="en-US" sz="2400" dirty="0"/>
              </a:p>
              <a:p>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𝑎</m:t>
                        </m:r>
                      </m:e>
                      <m:sub>
                        <m:r>
                          <a:rPr lang="ar-AE" sz="2800" i="1">
                            <a:latin typeface="Cambria Math" panose="02040503050406030204" pitchFamily="18" charset="0"/>
                          </a:rPr>
                          <m:t>𝑖</m:t>
                        </m:r>
                        <m:r>
                          <a:rPr lang="ar-AE" sz="2800">
                            <a:latin typeface="Cambria Math" panose="02040503050406030204" pitchFamily="18" charset="0"/>
                          </a:rPr>
                          <m:t>,</m:t>
                        </m:r>
                        <m:r>
                          <a:rPr lang="ar-AE" sz="2800" i="1">
                            <a:latin typeface="Cambria Math" panose="02040503050406030204" pitchFamily="18" charset="0"/>
                          </a:rPr>
                          <m:t>𝑠</m:t>
                        </m:r>
                      </m:sub>
                    </m:sSub>
                    <m:r>
                      <a:rPr lang="ar-AE" sz="2800">
                        <a:latin typeface="Cambria Math" panose="02040503050406030204" pitchFamily="18" charset="0"/>
                      </a:rPr>
                      <m:t>∈</m:t>
                    </m:r>
                    <m:r>
                      <a:rPr lang="en-US" sz="2800" b="0" i="1" smtClean="0">
                        <a:latin typeface="Cambria Math" panose="02040503050406030204" pitchFamily="18" charset="0"/>
                      </a:rPr>
                      <m:t>[0,1]</m:t>
                    </m:r>
                  </m:oMath>
                </a14:m>
                <a:r>
                  <a:rPr lang="ar-AE" sz="2400" dirty="0"/>
                  <a:t>: </a:t>
                </a:r>
                <a:r>
                  <a:rPr lang="en-US" sz="2400" dirty="0"/>
                  <a:t>availability factor of supplier </a:t>
                </a:r>
                <a14:m>
                  <m:oMath xmlns:m="http://schemas.openxmlformats.org/officeDocument/2006/math">
                    <m:r>
                      <a:rPr lang="en-US" sz="2800" i="1">
                        <a:latin typeface="Cambria Math" panose="02040503050406030204" pitchFamily="18" charset="0"/>
                      </a:rPr>
                      <m:t>𝑖</m:t>
                    </m:r>
                    <m:r>
                      <a:rPr lang="en-US" sz="2800" b="0" i="1" smtClean="0">
                        <a:latin typeface="Cambria Math" panose="02040503050406030204" pitchFamily="18" charset="0"/>
                      </a:rPr>
                      <m:t> </m:t>
                    </m:r>
                  </m:oMath>
                </a14:m>
                <a:r>
                  <a:rPr lang="en-US" sz="2400" dirty="0"/>
                  <a:t>in scenario </a:t>
                </a:r>
                <a14:m>
                  <m:oMath xmlns:m="http://schemas.openxmlformats.org/officeDocument/2006/math">
                    <m:r>
                      <a:rPr lang="en-US" sz="2800" i="1">
                        <a:latin typeface="Cambria Math" panose="02040503050406030204" pitchFamily="18" charset="0"/>
                      </a:rPr>
                      <m:t>𝑠</m:t>
                    </m:r>
                  </m:oMath>
                </a14:m>
                <a:endParaRPr lang="en-US" sz="2400" dirty="0"/>
              </a:p>
              <a:p>
                <a14:m>
                  <m:oMath xmlns:m="http://schemas.openxmlformats.org/officeDocument/2006/math">
                    <m:r>
                      <a:rPr lang="en-US" sz="2800" i="1">
                        <a:latin typeface="Cambria Math" panose="02040503050406030204" pitchFamily="18" charset="0"/>
                      </a:rPr>
                      <m:t>𝛼</m:t>
                    </m:r>
                  </m:oMath>
                </a14:m>
                <a:r>
                  <a:rPr lang="en-US" sz="2400" dirty="0"/>
                  <a:t>: minimum demand coverage fraction (e.g., </a:t>
                </a:r>
                <a14:m>
                  <m:oMath xmlns:m="http://schemas.openxmlformats.org/officeDocument/2006/math">
                    <m:r>
                      <a:rPr lang="en-US" sz="2800" i="1">
                        <a:latin typeface="Cambria Math" panose="02040503050406030204" pitchFamily="18" charset="0"/>
                      </a:rPr>
                      <m:t>𝛼</m:t>
                    </m:r>
                    <m:r>
                      <a:rPr lang="en-US" sz="2800">
                        <a:latin typeface="Cambria Math" panose="02040503050406030204" pitchFamily="18" charset="0"/>
                      </a:rPr>
                      <m:t>=0.75</m:t>
                    </m:r>
                  </m:oMath>
                </a14:m>
                <a:r>
                  <a:rPr lang="en-US" sz="2400" dirty="0"/>
                  <a:t>)</a:t>
                </a:r>
              </a:p>
              <a:p>
                <a:endParaRPr lang="en-US" sz="2400" dirty="0"/>
              </a:p>
            </p:txBody>
          </p:sp>
        </mc:Choice>
        <mc:Fallback xmlns="">
          <p:sp>
            <p:nvSpPr>
              <p:cNvPr id="3" name="Content Placeholder 2">
                <a:extLst>
                  <a:ext uri="{FF2B5EF4-FFF2-40B4-BE49-F238E27FC236}">
                    <a16:creationId xmlns:a16="http://schemas.microsoft.com/office/drawing/2014/main" id="{912526D8-2944-2234-E1F1-D20E085F71FE}"/>
                  </a:ext>
                </a:extLst>
              </p:cNvPr>
              <p:cNvSpPr>
                <a:spLocks noGrp="1" noRot="1" noChangeAspect="1" noMove="1" noResize="1" noEditPoints="1" noAdjustHandles="1" noChangeArrowheads="1" noChangeShapeType="1" noTextEdit="1"/>
              </p:cNvSpPr>
              <p:nvPr>
                <p:ph idx="1"/>
              </p:nvPr>
            </p:nvSpPr>
            <p:spPr>
              <a:blipFill>
                <a:blip r:embed="rId2"/>
                <a:stretch>
                  <a:fillRect l="-463" t="-140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E7103E7-2B73-843F-9902-184550ECFBD4}"/>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CE1C4E71-5B55-E798-F02B-3586A2F24656}"/>
              </a:ext>
            </a:extLst>
          </p:cNvPr>
          <p:cNvSpPr>
            <a:spLocks noGrp="1"/>
          </p:cNvSpPr>
          <p:nvPr>
            <p:ph type="sldNum" sz="quarter" idx="12"/>
          </p:nvPr>
        </p:nvSpPr>
        <p:spPr/>
        <p:txBody>
          <a:bodyPr/>
          <a:lstStyle/>
          <a:p>
            <a:fld id="{EEA0C0C4-74CF-4C80-AB86-CA62A4B1ED10}" type="slidenum">
              <a:rPr lang="en-US" smtClean="0"/>
              <a:pPr/>
              <a:t>6</a:t>
            </a:fld>
            <a:endParaRPr lang="en-US"/>
          </a:p>
        </p:txBody>
      </p:sp>
    </p:spTree>
    <p:extLst>
      <p:ext uri="{BB962C8B-B14F-4D97-AF65-F5344CB8AC3E}">
        <p14:creationId xmlns:p14="http://schemas.microsoft.com/office/powerpoint/2010/main" val="134876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ACB4-4E63-70F3-213B-58C3BFB5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91BBF-53AB-5AA8-2D67-02DD948FD966}"/>
              </a:ext>
            </a:extLst>
          </p:cNvPr>
          <p:cNvSpPr>
            <a:spLocks noGrp="1"/>
          </p:cNvSpPr>
          <p:nvPr>
            <p:ph type="title"/>
          </p:nvPr>
        </p:nvSpPr>
        <p:spPr>
          <a:xfrm>
            <a:off x="430696" y="0"/>
            <a:ext cx="8229600" cy="792162"/>
          </a:xfrm>
        </p:spPr>
        <p:txBody>
          <a:bodyPr/>
          <a:lstStyle/>
          <a:p>
            <a:r>
              <a:rPr lang="en-US" dirty="0"/>
              <a:t>MILP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1D83E-3773-6714-A371-7AAA009F306C}"/>
                  </a:ext>
                </a:extLst>
              </p:cNvPr>
              <p:cNvSpPr>
                <a:spLocks noGrp="1"/>
              </p:cNvSpPr>
              <p:nvPr>
                <p:ph idx="1"/>
              </p:nvPr>
            </p:nvSpPr>
            <p:spPr>
              <a:xfrm>
                <a:off x="288235" y="768971"/>
                <a:ext cx="8408504" cy="5860429"/>
              </a:xfrm>
            </p:spPr>
            <p:txBody>
              <a:bodyPr/>
              <a:lstStyle/>
              <a:p>
                <a:r>
                  <a:rPr lang="en-US" sz="2400" b="1" dirty="0"/>
                  <a:t>Decision Variables</a:t>
                </a:r>
              </a:p>
              <a:p>
                <a:pPr lvl="1">
                  <a:buFont typeface="Courier New" panose="02070309020205020404" pitchFamily="49" charset="0"/>
                  <a:buChar char="o"/>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𝑦</m:t>
                        </m:r>
                      </m:e>
                      <m:sub>
                        <m:r>
                          <a:rPr lang="ar-AE" sz="2000" i="1">
                            <a:latin typeface="Cambria Math" panose="02040503050406030204" pitchFamily="18" charset="0"/>
                          </a:rPr>
                          <m:t>𝑖</m:t>
                        </m:r>
                      </m:sub>
                    </m:sSub>
                    <m:r>
                      <a:rPr lang="ar-AE" sz="2000">
                        <a:latin typeface="Cambria Math" panose="02040503050406030204" pitchFamily="18" charset="0"/>
                      </a:rPr>
                      <m:t>∈</m:t>
                    </m:r>
                    <m:r>
                      <a:rPr lang="en-US" sz="2000" b="0" i="0" smtClean="0">
                        <a:latin typeface="Cambria Math" panose="02040503050406030204" pitchFamily="18" charset="0"/>
                      </a:rPr>
                      <m:t>{0,1}</m:t>
                    </m:r>
                  </m:oMath>
                </a14:m>
                <a:r>
                  <a:rPr lang="ar-AE" sz="2000" dirty="0"/>
                  <a:t>: </a:t>
                </a:r>
                <a:r>
                  <a:rPr lang="en-US" sz="2000" dirty="0"/>
                  <a:t>binary variable indicating whether supplier </a:t>
                </a:r>
                <a14:m>
                  <m:oMath xmlns:m="http://schemas.openxmlformats.org/officeDocument/2006/math">
                    <m:r>
                      <a:rPr lang="en-US" sz="2000" i="1">
                        <a:latin typeface="Cambria Math" panose="02040503050406030204" pitchFamily="18" charset="0"/>
                      </a:rPr>
                      <m:t>𝑖</m:t>
                    </m:r>
                  </m:oMath>
                </a14:m>
                <a:r>
                  <a:rPr lang="en-US" sz="2000" dirty="0"/>
                  <a:t> is selected</a:t>
                </a:r>
              </a:p>
              <a:p>
                <a:pPr lvl="1">
                  <a:buFont typeface="Courier New" panose="02070309020205020404" pitchFamily="49" charset="0"/>
                  <a:buChar char="o"/>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r>
                      <a:rPr lang="ar-AE" sz="2000">
                        <a:latin typeface="Cambria Math" panose="02040503050406030204" pitchFamily="18" charset="0"/>
                      </a:rPr>
                      <m:t>≥0</m:t>
                    </m:r>
                  </m:oMath>
                </a14:m>
                <a:r>
                  <a:rPr lang="ar-AE" sz="2000" dirty="0"/>
                  <a:t>: </a:t>
                </a:r>
                <a:r>
                  <a:rPr lang="en-US" sz="2000" dirty="0"/>
                  <a:t>planned purchase quantity from supplier </a:t>
                </a:r>
                <a14:m>
                  <m:oMath xmlns:m="http://schemas.openxmlformats.org/officeDocument/2006/math">
                    <m:r>
                      <a:rPr lang="en-US" sz="2000" i="1">
                        <a:latin typeface="Cambria Math" panose="02040503050406030204" pitchFamily="18" charset="0"/>
                      </a:rPr>
                      <m:t>𝑖</m:t>
                    </m:r>
                  </m:oMath>
                </a14:m>
                <a:endParaRPr lang="en-US" sz="2000" dirty="0"/>
              </a:p>
              <a:p>
                <a:r>
                  <a:rPr lang="en-US" sz="2400" b="1" dirty="0"/>
                  <a:t>Objective</a:t>
                </a:r>
              </a:p>
              <a:p>
                <a:pPr marL="0" indent="0">
                  <a:buNone/>
                </a:pPr>
                <a14:m>
                  <m:oMathPara xmlns:m="http://schemas.openxmlformats.org/officeDocument/2006/math">
                    <m:oMathParaPr>
                      <m:jc m:val="centerGroup"/>
                    </m:oMathParaPr>
                    <m:oMath xmlns:m="http://schemas.openxmlformats.org/officeDocument/2006/math">
                      <m:func>
                        <m:funcPr>
                          <m:ctrlPr>
                            <a:rPr lang="ar-AE" sz="2000" i="1">
                              <a:latin typeface="Cambria Math" panose="02040503050406030204" pitchFamily="18" charset="0"/>
                            </a:rPr>
                          </m:ctrlPr>
                        </m:funcPr>
                        <m:fName>
                          <m:r>
                            <m:rPr>
                              <m:sty m:val="p"/>
                            </m:rPr>
                            <a:rPr lang="en-US" sz="2000">
                              <a:latin typeface="Cambria Math" panose="02040503050406030204" pitchFamily="18" charset="0"/>
                            </a:rPr>
                            <m:t>min</m:t>
                          </m:r>
                        </m:fName>
                        <m:e>
                          <m:r>
                            <m:rPr>
                              <m:nor/>
                            </m:rPr>
                            <a:rPr lang="ar-AE" sz="2000" i="1"/>
                            <m:t>  </m:t>
                          </m:r>
                        </m:e>
                      </m:func>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𝐼</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𝐹</m:t>
                              </m:r>
                            </m:e>
                            <m:sub>
                              <m:r>
                                <a:rPr lang="ar-AE" sz="2000" i="1">
                                  <a:latin typeface="Cambria Math" panose="02040503050406030204" pitchFamily="18" charset="0"/>
                                </a:rPr>
                                <m:t>𝑖</m:t>
                              </m:r>
                            </m:sub>
                          </m:sSub>
                        </m:e>
                      </m:nary>
                      <m:sSub>
                        <m:sSubPr>
                          <m:ctrlPr>
                            <a:rPr lang="ar-AE" sz="2000" i="1">
                              <a:latin typeface="Cambria Math" panose="02040503050406030204" pitchFamily="18" charset="0"/>
                            </a:rPr>
                          </m:ctrlPr>
                        </m:sSubPr>
                        <m:e>
                          <m:r>
                            <a:rPr lang="ar-AE" sz="2000" i="1">
                              <a:latin typeface="Cambria Math" panose="02040503050406030204" pitchFamily="18" charset="0"/>
                            </a:rPr>
                            <m:t>𝑦</m:t>
                          </m:r>
                        </m:e>
                        <m:sub>
                          <m:r>
                            <a:rPr lang="ar-AE" sz="2000" i="1">
                              <a:latin typeface="Cambria Math" panose="02040503050406030204" pitchFamily="18" charset="0"/>
                            </a:rPr>
                            <m:t>𝑖</m:t>
                          </m:r>
                        </m:sub>
                      </m:sSub>
                      <m:r>
                        <a:rPr lang="ar-AE" sz="2000">
                          <a:latin typeface="Cambria Math" panose="02040503050406030204" pitchFamily="18" charset="0"/>
                        </a:rPr>
                        <m:t>+</m:t>
                      </m:r>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𝐼</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𝑐</m:t>
                              </m:r>
                            </m:e>
                            <m:sub>
                              <m:r>
                                <a:rPr lang="ar-AE" sz="2000" i="1">
                                  <a:latin typeface="Cambria Math" panose="02040503050406030204" pitchFamily="18" charset="0"/>
                                </a:rPr>
                                <m:t>𝑖</m:t>
                              </m:r>
                            </m:sub>
                          </m:sSub>
                        </m:e>
                      </m:nary>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oMath>
                  </m:oMathPara>
                </a14:m>
                <a:endParaRPr lang="ar-AE" sz="2000" b="0" dirty="0"/>
              </a:p>
              <a:p>
                <a:r>
                  <a:rPr lang="en-US" sz="2400" b="1" dirty="0"/>
                  <a:t>Constraints</a:t>
                </a:r>
              </a:p>
              <a:p>
                <a:pPr lvl="1"/>
                <a:r>
                  <a:rPr lang="en-US" sz="2000" b="1" dirty="0"/>
                  <a:t>Demand fulfillment</a:t>
                </a:r>
                <a:endParaRPr lang="en-US" sz="2000" dirty="0"/>
              </a:p>
              <a:p>
                <a:pPr marL="0" indent="0">
                  <a:buNone/>
                </a:pPr>
                <a14:m>
                  <m:oMathPara xmlns:m="http://schemas.openxmlformats.org/officeDocument/2006/math">
                    <m:oMathParaPr>
                      <m:jc m:val="centerGroup"/>
                    </m:oMathParaPr>
                    <m:oMath xmlns:m="http://schemas.openxmlformats.org/officeDocument/2006/math">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𝐼</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nary>
                      <m:r>
                        <a:rPr lang="ar-AE" sz="2000">
                          <a:latin typeface="Cambria Math" panose="02040503050406030204" pitchFamily="18" charset="0"/>
                        </a:rPr>
                        <m:t>=</m:t>
                      </m:r>
                      <m:r>
                        <a:rPr lang="ar-AE" sz="2000" i="1">
                          <a:latin typeface="Cambria Math" panose="02040503050406030204" pitchFamily="18" charset="0"/>
                        </a:rPr>
                        <m:t>𝐷</m:t>
                      </m:r>
                    </m:oMath>
                  </m:oMathPara>
                </a14:m>
                <a:endParaRPr lang="ar-AE" sz="2000" dirty="0"/>
              </a:p>
              <a:p>
                <a:pPr lvl="1"/>
                <a:r>
                  <a:rPr lang="en-US" sz="2000" b="1" dirty="0"/>
                  <a:t>Capacity linking</a:t>
                </a: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smtClean="0">
                              <a:latin typeface="Cambria Math" panose="02040503050406030204" pitchFamily="18" charset="0"/>
                            </a:rPr>
                            <m:t>𝑥</m:t>
                          </m:r>
                        </m:e>
                        <m:sub>
                          <m:r>
                            <a:rPr lang="ar-AE" sz="2000" i="1">
                              <a:latin typeface="Cambria Math" panose="02040503050406030204" pitchFamily="18" charset="0"/>
                            </a:rPr>
                            <m:t>𝑖</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𝑈</m:t>
                          </m:r>
                        </m:e>
                        <m:sub>
                          <m:r>
                            <a:rPr lang="ar-AE" sz="2000" i="1">
                              <a:latin typeface="Cambria Math" panose="02040503050406030204" pitchFamily="18" charset="0"/>
                            </a:rPr>
                            <m:t>𝑖</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𝑦</m:t>
                          </m:r>
                        </m:e>
                        <m:sub>
                          <m:r>
                            <a:rPr lang="ar-AE" sz="2000" i="1">
                              <a:latin typeface="Cambria Math" panose="02040503050406030204" pitchFamily="18" charset="0"/>
                            </a:rPr>
                            <m:t>𝑖</m:t>
                          </m:r>
                        </m:sub>
                      </m:sSub>
                      <m:r>
                        <a:rPr lang="en-US" sz="2000" b="0" i="0" smtClean="0">
                          <a:latin typeface="Cambria Math" panose="02040503050406030204" pitchFamily="18" charset="0"/>
                        </a:rPr>
                        <m:t>            </m:t>
                      </m:r>
                      <m:r>
                        <a:rPr lang="ar-AE" sz="2000">
                          <a:latin typeface="Cambria Math" panose="02040503050406030204" pitchFamily="18" charset="0"/>
                        </a:rPr>
                        <m:t> ∀</m:t>
                      </m:r>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𝐼</m:t>
                      </m:r>
                    </m:oMath>
                  </m:oMathPara>
                </a14:m>
                <a:endParaRPr lang="ar-AE" sz="2000" dirty="0"/>
              </a:p>
              <a:p>
                <a:pPr lvl="1"/>
                <a:r>
                  <a:rPr lang="en-US" sz="2000" b="1" dirty="0"/>
                  <a:t>Robust capacity requirement (all scenarios)</a:t>
                </a:r>
                <a:endParaRPr lang="en-US" sz="2000" dirty="0"/>
              </a:p>
              <a:p>
                <a:pPr marL="0" indent="0">
                  <a:buNone/>
                </a:pPr>
                <a14:m>
                  <m:oMathPara xmlns:m="http://schemas.openxmlformats.org/officeDocument/2006/math">
                    <m:oMathParaPr>
                      <m:jc m:val="centerGroup"/>
                    </m:oMathParaPr>
                    <m:oMath xmlns:m="http://schemas.openxmlformats.org/officeDocument/2006/math">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𝐼</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i="1">
                                  <a:latin typeface="Cambria Math" panose="02040503050406030204" pitchFamily="18" charset="0"/>
                                </a:rPr>
                                <m:t>𝑖</m:t>
                              </m:r>
                              <m:r>
                                <a:rPr lang="ar-AE" sz="2000">
                                  <a:latin typeface="Cambria Math" panose="02040503050406030204" pitchFamily="18" charset="0"/>
                                </a:rPr>
                                <m:t>,</m:t>
                              </m:r>
                              <m:r>
                                <a:rPr lang="ar-AE" sz="2000" i="1">
                                  <a:latin typeface="Cambria Math" panose="02040503050406030204" pitchFamily="18" charset="0"/>
                                </a:rPr>
                                <m:t>𝑠</m:t>
                              </m:r>
                            </m:sub>
                          </m:sSub>
                        </m:e>
                      </m:nary>
                      <m:sSub>
                        <m:sSubPr>
                          <m:ctrlPr>
                            <a:rPr lang="ar-AE" sz="2000" i="1">
                              <a:latin typeface="Cambria Math" panose="02040503050406030204" pitchFamily="18" charset="0"/>
                            </a:rPr>
                          </m:ctrlPr>
                        </m:sSubPr>
                        <m:e>
                          <m:r>
                            <a:rPr lang="ar-AE" sz="2000" i="1">
                              <a:latin typeface="Cambria Math" panose="02040503050406030204" pitchFamily="18" charset="0"/>
                            </a:rPr>
                            <m:t>𝑈</m:t>
                          </m:r>
                        </m:e>
                        <m:sub>
                          <m:r>
                            <a:rPr lang="ar-AE" sz="2000" i="1">
                              <a:latin typeface="Cambria Math" panose="02040503050406030204" pitchFamily="18" charset="0"/>
                            </a:rPr>
                            <m:t>𝑖</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𝑦</m:t>
                          </m:r>
                        </m:e>
                        <m:sub>
                          <m:r>
                            <a:rPr lang="ar-AE" sz="2000" i="1">
                              <a:latin typeface="Cambria Math" panose="02040503050406030204" pitchFamily="18" charset="0"/>
                            </a:rPr>
                            <m:t>𝑖</m:t>
                          </m:r>
                        </m:sub>
                      </m:sSub>
                      <m:r>
                        <m:rPr>
                          <m:nor/>
                        </m:rPr>
                        <a:rPr lang="ar-AE" sz="2000" i="1"/>
                        <m:t>  </m:t>
                      </m:r>
                      <m:r>
                        <a:rPr lang="ar-AE" sz="2000">
                          <a:latin typeface="Cambria Math" panose="02040503050406030204" pitchFamily="18" charset="0"/>
                        </a:rPr>
                        <m:t>≥</m:t>
                      </m:r>
                      <m:r>
                        <m:rPr>
                          <m:nor/>
                        </m:rPr>
                        <a:rPr lang="ar-AE" sz="2000" i="1"/>
                        <m:t>  </m:t>
                      </m:r>
                      <m:r>
                        <a:rPr lang="ar-AE" sz="2000" i="1">
                          <a:latin typeface="Cambria Math" panose="02040503050406030204" pitchFamily="18" charset="0"/>
                        </a:rPr>
                        <m:t>𝛼</m:t>
                      </m:r>
                      <m:r>
                        <a:rPr lang="ar-AE" sz="2000" i="1">
                          <a:latin typeface="Cambria Math" panose="02040503050406030204" pitchFamily="18" charset="0"/>
                        </a:rPr>
                        <m:t>𝐷</m:t>
                      </m:r>
                      <m:r>
                        <a:rPr lang="ar-AE" sz="2000">
                          <a:latin typeface="Cambria Math" panose="02040503050406030204" pitchFamily="18" charset="0"/>
                        </a:rPr>
                        <m:t> </m:t>
                      </m:r>
                      <m:r>
                        <a:rPr lang="en-US" sz="2000" b="0" i="0" smtClean="0">
                          <a:latin typeface="Cambria Math" panose="02040503050406030204" pitchFamily="18" charset="0"/>
                        </a:rPr>
                        <m:t>            </m:t>
                      </m:r>
                      <m:r>
                        <a:rPr lang="ar-AE" sz="2000">
                          <a:latin typeface="Cambria Math" panose="02040503050406030204" pitchFamily="18" charset="0"/>
                        </a:rPr>
                        <m:t>∀</m:t>
                      </m:r>
                      <m:r>
                        <a:rPr lang="ar-AE" sz="2000" i="1">
                          <a:latin typeface="Cambria Math" panose="02040503050406030204" pitchFamily="18" charset="0"/>
                        </a:rPr>
                        <m:t>𝑠</m:t>
                      </m:r>
                      <m:r>
                        <a:rPr lang="ar-AE" sz="2000">
                          <a:latin typeface="Cambria Math" panose="02040503050406030204" pitchFamily="18" charset="0"/>
                        </a:rPr>
                        <m:t>∈</m:t>
                      </m:r>
                      <m:r>
                        <a:rPr lang="ar-AE" sz="2000" i="1">
                          <a:latin typeface="Cambria Math" panose="02040503050406030204" pitchFamily="18" charset="0"/>
                        </a:rPr>
                        <m:t>𝑆</m:t>
                      </m:r>
                    </m:oMath>
                  </m:oMathPara>
                </a14:m>
                <a:endParaRPr lang="ar-AE" sz="2000" b="0" dirty="0"/>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4A31D83E-3773-6714-A371-7AAA009F306C}"/>
                  </a:ext>
                </a:extLst>
              </p:cNvPr>
              <p:cNvSpPr>
                <a:spLocks noGrp="1" noRot="1" noChangeAspect="1" noMove="1" noResize="1" noEditPoints="1" noAdjustHandles="1" noChangeArrowheads="1" noChangeShapeType="1" noTextEdit="1"/>
              </p:cNvSpPr>
              <p:nvPr>
                <p:ph idx="1"/>
              </p:nvPr>
            </p:nvSpPr>
            <p:spPr>
              <a:xfrm>
                <a:off x="288235" y="768971"/>
                <a:ext cx="8408504" cy="5860429"/>
              </a:xfrm>
              <a:blipFill>
                <a:blip r:embed="rId2"/>
                <a:stretch>
                  <a:fillRect l="-151" t="-864" b="-22246"/>
                </a:stretch>
              </a:blipFill>
            </p:spPr>
            <p:txBody>
              <a:bodyPr/>
              <a:lstStyle/>
              <a:p>
                <a:r>
                  <a:rPr lang="en-US">
                    <a:noFill/>
                  </a:rPr>
                  <a:t> </a:t>
                </a:r>
              </a:p>
            </p:txBody>
          </p:sp>
        </mc:Fallback>
      </mc:AlternateContent>
    </p:spTree>
    <p:extLst>
      <p:ext uri="{BB962C8B-B14F-4D97-AF65-F5344CB8AC3E}">
        <p14:creationId xmlns:p14="http://schemas.microsoft.com/office/powerpoint/2010/main" val="58005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7" name="Rectangle 3"/>
          <p:cNvSpPr>
            <a:spLocks noGrp="1" noChangeArrowheads="1"/>
          </p:cNvSpPr>
          <p:nvPr>
            <p:ph idx="1"/>
          </p:nvPr>
        </p:nvSpPr>
        <p:spPr>
          <a:xfrm>
            <a:off x="457200" y="1219200"/>
            <a:ext cx="8382000" cy="5257800"/>
          </a:xfrm>
        </p:spPr>
        <p:txBody>
          <a:bodyPr>
            <a:normAutofit fontScale="85000" lnSpcReduction="20000"/>
          </a:bodyPr>
          <a:lstStyle/>
          <a:p>
            <a:pPr eaLnBrk="1" hangingPunct="1">
              <a:lnSpc>
                <a:spcPts val="3000"/>
              </a:lnSpc>
            </a:pPr>
            <a:r>
              <a:rPr lang="en-US" altLang="tr-TR" sz="2400" dirty="0">
                <a:latin typeface="+mj-lt"/>
              </a:rPr>
              <a:t>Logistics is an ever-growing sector in Turkey</a:t>
            </a:r>
          </a:p>
          <a:p>
            <a:pPr eaLnBrk="1" hangingPunct="1">
              <a:lnSpc>
                <a:spcPts val="3000"/>
              </a:lnSpc>
            </a:pPr>
            <a:r>
              <a:rPr lang="en-US" altLang="tr-TR" sz="2400" dirty="0">
                <a:latin typeface="+mj-lt"/>
              </a:rPr>
              <a:t>People with an education on Logistics, esp. Industrial Engineers, are in high demand in this sector</a:t>
            </a:r>
            <a:r>
              <a:rPr lang="en-US" altLang="tr-TR" dirty="0">
                <a:latin typeface="+mj-lt"/>
              </a:rPr>
              <a:t> </a:t>
            </a:r>
          </a:p>
          <a:p>
            <a:pPr eaLnBrk="1" hangingPunct="1">
              <a:lnSpc>
                <a:spcPts val="3000"/>
              </a:lnSpc>
            </a:pPr>
            <a:r>
              <a:rPr lang="en-US" altLang="tr-TR" sz="2400" dirty="0">
                <a:latin typeface="+mj-lt"/>
              </a:rPr>
              <a:t>You can have a focused education in Logistics and Supply Chain as part of the Industrial Engineering curriculum</a:t>
            </a:r>
          </a:p>
          <a:p>
            <a:pPr lvl="1" eaLnBrk="1" hangingPunct="1">
              <a:buClr>
                <a:srgbClr val="000099"/>
              </a:buClr>
              <a:buFont typeface="Courier New" panose="02070309020205020404" pitchFamily="49" charset="0"/>
              <a:buChar char="o"/>
            </a:pPr>
            <a:r>
              <a:rPr lang="en-US" altLang="tr-TR" dirty="0">
                <a:latin typeface="+mj-lt"/>
              </a:rPr>
              <a:t>By taking </a:t>
            </a:r>
          </a:p>
          <a:p>
            <a:pPr lvl="2" eaLnBrk="1" hangingPunct="1">
              <a:buClr>
                <a:srgbClr val="000099"/>
              </a:buClr>
              <a:buFont typeface="Wingdings" panose="05000000000000000000" pitchFamily="2" charset="2"/>
              <a:buChar char="ü"/>
            </a:pPr>
            <a:r>
              <a:rPr lang="en-US" altLang="tr-TR" dirty="0">
                <a:latin typeface="+mj-lt"/>
              </a:rPr>
              <a:t>INDR 483	Supply Chain Modeling and Analysis (Fall)</a:t>
            </a:r>
          </a:p>
          <a:p>
            <a:pPr lvl="2" eaLnBrk="1" hangingPunct="1">
              <a:buClr>
                <a:srgbClr val="000099"/>
              </a:buClr>
              <a:buFont typeface="Wingdings" panose="05000000000000000000" pitchFamily="2" charset="2"/>
              <a:buChar char="ü"/>
            </a:pPr>
            <a:r>
              <a:rPr lang="en-US" altLang="tr-TR" dirty="0">
                <a:solidFill>
                  <a:srgbClr val="0033CC"/>
                </a:solidFill>
                <a:latin typeface="+mj-lt"/>
              </a:rPr>
              <a:t>INDR 484	Logistics Management (Spring) </a:t>
            </a:r>
          </a:p>
          <a:p>
            <a:pPr lvl="1" eaLnBrk="1" hangingPunct="1">
              <a:buClr>
                <a:srgbClr val="000099"/>
              </a:buClr>
              <a:buFont typeface="Courier New" panose="02070309020205020404" pitchFamily="49" charset="0"/>
              <a:buChar char="o"/>
            </a:pPr>
            <a:r>
              <a:rPr lang="en-US" altLang="tr-TR" dirty="0">
                <a:latin typeface="+mj-lt"/>
              </a:rPr>
              <a:t>And by taking at least one of the following courses:</a:t>
            </a:r>
          </a:p>
          <a:p>
            <a:pPr lvl="2">
              <a:buClr>
                <a:srgbClr val="000099"/>
              </a:buClr>
              <a:buFont typeface="Wingdings" panose="05000000000000000000" pitchFamily="2" charset="2"/>
              <a:buChar char="ü"/>
            </a:pPr>
            <a:r>
              <a:rPr lang="en-US" altLang="tr-TR" dirty="0">
                <a:latin typeface="+mj-lt"/>
              </a:rPr>
              <a:t>INDR 420	Network Models and Optimization </a:t>
            </a:r>
          </a:p>
          <a:p>
            <a:pPr lvl="2">
              <a:buClr>
                <a:srgbClr val="000099"/>
              </a:buClr>
              <a:buFont typeface="Wingdings" panose="05000000000000000000" pitchFamily="2" charset="2"/>
              <a:buChar char="ü"/>
            </a:pPr>
            <a:r>
              <a:rPr lang="en-US" altLang="tr-TR" dirty="0">
                <a:latin typeface="+mj-lt"/>
              </a:rPr>
              <a:t>INDR 430	Decision Analysis</a:t>
            </a:r>
            <a:endParaRPr lang="tr-TR" altLang="tr-TR" dirty="0">
              <a:latin typeface="+mj-lt"/>
            </a:endParaRPr>
          </a:p>
          <a:p>
            <a:pPr lvl="2">
              <a:buClr>
                <a:srgbClr val="000099"/>
              </a:buClr>
              <a:buFont typeface="Wingdings" panose="05000000000000000000" pitchFamily="2" charset="2"/>
              <a:buChar char="ü"/>
            </a:pPr>
            <a:r>
              <a:rPr lang="tr-TR" altLang="tr-TR" dirty="0">
                <a:latin typeface="+mj-lt"/>
              </a:rPr>
              <a:t>INDR 440	Project Management </a:t>
            </a:r>
            <a:endParaRPr lang="en-US" altLang="tr-TR" dirty="0">
              <a:latin typeface="+mj-lt"/>
            </a:endParaRPr>
          </a:p>
          <a:p>
            <a:pPr lvl="2">
              <a:buClr>
                <a:srgbClr val="000099"/>
              </a:buClr>
              <a:buFont typeface="Wingdings" panose="05000000000000000000" pitchFamily="2" charset="2"/>
              <a:buChar char="ü"/>
            </a:pPr>
            <a:r>
              <a:rPr lang="en-US" altLang="tr-TR" dirty="0">
                <a:latin typeface="+mj-lt"/>
              </a:rPr>
              <a:t>INDR 460	</a:t>
            </a:r>
            <a:r>
              <a:rPr lang="tr-TR" altLang="tr-TR" dirty="0">
                <a:latin typeface="+mj-lt"/>
              </a:rPr>
              <a:t>Operations Research Applications </a:t>
            </a:r>
            <a:endParaRPr lang="en-US" altLang="tr-TR" dirty="0">
              <a:latin typeface="+mj-lt"/>
            </a:endParaRPr>
          </a:p>
          <a:p>
            <a:pPr lvl="2">
              <a:buClr>
                <a:srgbClr val="000099"/>
              </a:buClr>
              <a:buFont typeface="Wingdings" panose="05000000000000000000" pitchFamily="2" charset="2"/>
              <a:buChar char="ü"/>
            </a:pPr>
            <a:r>
              <a:rPr lang="en-US" altLang="tr-TR" dirty="0">
                <a:latin typeface="+mj-lt"/>
              </a:rPr>
              <a:t>INDR 471	Service Operations Analysis </a:t>
            </a:r>
            <a:endParaRPr lang="en-US" altLang="tr-TR" sz="1600" dirty="0">
              <a:latin typeface="+mj-lt"/>
            </a:endParaRPr>
          </a:p>
        </p:txBody>
      </p:sp>
      <p:sp>
        <p:nvSpPr>
          <p:cNvPr id="14338" name="Rectangle 2"/>
          <p:cNvSpPr>
            <a:spLocks noGrp="1" noChangeArrowheads="1"/>
          </p:cNvSpPr>
          <p:nvPr>
            <p:ph type="title"/>
          </p:nvPr>
        </p:nvSpPr>
        <p:spPr>
          <a:xfrm>
            <a:off x="0" y="0"/>
            <a:ext cx="9144000" cy="1295400"/>
          </a:xfrm>
        </p:spPr>
        <p:txBody>
          <a:bodyPr/>
          <a:lstStyle/>
          <a:p>
            <a:pPr fontAlgn="auto">
              <a:spcAft>
                <a:spcPts val="0"/>
              </a:spcAft>
              <a:defRPr/>
            </a:pPr>
            <a:r>
              <a:rPr lang="en-US" altLang="tr-TR" sz="3600" dirty="0"/>
              <a:t>Why Logistics as part of Industrial Eng.?</a:t>
            </a:r>
            <a:endParaRPr lang="en-US" altLang="zh-CN" sz="3600" dirty="0">
              <a:ea typeface="宋体" pitchFamily="2" charset="-122"/>
            </a:endParaRPr>
          </a:p>
        </p:txBody>
      </p:sp>
      <p:sp>
        <p:nvSpPr>
          <p:cNvPr id="2" name="Slide Number Placeholder 1"/>
          <p:cNvSpPr>
            <a:spLocks noGrp="1"/>
          </p:cNvSpPr>
          <p:nvPr>
            <p:ph type="sldNum" sz="quarter" idx="12"/>
          </p:nvPr>
        </p:nvSpPr>
        <p:spPr/>
        <p:txBody>
          <a:bodyPr/>
          <a:lstStyle/>
          <a:p>
            <a:fld id="{EEA0C0C4-74CF-4C80-AB86-CA62A4B1ED10}" type="slidenum">
              <a:rPr lang="en-US" smtClean="0">
                <a:latin typeface="+mj-lt"/>
              </a:rPr>
              <a:pPr/>
              <a:t>8</a:t>
            </a:fld>
            <a:endParaRPr lang="en-US">
              <a:latin typeface="+mj-lt"/>
            </a:endParaRPr>
          </a:p>
        </p:txBody>
      </p:sp>
      <p:sp>
        <p:nvSpPr>
          <p:cNvPr id="3" name="Date Placeholder 2"/>
          <p:cNvSpPr>
            <a:spLocks noGrp="1"/>
          </p:cNvSpPr>
          <p:nvPr>
            <p:ph type="dt" sz="half" idx="10"/>
          </p:nvPr>
        </p:nvSpPr>
        <p:spPr/>
        <p:txBody>
          <a:bodyPr/>
          <a:lstStyle/>
          <a:p>
            <a:r>
              <a:rPr lang="tr-TR">
                <a:latin typeface="+mj-lt"/>
              </a:rPr>
              <a:t>INDR 100</a:t>
            </a:r>
            <a:endParaRPr lang="en-US">
              <a:latin typeface="+mj-lt"/>
            </a:endParaRPr>
          </a:p>
        </p:txBody>
      </p:sp>
    </p:spTree>
    <p:extLst>
      <p:ext uri="{BB962C8B-B14F-4D97-AF65-F5344CB8AC3E}">
        <p14:creationId xmlns:p14="http://schemas.microsoft.com/office/powerpoint/2010/main" val="148964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612775" y="152400"/>
            <a:ext cx="8077200" cy="1143000"/>
          </a:xfrm>
        </p:spPr>
        <p:txBody>
          <a:bodyPr/>
          <a:lstStyle/>
          <a:p>
            <a:pPr eaLnBrk="1" hangingPunct="1"/>
            <a:r>
              <a:rPr lang="en-US" altLang="tr-TR" dirty="0"/>
              <a:t>Logistics Mission</a:t>
            </a:r>
          </a:p>
        </p:txBody>
      </p:sp>
      <p:sp>
        <p:nvSpPr>
          <p:cNvPr id="6148" name="Rectangle 3"/>
          <p:cNvSpPr>
            <a:spLocks noGrp="1" noChangeArrowheads="1"/>
          </p:cNvSpPr>
          <p:nvPr>
            <p:ph type="body" idx="1"/>
          </p:nvPr>
        </p:nvSpPr>
        <p:spPr>
          <a:xfrm>
            <a:off x="379413" y="1447800"/>
            <a:ext cx="8543925" cy="4591050"/>
          </a:xfrm>
        </p:spPr>
        <p:txBody>
          <a:bodyPr/>
          <a:lstStyle/>
          <a:p>
            <a:pPr marL="533400" indent="-533400" eaLnBrk="1" hangingPunct="1">
              <a:lnSpc>
                <a:spcPts val="3000"/>
              </a:lnSpc>
            </a:pPr>
            <a:r>
              <a:rPr lang="en-US" altLang="tr-TR" sz="2800" dirty="0">
                <a:latin typeface="+mj-lt"/>
              </a:rPr>
              <a:t>Logistics deals with the planning and control of material flows and related information in organizations.</a:t>
            </a:r>
          </a:p>
          <a:p>
            <a:pPr marL="533400" indent="-533400" eaLnBrk="1" hangingPunct="1">
              <a:lnSpc>
                <a:spcPts val="3000"/>
              </a:lnSpc>
            </a:pPr>
            <a:endParaRPr lang="en-US" altLang="tr-TR" sz="2800" dirty="0">
              <a:latin typeface="+mj-lt"/>
            </a:endParaRPr>
          </a:p>
          <a:p>
            <a:pPr marL="533400" indent="-533400" eaLnBrk="1" hangingPunct="1">
              <a:lnSpc>
                <a:spcPts val="3000"/>
              </a:lnSpc>
            </a:pPr>
            <a:r>
              <a:rPr lang="en-US" altLang="tr-TR" sz="2800" dirty="0">
                <a:latin typeface="+mj-lt"/>
              </a:rPr>
              <a:t>Broadly speaking, its mission is to provide the </a:t>
            </a:r>
            <a:r>
              <a:rPr lang="en-US" altLang="tr-TR" sz="2800" dirty="0">
                <a:solidFill>
                  <a:srgbClr val="0033CC"/>
                </a:solidFill>
                <a:latin typeface="+mj-lt"/>
              </a:rPr>
              <a:t>right materials </a:t>
            </a:r>
            <a:r>
              <a:rPr lang="en-US" altLang="tr-TR" sz="2800" dirty="0">
                <a:latin typeface="+mj-lt"/>
              </a:rPr>
              <a:t>at the </a:t>
            </a:r>
            <a:r>
              <a:rPr lang="en-US" altLang="tr-TR" sz="2800" dirty="0">
                <a:solidFill>
                  <a:srgbClr val="0033CC"/>
                </a:solidFill>
                <a:latin typeface="+mj-lt"/>
              </a:rPr>
              <a:t>right place </a:t>
            </a:r>
            <a:r>
              <a:rPr lang="en-US" altLang="tr-TR" sz="2800" dirty="0">
                <a:latin typeface="+mj-lt"/>
              </a:rPr>
              <a:t>and </a:t>
            </a:r>
            <a:r>
              <a:rPr lang="tr-TR" altLang="tr-TR" sz="2800" dirty="0">
                <a:latin typeface="+mj-lt"/>
              </a:rPr>
              <a:t>at the </a:t>
            </a:r>
            <a:r>
              <a:rPr lang="tr-TR" altLang="tr-TR" sz="2800" dirty="0">
                <a:solidFill>
                  <a:srgbClr val="0033CC"/>
                </a:solidFill>
                <a:latin typeface="+mj-lt"/>
              </a:rPr>
              <a:t>right</a:t>
            </a:r>
            <a:r>
              <a:rPr lang="tr-TR" altLang="tr-TR" sz="2800" dirty="0">
                <a:solidFill>
                  <a:srgbClr val="CC3300"/>
                </a:solidFill>
                <a:latin typeface="+mj-lt"/>
              </a:rPr>
              <a:t> </a:t>
            </a:r>
            <a:r>
              <a:rPr lang="en-US" altLang="tr-TR" sz="2800" dirty="0">
                <a:solidFill>
                  <a:srgbClr val="0033CC"/>
                </a:solidFill>
                <a:latin typeface="+mj-lt"/>
              </a:rPr>
              <a:t>time</a:t>
            </a:r>
            <a:r>
              <a:rPr lang="en-US" altLang="tr-TR" sz="2800" dirty="0">
                <a:latin typeface="+mj-lt"/>
              </a:rPr>
              <a:t>,	</a:t>
            </a:r>
          </a:p>
          <a:p>
            <a:pPr marL="533400" indent="-533400" eaLnBrk="1" hangingPunct="1">
              <a:lnSpc>
                <a:spcPts val="3000"/>
              </a:lnSpc>
              <a:buFont typeface="Wingdings" pitchFamily="2" charset="2"/>
              <a:buNone/>
            </a:pPr>
            <a:r>
              <a:rPr lang="en-US" altLang="tr-TR" sz="2800" dirty="0">
                <a:latin typeface="+mj-lt"/>
              </a:rPr>
              <a:t>	</a:t>
            </a:r>
          </a:p>
          <a:p>
            <a:pPr marL="533400" indent="-533400" eaLnBrk="1" hangingPunct="1">
              <a:lnSpc>
                <a:spcPts val="3000"/>
              </a:lnSpc>
              <a:buFont typeface="Wingdings" pitchFamily="2" charset="2"/>
              <a:buNone/>
            </a:pPr>
            <a:r>
              <a:rPr lang="en-US" altLang="tr-TR" sz="2800" dirty="0">
                <a:latin typeface="+mj-lt"/>
              </a:rPr>
              <a:t>	while </a:t>
            </a:r>
            <a:r>
              <a:rPr lang="en-US" altLang="tr-TR" sz="2800" dirty="0">
                <a:solidFill>
                  <a:srgbClr val="0033CC"/>
                </a:solidFill>
                <a:latin typeface="+mj-lt"/>
              </a:rPr>
              <a:t>optimizing </a:t>
            </a:r>
            <a:r>
              <a:rPr lang="en-US" altLang="tr-TR" sz="2800" dirty="0">
                <a:latin typeface="+mj-lt"/>
              </a:rPr>
              <a:t>a given performance measure </a:t>
            </a:r>
          </a:p>
          <a:p>
            <a:pPr marL="533400" indent="-533400" eaLnBrk="1" hangingPunct="1">
              <a:lnSpc>
                <a:spcPts val="3000"/>
              </a:lnSpc>
              <a:buFont typeface="Wingdings" pitchFamily="2" charset="2"/>
              <a:buNone/>
            </a:pPr>
            <a:r>
              <a:rPr lang="en-US" altLang="tr-TR" sz="2800" dirty="0">
                <a:latin typeface="+mj-lt"/>
              </a:rPr>
              <a:t>	subject to a given set of constraints!</a:t>
            </a:r>
          </a:p>
        </p:txBody>
      </p:sp>
      <p:sp>
        <p:nvSpPr>
          <p:cNvPr id="3" name="Slide Number Placeholder 2"/>
          <p:cNvSpPr>
            <a:spLocks noGrp="1"/>
          </p:cNvSpPr>
          <p:nvPr>
            <p:ph type="sldNum" sz="quarter" idx="12"/>
          </p:nvPr>
        </p:nvSpPr>
        <p:spPr/>
        <p:txBody>
          <a:bodyPr/>
          <a:lstStyle/>
          <a:p>
            <a:fld id="{EEA0C0C4-74CF-4C80-AB86-CA62A4B1ED10}" type="slidenum">
              <a:rPr lang="en-US" smtClean="0">
                <a:latin typeface="+mj-lt"/>
              </a:rPr>
              <a:pPr/>
              <a:t>9</a:t>
            </a:fld>
            <a:endParaRPr lang="en-US">
              <a:latin typeface="+mj-lt"/>
            </a:endParaRPr>
          </a:p>
        </p:txBody>
      </p:sp>
      <p:sp>
        <p:nvSpPr>
          <p:cNvPr id="2" name="Date Placeholder 1"/>
          <p:cNvSpPr>
            <a:spLocks noGrp="1"/>
          </p:cNvSpPr>
          <p:nvPr>
            <p:ph type="dt" sz="half" idx="10"/>
          </p:nvPr>
        </p:nvSpPr>
        <p:spPr/>
        <p:txBody>
          <a:bodyPr/>
          <a:lstStyle/>
          <a:p>
            <a:r>
              <a:rPr lang="tr-TR">
                <a:latin typeface="+mj-lt"/>
              </a:rPr>
              <a:t>INDR 100</a:t>
            </a:r>
            <a:endParaRPr lang="en-US">
              <a:latin typeface="+mj-lt"/>
            </a:endParaRPr>
          </a:p>
        </p:txBody>
      </p:sp>
    </p:spTree>
    <p:extLst>
      <p:ext uri="{BB962C8B-B14F-4D97-AF65-F5344CB8AC3E}">
        <p14:creationId xmlns:p14="http://schemas.microsoft.com/office/powerpoint/2010/main" val="1663736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0"/>
          <p:cNvSpPr txBox="1">
            <a:spLocks noChangeArrowheads="1"/>
          </p:cNvSpPr>
          <p:nvPr/>
        </p:nvSpPr>
        <p:spPr bwMode="auto">
          <a:xfrm>
            <a:off x="228600" y="1797050"/>
            <a:ext cx="2590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CA" altLang="tr-TR">
                <a:latin typeface="+mj-lt"/>
              </a:rPr>
              <a:t>Raw Material Sources</a:t>
            </a:r>
          </a:p>
        </p:txBody>
      </p:sp>
      <p:sp>
        <p:nvSpPr>
          <p:cNvPr id="11268" name="Text Box 31"/>
          <p:cNvSpPr txBox="1">
            <a:spLocks noChangeArrowheads="1"/>
          </p:cNvSpPr>
          <p:nvPr/>
        </p:nvSpPr>
        <p:spPr bwMode="auto">
          <a:xfrm>
            <a:off x="7162800" y="1752600"/>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CA" altLang="tr-TR">
                <a:latin typeface="+mj-lt"/>
              </a:rPr>
              <a:t>Consumers</a:t>
            </a:r>
          </a:p>
        </p:txBody>
      </p:sp>
      <p:sp>
        <p:nvSpPr>
          <p:cNvPr id="11270" name="Text Box 33"/>
          <p:cNvSpPr txBox="1">
            <a:spLocks noChangeArrowheads="1"/>
          </p:cNvSpPr>
          <p:nvPr/>
        </p:nvSpPr>
        <p:spPr bwMode="gray">
          <a:xfrm>
            <a:off x="544492" y="2304919"/>
            <a:ext cx="1109764" cy="3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1400" dirty="0">
                <a:latin typeface="+mj-lt"/>
              </a:rPr>
              <a:t>Suppliers</a:t>
            </a:r>
          </a:p>
        </p:txBody>
      </p:sp>
      <p:sp>
        <p:nvSpPr>
          <p:cNvPr id="11271" name="Text Box 34"/>
          <p:cNvSpPr txBox="1">
            <a:spLocks noChangeArrowheads="1"/>
          </p:cNvSpPr>
          <p:nvPr/>
        </p:nvSpPr>
        <p:spPr bwMode="gray">
          <a:xfrm>
            <a:off x="2177761" y="2328567"/>
            <a:ext cx="1327754" cy="30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1400">
                <a:latin typeface="+mj-lt"/>
              </a:rPr>
              <a:t>Manufacturers</a:t>
            </a:r>
          </a:p>
        </p:txBody>
      </p:sp>
      <p:sp>
        <p:nvSpPr>
          <p:cNvPr id="11272" name="Text Box 35"/>
          <p:cNvSpPr txBox="1">
            <a:spLocks noChangeArrowheads="1"/>
          </p:cNvSpPr>
          <p:nvPr/>
        </p:nvSpPr>
        <p:spPr bwMode="gray">
          <a:xfrm>
            <a:off x="4179300" y="2328567"/>
            <a:ext cx="1089947" cy="30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1400">
                <a:latin typeface="+mj-lt"/>
              </a:rPr>
              <a:t>Distributors</a:t>
            </a:r>
          </a:p>
        </p:txBody>
      </p:sp>
      <p:sp>
        <p:nvSpPr>
          <p:cNvPr id="11273" name="Text Box 36"/>
          <p:cNvSpPr txBox="1">
            <a:spLocks noChangeArrowheads="1"/>
          </p:cNvSpPr>
          <p:nvPr/>
        </p:nvSpPr>
        <p:spPr bwMode="gray">
          <a:xfrm>
            <a:off x="6521034" y="2328567"/>
            <a:ext cx="891775" cy="30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1400">
                <a:latin typeface="+mj-lt"/>
              </a:rPr>
              <a:t>Retailers</a:t>
            </a:r>
          </a:p>
        </p:txBody>
      </p:sp>
      <p:sp>
        <p:nvSpPr>
          <p:cNvPr id="11274" name="Text Box 37"/>
          <p:cNvSpPr txBox="1">
            <a:spLocks noChangeArrowheads="1"/>
          </p:cNvSpPr>
          <p:nvPr/>
        </p:nvSpPr>
        <p:spPr bwMode="gray">
          <a:xfrm>
            <a:off x="7584558" y="2328567"/>
            <a:ext cx="1050313" cy="30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1400">
                <a:latin typeface="+mj-lt"/>
              </a:rPr>
              <a:t>Customers</a:t>
            </a:r>
          </a:p>
        </p:txBody>
      </p:sp>
      <p:sp>
        <p:nvSpPr>
          <p:cNvPr id="11275" name="Line 38"/>
          <p:cNvSpPr>
            <a:spLocks noChangeShapeType="1"/>
          </p:cNvSpPr>
          <p:nvPr/>
        </p:nvSpPr>
        <p:spPr bwMode="gray">
          <a:xfrm>
            <a:off x="698075" y="2286000"/>
            <a:ext cx="0" cy="2497258"/>
          </a:xfrm>
          <a:prstGeom prst="line">
            <a:avLst/>
          </a:prstGeom>
          <a:noFill/>
          <a:ln w="50800" cap="rnd">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mj-lt"/>
            </a:endParaRPr>
          </a:p>
        </p:txBody>
      </p:sp>
      <p:pic>
        <p:nvPicPr>
          <p:cNvPr id="11276" name="Picture 39" descr="IN0059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381000" y="2967070"/>
            <a:ext cx="1258393" cy="100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7" name="Picture 40" descr="IN00193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565079" y="3875164"/>
            <a:ext cx="639105" cy="68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8" name="Picture 41" descr="NA00616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2283453" y="2891396"/>
            <a:ext cx="1109764" cy="1324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9" name="Picture 42" descr="IN00193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3388263" y="3875164"/>
            <a:ext cx="639105" cy="68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0" name="Picture 43" descr="j0163021"/>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gray">
          <a:xfrm>
            <a:off x="3977825" y="3080582"/>
            <a:ext cx="1476383" cy="756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1" name="Picture 44" descr="IN00193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535128" y="3875164"/>
            <a:ext cx="637454" cy="68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2" name="Picture 45" descr="BL00374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6246896" y="2853559"/>
            <a:ext cx="1430143" cy="1508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3" name="Picture 46" descr="BD10591_"/>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7691902" y="2915044"/>
            <a:ext cx="829020" cy="141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5" name="Text Box 48"/>
          <p:cNvSpPr txBox="1">
            <a:spLocks noChangeArrowheads="1"/>
          </p:cNvSpPr>
          <p:nvPr/>
        </p:nvSpPr>
        <p:spPr bwMode="gray">
          <a:xfrm>
            <a:off x="1469296" y="2375863"/>
            <a:ext cx="184961"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86" name="Text Box 49"/>
          <p:cNvSpPr txBox="1">
            <a:spLocks noChangeArrowheads="1"/>
          </p:cNvSpPr>
          <p:nvPr/>
        </p:nvSpPr>
        <p:spPr bwMode="gray">
          <a:xfrm>
            <a:off x="1961423" y="2399512"/>
            <a:ext cx="184961"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87" name="Text Box 50"/>
          <p:cNvSpPr txBox="1">
            <a:spLocks noChangeArrowheads="1"/>
          </p:cNvSpPr>
          <p:nvPr/>
        </p:nvSpPr>
        <p:spPr bwMode="gray">
          <a:xfrm>
            <a:off x="3209908" y="2399512"/>
            <a:ext cx="183309"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88" name="Text Box 51"/>
          <p:cNvSpPr txBox="1">
            <a:spLocks noChangeArrowheads="1"/>
          </p:cNvSpPr>
          <p:nvPr/>
        </p:nvSpPr>
        <p:spPr bwMode="gray">
          <a:xfrm>
            <a:off x="3583132" y="2399512"/>
            <a:ext cx="183309"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89" name="Text Box 52"/>
          <p:cNvSpPr txBox="1">
            <a:spLocks noChangeArrowheads="1"/>
          </p:cNvSpPr>
          <p:nvPr/>
        </p:nvSpPr>
        <p:spPr bwMode="gray">
          <a:xfrm>
            <a:off x="4104985" y="2399512"/>
            <a:ext cx="183309"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90" name="Text Box 53"/>
          <p:cNvSpPr txBox="1">
            <a:spLocks noChangeArrowheads="1"/>
          </p:cNvSpPr>
          <p:nvPr/>
        </p:nvSpPr>
        <p:spPr bwMode="gray">
          <a:xfrm>
            <a:off x="5259338" y="2399512"/>
            <a:ext cx="183309"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91" name="Text Box 54"/>
          <p:cNvSpPr txBox="1">
            <a:spLocks noChangeArrowheads="1"/>
          </p:cNvSpPr>
          <p:nvPr/>
        </p:nvSpPr>
        <p:spPr bwMode="gray">
          <a:xfrm>
            <a:off x="5817523" y="2399512"/>
            <a:ext cx="184961"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92" name="Text Box 55"/>
          <p:cNvSpPr txBox="1">
            <a:spLocks noChangeArrowheads="1"/>
          </p:cNvSpPr>
          <p:nvPr/>
        </p:nvSpPr>
        <p:spPr bwMode="gray">
          <a:xfrm>
            <a:off x="6180839" y="2399512"/>
            <a:ext cx="184961"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11293" name="Text Box 56"/>
          <p:cNvSpPr txBox="1">
            <a:spLocks noChangeArrowheads="1"/>
          </p:cNvSpPr>
          <p:nvPr/>
        </p:nvSpPr>
        <p:spPr bwMode="gray">
          <a:xfrm>
            <a:off x="6492960" y="2399512"/>
            <a:ext cx="183309" cy="245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cap="rnd">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endParaRPr lang="en-CA" altLang="tr-TR" sz="1000">
              <a:latin typeface="+mj-lt"/>
            </a:endParaRPr>
          </a:p>
        </p:txBody>
      </p:sp>
      <p:sp>
        <p:nvSpPr>
          <p:cNvPr id="2" name="Slide Number Placeholder 1"/>
          <p:cNvSpPr>
            <a:spLocks noGrp="1"/>
          </p:cNvSpPr>
          <p:nvPr>
            <p:ph type="sldNum" sz="quarter" idx="12"/>
          </p:nvPr>
        </p:nvSpPr>
        <p:spPr/>
        <p:txBody>
          <a:bodyPr/>
          <a:lstStyle/>
          <a:p>
            <a:fld id="{89B83043-F2C2-4C95-AE7D-6EAEF2DF1E67}" type="slidenum">
              <a:rPr lang="en-US" smtClean="0">
                <a:latin typeface="+mj-lt"/>
              </a:rPr>
              <a:pPr/>
              <a:t>10</a:t>
            </a:fld>
            <a:endParaRPr lang="en-US">
              <a:latin typeface="+mj-lt"/>
            </a:endParaRPr>
          </a:p>
        </p:txBody>
      </p:sp>
      <p:sp>
        <p:nvSpPr>
          <p:cNvPr id="3" name="Date Placeholder 2"/>
          <p:cNvSpPr>
            <a:spLocks noGrp="1"/>
          </p:cNvSpPr>
          <p:nvPr>
            <p:ph type="dt" sz="half" idx="10"/>
          </p:nvPr>
        </p:nvSpPr>
        <p:spPr/>
        <p:txBody>
          <a:bodyPr/>
          <a:lstStyle/>
          <a:p>
            <a:r>
              <a:rPr lang="tr-TR">
                <a:latin typeface="+mj-lt"/>
              </a:rPr>
              <a:t>INDR 100</a:t>
            </a:r>
            <a:endParaRPr lang="en-US">
              <a:latin typeface="+mj-lt"/>
            </a:endParaRPr>
          </a:p>
        </p:txBody>
      </p:sp>
      <p:sp>
        <p:nvSpPr>
          <p:cNvPr id="4" name="Rectangle 3"/>
          <p:cNvSpPr/>
          <p:nvPr/>
        </p:nvSpPr>
        <p:spPr>
          <a:xfrm>
            <a:off x="3301562" y="5355336"/>
            <a:ext cx="1375698" cy="523220"/>
          </a:xfrm>
          <a:prstGeom prst="rect">
            <a:avLst/>
          </a:prstGeom>
        </p:spPr>
        <p:txBody>
          <a:bodyPr wrap="none">
            <a:spAutoFit/>
          </a:bodyPr>
          <a:lstStyle/>
          <a:p>
            <a:r>
              <a:rPr lang="en-US" sz="2800" cap="all" dirty="0">
                <a:blipFill>
                  <a:blip r:embed="rId8">
                    <a:extLst>
                      <a:ext uri="{28A0092B-C50C-407E-A947-70E740481C1C}">
                        <a14:useLocalDpi xmlns:a14="http://schemas.microsoft.com/office/drawing/2010/main" val="0"/>
                      </a:ext>
                    </a:extLst>
                  </a:blip>
                  <a:tile tx="6350" ty="-127000" sx="65000" sy="64000" flip="none" algn="tl"/>
                </a:blipFill>
                <a:latin typeface="Rockwell Condensed"/>
              </a:rPr>
              <a:t>logistics</a:t>
            </a:r>
            <a:endParaRPr lang="tr-TR" sz="2800" dirty="0"/>
          </a:p>
        </p:txBody>
      </p:sp>
      <p:cxnSp>
        <p:nvCxnSpPr>
          <p:cNvPr id="6" name="Straight Arrow Connector 5"/>
          <p:cNvCxnSpPr/>
          <p:nvPr/>
        </p:nvCxnSpPr>
        <p:spPr>
          <a:xfrm>
            <a:off x="2053903" y="4660286"/>
            <a:ext cx="1247659" cy="6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74786" y="4647196"/>
            <a:ext cx="326462" cy="7052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288294" y="4596721"/>
            <a:ext cx="1426014" cy="7557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27"/>
          <p:cNvSpPr>
            <a:spLocks noChangeArrowheads="1"/>
          </p:cNvSpPr>
          <p:nvPr/>
        </p:nvSpPr>
        <p:spPr bwMode="auto">
          <a:xfrm>
            <a:off x="560905" y="323938"/>
            <a:ext cx="7772400" cy="838200"/>
          </a:xfrm>
          <a:prstGeom prst="rect">
            <a:avLst/>
          </a:prstGeom>
          <a:noFill/>
          <a:ln w="9525">
            <a:noFill/>
            <a:miter lim="800000"/>
            <a:headEnd/>
            <a:tailEnd/>
          </a:ln>
          <a:effectLst/>
        </p:spPr>
        <p:txBody>
          <a:bodyPr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tr-TR" sz="3600" b="1" dirty="0">
                <a:solidFill>
                  <a:srgbClr val="FF0000"/>
                </a:solidFill>
                <a:latin typeface="+mj-lt"/>
                <a:cs typeface="Times New Roman" pitchFamily="18" charset="0"/>
              </a:rPr>
              <a:t>Importance of Transportation</a:t>
            </a:r>
          </a:p>
        </p:txBody>
      </p:sp>
      <p:sp>
        <p:nvSpPr>
          <p:cNvPr id="5" name="TextBox 4">
            <a:extLst>
              <a:ext uri="{FF2B5EF4-FFF2-40B4-BE49-F238E27FC236}">
                <a16:creationId xmlns:a16="http://schemas.microsoft.com/office/drawing/2014/main" id="{CDD4A32B-23E5-4C8E-80D1-B8CC3255507A}"/>
              </a:ext>
            </a:extLst>
          </p:cNvPr>
          <p:cNvSpPr txBox="1"/>
          <p:nvPr/>
        </p:nvSpPr>
        <p:spPr>
          <a:xfrm>
            <a:off x="985122" y="4780855"/>
            <a:ext cx="7868436" cy="477054"/>
          </a:xfrm>
          <a:prstGeom prst="rect">
            <a:avLst/>
          </a:prstGeom>
          <a:noFill/>
        </p:spPr>
        <p:txBody>
          <a:bodyPr wrap="none" rtlCol="0">
            <a:spAutoFit/>
          </a:bodyPr>
          <a:lstStyle/>
          <a:p>
            <a:pPr eaLnBrk="1" hangingPunct="1">
              <a:lnSpc>
                <a:spcPts val="3000"/>
              </a:lnSpc>
            </a:pPr>
            <a:r>
              <a:rPr lang="en-US" altLang="tr-TR" sz="2800" b="1" dirty="0">
                <a:solidFill>
                  <a:srgbClr val="0033CC"/>
                </a:solidFill>
              </a:rPr>
              <a:t>Logistics is an ever-growing sector in Turkey</a:t>
            </a:r>
            <a:endParaRPr lang="tr-TR" altLang="tr-TR" sz="2800" b="1" dirty="0">
              <a:solidFill>
                <a:srgbClr val="0033CC"/>
              </a:solidFill>
            </a:endParaRPr>
          </a:p>
        </p:txBody>
      </p:sp>
      <p:sp>
        <p:nvSpPr>
          <p:cNvPr id="7" name="TextBox 6">
            <a:extLst>
              <a:ext uri="{FF2B5EF4-FFF2-40B4-BE49-F238E27FC236}">
                <a16:creationId xmlns:a16="http://schemas.microsoft.com/office/drawing/2014/main" id="{C08960A3-C0DA-483F-8E57-FD83A90A4D66}"/>
              </a:ext>
            </a:extLst>
          </p:cNvPr>
          <p:cNvSpPr txBox="1"/>
          <p:nvPr/>
        </p:nvSpPr>
        <p:spPr>
          <a:xfrm>
            <a:off x="2244230" y="1445963"/>
            <a:ext cx="4839595" cy="461665"/>
          </a:xfrm>
          <a:prstGeom prst="rect">
            <a:avLst/>
          </a:prstGeom>
          <a:noFill/>
        </p:spPr>
        <p:txBody>
          <a:bodyPr wrap="none" rtlCol="0">
            <a:spAutoFit/>
          </a:bodyPr>
          <a:lstStyle/>
          <a:p>
            <a:r>
              <a:rPr lang="en-US" sz="2400" b="1" dirty="0">
                <a:solidFill>
                  <a:srgbClr val="00B050"/>
                </a:solidFill>
              </a:rPr>
              <a:t>A typical supply chain structure</a:t>
            </a:r>
          </a:p>
        </p:txBody>
      </p:sp>
      <p:sp>
        <p:nvSpPr>
          <p:cNvPr id="8" name="TextBox 7">
            <a:extLst>
              <a:ext uri="{FF2B5EF4-FFF2-40B4-BE49-F238E27FC236}">
                <a16:creationId xmlns:a16="http://schemas.microsoft.com/office/drawing/2014/main" id="{0F19DEE7-821A-4D33-B51B-5A5707C7E3F2}"/>
              </a:ext>
            </a:extLst>
          </p:cNvPr>
          <p:cNvSpPr txBox="1"/>
          <p:nvPr/>
        </p:nvSpPr>
        <p:spPr>
          <a:xfrm>
            <a:off x="1457519" y="5917626"/>
            <a:ext cx="6716660" cy="461665"/>
          </a:xfrm>
          <a:prstGeom prst="rect">
            <a:avLst/>
          </a:prstGeom>
          <a:noFill/>
        </p:spPr>
        <p:txBody>
          <a:bodyPr wrap="square" rtlCol="0">
            <a:spAutoFit/>
          </a:bodyPr>
          <a:lstStyle/>
          <a:p>
            <a:r>
              <a:rPr lang="en-US" altLang="tr-TR" sz="2400" b="1" dirty="0">
                <a:solidFill>
                  <a:srgbClr val="FF00FF"/>
                </a:solidFill>
              </a:rPr>
              <a:t>Transportation cost: 39% of all logistics cost</a:t>
            </a:r>
          </a:p>
        </p:txBody>
      </p:sp>
    </p:spTree>
    <p:extLst>
      <p:ext uri="{BB962C8B-B14F-4D97-AF65-F5344CB8AC3E}">
        <p14:creationId xmlns:p14="http://schemas.microsoft.com/office/powerpoint/2010/main" val="21684580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5" name="Rectangle 3"/>
          <p:cNvSpPr>
            <a:spLocks noGrp="1" noChangeArrowheads="1"/>
          </p:cNvSpPr>
          <p:nvPr>
            <p:ph idx="1"/>
          </p:nvPr>
        </p:nvSpPr>
        <p:spPr>
          <a:xfrm>
            <a:off x="457200" y="1524000"/>
            <a:ext cx="8229600" cy="5029200"/>
          </a:xfrm>
        </p:spPr>
        <p:txBody>
          <a:bodyPr>
            <a:normAutofit/>
          </a:bodyPr>
          <a:lstStyle/>
          <a:p>
            <a:pPr eaLnBrk="1" hangingPunct="1"/>
            <a:r>
              <a:rPr lang="tr-TR" altLang="tr-TR" sz="2800" dirty="0">
                <a:latin typeface="+mj-lt"/>
              </a:rPr>
              <a:t>Transportation: 39%</a:t>
            </a:r>
          </a:p>
          <a:p>
            <a:pPr eaLnBrk="1" hangingPunct="1"/>
            <a:r>
              <a:rPr lang="tr-TR" altLang="tr-TR" sz="2800" dirty="0">
                <a:latin typeface="+mj-lt"/>
              </a:rPr>
              <a:t>Warehousing and distribution: 25%</a:t>
            </a:r>
          </a:p>
          <a:p>
            <a:pPr eaLnBrk="1" hangingPunct="1"/>
            <a:r>
              <a:rPr lang="tr-TR" altLang="tr-TR" sz="2800" dirty="0">
                <a:latin typeface="+mj-lt"/>
              </a:rPr>
              <a:t>Inventory holding and losses: 24%</a:t>
            </a:r>
          </a:p>
          <a:p>
            <a:pPr eaLnBrk="1" hangingPunct="1"/>
            <a:r>
              <a:rPr lang="tr-TR" altLang="tr-TR" sz="2800" dirty="0">
                <a:latin typeface="+mj-lt"/>
              </a:rPr>
              <a:t>Order processing: 6%</a:t>
            </a:r>
          </a:p>
          <a:p>
            <a:pPr eaLnBrk="1" hangingPunct="1"/>
            <a:r>
              <a:rPr lang="tr-TR" altLang="tr-TR" sz="2800" dirty="0">
                <a:latin typeface="+mj-lt"/>
              </a:rPr>
              <a:t>Administrative: 4%</a:t>
            </a:r>
            <a:endParaRPr lang="en-US" altLang="tr-TR" sz="2800" dirty="0">
              <a:latin typeface="+mj-lt"/>
            </a:endParaRPr>
          </a:p>
        </p:txBody>
      </p:sp>
      <p:sp>
        <p:nvSpPr>
          <p:cNvPr id="15362" name="Rectangle 2"/>
          <p:cNvSpPr>
            <a:spLocks noGrp="1" noChangeArrowheads="1"/>
          </p:cNvSpPr>
          <p:nvPr>
            <p:ph type="title"/>
          </p:nvPr>
        </p:nvSpPr>
        <p:spPr>
          <a:xfrm>
            <a:off x="457200" y="274638"/>
            <a:ext cx="8229600" cy="715962"/>
          </a:xfrm>
        </p:spPr>
        <p:txBody>
          <a:bodyPr/>
          <a:lstStyle/>
          <a:p>
            <a:pPr fontAlgn="auto">
              <a:spcAft>
                <a:spcPts val="0"/>
              </a:spcAft>
              <a:defRPr/>
            </a:pPr>
            <a:r>
              <a:rPr lang="tr-TR" altLang="tr-TR" sz="4000" dirty="0"/>
              <a:t>Cost distribution within logistics</a:t>
            </a:r>
            <a:endParaRPr lang="en-US" altLang="zh-CN" sz="4000" dirty="0">
              <a:ea typeface="宋体" pitchFamily="2" charset="-122"/>
            </a:endParaRPr>
          </a:p>
        </p:txBody>
      </p:sp>
      <p:sp>
        <p:nvSpPr>
          <p:cNvPr id="2" name="Slide Number Placeholder 1"/>
          <p:cNvSpPr>
            <a:spLocks noGrp="1"/>
          </p:cNvSpPr>
          <p:nvPr>
            <p:ph type="sldNum" sz="quarter" idx="12"/>
          </p:nvPr>
        </p:nvSpPr>
        <p:spPr/>
        <p:txBody>
          <a:bodyPr/>
          <a:lstStyle/>
          <a:p>
            <a:fld id="{EEA0C0C4-74CF-4C80-AB86-CA62A4B1ED10}" type="slidenum">
              <a:rPr lang="en-US" smtClean="0">
                <a:latin typeface="+mj-lt"/>
              </a:rPr>
              <a:pPr/>
              <a:t>11</a:t>
            </a:fld>
            <a:endParaRPr lang="en-US">
              <a:latin typeface="+mj-lt"/>
            </a:endParaRPr>
          </a:p>
        </p:txBody>
      </p:sp>
      <p:sp>
        <p:nvSpPr>
          <p:cNvPr id="3" name="Date Placeholder 2"/>
          <p:cNvSpPr>
            <a:spLocks noGrp="1"/>
          </p:cNvSpPr>
          <p:nvPr>
            <p:ph type="dt" sz="half" idx="10"/>
          </p:nvPr>
        </p:nvSpPr>
        <p:spPr/>
        <p:txBody>
          <a:bodyPr/>
          <a:lstStyle/>
          <a:p>
            <a:r>
              <a:rPr lang="tr-TR">
                <a:latin typeface="+mj-lt"/>
              </a:rPr>
              <a:t>INDR 100</a:t>
            </a:r>
            <a:endParaRPr lang="en-US">
              <a:latin typeface="+mj-lt"/>
            </a:endParaRPr>
          </a:p>
        </p:txBody>
      </p:sp>
    </p:spTree>
    <p:extLst>
      <p:ext uri="{BB962C8B-B14F-4D97-AF65-F5344CB8AC3E}">
        <p14:creationId xmlns:p14="http://schemas.microsoft.com/office/powerpoint/2010/main" val="153307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290513" y="76200"/>
            <a:ext cx="8077200" cy="876300"/>
          </a:xfrm>
        </p:spPr>
        <p:txBody>
          <a:bodyPr/>
          <a:lstStyle/>
          <a:p>
            <a:pPr eaLnBrk="1" hangingPunct="1"/>
            <a:r>
              <a:rPr lang="en-US" noProof="0" dirty="0"/>
              <a:t>Full Truckload Distribution</a:t>
            </a:r>
          </a:p>
        </p:txBody>
      </p:sp>
      <p:sp>
        <p:nvSpPr>
          <p:cNvPr id="602115" name="Rectangle 3"/>
          <p:cNvSpPr>
            <a:spLocks noGrp="1" noChangeArrowheads="1"/>
          </p:cNvSpPr>
          <p:nvPr>
            <p:ph type="body" idx="1"/>
          </p:nvPr>
        </p:nvSpPr>
        <p:spPr>
          <a:xfrm>
            <a:off x="231775" y="974725"/>
            <a:ext cx="8607425" cy="5883275"/>
          </a:xfrm>
        </p:spPr>
        <p:txBody>
          <a:bodyPr/>
          <a:lstStyle/>
          <a:p>
            <a:pPr eaLnBrk="1" hangingPunct="1">
              <a:lnSpc>
                <a:spcPts val="3000"/>
              </a:lnSpc>
            </a:pPr>
            <a:r>
              <a:rPr lang="en-US" sz="2000" dirty="0"/>
              <a:t>A company operates several warehouses that supply products to a set of geographically dispersed customers. </a:t>
            </a:r>
          </a:p>
          <a:p>
            <a:pPr eaLnBrk="1" hangingPunct="1">
              <a:lnSpc>
                <a:spcPts val="3000"/>
              </a:lnSpc>
            </a:pPr>
            <a:r>
              <a:rPr lang="en-US" sz="2000" dirty="0"/>
              <a:t>Each warehouse has a limited amount of inventory available for shipment. </a:t>
            </a:r>
          </a:p>
          <a:p>
            <a:pPr eaLnBrk="1" hangingPunct="1">
              <a:lnSpc>
                <a:spcPts val="3000"/>
              </a:lnSpc>
            </a:pPr>
            <a:r>
              <a:rPr lang="en-US" sz="2000" dirty="0"/>
              <a:t>Deliveries are made using full-truckload transportation, where each truck has a fixed carrying capacity and incurs a lane-specific cost depending on the warehouse–customer pair. </a:t>
            </a:r>
          </a:p>
          <a:p>
            <a:pPr eaLnBrk="1" hangingPunct="1">
              <a:lnSpc>
                <a:spcPts val="3000"/>
              </a:lnSpc>
            </a:pPr>
            <a:r>
              <a:rPr lang="en-US" sz="2000" dirty="0"/>
              <a:t>Multiple trucks can be dispatched on the same lane if needed. </a:t>
            </a:r>
          </a:p>
          <a:p>
            <a:pPr eaLnBrk="1" hangingPunct="1">
              <a:lnSpc>
                <a:spcPts val="3000"/>
              </a:lnSpc>
            </a:pPr>
            <a:r>
              <a:rPr lang="en-US" sz="2000" dirty="0"/>
              <a:t>The company must decide how many trucks to send from each warehouse to each customer so that customer demands are satisfied and warehouse capacity limits are respected, while minimizing total transportation cost.</a:t>
            </a:r>
            <a:endParaRPr lang="en-US" altLang="tr-TR" sz="2800" dirty="0">
              <a:latin typeface="+mj-lt"/>
            </a:endParaRPr>
          </a:p>
        </p:txBody>
      </p:sp>
    </p:spTree>
    <p:extLst>
      <p:ext uri="{BB962C8B-B14F-4D97-AF65-F5344CB8AC3E}">
        <p14:creationId xmlns:p14="http://schemas.microsoft.com/office/powerpoint/2010/main" val="1022032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70BC9-C591-C656-ACA4-4C8B573CB8B3}"/>
            </a:ext>
          </a:extLst>
        </p:cNvPr>
        <p:cNvGrpSpPr/>
        <p:nvPr/>
      </p:nvGrpSpPr>
      <p:grpSpPr>
        <a:xfrm>
          <a:off x="0" y="0"/>
          <a:ext cx="0" cy="0"/>
          <a:chOff x="0" y="0"/>
          <a:chExt cx="0" cy="0"/>
        </a:xfrm>
      </p:grpSpPr>
      <p:sp>
        <p:nvSpPr>
          <p:cNvPr id="56323" name="Rectangle 2">
            <a:extLst>
              <a:ext uri="{FF2B5EF4-FFF2-40B4-BE49-F238E27FC236}">
                <a16:creationId xmlns:a16="http://schemas.microsoft.com/office/drawing/2014/main" id="{E1D24611-B8A2-20AE-83ED-C5ACDDAC5F54}"/>
              </a:ext>
            </a:extLst>
          </p:cNvPr>
          <p:cNvSpPr>
            <a:spLocks noGrp="1" noChangeArrowheads="1"/>
          </p:cNvSpPr>
          <p:nvPr>
            <p:ph type="title"/>
          </p:nvPr>
        </p:nvSpPr>
        <p:spPr>
          <a:xfrm>
            <a:off x="290513" y="76200"/>
            <a:ext cx="8077200" cy="876300"/>
          </a:xfrm>
        </p:spPr>
        <p:txBody>
          <a:bodyPr/>
          <a:lstStyle/>
          <a:p>
            <a:pPr eaLnBrk="1" hangingPunct="1"/>
            <a:r>
              <a:rPr lang="en-US" noProof="0" dirty="0"/>
              <a:t>Full Truckload Distribution</a:t>
            </a:r>
          </a:p>
        </p:txBody>
      </p:sp>
      <mc:AlternateContent xmlns:mc="http://schemas.openxmlformats.org/markup-compatibility/2006" xmlns:a14="http://schemas.microsoft.com/office/drawing/2010/main">
        <mc:Choice Requires="a14">
          <p:sp>
            <p:nvSpPr>
              <p:cNvPr id="602115" name="Rectangle 3">
                <a:extLst>
                  <a:ext uri="{FF2B5EF4-FFF2-40B4-BE49-F238E27FC236}">
                    <a16:creationId xmlns:a16="http://schemas.microsoft.com/office/drawing/2014/main" id="{AEECFCE2-83A4-FAC7-55BF-8434A5850C89}"/>
                  </a:ext>
                </a:extLst>
              </p:cNvPr>
              <p:cNvSpPr>
                <a:spLocks noGrp="1" noChangeArrowheads="1"/>
              </p:cNvSpPr>
              <p:nvPr>
                <p:ph type="body" idx="1"/>
              </p:nvPr>
            </p:nvSpPr>
            <p:spPr>
              <a:xfrm>
                <a:off x="231775" y="974725"/>
                <a:ext cx="8607425" cy="5883275"/>
              </a:xfrm>
            </p:spPr>
            <p:txBody>
              <a:bodyPr/>
              <a:lstStyle/>
              <a:p>
                <a:r>
                  <a:rPr lang="en-US" sz="2400" dirty="0"/>
                  <a:t>Company ships from </a:t>
                </a:r>
                <a:r>
                  <a:rPr lang="en-US" sz="2400" b="1" dirty="0"/>
                  <a:t>2 warehouses</a:t>
                </a:r>
                <a:r>
                  <a:rPr lang="en-US" sz="2400" dirty="0"/>
                  <a:t> to </a:t>
                </a:r>
                <a:r>
                  <a:rPr lang="en-US" sz="2400" b="1" dirty="0"/>
                  <a:t>3</a:t>
                </a:r>
              </a:p>
              <a:p>
                <a:r>
                  <a:rPr lang="en-US" sz="2400" dirty="0"/>
                  <a:t>Each truck carries </a:t>
                </a:r>
                <a14:m>
                  <m:oMath xmlns:m="http://schemas.openxmlformats.org/officeDocument/2006/math">
                    <m:r>
                      <a:rPr lang="en-US" sz="2400" i="1">
                        <a:latin typeface="Cambria Math" panose="02040503050406030204" pitchFamily="18" charset="0"/>
                      </a:rPr>
                      <m:t>𝑄</m:t>
                    </m:r>
                    <m:r>
                      <a:rPr lang="en-US" sz="2400">
                        <a:latin typeface="Cambria Math" panose="02040503050406030204" pitchFamily="18" charset="0"/>
                      </a:rPr>
                      <m:t>=10</m:t>
                    </m:r>
                  </m:oMath>
                </a14:m>
                <a:r>
                  <a:rPr lang="en-US" sz="2400" dirty="0"/>
                  <a:t>units.</a:t>
                </a:r>
              </a:p>
              <a:p>
                <a:r>
                  <a:rPr lang="en-US" sz="2400" dirty="0"/>
                  <a:t>Warehouse supply capacities</a:t>
                </a:r>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𝑆</m:t>
                        </m:r>
                      </m:e>
                      <m:sub>
                        <m:r>
                          <a:rPr lang="ar-AE" sz="2000">
                            <a:latin typeface="Cambria Math" panose="02040503050406030204" pitchFamily="18" charset="0"/>
                          </a:rPr>
                          <m:t>1</m:t>
                        </m:r>
                      </m:sub>
                    </m:sSub>
                    <m:r>
                      <a:rPr lang="ar-AE" sz="2000">
                        <a:latin typeface="Cambria Math" panose="02040503050406030204" pitchFamily="18" charset="0"/>
                      </a:rPr>
                      <m:t>=30</m:t>
                    </m:r>
                  </m:oMath>
                </a14:m>
                <a:endParaRPr lang="ar-AE" sz="2000" dirty="0"/>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𝑆</m:t>
                        </m:r>
                      </m:e>
                      <m:sub>
                        <m:r>
                          <a:rPr lang="ar-AE" sz="2000">
                            <a:latin typeface="Cambria Math" panose="02040503050406030204" pitchFamily="18" charset="0"/>
                          </a:rPr>
                          <m:t>2</m:t>
                        </m:r>
                      </m:sub>
                    </m:sSub>
                    <m:r>
                      <a:rPr lang="ar-AE" sz="2000">
                        <a:latin typeface="Cambria Math" panose="02040503050406030204" pitchFamily="18" charset="0"/>
                      </a:rPr>
                      <m:t>=20</m:t>
                    </m:r>
                  </m:oMath>
                </a14:m>
                <a:endParaRPr lang="ar-AE" sz="2000" dirty="0"/>
              </a:p>
              <a:p>
                <a:r>
                  <a:rPr lang="en-US" sz="2400" dirty="0"/>
                  <a:t>Customer demands</a:t>
                </a:r>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𝑑</m:t>
                        </m:r>
                      </m:e>
                      <m:sub>
                        <m:r>
                          <a:rPr lang="ar-AE" sz="2000" i="1">
                            <a:latin typeface="Cambria Math" panose="02040503050406030204" pitchFamily="18" charset="0"/>
                          </a:rPr>
                          <m:t>𝐴</m:t>
                        </m:r>
                      </m:sub>
                    </m:sSub>
                    <m:r>
                      <a:rPr lang="ar-AE" sz="2000">
                        <a:latin typeface="Cambria Math" panose="02040503050406030204" pitchFamily="18" charset="0"/>
                      </a:rPr>
                      <m:t>=15</m:t>
                    </m:r>
                  </m:oMath>
                </a14:m>
                <a:endParaRPr lang="ar-AE" sz="2000" dirty="0"/>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𝑑</m:t>
                        </m:r>
                      </m:e>
                      <m:sub>
                        <m:r>
                          <a:rPr lang="ar-AE" sz="2000" i="1">
                            <a:latin typeface="Cambria Math" panose="02040503050406030204" pitchFamily="18" charset="0"/>
                          </a:rPr>
                          <m:t>𝐵</m:t>
                        </m:r>
                      </m:sub>
                    </m:sSub>
                    <m:r>
                      <a:rPr lang="ar-AE" sz="2000">
                        <a:latin typeface="Cambria Math" panose="02040503050406030204" pitchFamily="18" charset="0"/>
                      </a:rPr>
                      <m:t>=10</m:t>
                    </m:r>
                  </m:oMath>
                </a14:m>
                <a:endParaRPr lang="ar-AE" sz="2000" dirty="0"/>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𝑑</m:t>
                        </m:r>
                      </m:e>
                      <m:sub>
                        <m:r>
                          <a:rPr lang="ar-AE" sz="2000" i="1">
                            <a:latin typeface="Cambria Math" panose="02040503050406030204" pitchFamily="18" charset="0"/>
                          </a:rPr>
                          <m:t>𝐶</m:t>
                        </m:r>
                      </m:sub>
                    </m:sSub>
                    <m:r>
                      <a:rPr lang="ar-AE" sz="2000">
                        <a:latin typeface="Cambria Math" panose="02040503050406030204" pitchFamily="18" charset="0"/>
                      </a:rPr>
                      <m:t>=20</m:t>
                    </m:r>
                  </m:oMath>
                </a14:m>
                <a:endParaRPr lang="ar-AE" sz="2000" dirty="0"/>
              </a:p>
              <a:p>
                <a:r>
                  <a:rPr lang="en-US" sz="2400" dirty="0"/>
                  <a:t>Cost per truck</a:t>
                </a:r>
              </a:p>
              <a:p>
                <a:pPr eaLnBrk="1" hangingPunct="1">
                  <a:lnSpc>
                    <a:spcPts val="3000"/>
                  </a:lnSpc>
                </a:pPr>
                <a:endParaRPr lang="en-US" altLang="tr-TR" sz="2000" dirty="0">
                  <a:latin typeface="+mj-lt"/>
                </a:endParaRPr>
              </a:p>
            </p:txBody>
          </p:sp>
        </mc:Choice>
        <mc:Fallback xmlns="">
          <p:sp>
            <p:nvSpPr>
              <p:cNvPr id="602115" name="Rectangle 3">
                <a:extLst>
                  <a:ext uri="{FF2B5EF4-FFF2-40B4-BE49-F238E27FC236}">
                    <a16:creationId xmlns:a16="http://schemas.microsoft.com/office/drawing/2014/main" id="{AEECFCE2-83A4-FAC7-55BF-8434A5850C89}"/>
                  </a:ext>
                </a:extLst>
              </p:cNvPr>
              <p:cNvSpPr>
                <a:spLocks noGrp="1" noRot="1" noChangeAspect="1" noMove="1" noResize="1" noEditPoints="1" noAdjustHandles="1" noChangeArrowheads="1" noChangeShapeType="1" noTextEdit="1"/>
              </p:cNvSpPr>
              <p:nvPr>
                <p:ph type="body" idx="1"/>
              </p:nvPr>
            </p:nvSpPr>
            <p:spPr>
              <a:xfrm>
                <a:off x="231775" y="974725"/>
                <a:ext cx="8607425" cy="5883275"/>
              </a:xfrm>
              <a:blipFill>
                <a:blip r:embed="rId2"/>
                <a:stretch>
                  <a:fillRect l="-295" t="-862"/>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EAB74715-21D9-61BA-B235-FEBE8DAA45D9}"/>
              </a:ext>
            </a:extLst>
          </p:cNvPr>
          <p:cNvGraphicFramePr>
            <a:graphicFrameLocks noGrp="1"/>
          </p:cNvGraphicFramePr>
          <p:nvPr>
            <p:extLst>
              <p:ext uri="{D42A27DB-BD31-4B8C-83A1-F6EECF244321}">
                <p14:modId xmlns:p14="http://schemas.microsoft.com/office/powerpoint/2010/main" val="3863050448"/>
              </p:ext>
            </p:extLst>
          </p:nvPr>
        </p:nvGraphicFramePr>
        <p:xfrm>
          <a:off x="914400" y="5105400"/>
          <a:ext cx="7315200" cy="1188720"/>
        </p:xfrm>
        <a:graphic>
          <a:graphicData uri="http://schemas.openxmlformats.org/drawingml/2006/table">
            <a:tbl>
              <a:tblPr/>
              <a:tblGrid>
                <a:gridCol w="1828800">
                  <a:extLst>
                    <a:ext uri="{9D8B030D-6E8A-4147-A177-3AD203B41FA5}">
                      <a16:colId xmlns:a16="http://schemas.microsoft.com/office/drawing/2014/main" val="794371112"/>
                    </a:ext>
                  </a:extLst>
                </a:gridCol>
                <a:gridCol w="1828800">
                  <a:extLst>
                    <a:ext uri="{9D8B030D-6E8A-4147-A177-3AD203B41FA5}">
                      <a16:colId xmlns:a16="http://schemas.microsoft.com/office/drawing/2014/main" val="2793984700"/>
                    </a:ext>
                  </a:extLst>
                </a:gridCol>
                <a:gridCol w="1828800">
                  <a:extLst>
                    <a:ext uri="{9D8B030D-6E8A-4147-A177-3AD203B41FA5}">
                      <a16:colId xmlns:a16="http://schemas.microsoft.com/office/drawing/2014/main" val="3844841667"/>
                    </a:ext>
                  </a:extLst>
                </a:gridCol>
                <a:gridCol w="1828800">
                  <a:extLst>
                    <a:ext uri="{9D8B030D-6E8A-4147-A177-3AD203B41FA5}">
                      <a16:colId xmlns:a16="http://schemas.microsoft.com/office/drawing/2014/main" val="3000505802"/>
                    </a:ext>
                  </a:extLst>
                </a:gridCol>
              </a:tblGrid>
              <a:tr h="0">
                <a:tc>
                  <a:txBody>
                    <a:bodyPr/>
                    <a:lstStyle/>
                    <a:p>
                      <a:pPr>
                        <a:buNone/>
                      </a:pPr>
                      <a:endParaRPr lang="en-US" sz="2000" dirty="0"/>
                    </a:p>
                  </a:txBody>
                  <a:tcPr anchor="ctr">
                    <a:lnL>
                      <a:noFill/>
                    </a:lnL>
                    <a:lnR>
                      <a:noFill/>
                    </a:lnR>
                    <a:lnT>
                      <a:noFill/>
                    </a:lnT>
                    <a:lnB>
                      <a:noFill/>
                    </a:lnB>
                    <a:noFill/>
                  </a:tcPr>
                </a:tc>
                <a:tc>
                  <a:txBody>
                    <a:bodyPr/>
                    <a:lstStyle/>
                    <a:p>
                      <a:pPr algn="r">
                        <a:buNone/>
                      </a:pPr>
                      <a:r>
                        <a:rPr lang="en-US" sz="2000" b="1" dirty="0"/>
                        <a:t> Customer A</a:t>
                      </a:r>
                    </a:p>
                  </a:txBody>
                  <a:tcPr anchor="ctr">
                    <a:lnL>
                      <a:noFill/>
                    </a:lnL>
                    <a:lnR>
                      <a:noFill/>
                    </a:lnR>
                    <a:lnT>
                      <a:noFill/>
                    </a:lnT>
                    <a:lnB>
                      <a:noFill/>
                    </a:lnB>
                    <a:solidFill>
                      <a:schemeClr val="accent2">
                        <a:lumMod val="20000"/>
                        <a:lumOff val="80000"/>
                      </a:schemeClr>
                    </a:solidFill>
                  </a:tcPr>
                </a:tc>
                <a:tc>
                  <a:txBody>
                    <a:bodyPr/>
                    <a:lstStyle/>
                    <a:p>
                      <a:pPr algn="r">
                        <a:buNone/>
                      </a:pPr>
                      <a:r>
                        <a:rPr lang="en-US" sz="2000" b="1" dirty="0"/>
                        <a:t> Customer B</a:t>
                      </a:r>
                    </a:p>
                  </a:txBody>
                  <a:tcPr anchor="ctr">
                    <a:lnL>
                      <a:noFill/>
                    </a:lnL>
                    <a:lnR>
                      <a:noFill/>
                    </a:lnR>
                    <a:lnT>
                      <a:noFill/>
                    </a:lnT>
                    <a:lnB>
                      <a:noFill/>
                    </a:lnB>
                    <a:solidFill>
                      <a:schemeClr val="accent2">
                        <a:lumMod val="20000"/>
                        <a:lumOff val="80000"/>
                      </a:schemeClr>
                    </a:solidFill>
                  </a:tcPr>
                </a:tc>
                <a:tc>
                  <a:txBody>
                    <a:bodyPr/>
                    <a:lstStyle/>
                    <a:p>
                      <a:pPr algn="r">
                        <a:buNone/>
                      </a:pPr>
                      <a:r>
                        <a:rPr lang="en-US" sz="2000" b="1" dirty="0"/>
                        <a:t>Customer C</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406617298"/>
                  </a:ext>
                </a:extLst>
              </a:tr>
              <a:tr h="0">
                <a:tc>
                  <a:txBody>
                    <a:bodyPr/>
                    <a:lstStyle/>
                    <a:p>
                      <a:pPr>
                        <a:buNone/>
                      </a:pPr>
                      <a:r>
                        <a:rPr lang="en-US" sz="2000" b="1" dirty="0"/>
                        <a:t>Warehouse 1</a:t>
                      </a:r>
                    </a:p>
                  </a:txBody>
                  <a:tcPr anchor="ctr">
                    <a:lnL>
                      <a:noFill/>
                    </a:lnL>
                    <a:lnR>
                      <a:noFill/>
                    </a:lnR>
                    <a:lnT>
                      <a:noFill/>
                    </a:lnT>
                    <a:lnB>
                      <a:noFill/>
                    </a:lnB>
                    <a:solidFill>
                      <a:schemeClr val="accent3">
                        <a:lumMod val="95000"/>
                      </a:schemeClr>
                    </a:solidFill>
                  </a:tcPr>
                </a:tc>
                <a:tc>
                  <a:txBody>
                    <a:bodyPr/>
                    <a:lstStyle/>
                    <a:p>
                      <a:pPr algn="r">
                        <a:buNone/>
                      </a:pPr>
                      <a:r>
                        <a:rPr lang="en-US" sz="2000" dirty="0"/>
                        <a:t>40</a:t>
                      </a:r>
                    </a:p>
                  </a:txBody>
                  <a:tcPr anchor="ctr">
                    <a:lnL>
                      <a:noFill/>
                    </a:lnL>
                    <a:lnR>
                      <a:noFill/>
                    </a:lnR>
                    <a:lnT>
                      <a:noFill/>
                    </a:lnT>
                    <a:lnB>
                      <a:noFill/>
                    </a:lnB>
                    <a:solidFill>
                      <a:schemeClr val="accent5">
                        <a:lumMod val="90000"/>
                      </a:schemeClr>
                    </a:solidFill>
                  </a:tcPr>
                </a:tc>
                <a:tc>
                  <a:txBody>
                    <a:bodyPr/>
                    <a:lstStyle/>
                    <a:p>
                      <a:pPr algn="r">
                        <a:buNone/>
                      </a:pPr>
                      <a:r>
                        <a:rPr lang="en-US" sz="2000" dirty="0"/>
                        <a:t>30</a:t>
                      </a:r>
                    </a:p>
                  </a:txBody>
                  <a:tcPr anchor="ctr">
                    <a:lnL>
                      <a:noFill/>
                    </a:lnL>
                    <a:lnR>
                      <a:noFill/>
                    </a:lnR>
                    <a:lnT>
                      <a:noFill/>
                    </a:lnT>
                    <a:lnB>
                      <a:noFill/>
                    </a:lnB>
                    <a:solidFill>
                      <a:schemeClr val="accent5">
                        <a:lumMod val="90000"/>
                      </a:schemeClr>
                    </a:solidFill>
                  </a:tcPr>
                </a:tc>
                <a:tc>
                  <a:txBody>
                    <a:bodyPr/>
                    <a:lstStyle/>
                    <a:p>
                      <a:pPr algn="r">
                        <a:buNone/>
                      </a:pPr>
                      <a:r>
                        <a:rPr lang="en-US" sz="2000" dirty="0"/>
                        <a:t>50</a:t>
                      </a:r>
                    </a:p>
                  </a:txBody>
                  <a:tcPr anchor="ctr">
                    <a:lnL>
                      <a:noFill/>
                    </a:lnL>
                    <a:lnR>
                      <a:noFill/>
                    </a:lnR>
                    <a:lnT>
                      <a:noFill/>
                    </a:lnT>
                    <a:lnB>
                      <a:noFill/>
                    </a:lnB>
                    <a:solidFill>
                      <a:schemeClr val="accent5">
                        <a:lumMod val="90000"/>
                      </a:schemeClr>
                    </a:solidFill>
                  </a:tcPr>
                </a:tc>
                <a:extLst>
                  <a:ext uri="{0D108BD9-81ED-4DB2-BD59-A6C34878D82A}">
                    <a16:rowId xmlns:a16="http://schemas.microsoft.com/office/drawing/2014/main" val="3668272317"/>
                  </a:ext>
                </a:extLst>
              </a:tr>
              <a:tr h="0">
                <a:tc>
                  <a:txBody>
                    <a:bodyPr/>
                    <a:lstStyle/>
                    <a:p>
                      <a:pPr>
                        <a:buNone/>
                      </a:pPr>
                      <a:r>
                        <a:rPr lang="en-US" sz="2000" b="1" dirty="0"/>
                        <a:t>Warehouse 2</a:t>
                      </a:r>
                    </a:p>
                  </a:txBody>
                  <a:tcPr anchor="ctr">
                    <a:lnL>
                      <a:noFill/>
                    </a:lnL>
                    <a:lnR>
                      <a:noFill/>
                    </a:lnR>
                    <a:lnT>
                      <a:noFill/>
                    </a:lnT>
                    <a:lnB>
                      <a:noFill/>
                    </a:lnB>
                    <a:solidFill>
                      <a:schemeClr val="accent3">
                        <a:lumMod val="95000"/>
                      </a:schemeClr>
                    </a:solidFill>
                  </a:tcPr>
                </a:tc>
                <a:tc>
                  <a:txBody>
                    <a:bodyPr/>
                    <a:lstStyle/>
                    <a:p>
                      <a:pPr algn="r">
                        <a:buNone/>
                      </a:pPr>
                      <a:r>
                        <a:rPr lang="en-US" sz="2000"/>
                        <a:t>35</a:t>
                      </a:r>
                    </a:p>
                  </a:txBody>
                  <a:tcPr anchor="ctr">
                    <a:lnL>
                      <a:noFill/>
                    </a:lnL>
                    <a:lnR>
                      <a:noFill/>
                    </a:lnR>
                    <a:lnT>
                      <a:noFill/>
                    </a:lnT>
                    <a:lnB>
                      <a:noFill/>
                    </a:lnB>
                    <a:solidFill>
                      <a:schemeClr val="accent5">
                        <a:lumMod val="90000"/>
                      </a:schemeClr>
                    </a:solidFill>
                  </a:tcPr>
                </a:tc>
                <a:tc>
                  <a:txBody>
                    <a:bodyPr/>
                    <a:lstStyle/>
                    <a:p>
                      <a:pPr algn="r">
                        <a:buNone/>
                      </a:pPr>
                      <a:r>
                        <a:rPr lang="en-US" sz="2000" dirty="0"/>
                        <a:t>45</a:t>
                      </a:r>
                    </a:p>
                  </a:txBody>
                  <a:tcPr anchor="ctr">
                    <a:lnL>
                      <a:noFill/>
                    </a:lnL>
                    <a:lnR>
                      <a:noFill/>
                    </a:lnR>
                    <a:lnT>
                      <a:noFill/>
                    </a:lnT>
                    <a:lnB>
                      <a:noFill/>
                    </a:lnB>
                    <a:solidFill>
                      <a:schemeClr val="accent5">
                        <a:lumMod val="90000"/>
                      </a:schemeClr>
                    </a:solidFill>
                  </a:tcPr>
                </a:tc>
                <a:tc>
                  <a:txBody>
                    <a:bodyPr/>
                    <a:lstStyle/>
                    <a:p>
                      <a:pPr algn="r">
                        <a:buNone/>
                      </a:pPr>
                      <a:r>
                        <a:rPr lang="en-US" sz="2000" dirty="0"/>
                        <a:t>30</a:t>
                      </a:r>
                    </a:p>
                  </a:txBody>
                  <a:tcPr anchor="ctr">
                    <a:lnL>
                      <a:noFill/>
                    </a:lnL>
                    <a:lnR>
                      <a:noFill/>
                    </a:lnR>
                    <a:lnT>
                      <a:noFill/>
                    </a:lnT>
                    <a:lnB>
                      <a:noFill/>
                    </a:lnB>
                    <a:solidFill>
                      <a:schemeClr val="accent5">
                        <a:lumMod val="90000"/>
                      </a:schemeClr>
                    </a:solidFill>
                  </a:tcPr>
                </a:tc>
                <a:extLst>
                  <a:ext uri="{0D108BD9-81ED-4DB2-BD59-A6C34878D82A}">
                    <a16:rowId xmlns:a16="http://schemas.microsoft.com/office/drawing/2014/main" val="584813358"/>
                  </a:ext>
                </a:extLst>
              </a:tr>
            </a:tbl>
          </a:graphicData>
        </a:graphic>
      </p:graphicFrame>
    </p:spTree>
    <p:extLst>
      <p:ext uri="{BB962C8B-B14F-4D97-AF65-F5344CB8AC3E}">
        <p14:creationId xmlns:p14="http://schemas.microsoft.com/office/powerpoint/2010/main" val="9150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00DC-7056-1E8B-2E00-9F513B690762}"/>
              </a:ext>
            </a:extLst>
          </p:cNvPr>
          <p:cNvSpPr>
            <a:spLocks noGrp="1"/>
          </p:cNvSpPr>
          <p:nvPr>
            <p:ph type="title"/>
          </p:nvPr>
        </p:nvSpPr>
        <p:spPr>
          <a:xfrm>
            <a:off x="457200" y="136525"/>
            <a:ext cx="8229600" cy="792162"/>
          </a:xfrm>
        </p:spPr>
        <p:txBody>
          <a:bodyPr/>
          <a:lstStyle/>
          <a:p>
            <a:r>
              <a:rPr lang="en-US" dirty="0"/>
              <a:t>Class Exercise</a:t>
            </a:r>
          </a:p>
        </p:txBody>
      </p:sp>
      <p:sp>
        <p:nvSpPr>
          <p:cNvPr id="3" name="Content Placeholder 2">
            <a:extLst>
              <a:ext uri="{FF2B5EF4-FFF2-40B4-BE49-F238E27FC236}">
                <a16:creationId xmlns:a16="http://schemas.microsoft.com/office/drawing/2014/main" id="{7430FE5E-FF8D-FE44-1F80-9A258CFCDF5C}"/>
              </a:ext>
            </a:extLst>
          </p:cNvPr>
          <p:cNvSpPr>
            <a:spLocks noGrp="1"/>
          </p:cNvSpPr>
          <p:nvPr>
            <p:ph idx="1"/>
          </p:nvPr>
        </p:nvSpPr>
        <p:spPr>
          <a:xfrm>
            <a:off x="453886" y="1066801"/>
            <a:ext cx="8461513" cy="4495799"/>
          </a:xfrm>
        </p:spPr>
        <p:txBody>
          <a:bodyPr/>
          <a:lstStyle/>
          <a:p>
            <a:r>
              <a:rPr lang="en-US" sz="2400" dirty="0"/>
              <a:t>A company is planning to open </a:t>
            </a:r>
            <a:r>
              <a:rPr lang="en-US" sz="2400" b="1" dirty="0"/>
              <a:t>distribution centers (DCs)</a:t>
            </a:r>
            <a:r>
              <a:rPr lang="en-US" sz="2400" dirty="0"/>
              <a:t> to serve a set of retail stores. </a:t>
            </a:r>
          </a:p>
          <a:p>
            <a:r>
              <a:rPr lang="en-US" sz="2400" dirty="0"/>
              <a:t>Each potential DC has a fixed opening cost and a limited capacity. </a:t>
            </a:r>
          </a:p>
          <a:p>
            <a:r>
              <a:rPr lang="en-US" sz="2400" dirty="0"/>
              <a:t>Each store has a known demand, and shipping one unit of product from a DC to a store incurs a unit transportation cost.</a:t>
            </a:r>
          </a:p>
          <a:p>
            <a:r>
              <a:rPr lang="en-US" sz="2400" dirty="0"/>
              <a:t>The company must decide:</a:t>
            </a:r>
          </a:p>
          <a:p>
            <a:pPr lvl="1"/>
            <a:r>
              <a:rPr lang="en-US" sz="2000" b="1" dirty="0"/>
              <a:t>Which DCs to open</a:t>
            </a:r>
            <a:r>
              <a:rPr lang="en-US" sz="2000" dirty="0"/>
              <a:t>, and</a:t>
            </a:r>
          </a:p>
          <a:p>
            <a:pPr lvl="1"/>
            <a:r>
              <a:rPr lang="en-US" sz="2000" b="1" dirty="0"/>
              <a:t>How much to ship from each open DC to each store</a:t>
            </a:r>
            <a:r>
              <a:rPr lang="en-US" sz="2000" dirty="0"/>
              <a:t>,</a:t>
            </a:r>
          </a:p>
          <a:p>
            <a:pPr marL="0" indent="0">
              <a:buNone/>
            </a:pPr>
            <a:r>
              <a:rPr lang="en-US" sz="2400" dirty="0"/>
              <a:t>so that all store demands are satisfied at minimum total cost.</a:t>
            </a:r>
          </a:p>
          <a:p>
            <a:pPr marL="0" indent="0">
              <a:buNone/>
            </a:pPr>
            <a:endParaRPr lang="en-US" sz="2400" dirty="0"/>
          </a:p>
        </p:txBody>
      </p:sp>
      <p:sp>
        <p:nvSpPr>
          <p:cNvPr id="4" name="Date Placeholder 3">
            <a:extLst>
              <a:ext uri="{FF2B5EF4-FFF2-40B4-BE49-F238E27FC236}">
                <a16:creationId xmlns:a16="http://schemas.microsoft.com/office/drawing/2014/main" id="{CEB92373-27BE-D8E3-1EE5-4AD5E32B4EB2}"/>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E19351F8-49CC-DF39-FA19-0EE3E9EBC29F}"/>
              </a:ext>
            </a:extLst>
          </p:cNvPr>
          <p:cNvSpPr>
            <a:spLocks noGrp="1"/>
          </p:cNvSpPr>
          <p:nvPr>
            <p:ph type="sldNum" sz="quarter" idx="12"/>
          </p:nvPr>
        </p:nvSpPr>
        <p:spPr/>
        <p:txBody>
          <a:bodyPr/>
          <a:lstStyle/>
          <a:p>
            <a:fld id="{EEA0C0C4-74CF-4C80-AB86-CA62A4B1ED10}" type="slidenum">
              <a:rPr lang="en-US" smtClean="0"/>
              <a:pPr/>
              <a:t>14</a:t>
            </a:fld>
            <a:endParaRPr lang="en-US"/>
          </a:p>
        </p:txBody>
      </p:sp>
    </p:spTree>
    <p:extLst>
      <p:ext uri="{BB962C8B-B14F-4D97-AF65-F5344CB8AC3E}">
        <p14:creationId xmlns:p14="http://schemas.microsoft.com/office/powerpoint/2010/main" val="2723137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6F97F-E056-AF7E-6935-9AA54A28808F}"/>
              </a:ext>
            </a:extLst>
          </p:cNvPr>
          <p:cNvSpPr>
            <a:spLocks noGrp="1"/>
          </p:cNvSpPr>
          <p:nvPr>
            <p:ph type="title"/>
          </p:nvPr>
        </p:nvSpPr>
        <p:spPr>
          <a:xfrm>
            <a:off x="457200" y="29653"/>
            <a:ext cx="8229600" cy="942387"/>
          </a:xfrm>
        </p:spPr>
        <p:txBody>
          <a:bodyPr/>
          <a:lstStyle/>
          <a:p>
            <a:r>
              <a:rPr lang="en-US" dirty="0"/>
              <a:t>Class Exercise</a:t>
            </a:r>
          </a:p>
        </p:txBody>
      </p:sp>
      <p:graphicFrame>
        <p:nvGraphicFramePr>
          <p:cNvPr id="6" name="Content Placeholder 5">
            <a:extLst>
              <a:ext uri="{FF2B5EF4-FFF2-40B4-BE49-F238E27FC236}">
                <a16:creationId xmlns:a16="http://schemas.microsoft.com/office/drawing/2014/main" id="{63E42065-D47B-5132-96E4-28DDFC93F8E1}"/>
              </a:ext>
            </a:extLst>
          </p:cNvPr>
          <p:cNvGraphicFramePr>
            <a:graphicFrameLocks noGrp="1"/>
          </p:cNvGraphicFramePr>
          <p:nvPr>
            <p:ph idx="1"/>
            <p:extLst>
              <p:ext uri="{D42A27DB-BD31-4B8C-83A1-F6EECF244321}">
                <p14:modId xmlns:p14="http://schemas.microsoft.com/office/powerpoint/2010/main" val="827273424"/>
              </p:ext>
            </p:extLst>
          </p:nvPr>
        </p:nvGraphicFramePr>
        <p:xfrm>
          <a:off x="457200" y="972040"/>
          <a:ext cx="5943600" cy="1463040"/>
        </p:xfrm>
        <a:graphic>
          <a:graphicData uri="http://schemas.openxmlformats.org/drawingml/2006/table">
            <a:tbl>
              <a:tblPr/>
              <a:tblGrid>
                <a:gridCol w="1143000">
                  <a:extLst>
                    <a:ext uri="{9D8B030D-6E8A-4147-A177-3AD203B41FA5}">
                      <a16:colId xmlns:a16="http://schemas.microsoft.com/office/drawing/2014/main" val="3921626240"/>
                    </a:ext>
                  </a:extLst>
                </a:gridCol>
                <a:gridCol w="2819400">
                  <a:extLst>
                    <a:ext uri="{9D8B030D-6E8A-4147-A177-3AD203B41FA5}">
                      <a16:colId xmlns:a16="http://schemas.microsoft.com/office/drawing/2014/main" val="3924395315"/>
                    </a:ext>
                  </a:extLst>
                </a:gridCol>
                <a:gridCol w="1981200">
                  <a:extLst>
                    <a:ext uri="{9D8B030D-6E8A-4147-A177-3AD203B41FA5}">
                      <a16:colId xmlns:a16="http://schemas.microsoft.com/office/drawing/2014/main" val="3038014745"/>
                    </a:ext>
                  </a:extLst>
                </a:gridCol>
              </a:tblGrid>
              <a:tr h="0">
                <a:tc>
                  <a:txBody>
                    <a:bodyPr/>
                    <a:lstStyle/>
                    <a:p>
                      <a:pPr>
                        <a:buNone/>
                      </a:pPr>
                      <a:r>
                        <a:rPr lang="en-US"/>
                        <a:t>DC (i)</a:t>
                      </a:r>
                    </a:p>
                  </a:txBody>
                  <a:tcPr anchor="ctr">
                    <a:lnL>
                      <a:noFill/>
                    </a:lnL>
                    <a:lnR>
                      <a:noFill/>
                    </a:lnR>
                    <a:lnT>
                      <a:noFill/>
                    </a:lnT>
                    <a:lnB>
                      <a:noFill/>
                    </a:lnB>
                    <a:solidFill>
                      <a:schemeClr val="accent6">
                        <a:lumMod val="20000"/>
                        <a:lumOff val="80000"/>
                      </a:schemeClr>
                    </a:solidFill>
                  </a:tcPr>
                </a:tc>
                <a:tc>
                  <a:txBody>
                    <a:bodyPr/>
                    <a:lstStyle/>
                    <a:p>
                      <a:pPr algn="r">
                        <a:buNone/>
                      </a:pPr>
                      <a:r>
                        <a:rPr lang="en-US"/>
                        <a:t>Fixed opening cost (F_i)</a:t>
                      </a:r>
                    </a:p>
                  </a:txBody>
                  <a:tcPr anchor="ctr">
                    <a:lnL>
                      <a:noFill/>
                    </a:lnL>
                    <a:lnR>
                      <a:noFill/>
                    </a:lnR>
                    <a:lnT>
                      <a:noFill/>
                    </a:lnT>
                    <a:lnB>
                      <a:noFill/>
                    </a:lnB>
                    <a:solidFill>
                      <a:schemeClr val="accent6">
                        <a:lumMod val="20000"/>
                        <a:lumOff val="80000"/>
                      </a:schemeClr>
                    </a:solidFill>
                  </a:tcPr>
                </a:tc>
                <a:tc>
                  <a:txBody>
                    <a:bodyPr/>
                    <a:lstStyle/>
                    <a:p>
                      <a:pPr algn="r">
                        <a:buNone/>
                      </a:pPr>
                      <a:r>
                        <a:rPr lang="en-US" dirty="0"/>
                        <a:t>Capacity (</a:t>
                      </a:r>
                      <a:r>
                        <a:rPr lang="en-US" dirty="0" err="1"/>
                        <a:t>U_i</a:t>
                      </a:r>
                      <a:r>
                        <a:rPr lang="en-US" dirty="0"/>
                        <a: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14404035"/>
                  </a:ext>
                </a:extLst>
              </a:tr>
              <a:tr h="0">
                <a:tc>
                  <a:txBody>
                    <a:bodyPr/>
                    <a:lstStyle/>
                    <a:p>
                      <a:pPr>
                        <a:buNone/>
                      </a:pPr>
                      <a:r>
                        <a:rPr lang="en-US"/>
                        <a:t>1</a:t>
                      </a:r>
                    </a:p>
                  </a:txBody>
                  <a:tcPr anchor="ctr">
                    <a:lnL>
                      <a:noFill/>
                    </a:lnL>
                    <a:lnR>
                      <a:noFill/>
                    </a:lnR>
                    <a:lnT>
                      <a:noFill/>
                    </a:lnT>
                    <a:lnB>
                      <a:noFill/>
                    </a:lnB>
                    <a:noFill/>
                  </a:tcPr>
                </a:tc>
                <a:tc>
                  <a:txBody>
                    <a:bodyPr/>
                    <a:lstStyle/>
                    <a:p>
                      <a:pPr algn="r">
                        <a:buNone/>
                      </a:pPr>
                      <a:r>
                        <a:rPr lang="en-US" dirty="0"/>
                        <a:t>500</a:t>
                      </a:r>
                    </a:p>
                  </a:txBody>
                  <a:tcPr anchor="ctr">
                    <a:lnL>
                      <a:noFill/>
                    </a:lnL>
                    <a:lnR>
                      <a:noFill/>
                    </a:lnR>
                    <a:lnT>
                      <a:noFill/>
                    </a:lnT>
                    <a:lnB>
                      <a:noFill/>
                    </a:lnB>
                    <a:noFill/>
                  </a:tcPr>
                </a:tc>
                <a:tc>
                  <a:txBody>
                    <a:bodyPr/>
                    <a:lstStyle/>
                    <a:p>
                      <a:pPr algn="r">
                        <a:buNone/>
                      </a:pPr>
                      <a:r>
                        <a:rPr lang="en-US"/>
                        <a:t>60</a:t>
                      </a:r>
                    </a:p>
                  </a:txBody>
                  <a:tcPr anchor="ctr">
                    <a:lnL>
                      <a:noFill/>
                    </a:lnL>
                    <a:lnR>
                      <a:noFill/>
                    </a:lnR>
                    <a:lnT>
                      <a:noFill/>
                    </a:lnT>
                    <a:lnB>
                      <a:noFill/>
                    </a:lnB>
                    <a:noFill/>
                  </a:tcPr>
                </a:tc>
                <a:extLst>
                  <a:ext uri="{0D108BD9-81ED-4DB2-BD59-A6C34878D82A}">
                    <a16:rowId xmlns:a16="http://schemas.microsoft.com/office/drawing/2014/main" val="2152424886"/>
                  </a:ext>
                </a:extLst>
              </a:tr>
              <a:tr h="0">
                <a:tc>
                  <a:txBody>
                    <a:bodyPr/>
                    <a:lstStyle/>
                    <a:p>
                      <a:pPr>
                        <a:buNone/>
                      </a:pPr>
                      <a:r>
                        <a:rPr lang="en-US"/>
                        <a:t>2</a:t>
                      </a:r>
                    </a:p>
                  </a:txBody>
                  <a:tcPr anchor="ctr">
                    <a:lnL>
                      <a:noFill/>
                    </a:lnL>
                    <a:lnR>
                      <a:noFill/>
                    </a:lnR>
                    <a:lnT>
                      <a:noFill/>
                    </a:lnT>
                    <a:lnB>
                      <a:noFill/>
                    </a:lnB>
                    <a:noFill/>
                  </a:tcPr>
                </a:tc>
                <a:tc>
                  <a:txBody>
                    <a:bodyPr/>
                    <a:lstStyle/>
                    <a:p>
                      <a:pPr algn="r">
                        <a:buNone/>
                      </a:pPr>
                      <a:r>
                        <a:rPr lang="en-US"/>
                        <a:t>400</a:t>
                      </a:r>
                    </a:p>
                  </a:txBody>
                  <a:tcPr anchor="ctr">
                    <a:lnL>
                      <a:noFill/>
                    </a:lnL>
                    <a:lnR>
                      <a:noFill/>
                    </a:lnR>
                    <a:lnT>
                      <a:noFill/>
                    </a:lnT>
                    <a:lnB>
                      <a:noFill/>
                    </a:lnB>
                    <a:noFill/>
                  </a:tcPr>
                </a:tc>
                <a:tc>
                  <a:txBody>
                    <a:bodyPr/>
                    <a:lstStyle/>
                    <a:p>
                      <a:pPr algn="r">
                        <a:buNone/>
                      </a:pPr>
                      <a:r>
                        <a:rPr lang="en-US"/>
                        <a:t>50</a:t>
                      </a:r>
                    </a:p>
                  </a:txBody>
                  <a:tcPr anchor="ctr">
                    <a:lnL>
                      <a:noFill/>
                    </a:lnL>
                    <a:lnR>
                      <a:noFill/>
                    </a:lnR>
                    <a:lnT>
                      <a:noFill/>
                    </a:lnT>
                    <a:lnB>
                      <a:noFill/>
                    </a:lnB>
                    <a:noFill/>
                  </a:tcPr>
                </a:tc>
                <a:extLst>
                  <a:ext uri="{0D108BD9-81ED-4DB2-BD59-A6C34878D82A}">
                    <a16:rowId xmlns:a16="http://schemas.microsoft.com/office/drawing/2014/main" val="2850448194"/>
                  </a:ext>
                </a:extLst>
              </a:tr>
              <a:tr h="0">
                <a:tc>
                  <a:txBody>
                    <a:bodyPr/>
                    <a:lstStyle/>
                    <a:p>
                      <a:pPr>
                        <a:buNone/>
                      </a:pPr>
                      <a:r>
                        <a:rPr lang="en-US"/>
                        <a:t>3</a:t>
                      </a:r>
                    </a:p>
                  </a:txBody>
                  <a:tcPr anchor="ctr">
                    <a:lnL>
                      <a:noFill/>
                    </a:lnL>
                    <a:lnR>
                      <a:noFill/>
                    </a:lnR>
                    <a:lnT>
                      <a:noFill/>
                    </a:lnT>
                    <a:lnB>
                      <a:noFill/>
                    </a:lnB>
                    <a:noFill/>
                  </a:tcPr>
                </a:tc>
                <a:tc>
                  <a:txBody>
                    <a:bodyPr/>
                    <a:lstStyle/>
                    <a:p>
                      <a:pPr algn="r">
                        <a:buNone/>
                      </a:pPr>
                      <a:r>
                        <a:rPr lang="en-US"/>
                        <a:t>300</a:t>
                      </a:r>
                    </a:p>
                  </a:txBody>
                  <a:tcPr anchor="ctr">
                    <a:lnL>
                      <a:noFill/>
                    </a:lnL>
                    <a:lnR>
                      <a:noFill/>
                    </a:lnR>
                    <a:lnT>
                      <a:noFill/>
                    </a:lnT>
                    <a:lnB>
                      <a:noFill/>
                    </a:lnB>
                    <a:noFill/>
                  </a:tcPr>
                </a:tc>
                <a:tc>
                  <a:txBody>
                    <a:bodyPr/>
                    <a:lstStyle/>
                    <a:p>
                      <a:pPr algn="r">
                        <a:buNone/>
                      </a:pPr>
                      <a:r>
                        <a:rPr lang="en-US" dirty="0"/>
                        <a:t>40</a:t>
                      </a:r>
                    </a:p>
                  </a:txBody>
                  <a:tcPr anchor="ctr">
                    <a:lnL>
                      <a:noFill/>
                    </a:lnL>
                    <a:lnR>
                      <a:noFill/>
                    </a:lnR>
                    <a:lnT>
                      <a:noFill/>
                    </a:lnT>
                    <a:lnB>
                      <a:noFill/>
                    </a:lnB>
                    <a:noFill/>
                  </a:tcPr>
                </a:tc>
                <a:extLst>
                  <a:ext uri="{0D108BD9-81ED-4DB2-BD59-A6C34878D82A}">
                    <a16:rowId xmlns:a16="http://schemas.microsoft.com/office/drawing/2014/main" val="2157897382"/>
                  </a:ext>
                </a:extLst>
              </a:tr>
            </a:tbl>
          </a:graphicData>
        </a:graphic>
      </p:graphicFrame>
      <p:sp>
        <p:nvSpPr>
          <p:cNvPr id="4" name="Date Placeholder 3">
            <a:extLst>
              <a:ext uri="{FF2B5EF4-FFF2-40B4-BE49-F238E27FC236}">
                <a16:creationId xmlns:a16="http://schemas.microsoft.com/office/drawing/2014/main" id="{35D30D86-297D-586D-8785-BD5D4960DF89}"/>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3D6EBCCA-124D-F7A9-5A69-BAF0C0323D3B}"/>
              </a:ext>
            </a:extLst>
          </p:cNvPr>
          <p:cNvSpPr>
            <a:spLocks noGrp="1"/>
          </p:cNvSpPr>
          <p:nvPr>
            <p:ph type="sldNum" sz="quarter" idx="12"/>
          </p:nvPr>
        </p:nvSpPr>
        <p:spPr/>
        <p:txBody>
          <a:bodyPr/>
          <a:lstStyle/>
          <a:p>
            <a:fld id="{EEA0C0C4-74CF-4C80-AB86-CA62A4B1ED10}" type="slidenum">
              <a:rPr lang="en-US" smtClean="0"/>
              <a:pPr/>
              <a:t>15</a:t>
            </a:fld>
            <a:endParaRPr lang="en-US"/>
          </a:p>
        </p:txBody>
      </p:sp>
      <p:graphicFrame>
        <p:nvGraphicFramePr>
          <p:cNvPr id="7" name="Table 6">
            <a:extLst>
              <a:ext uri="{FF2B5EF4-FFF2-40B4-BE49-F238E27FC236}">
                <a16:creationId xmlns:a16="http://schemas.microsoft.com/office/drawing/2014/main" id="{F6426320-5494-2D9B-E839-1F02DA1AFD5B}"/>
              </a:ext>
            </a:extLst>
          </p:cNvPr>
          <p:cNvGraphicFramePr>
            <a:graphicFrameLocks noGrp="1"/>
          </p:cNvGraphicFramePr>
          <p:nvPr>
            <p:extLst>
              <p:ext uri="{D42A27DB-BD31-4B8C-83A1-F6EECF244321}">
                <p14:modId xmlns:p14="http://schemas.microsoft.com/office/powerpoint/2010/main" val="1418425938"/>
              </p:ext>
            </p:extLst>
          </p:nvPr>
        </p:nvGraphicFramePr>
        <p:xfrm>
          <a:off x="440635" y="2697480"/>
          <a:ext cx="3352800" cy="1463040"/>
        </p:xfrm>
        <a:graphic>
          <a:graphicData uri="http://schemas.openxmlformats.org/drawingml/2006/table">
            <a:tbl>
              <a:tblPr/>
              <a:tblGrid>
                <a:gridCol w="1676400">
                  <a:extLst>
                    <a:ext uri="{9D8B030D-6E8A-4147-A177-3AD203B41FA5}">
                      <a16:colId xmlns:a16="http://schemas.microsoft.com/office/drawing/2014/main" val="282288261"/>
                    </a:ext>
                  </a:extLst>
                </a:gridCol>
                <a:gridCol w="1676400">
                  <a:extLst>
                    <a:ext uri="{9D8B030D-6E8A-4147-A177-3AD203B41FA5}">
                      <a16:colId xmlns:a16="http://schemas.microsoft.com/office/drawing/2014/main" val="1301828173"/>
                    </a:ext>
                  </a:extLst>
                </a:gridCol>
              </a:tblGrid>
              <a:tr h="0">
                <a:tc>
                  <a:txBody>
                    <a:bodyPr/>
                    <a:lstStyle/>
                    <a:p>
                      <a:pPr>
                        <a:buNone/>
                      </a:pPr>
                      <a:r>
                        <a:rPr lang="en-US"/>
                        <a:t>Store (j)</a:t>
                      </a:r>
                    </a:p>
                  </a:txBody>
                  <a:tcPr anchor="ctr">
                    <a:lnL>
                      <a:noFill/>
                    </a:lnL>
                    <a:lnR>
                      <a:noFill/>
                    </a:lnR>
                    <a:lnT>
                      <a:noFill/>
                    </a:lnT>
                    <a:lnB>
                      <a:noFill/>
                    </a:lnB>
                    <a:solidFill>
                      <a:schemeClr val="accent5">
                        <a:lumMod val="90000"/>
                      </a:schemeClr>
                    </a:solidFill>
                  </a:tcPr>
                </a:tc>
                <a:tc>
                  <a:txBody>
                    <a:bodyPr/>
                    <a:lstStyle/>
                    <a:p>
                      <a:pPr algn="r">
                        <a:buNone/>
                      </a:pPr>
                      <a:r>
                        <a:rPr lang="en-US" dirty="0"/>
                        <a:t>Demand (</a:t>
                      </a:r>
                      <a:r>
                        <a:rPr lang="en-US" dirty="0" err="1"/>
                        <a:t>d_j</a:t>
                      </a:r>
                      <a:r>
                        <a:rPr lang="en-US" dirty="0"/>
                        <a:t>)</a:t>
                      </a:r>
                    </a:p>
                  </a:txBody>
                  <a:tcPr anchor="ctr">
                    <a:lnL>
                      <a:noFill/>
                    </a:lnL>
                    <a:lnR>
                      <a:noFill/>
                    </a:lnR>
                    <a:lnT>
                      <a:noFill/>
                    </a:lnT>
                    <a:lnB>
                      <a:noFill/>
                    </a:lnB>
                    <a:solidFill>
                      <a:schemeClr val="accent5">
                        <a:lumMod val="90000"/>
                      </a:schemeClr>
                    </a:solidFill>
                  </a:tcPr>
                </a:tc>
                <a:extLst>
                  <a:ext uri="{0D108BD9-81ED-4DB2-BD59-A6C34878D82A}">
                    <a16:rowId xmlns:a16="http://schemas.microsoft.com/office/drawing/2014/main" val="3042466891"/>
                  </a:ext>
                </a:extLst>
              </a:tr>
              <a:tr h="0">
                <a:tc>
                  <a:txBody>
                    <a:bodyPr/>
                    <a:lstStyle/>
                    <a:p>
                      <a:pPr>
                        <a:buNone/>
                      </a:pPr>
                      <a:r>
                        <a:rPr lang="en-US"/>
                        <a:t>A</a:t>
                      </a:r>
                    </a:p>
                  </a:txBody>
                  <a:tcPr anchor="ctr">
                    <a:lnL>
                      <a:noFill/>
                    </a:lnL>
                    <a:lnR>
                      <a:noFill/>
                    </a:lnR>
                    <a:lnT>
                      <a:noFill/>
                    </a:lnT>
                    <a:lnB>
                      <a:noFill/>
                    </a:lnB>
                    <a:noFill/>
                  </a:tcPr>
                </a:tc>
                <a:tc>
                  <a:txBody>
                    <a:bodyPr/>
                    <a:lstStyle/>
                    <a:p>
                      <a:pPr algn="r">
                        <a:buNone/>
                      </a:pPr>
                      <a:r>
                        <a:rPr lang="en-US"/>
                        <a:t>30</a:t>
                      </a:r>
                    </a:p>
                  </a:txBody>
                  <a:tcPr anchor="ctr">
                    <a:lnL>
                      <a:noFill/>
                    </a:lnL>
                    <a:lnR>
                      <a:noFill/>
                    </a:lnR>
                    <a:lnT>
                      <a:noFill/>
                    </a:lnT>
                    <a:lnB>
                      <a:noFill/>
                    </a:lnB>
                    <a:noFill/>
                  </a:tcPr>
                </a:tc>
                <a:extLst>
                  <a:ext uri="{0D108BD9-81ED-4DB2-BD59-A6C34878D82A}">
                    <a16:rowId xmlns:a16="http://schemas.microsoft.com/office/drawing/2014/main" val="4005143258"/>
                  </a:ext>
                </a:extLst>
              </a:tr>
              <a:tr h="0">
                <a:tc>
                  <a:txBody>
                    <a:bodyPr/>
                    <a:lstStyle/>
                    <a:p>
                      <a:pPr>
                        <a:buNone/>
                      </a:pPr>
                      <a:r>
                        <a:rPr lang="en-US"/>
                        <a:t>B</a:t>
                      </a:r>
                    </a:p>
                  </a:txBody>
                  <a:tcPr anchor="ctr">
                    <a:lnL>
                      <a:noFill/>
                    </a:lnL>
                    <a:lnR>
                      <a:noFill/>
                    </a:lnR>
                    <a:lnT>
                      <a:noFill/>
                    </a:lnT>
                    <a:lnB>
                      <a:noFill/>
                    </a:lnB>
                    <a:noFill/>
                  </a:tcPr>
                </a:tc>
                <a:tc>
                  <a:txBody>
                    <a:bodyPr/>
                    <a:lstStyle/>
                    <a:p>
                      <a:pPr algn="r">
                        <a:buNone/>
                      </a:pPr>
                      <a:r>
                        <a:rPr lang="en-US"/>
                        <a:t>40</a:t>
                      </a:r>
                    </a:p>
                  </a:txBody>
                  <a:tcPr anchor="ctr">
                    <a:lnL>
                      <a:noFill/>
                    </a:lnL>
                    <a:lnR>
                      <a:noFill/>
                    </a:lnR>
                    <a:lnT>
                      <a:noFill/>
                    </a:lnT>
                    <a:lnB>
                      <a:noFill/>
                    </a:lnB>
                    <a:noFill/>
                  </a:tcPr>
                </a:tc>
                <a:extLst>
                  <a:ext uri="{0D108BD9-81ED-4DB2-BD59-A6C34878D82A}">
                    <a16:rowId xmlns:a16="http://schemas.microsoft.com/office/drawing/2014/main" val="3612563267"/>
                  </a:ext>
                </a:extLst>
              </a:tr>
              <a:tr h="0">
                <a:tc>
                  <a:txBody>
                    <a:bodyPr/>
                    <a:lstStyle/>
                    <a:p>
                      <a:pPr>
                        <a:buNone/>
                      </a:pPr>
                      <a:r>
                        <a:rPr lang="en-US"/>
                        <a:t>C</a:t>
                      </a:r>
                    </a:p>
                  </a:txBody>
                  <a:tcPr anchor="ctr">
                    <a:lnL>
                      <a:noFill/>
                    </a:lnL>
                    <a:lnR>
                      <a:noFill/>
                    </a:lnR>
                    <a:lnT>
                      <a:noFill/>
                    </a:lnT>
                    <a:lnB>
                      <a:noFill/>
                    </a:lnB>
                    <a:noFill/>
                  </a:tcPr>
                </a:tc>
                <a:tc>
                  <a:txBody>
                    <a:bodyPr/>
                    <a:lstStyle/>
                    <a:p>
                      <a:pPr algn="r">
                        <a:buNone/>
                      </a:pPr>
                      <a:r>
                        <a:rPr lang="en-US" dirty="0"/>
                        <a:t>30</a:t>
                      </a:r>
                    </a:p>
                  </a:txBody>
                  <a:tcPr anchor="ctr">
                    <a:lnL>
                      <a:noFill/>
                    </a:lnL>
                    <a:lnR>
                      <a:noFill/>
                    </a:lnR>
                    <a:lnT>
                      <a:noFill/>
                    </a:lnT>
                    <a:lnB>
                      <a:noFill/>
                    </a:lnB>
                    <a:noFill/>
                  </a:tcPr>
                </a:tc>
                <a:extLst>
                  <a:ext uri="{0D108BD9-81ED-4DB2-BD59-A6C34878D82A}">
                    <a16:rowId xmlns:a16="http://schemas.microsoft.com/office/drawing/2014/main" val="909933106"/>
                  </a:ext>
                </a:extLst>
              </a:tr>
            </a:tbl>
          </a:graphicData>
        </a:graphic>
      </p:graphicFrame>
      <p:graphicFrame>
        <p:nvGraphicFramePr>
          <p:cNvPr id="8" name="Table 7">
            <a:extLst>
              <a:ext uri="{FF2B5EF4-FFF2-40B4-BE49-F238E27FC236}">
                <a16:creationId xmlns:a16="http://schemas.microsoft.com/office/drawing/2014/main" id="{F711EE7E-AE8F-BA74-9B30-436F312C1993}"/>
              </a:ext>
            </a:extLst>
          </p:cNvPr>
          <p:cNvGraphicFramePr>
            <a:graphicFrameLocks noGrp="1"/>
          </p:cNvGraphicFramePr>
          <p:nvPr>
            <p:extLst>
              <p:ext uri="{D42A27DB-BD31-4B8C-83A1-F6EECF244321}">
                <p14:modId xmlns:p14="http://schemas.microsoft.com/office/powerpoint/2010/main" val="2451215127"/>
              </p:ext>
            </p:extLst>
          </p:nvPr>
        </p:nvGraphicFramePr>
        <p:xfrm>
          <a:off x="420757" y="4526411"/>
          <a:ext cx="6987208" cy="1463040"/>
        </p:xfrm>
        <a:graphic>
          <a:graphicData uri="http://schemas.openxmlformats.org/drawingml/2006/table">
            <a:tbl>
              <a:tblPr/>
              <a:tblGrid>
                <a:gridCol w="3024810">
                  <a:extLst>
                    <a:ext uri="{9D8B030D-6E8A-4147-A177-3AD203B41FA5}">
                      <a16:colId xmlns:a16="http://schemas.microsoft.com/office/drawing/2014/main" val="1370730054"/>
                    </a:ext>
                  </a:extLst>
                </a:gridCol>
                <a:gridCol w="468794">
                  <a:extLst>
                    <a:ext uri="{9D8B030D-6E8A-4147-A177-3AD203B41FA5}">
                      <a16:colId xmlns:a16="http://schemas.microsoft.com/office/drawing/2014/main" val="4097393669"/>
                    </a:ext>
                  </a:extLst>
                </a:gridCol>
                <a:gridCol w="1746802">
                  <a:extLst>
                    <a:ext uri="{9D8B030D-6E8A-4147-A177-3AD203B41FA5}">
                      <a16:colId xmlns:a16="http://schemas.microsoft.com/office/drawing/2014/main" val="2087926860"/>
                    </a:ext>
                  </a:extLst>
                </a:gridCol>
                <a:gridCol w="1746802">
                  <a:extLst>
                    <a:ext uri="{9D8B030D-6E8A-4147-A177-3AD203B41FA5}">
                      <a16:colId xmlns:a16="http://schemas.microsoft.com/office/drawing/2014/main" val="455459908"/>
                    </a:ext>
                  </a:extLst>
                </a:gridCol>
              </a:tblGrid>
              <a:tr h="0">
                <a:tc>
                  <a:txBody>
                    <a:bodyPr/>
                    <a:lstStyle/>
                    <a:p>
                      <a:pPr>
                        <a:buNone/>
                      </a:pPr>
                      <a:r>
                        <a:rPr lang="en-US" dirty="0"/>
                        <a:t>(unit transportation cost)</a:t>
                      </a:r>
                    </a:p>
                  </a:txBody>
                  <a:tcPr anchor="ctr">
                    <a:lnL>
                      <a:noFill/>
                    </a:lnL>
                    <a:lnR>
                      <a:noFill/>
                    </a:lnR>
                    <a:lnT>
                      <a:noFill/>
                    </a:lnT>
                    <a:lnB>
                      <a:noFill/>
                    </a:lnB>
                    <a:solidFill>
                      <a:schemeClr val="accent3">
                        <a:lumMod val="95000"/>
                      </a:schemeClr>
                    </a:solidFill>
                  </a:tcPr>
                </a:tc>
                <a:tc>
                  <a:txBody>
                    <a:bodyPr/>
                    <a:lstStyle/>
                    <a:p>
                      <a:pPr algn="r">
                        <a:buNone/>
                      </a:pPr>
                      <a:r>
                        <a:rPr lang="en-US" dirty="0"/>
                        <a:t>A</a:t>
                      </a:r>
                    </a:p>
                  </a:txBody>
                  <a:tcPr anchor="ctr">
                    <a:lnL>
                      <a:noFill/>
                    </a:lnL>
                    <a:lnR>
                      <a:noFill/>
                    </a:lnR>
                    <a:lnT>
                      <a:noFill/>
                    </a:lnT>
                    <a:lnB>
                      <a:noFill/>
                    </a:lnB>
                    <a:solidFill>
                      <a:schemeClr val="accent3">
                        <a:lumMod val="95000"/>
                      </a:schemeClr>
                    </a:solidFill>
                  </a:tcPr>
                </a:tc>
                <a:tc>
                  <a:txBody>
                    <a:bodyPr/>
                    <a:lstStyle/>
                    <a:p>
                      <a:pPr algn="r">
                        <a:buNone/>
                      </a:pPr>
                      <a:r>
                        <a:rPr lang="en-US" dirty="0"/>
                        <a:t>B</a:t>
                      </a:r>
                    </a:p>
                  </a:txBody>
                  <a:tcPr anchor="ctr">
                    <a:lnL>
                      <a:noFill/>
                    </a:lnL>
                    <a:lnR>
                      <a:noFill/>
                    </a:lnR>
                    <a:lnT>
                      <a:noFill/>
                    </a:lnT>
                    <a:lnB>
                      <a:noFill/>
                    </a:lnB>
                    <a:solidFill>
                      <a:schemeClr val="accent3">
                        <a:lumMod val="95000"/>
                      </a:schemeClr>
                    </a:solidFill>
                  </a:tcPr>
                </a:tc>
                <a:tc>
                  <a:txBody>
                    <a:bodyPr/>
                    <a:lstStyle/>
                    <a:p>
                      <a:pPr algn="r">
                        <a:buNone/>
                      </a:pPr>
                      <a:r>
                        <a:rPr lang="en-US" dirty="0"/>
                        <a:t>C</a:t>
                      </a:r>
                    </a:p>
                  </a:txBody>
                  <a:tcPr anchor="ctr">
                    <a:lnL>
                      <a:noFill/>
                    </a:lnL>
                    <a:lnR>
                      <a:noFill/>
                    </a:lnR>
                    <a:lnT>
                      <a:noFill/>
                    </a:lnT>
                    <a:lnB>
                      <a:noFill/>
                    </a:lnB>
                    <a:solidFill>
                      <a:schemeClr val="accent3">
                        <a:lumMod val="95000"/>
                      </a:schemeClr>
                    </a:solidFill>
                  </a:tcPr>
                </a:tc>
                <a:extLst>
                  <a:ext uri="{0D108BD9-81ED-4DB2-BD59-A6C34878D82A}">
                    <a16:rowId xmlns:a16="http://schemas.microsoft.com/office/drawing/2014/main" val="2031621145"/>
                  </a:ext>
                </a:extLst>
              </a:tr>
              <a:tr h="0">
                <a:tc>
                  <a:txBody>
                    <a:bodyPr/>
                    <a:lstStyle/>
                    <a:p>
                      <a:pPr>
                        <a:buNone/>
                      </a:pPr>
                      <a:r>
                        <a:rPr lang="en-US"/>
                        <a:t>DC 1</a:t>
                      </a:r>
                    </a:p>
                  </a:txBody>
                  <a:tcPr anchor="ctr">
                    <a:lnL>
                      <a:noFill/>
                    </a:lnL>
                    <a:lnR>
                      <a:noFill/>
                    </a:lnR>
                    <a:lnT>
                      <a:noFill/>
                    </a:lnT>
                    <a:lnB>
                      <a:noFill/>
                    </a:lnB>
                    <a:noFill/>
                  </a:tcPr>
                </a:tc>
                <a:tc>
                  <a:txBody>
                    <a:bodyPr/>
                    <a:lstStyle/>
                    <a:p>
                      <a:pPr algn="r">
                        <a:buNone/>
                      </a:pPr>
                      <a:r>
                        <a:rPr lang="en-US" dirty="0"/>
                        <a:t>4</a:t>
                      </a:r>
                    </a:p>
                  </a:txBody>
                  <a:tcPr anchor="ctr">
                    <a:lnL>
                      <a:noFill/>
                    </a:lnL>
                    <a:lnR>
                      <a:noFill/>
                    </a:lnR>
                    <a:lnT>
                      <a:noFill/>
                    </a:lnT>
                    <a:lnB>
                      <a:noFill/>
                    </a:lnB>
                    <a:noFill/>
                  </a:tcPr>
                </a:tc>
                <a:tc>
                  <a:txBody>
                    <a:bodyPr/>
                    <a:lstStyle/>
                    <a:p>
                      <a:pPr algn="r">
                        <a:buNone/>
                      </a:pPr>
                      <a:r>
                        <a:rPr lang="en-US" dirty="0"/>
                        <a:t>6</a:t>
                      </a:r>
                    </a:p>
                  </a:txBody>
                  <a:tcPr anchor="ctr">
                    <a:lnL>
                      <a:noFill/>
                    </a:lnL>
                    <a:lnR>
                      <a:noFill/>
                    </a:lnR>
                    <a:lnT>
                      <a:noFill/>
                    </a:lnT>
                    <a:lnB>
                      <a:noFill/>
                    </a:lnB>
                    <a:noFill/>
                  </a:tcPr>
                </a:tc>
                <a:tc>
                  <a:txBody>
                    <a:bodyPr/>
                    <a:lstStyle/>
                    <a:p>
                      <a:pPr algn="r">
                        <a:buNone/>
                      </a:pPr>
                      <a:r>
                        <a:rPr lang="en-US"/>
                        <a:t>5</a:t>
                      </a:r>
                    </a:p>
                  </a:txBody>
                  <a:tcPr anchor="ctr">
                    <a:lnL>
                      <a:noFill/>
                    </a:lnL>
                    <a:lnR>
                      <a:noFill/>
                    </a:lnR>
                    <a:lnT>
                      <a:noFill/>
                    </a:lnT>
                    <a:lnB>
                      <a:noFill/>
                    </a:lnB>
                    <a:noFill/>
                  </a:tcPr>
                </a:tc>
                <a:extLst>
                  <a:ext uri="{0D108BD9-81ED-4DB2-BD59-A6C34878D82A}">
                    <a16:rowId xmlns:a16="http://schemas.microsoft.com/office/drawing/2014/main" val="3717269060"/>
                  </a:ext>
                </a:extLst>
              </a:tr>
              <a:tr h="0">
                <a:tc>
                  <a:txBody>
                    <a:bodyPr/>
                    <a:lstStyle/>
                    <a:p>
                      <a:pPr>
                        <a:buNone/>
                      </a:pPr>
                      <a:r>
                        <a:rPr lang="en-US"/>
                        <a:t>DC 2</a:t>
                      </a:r>
                    </a:p>
                  </a:txBody>
                  <a:tcPr anchor="ctr">
                    <a:lnL>
                      <a:noFill/>
                    </a:lnL>
                    <a:lnR>
                      <a:noFill/>
                    </a:lnR>
                    <a:lnT>
                      <a:noFill/>
                    </a:lnT>
                    <a:lnB>
                      <a:noFill/>
                    </a:lnB>
                    <a:noFill/>
                  </a:tcPr>
                </a:tc>
                <a:tc>
                  <a:txBody>
                    <a:bodyPr/>
                    <a:lstStyle/>
                    <a:p>
                      <a:pPr algn="r">
                        <a:buNone/>
                      </a:pPr>
                      <a:r>
                        <a:rPr lang="en-US"/>
                        <a:t>5</a:t>
                      </a:r>
                    </a:p>
                  </a:txBody>
                  <a:tcPr anchor="ctr">
                    <a:lnL>
                      <a:noFill/>
                    </a:lnL>
                    <a:lnR>
                      <a:noFill/>
                    </a:lnR>
                    <a:lnT>
                      <a:noFill/>
                    </a:lnT>
                    <a:lnB>
                      <a:noFill/>
                    </a:lnB>
                    <a:noFill/>
                  </a:tcPr>
                </a:tc>
                <a:tc>
                  <a:txBody>
                    <a:bodyPr/>
                    <a:lstStyle/>
                    <a:p>
                      <a:pPr algn="r">
                        <a:buNone/>
                      </a:pPr>
                      <a:r>
                        <a:rPr lang="en-US" dirty="0"/>
                        <a:t>4</a:t>
                      </a:r>
                    </a:p>
                  </a:txBody>
                  <a:tcPr anchor="ctr">
                    <a:lnL>
                      <a:noFill/>
                    </a:lnL>
                    <a:lnR>
                      <a:noFill/>
                    </a:lnR>
                    <a:lnT>
                      <a:noFill/>
                    </a:lnT>
                    <a:lnB>
                      <a:noFill/>
                    </a:lnB>
                    <a:noFill/>
                  </a:tcPr>
                </a:tc>
                <a:tc>
                  <a:txBody>
                    <a:bodyPr/>
                    <a:lstStyle/>
                    <a:p>
                      <a:pPr algn="r">
                        <a:buNone/>
                      </a:pPr>
                      <a:r>
                        <a:rPr lang="en-US" dirty="0"/>
                        <a:t>6</a:t>
                      </a:r>
                    </a:p>
                  </a:txBody>
                  <a:tcPr anchor="ctr">
                    <a:lnL>
                      <a:noFill/>
                    </a:lnL>
                    <a:lnR>
                      <a:noFill/>
                    </a:lnR>
                    <a:lnT>
                      <a:noFill/>
                    </a:lnT>
                    <a:lnB>
                      <a:noFill/>
                    </a:lnB>
                    <a:noFill/>
                  </a:tcPr>
                </a:tc>
                <a:extLst>
                  <a:ext uri="{0D108BD9-81ED-4DB2-BD59-A6C34878D82A}">
                    <a16:rowId xmlns:a16="http://schemas.microsoft.com/office/drawing/2014/main" val="4015068879"/>
                  </a:ext>
                </a:extLst>
              </a:tr>
              <a:tr h="0">
                <a:tc>
                  <a:txBody>
                    <a:bodyPr/>
                    <a:lstStyle/>
                    <a:p>
                      <a:pPr>
                        <a:buNone/>
                      </a:pPr>
                      <a:r>
                        <a:rPr lang="en-US"/>
                        <a:t>DC 3</a:t>
                      </a:r>
                    </a:p>
                  </a:txBody>
                  <a:tcPr anchor="ctr">
                    <a:lnL>
                      <a:noFill/>
                    </a:lnL>
                    <a:lnR>
                      <a:noFill/>
                    </a:lnR>
                    <a:lnT>
                      <a:noFill/>
                    </a:lnT>
                    <a:lnB>
                      <a:noFill/>
                    </a:lnB>
                    <a:noFill/>
                  </a:tcPr>
                </a:tc>
                <a:tc>
                  <a:txBody>
                    <a:bodyPr/>
                    <a:lstStyle/>
                    <a:p>
                      <a:pPr algn="r">
                        <a:buNone/>
                      </a:pPr>
                      <a:r>
                        <a:rPr lang="en-US"/>
                        <a:t>6</a:t>
                      </a:r>
                    </a:p>
                  </a:txBody>
                  <a:tcPr anchor="ctr">
                    <a:lnL>
                      <a:noFill/>
                    </a:lnL>
                    <a:lnR>
                      <a:noFill/>
                    </a:lnR>
                    <a:lnT>
                      <a:noFill/>
                    </a:lnT>
                    <a:lnB>
                      <a:noFill/>
                    </a:lnB>
                    <a:noFill/>
                  </a:tcPr>
                </a:tc>
                <a:tc>
                  <a:txBody>
                    <a:bodyPr/>
                    <a:lstStyle/>
                    <a:p>
                      <a:pPr algn="r">
                        <a:buNone/>
                      </a:pPr>
                      <a:r>
                        <a:rPr lang="en-US"/>
                        <a:t>5</a:t>
                      </a:r>
                    </a:p>
                  </a:txBody>
                  <a:tcPr anchor="ctr">
                    <a:lnL>
                      <a:noFill/>
                    </a:lnL>
                    <a:lnR>
                      <a:noFill/>
                    </a:lnR>
                    <a:lnT>
                      <a:noFill/>
                    </a:lnT>
                    <a:lnB>
                      <a:noFill/>
                    </a:lnB>
                    <a:noFill/>
                  </a:tcPr>
                </a:tc>
                <a:tc>
                  <a:txBody>
                    <a:bodyPr/>
                    <a:lstStyle/>
                    <a:p>
                      <a:pPr algn="r">
                        <a:buNone/>
                      </a:pPr>
                      <a:r>
                        <a:rPr lang="en-US" dirty="0"/>
                        <a:t>4</a:t>
                      </a:r>
                    </a:p>
                  </a:txBody>
                  <a:tcPr anchor="ctr">
                    <a:lnL>
                      <a:noFill/>
                    </a:lnL>
                    <a:lnR>
                      <a:noFill/>
                    </a:lnR>
                    <a:lnT>
                      <a:noFill/>
                    </a:lnT>
                    <a:lnB>
                      <a:noFill/>
                    </a:lnB>
                    <a:noFill/>
                  </a:tcPr>
                </a:tc>
                <a:extLst>
                  <a:ext uri="{0D108BD9-81ED-4DB2-BD59-A6C34878D82A}">
                    <a16:rowId xmlns:a16="http://schemas.microsoft.com/office/drawing/2014/main" val="4066097905"/>
                  </a:ext>
                </a:extLst>
              </a:tr>
            </a:tbl>
          </a:graphicData>
        </a:graphic>
      </p:graphicFrame>
    </p:spTree>
    <p:extLst>
      <p:ext uri="{BB962C8B-B14F-4D97-AF65-F5344CB8AC3E}">
        <p14:creationId xmlns:p14="http://schemas.microsoft.com/office/powerpoint/2010/main" val="1034893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76200" y="92075"/>
            <a:ext cx="8991599" cy="822325"/>
          </a:xfrm>
        </p:spPr>
        <p:txBody>
          <a:bodyPr/>
          <a:lstStyle/>
          <a:p>
            <a:pPr eaLnBrk="1" hangingPunct="1"/>
            <a:r>
              <a:rPr lang="tr-TR" altLang="tr-TR" sz="4000" dirty="0" err="1"/>
              <a:t>Less</a:t>
            </a:r>
            <a:r>
              <a:rPr lang="tr-TR" altLang="tr-TR" sz="4000" dirty="0"/>
              <a:t> </a:t>
            </a:r>
            <a:r>
              <a:rPr lang="tr-TR" altLang="tr-TR" sz="4000" dirty="0" err="1"/>
              <a:t>Than</a:t>
            </a:r>
            <a:r>
              <a:rPr lang="tr-TR" altLang="tr-TR" sz="4000" dirty="0"/>
              <a:t> </a:t>
            </a:r>
            <a:r>
              <a:rPr lang="tr-TR" altLang="tr-TR" sz="4000" dirty="0" err="1"/>
              <a:t>Truckload</a:t>
            </a:r>
            <a:r>
              <a:rPr lang="tr-TR" altLang="tr-TR" sz="4000" dirty="0"/>
              <a:t> (LTL) Distribution</a:t>
            </a:r>
            <a:endParaRPr lang="en-US" altLang="tr-TR" sz="4000" dirty="0"/>
          </a:p>
        </p:txBody>
      </p:sp>
      <p:sp>
        <p:nvSpPr>
          <p:cNvPr id="603139" name="Rectangle 3"/>
          <p:cNvSpPr>
            <a:spLocks noGrp="1" noChangeArrowheads="1"/>
          </p:cNvSpPr>
          <p:nvPr>
            <p:ph type="body" idx="1"/>
          </p:nvPr>
        </p:nvSpPr>
        <p:spPr>
          <a:xfrm>
            <a:off x="384175" y="1219200"/>
            <a:ext cx="8188325" cy="4953000"/>
          </a:xfrm>
        </p:spPr>
        <p:txBody>
          <a:bodyPr/>
          <a:lstStyle/>
          <a:p>
            <a:pPr eaLnBrk="1" hangingPunct="1">
              <a:lnSpc>
                <a:spcPts val="3000"/>
              </a:lnSpc>
            </a:pPr>
            <a:r>
              <a:rPr lang="en-US" altLang="tr-TR" sz="2800" dirty="0"/>
              <a:t>Vehicle routing in LTL transportation</a:t>
            </a:r>
          </a:p>
          <a:p>
            <a:pPr lvl="1" eaLnBrk="1" hangingPunct="1">
              <a:lnSpc>
                <a:spcPts val="3000"/>
              </a:lnSpc>
              <a:buClr>
                <a:srgbClr val="000099"/>
              </a:buClr>
              <a:buFont typeface="Courier New" panose="02070309020205020404" pitchFamily="49" charset="0"/>
              <a:buChar char="o"/>
            </a:pPr>
            <a:r>
              <a:rPr lang="en-US" altLang="tr-TR" sz="2400" dirty="0"/>
              <a:t>Typical questions:</a:t>
            </a:r>
            <a:r>
              <a:rPr lang="en-US" altLang="tr-TR" sz="1800" dirty="0"/>
              <a:t> </a:t>
            </a:r>
          </a:p>
          <a:p>
            <a:pPr lvl="2" eaLnBrk="1" hangingPunct="1">
              <a:lnSpc>
                <a:spcPts val="3000"/>
              </a:lnSpc>
              <a:buClr>
                <a:srgbClr val="000099"/>
              </a:buClr>
              <a:buFont typeface="Arial" pitchFamily="34" charset="0"/>
              <a:buChar char="•"/>
            </a:pPr>
            <a:r>
              <a:rPr lang="en-US" altLang="tr-TR" sz="1800" dirty="0"/>
              <a:t>Given a set of customer orders for a given planning period, is it FEASIBLE and PROFITABLE to add another order with specific characteristics?</a:t>
            </a:r>
          </a:p>
          <a:p>
            <a:pPr lvl="2" eaLnBrk="1" hangingPunct="1">
              <a:lnSpc>
                <a:spcPts val="3000"/>
              </a:lnSpc>
              <a:buClr>
                <a:srgbClr val="000099"/>
              </a:buClr>
              <a:buFont typeface="Arial" pitchFamily="34" charset="0"/>
              <a:buChar char="•"/>
            </a:pPr>
            <a:r>
              <a:rPr lang="en-US" altLang="tr-TR" sz="1800" dirty="0"/>
              <a:t>Given a set of customer orders for a given planning period, what is the most cost-efficient way to satisfy them?</a:t>
            </a:r>
          </a:p>
          <a:p>
            <a:pPr lvl="1" eaLnBrk="1" hangingPunct="1">
              <a:lnSpc>
                <a:spcPts val="3000"/>
              </a:lnSpc>
              <a:buClr>
                <a:srgbClr val="000099"/>
              </a:buClr>
              <a:buFont typeface="Courier New" panose="02070309020205020404" pitchFamily="49" charset="0"/>
              <a:buChar char="o"/>
            </a:pPr>
            <a:r>
              <a:rPr lang="en-US" altLang="tr-TR" sz="2400" dirty="0"/>
              <a:t>Clearly the second question has to be answered to be able to decide about the first question!</a:t>
            </a:r>
          </a:p>
          <a:p>
            <a:pPr lvl="2" eaLnBrk="1" hangingPunct="1">
              <a:lnSpc>
                <a:spcPts val="3000"/>
              </a:lnSpc>
            </a:pPr>
            <a:endParaRPr lang="en-US" altLang="tr-TR" sz="2000" dirty="0"/>
          </a:p>
          <a:p>
            <a:pPr algn="ctr" eaLnBrk="1" hangingPunct="1">
              <a:buFont typeface="Wingdings" pitchFamily="2" charset="2"/>
              <a:buNone/>
            </a:pPr>
            <a:r>
              <a:rPr lang="tr-TR" altLang="tr-TR" sz="2800" dirty="0">
                <a:solidFill>
                  <a:srgbClr val="0033CC"/>
                </a:solidFill>
              </a:rPr>
              <a:t>INDR 484 Logistics Management</a:t>
            </a:r>
            <a:endParaRPr lang="en-US" altLang="tr-TR" sz="2800" dirty="0">
              <a:solidFill>
                <a:srgbClr val="0033CC"/>
              </a:solidFill>
            </a:endParaRPr>
          </a:p>
        </p:txBody>
      </p:sp>
      <p:sp>
        <p:nvSpPr>
          <p:cNvPr id="603140" name="Line 4"/>
          <p:cNvSpPr>
            <a:spLocks noChangeShapeType="1"/>
          </p:cNvSpPr>
          <p:nvPr/>
        </p:nvSpPr>
        <p:spPr bwMode="auto">
          <a:xfrm>
            <a:off x="4419600" y="4978400"/>
            <a:ext cx="0" cy="4826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r-TR"/>
          </a:p>
        </p:txBody>
      </p:sp>
      <p:sp>
        <p:nvSpPr>
          <p:cNvPr id="2" name="Slide Number Placeholder 1"/>
          <p:cNvSpPr>
            <a:spLocks noGrp="1"/>
          </p:cNvSpPr>
          <p:nvPr>
            <p:ph type="sldNum" sz="quarter" idx="12"/>
          </p:nvPr>
        </p:nvSpPr>
        <p:spPr/>
        <p:txBody>
          <a:bodyPr/>
          <a:lstStyle/>
          <a:p>
            <a:fld id="{EEA0C0C4-74CF-4C80-AB86-CA62A4B1ED10}" type="slidenum">
              <a:rPr lang="en-US" smtClean="0"/>
              <a:pPr/>
              <a:t>16</a:t>
            </a:fld>
            <a:endParaRPr lang="en-US"/>
          </a:p>
        </p:txBody>
      </p:sp>
      <p:sp>
        <p:nvSpPr>
          <p:cNvPr id="3" name="Date Placeholder 2"/>
          <p:cNvSpPr>
            <a:spLocks noGrp="1"/>
          </p:cNvSpPr>
          <p:nvPr>
            <p:ph type="dt" sz="half" idx="10"/>
          </p:nvPr>
        </p:nvSpPr>
        <p:spPr/>
        <p:txBody>
          <a:bodyPr/>
          <a:lstStyle/>
          <a:p>
            <a:r>
              <a:rPr lang="tr-TR"/>
              <a:t>INDR 100</a:t>
            </a:r>
            <a:endParaRPr lang="en-US"/>
          </a:p>
        </p:txBody>
      </p:sp>
    </p:spTree>
    <p:extLst>
      <p:ext uri="{BB962C8B-B14F-4D97-AF65-F5344CB8AC3E}">
        <p14:creationId xmlns:p14="http://schemas.microsoft.com/office/powerpoint/2010/main" val="2276976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3139">
                                            <p:txEl>
                                              <p:pRg st="0" end="0"/>
                                            </p:txEl>
                                          </p:spTgt>
                                        </p:tgtEl>
                                        <p:attrNameLst>
                                          <p:attrName>style.visibility</p:attrName>
                                        </p:attrNameLst>
                                      </p:cBhvr>
                                      <p:to>
                                        <p:strVal val="visible"/>
                                      </p:to>
                                    </p:set>
                                    <p:animEffect transition="in" filter="blinds(horizontal)">
                                      <p:cBhvr>
                                        <p:cTn id="7" dur="500"/>
                                        <p:tgtEl>
                                          <p:spTgt spid="603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3139">
                                            <p:txEl>
                                              <p:pRg st="1" end="1"/>
                                            </p:txEl>
                                          </p:spTgt>
                                        </p:tgtEl>
                                        <p:attrNameLst>
                                          <p:attrName>style.visibility</p:attrName>
                                        </p:attrNameLst>
                                      </p:cBhvr>
                                      <p:to>
                                        <p:strVal val="visible"/>
                                      </p:to>
                                    </p:set>
                                    <p:animEffect transition="in" filter="blinds(horizontal)">
                                      <p:cBhvr>
                                        <p:cTn id="12" dur="500"/>
                                        <p:tgtEl>
                                          <p:spTgt spid="60313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03139">
                                            <p:txEl>
                                              <p:pRg st="2" end="2"/>
                                            </p:txEl>
                                          </p:spTgt>
                                        </p:tgtEl>
                                        <p:attrNameLst>
                                          <p:attrName>style.visibility</p:attrName>
                                        </p:attrNameLst>
                                      </p:cBhvr>
                                      <p:to>
                                        <p:strVal val="visible"/>
                                      </p:to>
                                    </p:set>
                                    <p:animEffect transition="in" filter="blinds(horizontal)">
                                      <p:cBhvr>
                                        <p:cTn id="15" dur="500"/>
                                        <p:tgtEl>
                                          <p:spTgt spid="60313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603139">
                                            <p:txEl>
                                              <p:pRg st="3" end="3"/>
                                            </p:txEl>
                                          </p:spTgt>
                                        </p:tgtEl>
                                        <p:attrNameLst>
                                          <p:attrName>style.visibility</p:attrName>
                                        </p:attrNameLst>
                                      </p:cBhvr>
                                      <p:to>
                                        <p:strVal val="visible"/>
                                      </p:to>
                                    </p:set>
                                    <p:animEffect transition="in" filter="blinds(horizontal)">
                                      <p:cBhvr>
                                        <p:cTn id="20" dur="500"/>
                                        <p:tgtEl>
                                          <p:spTgt spid="60313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603139">
                                            <p:txEl>
                                              <p:pRg st="4" end="4"/>
                                            </p:txEl>
                                          </p:spTgt>
                                        </p:tgtEl>
                                        <p:attrNameLst>
                                          <p:attrName>style.visibility</p:attrName>
                                        </p:attrNameLst>
                                      </p:cBhvr>
                                      <p:to>
                                        <p:strVal val="visible"/>
                                      </p:to>
                                    </p:set>
                                    <p:animEffect transition="in" filter="blinds(horizontal)">
                                      <p:cBhvr>
                                        <p:cTn id="25" dur="500"/>
                                        <p:tgtEl>
                                          <p:spTgt spid="603139">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03140"/>
                                        </p:tgtEl>
                                        <p:attrNameLst>
                                          <p:attrName>style.visibility</p:attrName>
                                        </p:attrNameLst>
                                      </p:cBhvr>
                                      <p:to>
                                        <p:strVal val="visible"/>
                                      </p:to>
                                    </p:set>
                                    <p:animEffect transition="in" filter="blinds(horizontal)">
                                      <p:cBhvr>
                                        <p:cTn id="30" dur="500"/>
                                        <p:tgtEl>
                                          <p:spTgt spid="603140"/>
                                        </p:tgtEl>
                                      </p:cBhvr>
                                    </p:animEffect>
                                  </p:childTnLst>
                                </p:cTn>
                              </p:par>
                              <p:par>
                                <p:cTn id="31" presetID="3" presetClass="entr" presetSubtype="10" fill="hold" nodeType="withEffect">
                                  <p:stCondLst>
                                    <p:cond delay="0"/>
                                  </p:stCondLst>
                                  <p:childTnLst>
                                    <p:set>
                                      <p:cBhvr>
                                        <p:cTn id="32" dur="1" fill="hold">
                                          <p:stCondLst>
                                            <p:cond delay="0"/>
                                          </p:stCondLst>
                                        </p:cTn>
                                        <p:tgtEl>
                                          <p:spTgt spid="603139">
                                            <p:txEl>
                                              <p:pRg st="6" end="6"/>
                                            </p:txEl>
                                          </p:spTgt>
                                        </p:tgtEl>
                                        <p:attrNameLst>
                                          <p:attrName>style.visibility</p:attrName>
                                        </p:attrNameLst>
                                      </p:cBhvr>
                                      <p:to>
                                        <p:strVal val="visible"/>
                                      </p:to>
                                    </p:set>
                                    <p:animEffect transition="in" filter="blinds(horizontal)">
                                      <p:cBhvr>
                                        <p:cTn id="33" dur="500"/>
                                        <p:tgtEl>
                                          <p:spTgt spid="6031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E6BB-DDF1-C71E-FFCA-5CDD1D599D0B}"/>
              </a:ext>
            </a:extLst>
          </p:cNvPr>
          <p:cNvSpPr>
            <a:spLocks noGrp="1"/>
          </p:cNvSpPr>
          <p:nvPr>
            <p:ph type="title"/>
          </p:nvPr>
        </p:nvSpPr>
        <p:spPr>
          <a:xfrm>
            <a:off x="457200" y="-19594"/>
            <a:ext cx="8229600" cy="751431"/>
          </a:xfrm>
        </p:spPr>
        <p:txBody>
          <a:bodyPr/>
          <a:lstStyle/>
          <a:p>
            <a:r>
              <a:rPr lang="en-US" dirty="0"/>
              <a:t>Travelling salesman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E1F9B-BFAE-DE1F-783E-7D5D7ED02B1D}"/>
                  </a:ext>
                </a:extLst>
              </p:cNvPr>
              <p:cNvSpPr>
                <a:spLocks noGrp="1"/>
              </p:cNvSpPr>
              <p:nvPr>
                <p:ph idx="1"/>
              </p:nvPr>
            </p:nvSpPr>
            <p:spPr>
              <a:xfrm>
                <a:off x="304800" y="855300"/>
                <a:ext cx="8229600" cy="5545500"/>
              </a:xfrm>
            </p:spPr>
            <p:txBody>
              <a:bodyPr/>
              <a:lstStyle/>
              <a:p>
                <a:r>
                  <a:rPr lang="en-US" dirty="0"/>
                  <a:t>VRP problem with one vehicle</a:t>
                </a:r>
              </a:p>
              <a:p>
                <a:r>
                  <a:rPr lang="en-US" dirty="0"/>
                  <a:t>Find a Hamiltonian tour with the minimum cost</a:t>
                </a:r>
              </a:p>
              <a:p>
                <a:r>
                  <a:rPr lang="en-US" b="1" dirty="0"/>
                  <a:t>Inputs</a:t>
                </a:r>
              </a:p>
              <a:p>
                <a:pPr lvl="1"/>
                <a:r>
                  <a:rPr lang="en-US" dirty="0"/>
                  <a:t>A set of cities </a:t>
                </a:r>
                <a14:m>
                  <m:oMath xmlns:m="http://schemas.openxmlformats.org/officeDocument/2006/math">
                    <m:r>
                      <a:rPr lang="en-US" i="1">
                        <a:latin typeface="Cambria Math" panose="02040503050406030204" pitchFamily="18" charset="0"/>
                      </a:rPr>
                      <m:t>𝑁</m:t>
                    </m:r>
                    <m:r>
                      <a:rPr lang="en-US">
                        <a:latin typeface="Cambria Math" panose="02040503050406030204" pitchFamily="18" charset="0"/>
                      </a:rPr>
                      <m:t>=</m:t>
                    </m:r>
                    <m:r>
                      <a:rPr lang="en-US" b="0" i="0" smtClean="0">
                        <a:latin typeface="Cambria Math" panose="02040503050406030204" pitchFamily="18" charset="0"/>
                      </a:rPr>
                      <m:t>{1,2,</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ar-AE" dirty="0"/>
              </a:p>
              <a:p>
                <a:pPr lvl="1"/>
                <a:r>
                  <a:rPr lang="en-US" dirty="0"/>
                  <a:t>Distance (or cost)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𝑖𝑗</m:t>
                        </m:r>
                      </m:sub>
                    </m:sSub>
                  </m:oMath>
                </a14:m>
                <a:r>
                  <a:rPr lang="en-US" dirty="0"/>
                  <a:t> between each pair of cities </a:t>
                </a:r>
                <a14:m>
                  <m:oMath xmlns:m="http://schemas.openxmlformats.org/officeDocument/2006/math">
                    <m:r>
                      <a:rPr lang="en-US" i="1">
                        <a:latin typeface="Cambria Math" panose="02040503050406030204" pitchFamily="18" charset="0"/>
                      </a:rPr>
                      <m:t>𝑖</m:t>
                    </m:r>
                  </m:oMath>
                </a14:m>
                <a:r>
                  <a:rPr lang="en-US" dirty="0"/>
                  <a:t> and </a:t>
                </a:r>
                <a14:m>
                  <m:oMath xmlns:m="http://schemas.openxmlformats.org/officeDocument/2006/math">
                    <m:r>
                      <a:rPr lang="en-US" i="1">
                        <a:latin typeface="Cambria Math" panose="02040503050406030204" pitchFamily="18" charset="0"/>
                      </a:rPr>
                      <m:t>𝑗</m:t>
                    </m:r>
                  </m:oMath>
                </a14:m>
                <a:endParaRPr lang="en-US" dirty="0"/>
              </a:p>
              <a:p>
                <a:r>
                  <a:rPr lang="en-US" b="1" dirty="0"/>
                  <a:t>Decision</a:t>
                </a:r>
              </a:p>
              <a:p>
                <a:pPr lvl="1"/>
                <a:r>
                  <a:rPr lang="en-US" dirty="0"/>
                  <a:t>In which </a:t>
                </a:r>
                <a:r>
                  <a:rPr lang="en-US" b="1" dirty="0"/>
                  <a:t>order</a:t>
                </a:r>
                <a:r>
                  <a:rPr lang="en-US" dirty="0"/>
                  <a:t> should the cities be visited to minimize the cost (distance)?</a:t>
                </a:r>
              </a:p>
            </p:txBody>
          </p:sp>
        </mc:Choice>
        <mc:Fallback xmlns="">
          <p:sp>
            <p:nvSpPr>
              <p:cNvPr id="3" name="Content Placeholder 2">
                <a:extLst>
                  <a:ext uri="{FF2B5EF4-FFF2-40B4-BE49-F238E27FC236}">
                    <a16:creationId xmlns:a16="http://schemas.microsoft.com/office/drawing/2014/main" id="{81AE1F9B-BFAE-DE1F-783E-7D5D7ED02B1D}"/>
                  </a:ext>
                </a:extLst>
              </p:cNvPr>
              <p:cNvSpPr>
                <a:spLocks noGrp="1" noRot="1" noChangeAspect="1" noMove="1" noResize="1" noEditPoints="1" noAdjustHandles="1" noChangeArrowheads="1" noChangeShapeType="1" noTextEdit="1"/>
              </p:cNvSpPr>
              <p:nvPr>
                <p:ph idx="1"/>
              </p:nvPr>
            </p:nvSpPr>
            <p:spPr>
              <a:xfrm>
                <a:off x="304800" y="855300"/>
                <a:ext cx="8229600" cy="5545500"/>
              </a:xfrm>
              <a:blipFill>
                <a:blip r:embed="rId2"/>
                <a:stretch>
                  <a:fillRect l="-772" t="-1370" r="-3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4D84598-64C3-1B66-ABE3-325A750A8296}"/>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27B9AC61-BAB6-D359-D6EB-093CEEF102F0}"/>
              </a:ext>
            </a:extLst>
          </p:cNvPr>
          <p:cNvSpPr>
            <a:spLocks noGrp="1"/>
          </p:cNvSpPr>
          <p:nvPr>
            <p:ph type="sldNum" sz="quarter" idx="12"/>
          </p:nvPr>
        </p:nvSpPr>
        <p:spPr/>
        <p:txBody>
          <a:bodyPr/>
          <a:lstStyle/>
          <a:p>
            <a:fld id="{EEA0C0C4-74CF-4C80-AB86-CA62A4B1ED10}" type="slidenum">
              <a:rPr lang="en-US" smtClean="0"/>
              <a:pPr/>
              <a:t>17</a:t>
            </a:fld>
            <a:endParaRPr lang="en-US"/>
          </a:p>
        </p:txBody>
      </p:sp>
    </p:spTree>
    <p:extLst>
      <p:ext uri="{BB962C8B-B14F-4D97-AF65-F5344CB8AC3E}">
        <p14:creationId xmlns:p14="http://schemas.microsoft.com/office/powerpoint/2010/main" val="272698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791ED-25F6-AC73-D3AD-126978849066}"/>
              </a:ext>
            </a:extLst>
          </p:cNvPr>
          <p:cNvSpPr>
            <a:spLocks noGrp="1"/>
          </p:cNvSpPr>
          <p:nvPr>
            <p:ph type="title"/>
          </p:nvPr>
        </p:nvSpPr>
        <p:spPr/>
        <p:txBody>
          <a:bodyPr/>
          <a:lstStyle/>
          <a:p>
            <a:r>
              <a:rPr lang="en-US"/>
              <a:t>Miller Zemlin Tucker (MTZ) Formulation</a:t>
            </a:r>
            <a:endParaRPr lang="en-US" dirty="0"/>
          </a:p>
        </p:txBody>
      </p:sp>
      <p:pic>
        <p:nvPicPr>
          <p:cNvPr id="7" name="Content Placeholder 6" descr="A math equations and formulas&#10;&#10;AI-generated content may be incorrect.">
            <a:extLst>
              <a:ext uri="{FF2B5EF4-FFF2-40B4-BE49-F238E27FC236}">
                <a16:creationId xmlns:a16="http://schemas.microsoft.com/office/drawing/2014/main" id="{052B9A5B-2C83-C238-E4F0-13300588F1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5139" y="1600200"/>
            <a:ext cx="7573721" cy="4525963"/>
          </a:xfrm>
        </p:spPr>
      </p:pic>
      <p:sp>
        <p:nvSpPr>
          <p:cNvPr id="4" name="Date Placeholder 3">
            <a:extLst>
              <a:ext uri="{FF2B5EF4-FFF2-40B4-BE49-F238E27FC236}">
                <a16:creationId xmlns:a16="http://schemas.microsoft.com/office/drawing/2014/main" id="{A6EC162E-CD2D-3A86-CC6B-587D3199308D}"/>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796E980C-2B58-D769-F7AF-61F43E8836CD}"/>
              </a:ext>
            </a:extLst>
          </p:cNvPr>
          <p:cNvSpPr>
            <a:spLocks noGrp="1"/>
          </p:cNvSpPr>
          <p:nvPr>
            <p:ph type="sldNum" sz="quarter" idx="12"/>
          </p:nvPr>
        </p:nvSpPr>
        <p:spPr/>
        <p:txBody>
          <a:bodyPr/>
          <a:lstStyle/>
          <a:p>
            <a:fld id="{EEA0C0C4-74CF-4C80-AB86-CA62A4B1ED10}" type="slidenum">
              <a:rPr lang="en-US" smtClean="0"/>
              <a:pPr/>
              <a:t>18</a:t>
            </a:fld>
            <a:endParaRPr lang="en-US"/>
          </a:p>
        </p:txBody>
      </p:sp>
      <p:sp>
        <p:nvSpPr>
          <p:cNvPr id="3" name="TextBox 2">
            <a:extLst>
              <a:ext uri="{FF2B5EF4-FFF2-40B4-BE49-F238E27FC236}">
                <a16:creationId xmlns:a16="http://schemas.microsoft.com/office/drawing/2014/main" id="{7BF1285B-DE99-0EE4-853C-FA7B45F8073C}"/>
              </a:ext>
            </a:extLst>
          </p:cNvPr>
          <p:cNvSpPr txBox="1"/>
          <p:nvPr/>
        </p:nvSpPr>
        <p:spPr>
          <a:xfrm>
            <a:off x="2971800" y="4950023"/>
            <a:ext cx="182880" cy="307777"/>
          </a:xfrm>
          <a:prstGeom prst="rect">
            <a:avLst/>
          </a:prstGeom>
          <a:solidFill>
            <a:schemeClr val="bg1"/>
          </a:solidFill>
        </p:spPr>
        <p:txBody>
          <a:bodyPr wrap="square" lIns="0" tIns="0" rIns="0" bIns="0" rtlCol="0">
            <a:spAutoFit/>
          </a:bodyPr>
          <a:lstStyle/>
          <a:p>
            <a:pPr algn="ctr"/>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42688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E7AF-FB05-1B57-7123-50073395D179}"/>
              </a:ext>
            </a:extLst>
          </p:cNvPr>
          <p:cNvSpPr>
            <a:spLocks noGrp="1"/>
          </p:cNvSpPr>
          <p:nvPr>
            <p:ph type="title"/>
          </p:nvPr>
        </p:nvSpPr>
        <p:spPr/>
        <p:txBody>
          <a:bodyPr/>
          <a:lstStyle/>
          <a:p>
            <a:r>
              <a:rPr lang="en-US" dirty="0"/>
              <a:t>Nearest Neighbor Heuristic</a:t>
            </a:r>
          </a:p>
        </p:txBody>
      </p:sp>
      <p:sp>
        <p:nvSpPr>
          <p:cNvPr id="3" name="Content Placeholder 2">
            <a:extLst>
              <a:ext uri="{FF2B5EF4-FFF2-40B4-BE49-F238E27FC236}">
                <a16:creationId xmlns:a16="http://schemas.microsoft.com/office/drawing/2014/main" id="{8F6FED80-9BE9-D1A7-3076-3E7D2DB7F751}"/>
              </a:ext>
            </a:extLst>
          </p:cNvPr>
          <p:cNvSpPr>
            <a:spLocks noGrp="1"/>
          </p:cNvSpPr>
          <p:nvPr>
            <p:ph idx="1"/>
          </p:nvPr>
        </p:nvSpPr>
        <p:spPr/>
        <p:txBody>
          <a:bodyPr/>
          <a:lstStyle/>
          <a:p>
            <a:r>
              <a:rPr lang="en-US" b="1" dirty="0"/>
              <a:t>Idea</a:t>
            </a:r>
          </a:p>
          <a:p>
            <a:pPr lvl="1"/>
            <a:r>
              <a:rPr lang="en-US" dirty="0"/>
              <a:t>Start from a city and repeatedly visit the </a:t>
            </a:r>
            <a:r>
              <a:rPr lang="en-US" b="1" dirty="0"/>
              <a:t>closest unvisited city</a:t>
            </a:r>
            <a:r>
              <a:rPr lang="en-US" dirty="0"/>
              <a:t> until all cities are visited, then return to the start.</a:t>
            </a:r>
          </a:p>
          <a:p>
            <a:endParaRPr lang="en-US" dirty="0"/>
          </a:p>
        </p:txBody>
      </p:sp>
      <p:sp>
        <p:nvSpPr>
          <p:cNvPr id="4" name="Date Placeholder 3">
            <a:extLst>
              <a:ext uri="{FF2B5EF4-FFF2-40B4-BE49-F238E27FC236}">
                <a16:creationId xmlns:a16="http://schemas.microsoft.com/office/drawing/2014/main" id="{53F4FBE9-1F4E-1A7E-54C8-CB3DEEB59349}"/>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B886C063-2634-4750-0E35-CD28D1C0992D}"/>
              </a:ext>
            </a:extLst>
          </p:cNvPr>
          <p:cNvSpPr>
            <a:spLocks noGrp="1"/>
          </p:cNvSpPr>
          <p:nvPr>
            <p:ph type="sldNum" sz="quarter" idx="12"/>
          </p:nvPr>
        </p:nvSpPr>
        <p:spPr/>
        <p:txBody>
          <a:bodyPr/>
          <a:lstStyle/>
          <a:p>
            <a:fld id="{EEA0C0C4-74CF-4C80-AB86-CA62A4B1ED10}" type="slidenum">
              <a:rPr lang="en-US" smtClean="0"/>
              <a:pPr/>
              <a:t>19</a:t>
            </a:fld>
            <a:endParaRPr lang="en-US"/>
          </a:p>
        </p:txBody>
      </p:sp>
    </p:spTree>
    <p:extLst>
      <p:ext uri="{BB962C8B-B14F-4D97-AF65-F5344CB8AC3E}">
        <p14:creationId xmlns:p14="http://schemas.microsoft.com/office/powerpoint/2010/main" val="3321213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66EED-DF66-04A2-B14F-BF3C5FD1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2328E-F833-9159-EEBB-D25BB561C4E5}"/>
              </a:ext>
            </a:extLst>
          </p:cNvPr>
          <p:cNvSpPr>
            <a:spLocks noGrp="1"/>
          </p:cNvSpPr>
          <p:nvPr>
            <p:ph type="title"/>
          </p:nvPr>
        </p:nvSpPr>
        <p:spPr/>
        <p:txBody>
          <a:bodyPr/>
          <a:lstStyle/>
          <a:p>
            <a:r>
              <a:rPr lang="en-US" dirty="0"/>
              <a:t>Nearest Neighbor Heuristic</a:t>
            </a:r>
          </a:p>
        </p:txBody>
      </p:sp>
      <p:sp>
        <p:nvSpPr>
          <p:cNvPr id="3" name="Content Placeholder 2">
            <a:extLst>
              <a:ext uri="{FF2B5EF4-FFF2-40B4-BE49-F238E27FC236}">
                <a16:creationId xmlns:a16="http://schemas.microsoft.com/office/drawing/2014/main" id="{972A8EEB-372F-4250-5545-A691C61ED9D1}"/>
              </a:ext>
            </a:extLst>
          </p:cNvPr>
          <p:cNvSpPr>
            <a:spLocks noGrp="1"/>
          </p:cNvSpPr>
          <p:nvPr>
            <p:ph idx="1"/>
          </p:nvPr>
        </p:nvSpPr>
        <p:spPr>
          <a:xfrm>
            <a:off x="296091" y="1262063"/>
            <a:ext cx="8229600" cy="762000"/>
          </a:xfrm>
        </p:spPr>
        <p:txBody>
          <a:bodyPr/>
          <a:lstStyle/>
          <a:p>
            <a:r>
              <a:rPr lang="en-US" b="1" dirty="0"/>
              <a:t>Example</a:t>
            </a:r>
          </a:p>
          <a:p>
            <a:pPr marL="0" indent="0">
              <a:buNone/>
            </a:pPr>
            <a:endParaRPr lang="en-US" dirty="0"/>
          </a:p>
        </p:txBody>
      </p:sp>
      <p:graphicFrame>
        <p:nvGraphicFramePr>
          <p:cNvPr id="6" name="Table 5">
            <a:extLst>
              <a:ext uri="{FF2B5EF4-FFF2-40B4-BE49-F238E27FC236}">
                <a16:creationId xmlns:a16="http://schemas.microsoft.com/office/drawing/2014/main" id="{F7D5EE39-C3E2-1898-F04B-5B53FC44AB33}"/>
              </a:ext>
            </a:extLst>
          </p:cNvPr>
          <p:cNvGraphicFramePr>
            <a:graphicFrameLocks noGrp="1"/>
          </p:cNvGraphicFramePr>
          <p:nvPr>
            <p:extLst>
              <p:ext uri="{D42A27DB-BD31-4B8C-83A1-F6EECF244321}">
                <p14:modId xmlns:p14="http://schemas.microsoft.com/office/powerpoint/2010/main" val="3861582232"/>
              </p:ext>
            </p:extLst>
          </p:nvPr>
        </p:nvGraphicFramePr>
        <p:xfrm>
          <a:off x="457200" y="1943100"/>
          <a:ext cx="5638800" cy="2971800"/>
        </p:xfrm>
        <a:graphic>
          <a:graphicData uri="http://schemas.openxmlformats.org/drawingml/2006/table">
            <a:tbl>
              <a:tblPr/>
              <a:tblGrid>
                <a:gridCol w="1474763">
                  <a:extLst>
                    <a:ext uri="{9D8B030D-6E8A-4147-A177-3AD203B41FA5}">
                      <a16:colId xmlns:a16="http://schemas.microsoft.com/office/drawing/2014/main" val="877102078"/>
                    </a:ext>
                  </a:extLst>
                </a:gridCol>
                <a:gridCol w="607255">
                  <a:extLst>
                    <a:ext uri="{9D8B030D-6E8A-4147-A177-3AD203B41FA5}">
                      <a16:colId xmlns:a16="http://schemas.microsoft.com/office/drawing/2014/main" val="3560452476"/>
                    </a:ext>
                  </a:extLst>
                </a:gridCol>
                <a:gridCol w="737382">
                  <a:extLst>
                    <a:ext uri="{9D8B030D-6E8A-4147-A177-3AD203B41FA5}">
                      <a16:colId xmlns:a16="http://schemas.microsoft.com/office/drawing/2014/main" val="3144975825"/>
                    </a:ext>
                  </a:extLst>
                </a:gridCol>
                <a:gridCol w="939800">
                  <a:extLst>
                    <a:ext uri="{9D8B030D-6E8A-4147-A177-3AD203B41FA5}">
                      <a16:colId xmlns:a16="http://schemas.microsoft.com/office/drawing/2014/main" val="1262343175"/>
                    </a:ext>
                  </a:extLst>
                </a:gridCol>
                <a:gridCol w="939800">
                  <a:extLst>
                    <a:ext uri="{9D8B030D-6E8A-4147-A177-3AD203B41FA5}">
                      <a16:colId xmlns:a16="http://schemas.microsoft.com/office/drawing/2014/main" val="1243040543"/>
                    </a:ext>
                  </a:extLst>
                </a:gridCol>
                <a:gridCol w="939800">
                  <a:extLst>
                    <a:ext uri="{9D8B030D-6E8A-4147-A177-3AD203B41FA5}">
                      <a16:colId xmlns:a16="http://schemas.microsoft.com/office/drawing/2014/main" val="2029695826"/>
                    </a:ext>
                  </a:extLst>
                </a:gridCol>
              </a:tblGrid>
              <a:tr h="495300">
                <a:tc>
                  <a:txBody>
                    <a:bodyPr/>
                    <a:lstStyle/>
                    <a:p>
                      <a:pPr>
                        <a:buNone/>
                      </a:pPr>
                      <a:r>
                        <a:rPr lang="en-US" sz="2400" dirty="0"/>
                        <a:t>From/To</a:t>
                      </a:r>
                    </a:p>
                  </a:txBody>
                  <a:tcPr anchor="ctr">
                    <a:lnL>
                      <a:noFill/>
                    </a:lnL>
                    <a:lnR>
                      <a:noFill/>
                    </a:lnR>
                    <a:lnT>
                      <a:noFill/>
                    </a:lnT>
                    <a:lnB>
                      <a:noFill/>
                    </a:lnB>
                    <a:solidFill>
                      <a:schemeClr val="accent1">
                        <a:lumMod val="90000"/>
                      </a:schemeClr>
                    </a:solidFill>
                  </a:tcPr>
                </a:tc>
                <a:tc>
                  <a:txBody>
                    <a:bodyPr/>
                    <a:lstStyle/>
                    <a:p>
                      <a:pPr algn="r">
                        <a:buNone/>
                      </a:pPr>
                      <a:r>
                        <a:rPr lang="en-US" sz="2400"/>
                        <a:t>A</a:t>
                      </a:r>
                    </a:p>
                  </a:txBody>
                  <a:tcPr anchor="ctr">
                    <a:lnL>
                      <a:noFill/>
                    </a:lnL>
                    <a:lnR>
                      <a:noFill/>
                    </a:lnR>
                    <a:lnT>
                      <a:noFill/>
                    </a:lnT>
                    <a:lnB>
                      <a:noFill/>
                    </a:lnB>
                    <a:solidFill>
                      <a:schemeClr val="accent1">
                        <a:lumMod val="90000"/>
                      </a:schemeClr>
                    </a:solidFill>
                  </a:tcPr>
                </a:tc>
                <a:tc>
                  <a:txBody>
                    <a:bodyPr/>
                    <a:lstStyle/>
                    <a:p>
                      <a:pPr algn="r">
                        <a:buNone/>
                      </a:pPr>
                      <a:r>
                        <a:rPr lang="en-US" sz="2400"/>
                        <a:t>B</a:t>
                      </a:r>
                    </a:p>
                  </a:txBody>
                  <a:tcPr anchor="ctr">
                    <a:lnL>
                      <a:noFill/>
                    </a:lnL>
                    <a:lnR>
                      <a:noFill/>
                    </a:lnR>
                    <a:lnT>
                      <a:noFill/>
                    </a:lnT>
                    <a:lnB>
                      <a:noFill/>
                    </a:lnB>
                    <a:solidFill>
                      <a:schemeClr val="accent1">
                        <a:lumMod val="90000"/>
                      </a:schemeClr>
                    </a:solidFill>
                  </a:tcPr>
                </a:tc>
                <a:tc>
                  <a:txBody>
                    <a:bodyPr/>
                    <a:lstStyle/>
                    <a:p>
                      <a:pPr algn="r">
                        <a:buNone/>
                      </a:pPr>
                      <a:r>
                        <a:rPr lang="en-US" sz="2400"/>
                        <a:t>C</a:t>
                      </a:r>
                    </a:p>
                  </a:txBody>
                  <a:tcPr anchor="ctr">
                    <a:lnL>
                      <a:noFill/>
                    </a:lnL>
                    <a:lnR>
                      <a:noFill/>
                    </a:lnR>
                    <a:lnT>
                      <a:noFill/>
                    </a:lnT>
                    <a:lnB>
                      <a:noFill/>
                    </a:lnB>
                    <a:solidFill>
                      <a:schemeClr val="accent1">
                        <a:lumMod val="90000"/>
                      </a:schemeClr>
                    </a:solidFill>
                  </a:tcPr>
                </a:tc>
                <a:tc>
                  <a:txBody>
                    <a:bodyPr/>
                    <a:lstStyle/>
                    <a:p>
                      <a:pPr algn="r">
                        <a:buNone/>
                      </a:pPr>
                      <a:r>
                        <a:rPr lang="en-US" sz="2400"/>
                        <a:t>D</a:t>
                      </a:r>
                    </a:p>
                  </a:txBody>
                  <a:tcPr anchor="ctr">
                    <a:lnL>
                      <a:noFill/>
                    </a:lnL>
                    <a:lnR>
                      <a:noFill/>
                    </a:lnR>
                    <a:lnT>
                      <a:noFill/>
                    </a:lnT>
                    <a:lnB>
                      <a:noFill/>
                    </a:lnB>
                    <a:solidFill>
                      <a:schemeClr val="accent1">
                        <a:lumMod val="90000"/>
                      </a:schemeClr>
                    </a:solidFill>
                  </a:tcPr>
                </a:tc>
                <a:tc>
                  <a:txBody>
                    <a:bodyPr/>
                    <a:lstStyle/>
                    <a:p>
                      <a:pPr algn="r">
                        <a:buNone/>
                      </a:pPr>
                      <a:r>
                        <a:rPr lang="en-US" sz="2400" dirty="0"/>
                        <a:t>E</a:t>
                      </a:r>
                    </a:p>
                  </a:txBody>
                  <a:tcPr anchor="ctr">
                    <a:lnL>
                      <a:noFill/>
                    </a:lnL>
                    <a:lnR>
                      <a:noFill/>
                    </a:lnR>
                    <a:lnT>
                      <a:noFill/>
                    </a:lnT>
                    <a:lnB>
                      <a:noFill/>
                    </a:lnB>
                    <a:solidFill>
                      <a:schemeClr val="accent1">
                        <a:lumMod val="90000"/>
                      </a:schemeClr>
                    </a:solidFill>
                  </a:tcPr>
                </a:tc>
                <a:extLst>
                  <a:ext uri="{0D108BD9-81ED-4DB2-BD59-A6C34878D82A}">
                    <a16:rowId xmlns:a16="http://schemas.microsoft.com/office/drawing/2014/main" val="228816230"/>
                  </a:ext>
                </a:extLst>
              </a:tr>
              <a:tr h="495300">
                <a:tc>
                  <a:txBody>
                    <a:bodyPr/>
                    <a:lstStyle/>
                    <a:p>
                      <a:pPr>
                        <a:buNone/>
                      </a:pPr>
                      <a:r>
                        <a:rPr lang="en-US" sz="2400" b="1" dirty="0"/>
                        <a:t>A</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15</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20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12</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012338322"/>
                  </a:ext>
                </a:extLst>
              </a:tr>
              <a:tr h="495300">
                <a:tc>
                  <a:txBody>
                    <a:bodyPr/>
                    <a:lstStyle/>
                    <a:p>
                      <a:pPr>
                        <a:buNone/>
                      </a:pPr>
                      <a:r>
                        <a:rPr lang="en-US" sz="2400" b="1" dirty="0"/>
                        <a:t>B</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9</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8</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424396930"/>
                  </a:ext>
                </a:extLst>
              </a:tr>
              <a:tr h="495300">
                <a:tc>
                  <a:txBody>
                    <a:bodyPr/>
                    <a:lstStyle/>
                    <a:p>
                      <a:pPr>
                        <a:buNone/>
                      </a:pPr>
                      <a:r>
                        <a:rPr lang="en-US" sz="2400" b="1" dirty="0"/>
                        <a:t>C</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15</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9</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7</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11</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05908422"/>
                  </a:ext>
                </a:extLst>
              </a:tr>
              <a:tr h="495300">
                <a:tc>
                  <a:txBody>
                    <a:bodyPr/>
                    <a:lstStyle/>
                    <a:p>
                      <a:pPr>
                        <a:buNone/>
                      </a:pPr>
                      <a:r>
                        <a:rPr lang="en-US" sz="2400" b="1" dirty="0"/>
                        <a:t>D</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20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7</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6</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331320586"/>
                  </a:ext>
                </a:extLst>
              </a:tr>
              <a:tr h="495300">
                <a:tc>
                  <a:txBody>
                    <a:bodyPr/>
                    <a:lstStyle/>
                    <a:p>
                      <a:pPr>
                        <a:buNone/>
                      </a:pPr>
                      <a:r>
                        <a:rPr lang="en-US" sz="2400" b="1" dirty="0"/>
                        <a:t>E</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12</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8</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11</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6</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99304029"/>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3FD5DA6-7FEF-0BA0-82A6-ADE84B10EF64}"/>
                  </a:ext>
                </a:extLst>
              </p:cNvPr>
              <p:cNvSpPr txBox="1"/>
              <p:nvPr/>
            </p:nvSpPr>
            <p:spPr>
              <a:xfrm>
                <a:off x="609601" y="5181600"/>
                <a:ext cx="7619999" cy="1015663"/>
              </a:xfrm>
              <a:prstGeom prst="rect">
                <a:avLst/>
              </a:prstGeom>
              <a:noFill/>
            </p:spPr>
            <p:txBody>
              <a:bodyPr wrap="square" rtlCol="0">
                <a:spAutoFit/>
              </a:bodyPr>
              <a:lstStyle/>
              <a:p>
                <a:r>
                  <a:rPr lang="en-US" sz="2000" dirty="0"/>
                  <a:t>A--B--E--D--C--A </a:t>
                </a:r>
              </a:p>
              <a:p>
                <a:r>
                  <a:rPr lang="en-US" sz="2000" dirty="0"/>
                  <a:t>Total cost:</a:t>
                </a:r>
              </a:p>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10+8+6+7+15=46</m:t>
                      </m:r>
                    </m:oMath>
                  </m:oMathPara>
                </a14:m>
                <a:endParaRPr lang="en-US" sz="2000" dirty="0"/>
              </a:p>
            </p:txBody>
          </p:sp>
        </mc:Choice>
        <mc:Fallback xmlns="">
          <p:sp>
            <p:nvSpPr>
              <p:cNvPr id="7" name="TextBox 6">
                <a:extLst>
                  <a:ext uri="{FF2B5EF4-FFF2-40B4-BE49-F238E27FC236}">
                    <a16:creationId xmlns:a16="http://schemas.microsoft.com/office/drawing/2014/main" id="{D3FD5DA6-7FEF-0BA0-82A6-ADE84B10EF64}"/>
                  </a:ext>
                </a:extLst>
              </p:cNvPr>
              <p:cNvSpPr txBox="1">
                <a:spLocks noRot="1" noChangeAspect="1" noMove="1" noResize="1" noEditPoints="1" noAdjustHandles="1" noChangeArrowheads="1" noChangeShapeType="1" noTextEdit="1"/>
              </p:cNvSpPr>
              <p:nvPr/>
            </p:nvSpPr>
            <p:spPr>
              <a:xfrm>
                <a:off x="609601" y="5181600"/>
                <a:ext cx="7619999" cy="1015663"/>
              </a:xfrm>
              <a:prstGeom prst="rect">
                <a:avLst/>
              </a:prstGeom>
              <a:blipFill>
                <a:blip r:embed="rId2"/>
                <a:stretch>
                  <a:fillRect l="-833" t="-3704"/>
                </a:stretch>
              </a:blipFill>
            </p:spPr>
            <p:txBody>
              <a:bodyPr/>
              <a:lstStyle/>
              <a:p>
                <a:r>
                  <a:rPr lang="en-US">
                    <a:noFill/>
                  </a:rPr>
                  <a:t> </a:t>
                </a:r>
              </a:p>
            </p:txBody>
          </p:sp>
        </mc:Fallback>
      </mc:AlternateContent>
    </p:spTree>
    <p:extLst>
      <p:ext uri="{BB962C8B-B14F-4D97-AF65-F5344CB8AC3E}">
        <p14:creationId xmlns:p14="http://schemas.microsoft.com/office/powerpoint/2010/main" val="3527183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2995-8744-7639-9E82-A37989EC3991}"/>
              </a:ext>
            </a:extLst>
          </p:cNvPr>
          <p:cNvSpPr>
            <a:spLocks noGrp="1"/>
          </p:cNvSpPr>
          <p:nvPr>
            <p:ph type="title"/>
          </p:nvPr>
        </p:nvSpPr>
        <p:spPr/>
        <p:txBody>
          <a:bodyPr/>
          <a:lstStyle/>
          <a:p>
            <a:r>
              <a:rPr lang="en-US" dirty="0"/>
              <a:t>2-opt Heuristic for improvement</a:t>
            </a:r>
          </a:p>
        </p:txBody>
      </p:sp>
      <p:sp>
        <p:nvSpPr>
          <p:cNvPr id="3" name="Content Placeholder 2">
            <a:extLst>
              <a:ext uri="{FF2B5EF4-FFF2-40B4-BE49-F238E27FC236}">
                <a16:creationId xmlns:a16="http://schemas.microsoft.com/office/drawing/2014/main" id="{5151C6E5-0DB6-87A4-0F3C-FF9D1C878262}"/>
              </a:ext>
            </a:extLst>
          </p:cNvPr>
          <p:cNvSpPr>
            <a:spLocks noGrp="1"/>
          </p:cNvSpPr>
          <p:nvPr>
            <p:ph idx="1"/>
          </p:nvPr>
        </p:nvSpPr>
        <p:spPr>
          <a:xfrm>
            <a:off x="457200" y="1600200"/>
            <a:ext cx="8534400" cy="4525963"/>
          </a:xfrm>
        </p:spPr>
        <p:txBody>
          <a:bodyPr/>
          <a:lstStyle/>
          <a:p>
            <a:r>
              <a:rPr lang="en-US" dirty="0"/>
              <a:t>Choose two node disjoint edges and remove from the tour</a:t>
            </a:r>
          </a:p>
          <a:p>
            <a:r>
              <a:rPr lang="en-US" dirty="0"/>
              <a:t>Reconnect the nodes by adding two new edges  </a:t>
            </a:r>
          </a:p>
          <a:p>
            <a:r>
              <a:rPr lang="en-US" dirty="0"/>
              <a:t>Calculate the improvement</a:t>
            </a:r>
          </a:p>
          <a:p>
            <a:r>
              <a:rPr lang="en-US" dirty="0"/>
              <a:t>If there is improvement make the swap, if not check another pair</a:t>
            </a:r>
          </a:p>
          <a:p>
            <a:r>
              <a:rPr lang="en-US" dirty="0"/>
              <a:t>Stop when no pair provides an improvement</a:t>
            </a:r>
          </a:p>
        </p:txBody>
      </p:sp>
      <p:sp>
        <p:nvSpPr>
          <p:cNvPr id="4" name="Date Placeholder 3">
            <a:extLst>
              <a:ext uri="{FF2B5EF4-FFF2-40B4-BE49-F238E27FC236}">
                <a16:creationId xmlns:a16="http://schemas.microsoft.com/office/drawing/2014/main" id="{C2012770-1930-2089-BC59-F38B317449EB}"/>
              </a:ext>
            </a:extLst>
          </p:cNvPr>
          <p:cNvSpPr>
            <a:spLocks noGrp="1"/>
          </p:cNvSpPr>
          <p:nvPr>
            <p:ph type="dt" sz="half" idx="10"/>
          </p:nvPr>
        </p:nvSpPr>
        <p:spPr/>
        <p:txBody>
          <a:bodyPr/>
          <a:lstStyle/>
          <a:p>
            <a:r>
              <a:rPr lang="tr-TR"/>
              <a:t>INDR 100</a:t>
            </a:r>
            <a:endParaRPr lang="en-US"/>
          </a:p>
        </p:txBody>
      </p:sp>
      <p:sp>
        <p:nvSpPr>
          <p:cNvPr id="5" name="Slide Number Placeholder 4">
            <a:extLst>
              <a:ext uri="{FF2B5EF4-FFF2-40B4-BE49-F238E27FC236}">
                <a16:creationId xmlns:a16="http://schemas.microsoft.com/office/drawing/2014/main" id="{45F23CEE-F81F-D9EE-63C1-E892C1A190B6}"/>
              </a:ext>
            </a:extLst>
          </p:cNvPr>
          <p:cNvSpPr>
            <a:spLocks noGrp="1"/>
          </p:cNvSpPr>
          <p:nvPr>
            <p:ph type="sldNum" sz="quarter" idx="12"/>
          </p:nvPr>
        </p:nvSpPr>
        <p:spPr/>
        <p:txBody>
          <a:bodyPr/>
          <a:lstStyle/>
          <a:p>
            <a:fld id="{EEA0C0C4-74CF-4C80-AB86-CA62A4B1ED10}" type="slidenum">
              <a:rPr lang="en-US" smtClean="0"/>
              <a:pPr/>
              <a:t>21</a:t>
            </a:fld>
            <a:endParaRPr lang="en-US"/>
          </a:p>
        </p:txBody>
      </p:sp>
    </p:spTree>
    <p:extLst>
      <p:ext uri="{BB962C8B-B14F-4D97-AF65-F5344CB8AC3E}">
        <p14:creationId xmlns:p14="http://schemas.microsoft.com/office/powerpoint/2010/main" val="1098786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6E45F-C0DC-5367-FB4A-C9F4E5059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15A69-F868-1B6F-EAC6-3AB778B9103E}"/>
              </a:ext>
            </a:extLst>
          </p:cNvPr>
          <p:cNvSpPr>
            <a:spLocks noGrp="1"/>
          </p:cNvSpPr>
          <p:nvPr>
            <p:ph type="title"/>
          </p:nvPr>
        </p:nvSpPr>
        <p:spPr>
          <a:xfrm>
            <a:off x="465786" y="0"/>
            <a:ext cx="8229600" cy="1143000"/>
          </a:xfrm>
        </p:spPr>
        <p:txBody>
          <a:bodyPr/>
          <a:lstStyle/>
          <a:p>
            <a:r>
              <a:rPr lang="en-US" dirty="0"/>
              <a:t>2-opt improvement</a:t>
            </a:r>
          </a:p>
        </p:txBody>
      </p:sp>
      <p:graphicFrame>
        <p:nvGraphicFramePr>
          <p:cNvPr id="6" name="Table 5">
            <a:extLst>
              <a:ext uri="{FF2B5EF4-FFF2-40B4-BE49-F238E27FC236}">
                <a16:creationId xmlns:a16="http://schemas.microsoft.com/office/drawing/2014/main" id="{F74DB790-090D-3104-0079-0B0C29740B20}"/>
              </a:ext>
            </a:extLst>
          </p:cNvPr>
          <p:cNvGraphicFramePr>
            <a:graphicFrameLocks noGrp="1"/>
          </p:cNvGraphicFramePr>
          <p:nvPr>
            <p:extLst>
              <p:ext uri="{D42A27DB-BD31-4B8C-83A1-F6EECF244321}">
                <p14:modId xmlns:p14="http://schemas.microsoft.com/office/powerpoint/2010/main" val="1479524601"/>
              </p:ext>
            </p:extLst>
          </p:nvPr>
        </p:nvGraphicFramePr>
        <p:xfrm>
          <a:off x="444321" y="1267955"/>
          <a:ext cx="5638800" cy="2971800"/>
        </p:xfrm>
        <a:graphic>
          <a:graphicData uri="http://schemas.openxmlformats.org/drawingml/2006/table">
            <a:tbl>
              <a:tblPr/>
              <a:tblGrid>
                <a:gridCol w="1474763">
                  <a:extLst>
                    <a:ext uri="{9D8B030D-6E8A-4147-A177-3AD203B41FA5}">
                      <a16:colId xmlns:a16="http://schemas.microsoft.com/office/drawing/2014/main" val="877102078"/>
                    </a:ext>
                  </a:extLst>
                </a:gridCol>
                <a:gridCol w="607255">
                  <a:extLst>
                    <a:ext uri="{9D8B030D-6E8A-4147-A177-3AD203B41FA5}">
                      <a16:colId xmlns:a16="http://schemas.microsoft.com/office/drawing/2014/main" val="3560452476"/>
                    </a:ext>
                  </a:extLst>
                </a:gridCol>
                <a:gridCol w="737382">
                  <a:extLst>
                    <a:ext uri="{9D8B030D-6E8A-4147-A177-3AD203B41FA5}">
                      <a16:colId xmlns:a16="http://schemas.microsoft.com/office/drawing/2014/main" val="3144975825"/>
                    </a:ext>
                  </a:extLst>
                </a:gridCol>
                <a:gridCol w="939800">
                  <a:extLst>
                    <a:ext uri="{9D8B030D-6E8A-4147-A177-3AD203B41FA5}">
                      <a16:colId xmlns:a16="http://schemas.microsoft.com/office/drawing/2014/main" val="1262343175"/>
                    </a:ext>
                  </a:extLst>
                </a:gridCol>
                <a:gridCol w="939800">
                  <a:extLst>
                    <a:ext uri="{9D8B030D-6E8A-4147-A177-3AD203B41FA5}">
                      <a16:colId xmlns:a16="http://schemas.microsoft.com/office/drawing/2014/main" val="1243040543"/>
                    </a:ext>
                  </a:extLst>
                </a:gridCol>
                <a:gridCol w="939800">
                  <a:extLst>
                    <a:ext uri="{9D8B030D-6E8A-4147-A177-3AD203B41FA5}">
                      <a16:colId xmlns:a16="http://schemas.microsoft.com/office/drawing/2014/main" val="2029695826"/>
                    </a:ext>
                  </a:extLst>
                </a:gridCol>
              </a:tblGrid>
              <a:tr h="495300">
                <a:tc>
                  <a:txBody>
                    <a:bodyPr/>
                    <a:lstStyle/>
                    <a:p>
                      <a:pPr>
                        <a:buNone/>
                      </a:pPr>
                      <a:r>
                        <a:rPr lang="en-US" sz="2400" dirty="0"/>
                        <a:t>From/To</a:t>
                      </a:r>
                    </a:p>
                  </a:txBody>
                  <a:tcPr anchor="ctr">
                    <a:lnL>
                      <a:noFill/>
                    </a:lnL>
                    <a:lnR>
                      <a:noFill/>
                    </a:lnR>
                    <a:lnT>
                      <a:noFill/>
                    </a:lnT>
                    <a:lnB>
                      <a:noFill/>
                    </a:lnB>
                    <a:solidFill>
                      <a:schemeClr val="accent1">
                        <a:lumMod val="90000"/>
                      </a:schemeClr>
                    </a:solidFill>
                  </a:tcPr>
                </a:tc>
                <a:tc>
                  <a:txBody>
                    <a:bodyPr/>
                    <a:lstStyle/>
                    <a:p>
                      <a:pPr algn="r">
                        <a:buNone/>
                      </a:pPr>
                      <a:r>
                        <a:rPr lang="en-US" sz="2400"/>
                        <a:t>A</a:t>
                      </a:r>
                    </a:p>
                  </a:txBody>
                  <a:tcPr anchor="ctr">
                    <a:lnL>
                      <a:noFill/>
                    </a:lnL>
                    <a:lnR>
                      <a:noFill/>
                    </a:lnR>
                    <a:lnT>
                      <a:noFill/>
                    </a:lnT>
                    <a:lnB>
                      <a:noFill/>
                    </a:lnB>
                    <a:solidFill>
                      <a:schemeClr val="accent1">
                        <a:lumMod val="90000"/>
                      </a:schemeClr>
                    </a:solidFill>
                  </a:tcPr>
                </a:tc>
                <a:tc>
                  <a:txBody>
                    <a:bodyPr/>
                    <a:lstStyle/>
                    <a:p>
                      <a:pPr algn="r">
                        <a:buNone/>
                      </a:pPr>
                      <a:r>
                        <a:rPr lang="en-US" sz="2400"/>
                        <a:t>B</a:t>
                      </a:r>
                    </a:p>
                  </a:txBody>
                  <a:tcPr anchor="ctr">
                    <a:lnL>
                      <a:noFill/>
                    </a:lnL>
                    <a:lnR>
                      <a:noFill/>
                    </a:lnR>
                    <a:lnT>
                      <a:noFill/>
                    </a:lnT>
                    <a:lnB>
                      <a:noFill/>
                    </a:lnB>
                    <a:solidFill>
                      <a:schemeClr val="accent1">
                        <a:lumMod val="90000"/>
                      </a:schemeClr>
                    </a:solidFill>
                  </a:tcPr>
                </a:tc>
                <a:tc>
                  <a:txBody>
                    <a:bodyPr/>
                    <a:lstStyle/>
                    <a:p>
                      <a:pPr algn="r">
                        <a:buNone/>
                      </a:pPr>
                      <a:r>
                        <a:rPr lang="en-US" sz="2400" dirty="0"/>
                        <a:t>C</a:t>
                      </a:r>
                    </a:p>
                  </a:txBody>
                  <a:tcPr anchor="ctr">
                    <a:lnL>
                      <a:noFill/>
                    </a:lnL>
                    <a:lnR>
                      <a:noFill/>
                    </a:lnR>
                    <a:lnT>
                      <a:noFill/>
                    </a:lnT>
                    <a:lnB>
                      <a:noFill/>
                    </a:lnB>
                    <a:solidFill>
                      <a:schemeClr val="accent1">
                        <a:lumMod val="90000"/>
                      </a:schemeClr>
                    </a:solidFill>
                  </a:tcPr>
                </a:tc>
                <a:tc>
                  <a:txBody>
                    <a:bodyPr/>
                    <a:lstStyle/>
                    <a:p>
                      <a:pPr algn="r">
                        <a:buNone/>
                      </a:pPr>
                      <a:r>
                        <a:rPr lang="en-US" sz="2400"/>
                        <a:t>D</a:t>
                      </a:r>
                    </a:p>
                  </a:txBody>
                  <a:tcPr anchor="ctr">
                    <a:lnL>
                      <a:noFill/>
                    </a:lnL>
                    <a:lnR>
                      <a:noFill/>
                    </a:lnR>
                    <a:lnT>
                      <a:noFill/>
                    </a:lnT>
                    <a:lnB>
                      <a:noFill/>
                    </a:lnB>
                    <a:solidFill>
                      <a:schemeClr val="accent1">
                        <a:lumMod val="90000"/>
                      </a:schemeClr>
                    </a:solidFill>
                  </a:tcPr>
                </a:tc>
                <a:tc>
                  <a:txBody>
                    <a:bodyPr/>
                    <a:lstStyle/>
                    <a:p>
                      <a:pPr algn="r">
                        <a:buNone/>
                      </a:pPr>
                      <a:r>
                        <a:rPr lang="en-US" sz="2400" dirty="0"/>
                        <a:t>E</a:t>
                      </a:r>
                    </a:p>
                  </a:txBody>
                  <a:tcPr anchor="ctr">
                    <a:lnL>
                      <a:noFill/>
                    </a:lnL>
                    <a:lnR>
                      <a:noFill/>
                    </a:lnR>
                    <a:lnT>
                      <a:noFill/>
                    </a:lnT>
                    <a:lnB>
                      <a:noFill/>
                    </a:lnB>
                    <a:solidFill>
                      <a:schemeClr val="accent1">
                        <a:lumMod val="90000"/>
                      </a:schemeClr>
                    </a:solidFill>
                  </a:tcPr>
                </a:tc>
                <a:extLst>
                  <a:ext uri="{0D108BD9-81ED-4DB2-BD59-A6C34878D82A}">
                    <a16:rowId xmlns:a16="http://schemas.microsoft.com/office/drawing/2014/main" val="228816230"/>
                  </a:ext>
                </a:extLst>
              </a:tr>
              <a:tr h="495300">
                <a:tc>
                  <a:txBody>
                    <a:bodyPr/>
                    <a:lstStyle/>
                    <a:p>
                      <a:pPr>
                        <a:buNone/>
                      </a:pPr>
                      <a:r>
                        <a:rPr lang="en-US" sz="2400" b="1" dirty="0"/>
                        <a:t>A</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15</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20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12</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012338322"/>
                  </a:ext>
                </a:extLst>
              </a:tr>
              <a:tr h="495300">
                <a:tc>
                  <a:txBody>
                    <a:bodyPr/>
                    <a:lstStyle/>
                    <a:p>
                      <a:pPr>
                        <a:buNone/>
                      </a:pPr>
                      <a:r>
                        <a:rPr lang="en-US" sz="2400" b="1" dirty="0"/>
                        <a:t>B</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9</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8</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424396930"/>
                  </a:ext>
                </a:extLst>
              </a:tr>
              <a:tr h="495300">
                <a:tc>
                  <a:txBody>
                    <a:bodyPr/>
                    <a:lstStyle/>
                    <a:p>
                      <a:pPr>
                        <a:buNone/>
                      </a:pPr>
                      <a:r>
                        <a:rPr lang="en-US" sz="2400" b="1" dirty="0"/>
                        <a:t>C</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15</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9</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7</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11</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05908422"/>
                  </a:ext>
                </a:extLst>
              </a:tr>
              <a:tr h="495300">
                <a:tc>
                  <a:txBody>
                    <a:bodyPr/>
                    <a:lstStyle/>
                    <a:p>
                      <a:pPr>
                        <a:buNone/>
                      </a:pPr>
                      <a:r>
                        <a:rPr lang="en-US" sz="2400" b="1" dirty="0"/>
                        <a:t>D</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20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10</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7</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6</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331320586"/>
                  </a:ext>
                </a:extLst>
              </a:tr>
              <a:tr h="495300">
                <a:tc>
                  <a:txBody>
                    <a:bodyPr/>
                    <a:lstStyle/>
                    <a:p>
                      <a:pPr>
                        <a:buNone/>
                      </a:pPr>
                      <a:r>
                        <a:rPr lang="en-US" sz="2400" b="1" dirty="0"/>
                        <a:t>E</a:t>
                      </a:r>
                      <a:endParaRPr lang="en-US" sz="2400" dirty="0"/>
                    </a:p>
                  </a:txBody>
                  <a:tcPr anchor="ctr">
                    <a:lnL>
                      <a:noFill/>
                    </a:lnL>
                    <a:lnR>
                      <a:noFill/>
                    </a:lnR>
                    <a:lnT>
                      <a:noFill/>
                    </a:lnT>
                    <a:lnB>
                      <a:noFill/>
                    </a:lnB>
                    <a:solidFill>
                      <a:schemeClr val="accent1">
                        <a:lumMod val="90000"/>
                      </a:schemeClr>
                    </a:solidFill>
                  </a:tcPr>
                </a:tc>
                <a:tc>
                  <a:txBody>
                    <a:bodyPr/>
                    <a:lstStyle/>
                    <a:p>
                      <a:pPr algn="r">
                        <a:buNone/>
                      </a:pPr>
                      <a:r>
                        <a:rPr lang="en-US" sz="2400"/>
                        <a:t>12</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8</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a:t>11</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6</a:t>
                      </a:r>
                    </a:p>
                  </a:txBody>
                  <a:tcPr anchor="ctr">
                    <a:lnL>
                      <a:noFill/>
                    </a:lnL>
                    <a:lnR>
                      <a:noFill/>
                    </a:lnR>
                    <a:lnT>
                      <a:noFill/>
                    </a:lnT>
                    <a:lnB>
                      <a:noFill/>
                    </a:lnB>
                    <a:solidFill>
                      <a:schemeClr val="accent6">
                        <a:lumMod val="20000"/>
                        <a:lumOff val="80000"/>
                      </a:schemeClr>
                    </a:solidFill>
                  </a:tcPr>
                </a:tc>
                <a:tc>
                  <a:txBody>
                    <a:bodyPr/>
                    <a:lstStyle/>
                    <a:p>
                      <a:pPr algn="r">
                        <a:buNone/>
                      </a:pPr>
                      <a:r>
                        <a:rPr lang="en-US" sz="2400" dirty="0"/>
                        <a: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99304029"/>
                  </a:ext>
                </a:extLst>
              </a:tr>
            </a:tbl>
          </a:graphicData>
        </a:graphic>
      </p:graphicFrame>
      <p:sp>
        <p:nvSpPr>
          <p:cNvPr id="7" name="TextBox 6">
            <a:extLst>
              <a:ext uri="{FF2B5EF4-FFF2-40B4-BE49-F238E27FC236}">
                <a16:creationId xmlns:a16="http://schemas.microsoft.com/office/drawing/2014/main" id="{47CE2AE1-1308-E6B0-4FEC-C6A8729A1EF9}"/>
              </a:ext>
            </a:extLst>
          </p:cNvPr>
          <p:cNvSpPr txBox="1"/>
          <p:nvPr/>
        </p:nvSpPr>
        <p:spPr>
          <a:xfrm>
            <a:off x="457200" y="4336593"/>
            <a:ext cx="7619999" cy="1631216"/>
          </a:xfrm>
          <a:prstGeom prst="rect">
            <a:avLst/>
          </a:prstGeom>
          <a:noFill/>
        </p:spPr>
        <p:txBody>
          <a:bodyPr wrap="square" rtlCol="0">
            <a:spAutoFit/>
          </a:bodyPr>
          <a:lstStyle/>
          <a:p>
            <a:r>
              <a:rPr lang="en-US" sz="2000" dirty="0"/>
              <a:t>A--B--E--D--C--A  total cost 46</a:t>
            </a:r>
          </a:p>
          <a:p>
            <a:pPr indent="230188"/>
            <a:r>
              <a:rPr lang="en-US" sz="2000" dirty="0"/>
              <a:t>Try:</a:t>
            </a:r>
            <a:br>
              <a:rPr lang="en-US" sz="2000" dirty="0"/>
            </a:br>
            <a:r>
              <a:rPr lang="en-US" sz="2000" dirty="0"/>
              <a:t>	- Remove C--A and B--E (total cost 15+8 =23)</a:t>
            </a:r>
          </a:p>
          <a:p>
            <a:r>
              <a:rPr lang="en-US" sz="2000" dirty="0"/>
              <a:t>	- Add        C--B and A--E (total cost 9+12 =21)</a:t>
            </a:r>
          </a:p>
          <a:p>
            <a:pPr indent="230188"/>
            <a:r>
              <a:rPr lang="en-US" sz="2000" dirty="0"/>
              <a:t>New tour A--B--C--D--E--A  with length 46-2=44</a:t>
            </a:r>
          </a:p>
        </p:txBody>
      </p:sp>
    </p:spTree>
    <p:extLst>
      <p:ext uri="{BB962C8B-B14F-4D97-AF65-F5344CB8AC3E}">
        <p14:creationId xmlns:p14="http://schemas.microsoft.com/office/powerpoint/2010/main" val="2620575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73AE7-9E6D-4AEA-5236-AFC5847E90F1}"/>
              </a:ext>
            </a:extLst>
          </p:cNvPr>
          <p:cNvSpPr>
            <a:spLocks noGrp="1"/>
          </p:cNvSpPr>
          <p:nvPr>
            <p:ph type="title"/>
          </p:nvPr>
        </p:nvSpPr>
        <p:spPr>
          <a:xfrm>
            <a:off x="2658606" y="87528"/>
            <a:ext cx="3448311" cy="630209"/>
          </a:xfrm>
        </p:spPr>
        <p:txBody>
          <a:bodyPr vert="horz" lIns="91440" tIns="45720" rIns="91440" bIns="45720" rtlCol="0" anchor="b">
            <a:normAutofit/>
          </a:bodyPr>
          <a:lstStyle/>
          <a:p>
            <a:pPr algn="l">
              <a:lnSpc>
                <a:spcPct val="90000"/>
              </a:lnSpc>
            </a:pPr>
            <a:r>
              <a:rPr lang="en-US" sz="2800" kern="1200" dirty="0">
                <a:solidFill>
                  <a:srgbClr val="FF0000"/>
                </a:solidFill>
                <a:latin typeface="+mj-lt"/>
                <a:ea typeface="+mj-ea"/>
                <a:cs typeface="+mj-cs"/>
              </a:rPr>
              <a:t> Class Exercise</a:t>
            </a:r>
          </a:p>
        </p:txBody>
      </p:sp>
      <p:sp>
        <p:nvSpPr>
          <p:cNvPr id="7" name="TextBox 6">
            <a:extLst>
              <a:ext uri="{FF2B5EF4-FFF2-40B4-BE49-F238E27FC236}">
                <a16:creationId xmlns:a16="http://schemas.microsoft.com/office/drawing/2014/main" id="{B8366B8B-9004-31A2-F491-024193C99C8B}"/>
              </a:ext>
            </a:extLst>
          </p:cNvPr>
          <p:cNvSpPr txBox="1"/>
          <p:nvPr/>
        </p:nvSpPr>
        <p:spPr>
          <a:xfrm>
            <a:off x="457200" y="4352243"/>
            <a:ext cx="8153400" cy="12332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dirty="0">
                <a:latin typeface="+mn-lt"/>
                <a:cs typeface="+mn-cs"/>
              </a:rPr>
              <a:t>Start from A and apply nearest neighborhood heuristic to find an initial TSP tour </a:t>
            </a:r>
          </a:p>
          <a:p>
            <a:pPr indent="-228600">
              <a:lnSpc>
                <a:spcPct val="90000"/>
              </a:lnSpc>
              <a:spcAft>
                <a:spcPts val="600"/>
              </a:spcAft>
              <a:buFont typeface="Arial" panose="020B0604020202020204" pitchFamily="34" charset="0"/>
              <a:buChar char="•"/>
            </a:pPr>
            <a:r>
              <a:rPr lang="en-US" sz="2400" dirty="0">
                <a:latin typeface="+mn-lt"/>
                <a:cs typeface="+mn-cs"/>
              </a:rPr>
              <a:t>Apply 2-opt improvement until you find an improvement</a:t>
            </a:r>
          </a:p>
        </p:txBody>
      </p:sp>
      <p:sp>
        <p:nvSpPr>
          <p:cNvPr id="4" name="Date Placeholder 3">
            <a:extLst>
              <a:ext uri="{FF2B5EF4-FFF2-40B4-BE49-F238E27FC236}">
                <a16:creationId xmlns:a16="http://schemas.microsoft.com/office/drawing/2014/main" id="{DFA7EAE3-D22B-01D3-4D08-E8085FC51A99}"/>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spcAft>
                <a:spcPts val="600"/>
              </a:spcAft>
            </a:pPr>
            <a:r>
              <a:rPr lang="en-US" sz="1200">
                <a:solidFill>
                  <a:schemeClr val="tx1">
                    <a:tint val="75000"/>
                  </a:schemeClr>
                </a:solidFill>
                <a:latin typeface="+mn-lt"/>
                <a:cs typeface="+mn-cs"/>
              </a:rPr>
              <a:t>INDR 100</a:t>
            </a:r>
          </a:p>
        </p:txBody>
      </p:sp>
      <p:sp>
        <p:nvSpPr>
          <p:cNvPr id="5" name="Slide Number Placeholder 4">
            <a:extLst>
              <a:ext uri="{FF2B5EF4-FFF2-40B4-BE49-F238E27FC236}">
                <a16:creationId xmlns:a16="http://schemas.microsoft.com/office/drawing/2014/main" id="{ED09E6C7-FDE1-A353-444B-04E5E7F36B78}"/>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EEA0C0C4-74CF-4C80-AB86-CA62A4B1ED10}" type="slidenum">
              <a:rPr lang="en-US" sz="1200" smtClean="0">
                <a:solidFill>
                  <a:schemeClr val="tx1">
                    <a:tint val="75000"/>
                  </a:schemeClr>
                </a:solidFill>
                <a:latin typeface="+mn-lt"/>
                <a:cs typeface="+mn-cs"/>
              </a:rPr>
              <a:pPr>
                <a:spcAft>
                  <a:spcPts val="600"/>
                </a:spcAft>
              </a:pPr>
              <a:t>23</a:t>
            </a:fld>
            <a:endParaRPr lang="en-US" sz="1200">
              <a:solidFill>
                <a:schemeClr val="tx1">
                  <a:tint val="75000"/>
                </a:schemeClr>
              </a:solidFill>
              <a:latin typeface="+mn-lt"/>
              <a:cs typeface="+mn-cs"/>
            </a:endParaRPr>
          </a:p>
        </p:txBody>
      </p:sp>
      <p:grpSp>
        <p:nvGrpSpPr>
          <p:cNvPr id="12" name="Group 11">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3" name="Rectangle 12">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Table 5">
            <a:extLst>
              <a:ext uri="{FF2B5EF4-FFF2-40B4-BE49-F238E27FC236}">
                <a16:creationId xmlns:a16="http://schemas.microsoft.com/office/drawing/2014/main" id="{98A001D6-919D-395D-1E86-0436AFF092C0}"/>
              </a:ext>
            </a:extLst>
          </p:cNvPr>
          <p:cNvGraphicFramePr>
            <a:graphicFrameLocks noGrp="1"/>
          </p:cNvGraphicFramePr>
          <p:nvPr>
            <p:extLst>
              <p:ext uri="{D42A27DB-BD31-4B8C-83A1-F6EECF244321}">
                <p14:modId xmlns:p14="http://schemas.microsoft.com/office/powerpoint/2010/main" val="3867587505"/>
              </p:ext>
            </p:extLst>
          </p:nvPr>
        </p:nvGraphicFramePr>
        <p:xfrm>
          <a:off x="2086494" y="825580"/>
          <a:ext cx="3989299" cy="3040251"/>
        </p:xfrm>
        <a:graphic>
          <a:graphicData uri="http://schemas.openxmlformats.org/drawingml/2006/table">
            <a:tbl>
              <a:tblPr firstRow="1" bandRow="1">
                <a:noFill/>
              </a:tblPr>
              <a:tblGrid>
                <a:gridCol w="820501">
                  <a:extLst>
                    <a:ext uri="{9D8B030D-6E8A-4147-A177-3AD203B41FA5}">
                      <a16:colId xmlns:a16="http://schemas.microsoft.com/office/drawing/2014/main" val="929113097"/>
                    </a:ext>
                  </a:extLst>
                </a:gridCol>
                <a:gridCol w="528133">
                  <a:extLst>
                    <a:ext uri="{9D8B030D-6E8A-4147-A177-3AD203B41FA5}">
                      <a16:colId xmlns:a16="http://schemas.microsoft.com/office/drawing/2014/main" val="3350465504"/>
                    </a:ext>
                  </a:extLst>
                </a:gridCol>
                <a:gridCol w="528133">
                  <a:extLst>
                    <a:ext uri="{9D8B030D-6E8A-4147-A177-3AD203B41FA5}">
                      <a16:colId xmlns:a16="http://schemas.microsoft.com/office/drawing/2014/main" val="200975149"/>
                    </a:ext>
                  </a:extLst>
                </a:gridCol>
                <a:gridCol w="528133">
                  <a:extLst>
                    <a:ext uri="{9D8B030D-6E8A-4147-A177-3AD203B41FA5}">
                      <a16:colId xmlns:a16="http://schemas.microsoft.com/office/drawing/2014/main" val="2882759427"/>
                    </a:ext>
                  </a:extLst>
                </a:gridCol>
                <a:gridCol w="528133">
                  <a:extLst>
                    <a:ext uri="{9D8B030D-6E8A-4147-A177-3AD203B41FA5}">
                      <a16:colId xmlns:a16="http://schemas.microsoft.com/office/drawing/2014/main" val="3179255422"/>
                    </a:ext>
                  </a:extLst>
                </a:gridCol>
                <a:gridCol w="528133">
                  <a:extLst>
                    <a:ext uri="{9D8B030D-6E8A-4147-A177-3AD203B41FA5}">
                      <a16:colId xmlns:a16="http://schemas.microsoft.com/office/drawing/2014/main" val="3766698650"/>
                    </a:ext>
                  </a:extLst>
                </a:gridCol>
                <a:gridCol w="528133">
                  <a:extLst>
                    <a:ext uri="{9D8B030D-6E8A-4147-A177-3AD203B41FA5}">
                      <a16:colId xmlns:a16="http://schemas.microsoft.com/office/drawing/2014/main" val="1069576028"/>
                    </a:ext>
                  </a:extLst>
                </a:gridCol>
              </a:tblGrid>
              <a:tr h="588291">
                <a:tc>
                  <a:txBody>
                    <a:bodyPr/>
                    <a:lstStyle/>
                    <a:p>
                      <a:pPr>
                        <a:buNone/>
                      </a:pPr>
                      <a:r>
                        <a:rPr lang="en-US" sz="1200" b="1">
                          <a:solidFill>
                            <a:srgbClr val="FFFFFF"/>
                          </a:solidFill>
                        </a:rPr>
                        <a:t>From / To</a:t>
                      </a:r>
                    </a:p>
                  </a:txBody>
                  <a:tcPr marL="168404" marR="101042" marT="101042" marB="101042"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dirty="0">
                          <a:solidFill>
                            <a:srgbClr val="FFFFFF"/>
                          </a:solidFill>
                        </a:rPr>
                        <a:t>A</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dirty="0">
                          <a:solidFill>
                            <a:srgbClr val="FFFFFF"/>
                          </a:solidFill>
                        </a:rPr>
                        <a:t>B</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dirty="0">
                          <a:solidFill>
                            <a:srgbClr val="FFFFFF"/>
                          </a:solidFill>
                        </a:rPr>
                        <a:t>C</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a:solidFill>
                            <a:srgbClr val="FFFFFF"/>
                          </a:solidFill>
                        </a:rPr>
                        <a:t>D</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a:solidFill>
                            <a:srgbClr val="FFFFFF"/>
                          </a:solidFill>
                        </a:rPr>
                        <a:t>E</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US" sz="1200" b="1">
                          <a:solidFill>
                            <a:srgbClr val="FFFFFF"/>
                          </a:solidFill>
                        </a:rPr>
                        <a:t>F</a:t>
                      </a:r>
                    </a:p>
                  </a:txBody>
                  <a:tcPr marL="168404" marR="101042" marT="101042" marB="101042"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811878499"/>
                  </a:ext>
                </a:extLst>
              </a:tr>
              <a:tr h="408660">
                <a:tc>
                  <a:txBody>
                    <a:bodyPr/>
                    <a:lstStyle/>
                    <a:p>
                      <a:pPr>
                        <a:buNone/>
                      </a:pPr>
                      <a:r>
                        <a:rPr lang="en-US" sz="1200" b="1">
                          <a:solidFill>
                            <a:schemeClr val="tx1">
                              <a:lumMod val="85000"/>
                              <a:lumOff val="15000"/>
                            </a:schemeClr>
                          </a:solidFill>
                        </a:rPr>
                        <a:t>A</a:t>
                      </a:r>
                      <a:endParaRPr lang="en-US" sz="1200">
                        <a:solidFill>
                          <a:schemeClr val="tx1">
                            <a:lumMod val="85000"/>
                            <a:lumOff val="15000"/>
                          </a:schemeClr>
                        </a:solidFill>
                      </a:endParaRPr>
                    </a:p>
                  </a:txBody>
                  <a:tcPr marL="168404" marR="101042" marT="101042" marB="101042"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15</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20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12</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18</a:t>
                      </a:r>
                    </a:p>
                  </a:txBody>
                  <a:tcPr marL="168404" marR="101042" marT="101042" marB="101042"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777464431"/>
                  </a:ext>
                </a:extLst>
              </a:tr>
              <a:tr h="408660">
                <a:tc>
                  <a:txBody>
                    <a:bodyPr/>
                    <a:lstStyle/>
                    <a:p>
                      <a:pPr>
                        <a:buNone/>
                      </a:pPr>
                      <a:r>
                        <a:rPr lang="en-US" sz="1200" b="1">
                          <a:solidFill>
                            <a:schemeClr val="tx1">
                              <a:lumMod val="85000"/>
                              <a:lumOff val="15000"/>
                            </a:schemeClr>
                          </a:solidFill>
                        </a:rPr>
                        <a:t>B</a:t>
                      </a:r>
                      <a:endParaRPr lang="en-US" sz="1200">
                        <a:solidFill>
                          <a:schemeClr val="tx1">
                            <a:lumMod val="85000"/>
                            <a:lumOff val="15000"/>
                          </a:schemeClr>
                        </a:solidFill>
                      </a:endParaRPr>
                    </a:p>
                  </a:txBody>
                  <a:tcPr marL="168404" marR="101042" marT="101042" marB="101042"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10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9</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14</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8</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11</a:t>
                      </a:r>
                    </a:p>
                  </a:txBody>
                  <a:tcPr marL="168404" marR="101042" marT="101042" marB="101042"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699984844"/>
                  </a:ext>
                </a:extLst>
              </a:tr>
              <a:tr h="408660">
                <a:tc>
                  <a:txBody>
                    <a:bodyPr/>
                    <a:lstStyle/>
                    <a:p>
                      <a:pPr>
                        <a:buNone/>
                      </a:pPr>
                      <a:r>
                        <a:rPr lang="en-US" sz="1200" b="1">
                          <a:solidFill>
                            <a:schemeClr val="tx1">
                              <a:lumMod val="85000"/>
                              <a:lumOff val="15000"/>
                            </a:schemeClr>
                          </a:solidFill>
                        </a:rPr>
                        <a:t>C</a:t>
                      </a:r>
                      <a:endParaRPr lang="en-US" sz="1200">
                        <a:solidFill>
                          <a:schemeClr val="tx1">
                            <a:lumMod val="85000"/>
                            <a:lumOff val="15000"/>
                          </a:schemeClr>
                        </a:solidFill>
                      </a:endParaRPr>
                    </a:p>
                  </a:txBody>
                  <a:tcPr marL="168404" marR="101042" marT="101042" marB="101042"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15</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9</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7</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6</a:t>
                      </a:r>
                    </a:p>
                  </a:txBody>
                  <a:tcPr marL="168404" marR="101042" marT="101042" marB="101042"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751480643"/>
                  </a:ext>
                </a:extLst>
              </a:tr>
              <a:tr h="408660">
                <a:tc>
                  <a:txBody>
                    <a:bodyPr/>
                    <a:lstStyle/>
                    <a:p>
                      <a:pPr>
                        <a:buNone/>
                      </a:pPr>
                      <a:r>
                        <a:rPr lang="en-US" sz="1200" b="1">
                          <a:solidFill>
                            <a:schemeClr val="tx1">
                              <a:lumMod val="85000"/>
                              <a:lumOff val="15000"/>
                            </a:schemeClr>
                          </a:solidFill>
                        </a:rPr>
                        <a:t>D</a:t>
                      </a:r>
                      <a:endParaRPr lang="en-US" sz="1200">
                        <a:solidFill>
                          <a:schemeClr val="tx1">
                            <a:lumMod val="85000"/>
                            <a:lumOff val="15000"/>
                          </a:schemeClr>
                        </a:solidFill>
                      </a:endParaRPr>
                    </a:p>
                  </a:txBody>
                  <a:tcPr marL="168404" marR="101042" marT="101042" marB="101042"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20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14</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7</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11</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200">
                          <a:solidFill>
                            <a:schemeClr val="tx1">
                              <a:lumMod val="85000"/>
                              <a:lumOff val="15000"/>
                            </a:schemeClr>
                          </a:solidFill>
                        </a:rPr>
                        <a:t>9</a:t>
                      </a:r>
                    </a:p>
                  </a:txBody>
                  <a:tcPr marL="168404" marR="101042" marT="101042" marB="101042"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119153136"/>
                  </a:ext>
                </a:extLst>
              </a:tr>
              <a:tr h="408660">
                <a:tc>
                  <a:txBody>
                    <a:bodyPr/>
                    <a:lstStyle/>
                    <a:p>
                      <a:pPr>
                        <a:buNone/>
                      </a:pPr>
                      <a:r>
                        <a:rPr lang="en-US" sz="1200" b="1">
                          <a:solidFill>
                            <a:schemeClr val="tx1">
                              <a:lumMod val="85000"/>
                              <a:lumOff val="15000"/>
                            </a:schemeClr>
                          </a:solidFill>
                        </a:rPr>
                        <a:t>E</a:t>
                      </a:r>
                      <a:endParaRPr lang="en-US" sz="1200">
                        <a:solidFill>
                          <a:schemeClr val="tx1">
                            <a:lumMod val="85000"/>
                            <a:lumOff val="15000"/>
                          </a:schemeClr>
                        </a:solidFill>
                      </a:endParaRPr>
                    </a:p>
                  </a:txBody>
                  <a:tcPr marL="168404" marR="101042" marT="101042" marB="101042"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12</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8</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11</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0</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200">
                          <a:solidFill>
                            <a:schemeClr val="tx1">
                              <a:lumMod val="85000"/>
                              <a:lumOff val="15000"/>
                            </a:schemeClr>
                          </a:solidFill>
                        </a:rPr>
                        <a:t>13</a:t>
                      </a:r>
                    </a:p>
                  </a:txBody>
                  <a:tcPr marL="168404" marR="101042" marT="101042" marB="101042"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912445955"/>
                  </a:ext>
                </a:extLst>
              </a:tr>
              <a:tr h="408660">
                <a:tc>
                  <a:txBody>
                    <a:bodyPr/>
                    <a:lstStyle/>
                    <a:p>
                      <a:pPr>
                        <a:buNone/>
                      </a:pPr>
                      <a:r>
                        <a:rPr lang="en-US" sz="1200" b="1">
                          <a:solidFill>
                            <a:schemeClr val="tx1">
                              <a:lumMod val="85000"/>
                              <a:lumOff val="15000"/>
                            </a:schemeClr>
                          </a:solidFill>
                        </a:rPr>
                        <a:t>F</a:t>
                      </a:r>
                      <a:endParaRPr lang="en-US" sz="1200">
                        <a:solidFill>
                          <a:schemeClr val="tx1">
                            <a:lumMod val="85000"/>
                            <a:lumOff val="15000"/>
                          </a:schemeClr>
                        </a:solidFill>
                      </a:endParaRPr>
                    </a:p>
                  </a:txBody>
                  <a:tcPr marL="168404" marR="101042" marT="101042" marB="101042"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a:solidFill>
                            <a:schemeClr val="tx1">
                              <a:lumMod val="85000"/>
                              <a:lumOff val="15000"/>
                            </a:schemeClr>
                          </a:solidFill>
                        </a:rPr>
                        <a:t>18</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a:solidFill>
                            <a:schemeClr val="tx1">
                              <a:lumMod val="85000"/>
                              <a:lumOff val="15000"/>
                            </a:schemeClr>
                          </a:solidFill>
                        </a:rPr>
                        <a:t>11</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a:solidFill>
                            <a:schemeClr val="tx1">
                              <a:lumMod val="85000"/>
                              <a:lumOff val="15000"/>
                            </a:schemeClr>
                          </a:solidFill>
                        </a:rPr>
                        <a:t>6</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a:solidFill>
                            <a:schemeClr val="tx1">
                              <a:lumMod val="85000"/>
                              <a:lumOff val="15000"/>
                            </a:schemeClr>
                          </a:solidFill>
                        </a:rPr>
                        <a:t>9</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a:solidFill>
                            <a:schemeClr val="tx1">
                              <a:lumMod val="85000"/>
                              <a:lumOff val="15000"/>
                            </a:schemeClr>
                          </a:solidFill>
                        </a:rPr>
                        <a:t>13</a:t>
                      </a:r>
                    </a:p>
                  </a:txBody>
                  <a:tcPr marL="168404" marR="101042" marT="101042" marB="101042"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200" dirty="0">
                          <a:solidFill>
                            <a:schemeClr val="tx1">
                              <a:lumMod val="85000"/>
                              <a:lumOff val="15000"/>
                            </a:schemeClr>
                          </a:solidFill>
                        </a:rPr>
                        <a:t>0</a:t>
                      </a:r>
                    </a:p>
                  </a:txBody>
                  <a:tcPr marL="168404" marR="101042" marT="101042" marB="101042"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616082040"/>
                  </a:ext>
                </a:extLst>
              </a:tr>
            </a:tbl>
          </a:graphicData>
        </a:graphic>
      </p:graphicFrame>
    </p:spTree>
    <p:extLst>
      <p:ext uri="{BB962C8B-B14F-4D97-AF65-F5344CB8AC3E}">
        <p14:creationId xmlns:p14="http://schemas.microsoft.com/office/powerpoint/2010/main" val="673829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4CD9-9E34-9E56-FA1E-9814A6233CB0}"/>
              </a:ext>
            </a:extLst>
          </p:cNvPr>
          <p:cNvSpPr>
            <a:spLocks noGrp="1"/>
          </p:cNvSpPr>
          <p:nvPr>
            <p:ph type="title"/>
          </p:nvPr>
        </p:nvSpPr>
        <p:spPr>
          <a:xfrm>
            <a:off x="457200" y="136525"/>
            <a:ext cx="8229600" cy="715962"/>
          </a:xfrm>
        </p:spPr>
        <p:txBody>
          <a:bodyPr/>
          <a:lstStyle/>
          <a:p>
            <a:r>
              <a:rPr lang="en-US" dirty="0"/>
              <a:t>Class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8CF150-9710-7A8B-AA0B-ABA452054FE2}"/>
                  </a:ext>
                </a:extLst>
              </p:cNvPr>
              <p:cNvSpPr>
                <a:spLocks noGrp="1"/>
              </p:cNvSpPr>
              <p:nvPr>
                <p:ph idx="1"/>
              </p:nvPr>
            </p:nvSpPr>
            <p:spPr>
              <a:xfrm>
                <a:off x="428223" y="1166018"/>
                <a:ext cx="8229600" cy="5310982"/>
              </a:xfrm>
            </p:spPr>
            <p:txBody>
              <a:bodyPr/>
              <a:lstStyle/>
              <a:p>
                <a:r>
                  <a:rPr lang="en-US" sz="2800" b="1" dirty="0"/>
                  <a:t>Start at A</a:t>
                </a:r>
                <a:endParaRPr lang="en-US" sz="2800" dirty="0"/>
              </a:p>
              <a:p>
                <a:pPr lvl="1"/>
                <a:r>
                  <a:rPr lang="en-US" sz="2400" dirty="0"/>
                  <a:t>From </a:t>
                </a:r>
                <a:r>
                  <a:rPr lang="en-US" sz="2400" b="1" dirty="0"/>
                  <a:t>A</a:t>
                </a:r>
                <a:r>
                  <a:rPr lang="en-US" sz="2400" dirty="0"/>
                  <a:t> → nearest is </a:t>
                </a:r>
                <a:r>
                  <a:rPr lang="en-US" sz="2400" b="1" dirty="0"/>
                  <a:t>B (10)</a:t>
                </a:r>
                <a:endParaRPr lang="en-US" sz="2400" dirty="0"/>
              </a:p>
              <a:p>
                <a:pPr lvl="1"/>
                <a:r>
                  <a:rPr lang="en-US" sz="2400" dirty="0"/>
                  <a:t>From </a:t>
                </a:r>
                <a:r>
                  <a:rPr lang="en-US" sz="2400" b="1" dirty="0"/>
                  <a:t>B</a:t>
                </a:r>
                <a:r>
                  <a:rPr lang="en-US" sz="2400" dirty="0"/>
                  <a:t> → nearest unvisited is </a:t>
                </a:r>
                <a:r>
                  <a:rPr lang="en-US" sz="2400" b="1" dirty="0"/>
                  <a:t>E (8)</a:t>
                </a:r>
                <a:endParaRPr lang="en-US" sz="2400" dirty="0"/>
              </a:p>
              <a:p>
                <a:pPr lvl="1"/>
                <a:r>
                  <a:rPr lang="en-US" sz="2400" dirty="0"/>
                  <a:t>From </a:t>
                </a:r>
                <a:r>
                  <a:rPr lang="en-US" sz="2400" b="1" dirty="0"/>
                  <a:t>E</a:t>
                </a:r>
                <a:r>
                  <a:rPr lang="en-US" sz="2400" dirty="0"/>
                  <a:t> → nearest unvisited is </a:t>
                </a:r>
                <a:r>
                  <a:rPr lang="en-US" sz="2400" b="1" dirty="0"/>
                  <a:t>C (10)</a:t>
                </a:r>
                <a:endParaRPr lang="en-US" sz="2400" dirty="0"/>
              </a:p>
              <a:p>
                <a:pPr lvl="1"/>
                <a:r>
                  <a:rPr lang="en-US" sz="2400" dirty="0"/>
                  <a:t>From </a:t>
                </a:r>
                <a:r>
                  <a:rPr lang="en-US" sz="2400" b="1" dirty="0"/>
                  <a:t>C</a:t>
                </a:r>
                <a:r>
                  <a:rPr lang="en-US" sz="2400" dirty="0"/>
                  <a:t> → nearest unvisited is </a:t>
                </a:r>
                <a:r>
                  <a:rPr lang="en-US" sz="2400" b="1" dirty="0"/>
                  <a:t>F (6)</a:t>
                </a:r>
                <a:endParaRPr lang="en-US" sz="2400" dirty="0"/>
              </a:p>
              <a:p>
                <a:pPr lvl="1"/>
                <a:r>
                  <a:rPr lang="en-US" sz="2400" dirty="0"/>
                  <a:t>From </a:t>
                </a:r>
                <a:r>
                  <a:rPr lang="en-US" sz="2400" b="1" dirty="0"/>
                  <a:t>F</a:t>
                </a:r>
                <a:r>
                  <a:rPr lang="en-US" sz="2400" dirty="0"/>
                  <a:t> → nearest unvisited is </a:t>
                </a:r>
                <a:r>
                  <a:rPr lang="en-US" sz="2400" b="1" dirty="0"/>
                  <a:t>D (9)</a:t>
                </a:r>
                <a:endParaRPr lang="en-US" sz="2400" dirty="0"/>
              </a:p>
              <a:p>
                <a:pPr lvl="1"/>
                <a:r>
                  <a:rPr lang="en-US" sz="2400" dirty="0"/>
                  <a:t>Return </a:t>
                </a:r>
                <a:r>
                  <a:rPr lang="en-US" sz="2400" b="1" dirty="0"/>
                  <a:t>D → A (20)</a:t>
                </a:r>
                <a:endParaRPr lang="en-US" sz="2400" dirty="0"/>
              </a:p>
              <a:p>
                <a:r>
                  <a:rPr lang="en-US" sz="2800" b="1" dirty="0"/>
                  <a:t>Initial Tour (Nearest Neighbor)</a:t>
                </a:r>
              </a:p>
              <a:p>
                <a:pPr lvl="1"/>
                <a14:m>
                  <m:oMath xmlns:m="http://schemas.openxmlformats.org/officeDocument/2006/math">
                    <m:r>
                      <a:rPr lang="en-US" sz="2400" i="1">
                        <a:latin typeface="Cambria Math" panose="02040503050406030204" pitchFamily="18" charset="0"/>
                      </a:rPr>
                      <m:t>𝐴</m:t>
                    </m:r>
                    <m:r>
                      <a:rPr lang="en-US" sz="2400">
                        <a:latin typeface="Cambria Math" panose="02040503050406030204" pitchFamily="18" charset="0"/>
                      </a:rPr>
                      <m:t>→</m:t>
                    </m:r>
                    <m:r>
                      <a:rPr lang="en-US" sz="2400" i="1">
                        <a:latin typeface="Cambria Math" panose="02040503050406030204" pitchFamily="18" charset="0"/>
                      </a:rPr>
                      <m:t>𝐵</m:t>
                    </m:r>
                    <m:r>
                      <a:rPr lang="en-US" sz="2400">
                        <a:latin typeface="Cambria Math" panose="02040503050406030204" pitchFamily="18" charset="0"/>
                      </a:rPr>
                      <m:t>→</m:t>
                    </m:r>
                    <m:r>
                      <a:rPr lang="en-US" sz="2400" i="1">
                        <a:latin typeface="Cambria Math" panose="02040503050406030204" pitchFamily="18" charset="0"/>
                      </a:rPr>
                      <m:t>𝐸</m:t>
                    </m:r>
                    <m:r>
                      <a:rPr lang="en-US" sz="2400">
                        <a:latin typeface="Cambria Math" panose="02040503050406030204" pitchFamily="18" charset="0"/>
                      </a:rPr>
                      <m:t>→</m:t>
                    </m:r>
                    <m:r>
                      <a:rPr lang="en-US" sz="2400" i="1">
                        <a:latin typeface="Cambria Math" panose="02040503050406030204" pitchFamily="18" charset="0"/>
                      </a:rPr>
                      <m:t>𝐶</m:t>
                    </m:r>
                    <m:r>
                      <a:rPr lang="en-US" sz="2400">
                        <a:latin typeface="Cambria Math" panose="02040503050406030204" pitchFamily="18" charset="0"/>
                      </a:rPr>
                      <m:t>→</m:t>
                    </m:r>
                    <m:r>
                      <a:rPr lang="en-US" sz="2400" i="1">
                        <a:latin typeface="Cambria Math" panose="02040503050406030204" pitchFamily="18" charset="0"/>
                      </a:rPr>
                      <m:t>𝐹</m:t>
                    </m:r>
                    <m:r>
                      <a:rPr lang="en-US" sz="2400">
                        <a:latin typeface="Cambria Math" panose="02040503050406030204" pitchFamily="18" charset="0"/>
                      </a:rPr>
                      <m:t>→</m:t>
                    </m:r>
                    <m:r>
                      <a:rPr lang="en-US" sz="2400" i="1">
                        <a:latin typeface="Cambria Math" panose="02040503050406030204" pitchFamily="18" charset="0"/>
                      </a:rPr>
                      <m:t>𝐷</m:t>
                    </m:r>
                    <m:r>
                      <a:rPr lang="en-US" sz="2400">
                        <a:latin typeface="Cambria Math" panose="02040503050406030204" pitchFamily="18" charset="0"/>
                      </a:rPr>
                      <m:t>→</m:t>
                    </m:r>
                    <m:r>
                      <a:rPr lang="en-US" sz="2400" i="1">
                        <a:latin typeface="Cambria Math" panose="02040503050406030204" pitchFamily="18" charset="0"/>
                      </a:rPr>
                      <m:t>𝐴</m:t>
                    </m:r>
                  </m:oMath>
                </a14:m>
                <a:endParaRPr lang="en-US" sz="2400" dirty="0"/>
              </a:p>
              <a:p>
                <a:r>
                  <a:rPr lang="en-US" sz="2800" b="1" dirty="0"/>
                  <a:t>Total Distance:</a:t>
                </a:r>
                <a:endParaRPr lang="en-US" sz="2800" dirty="0"/>
              </a:p>
              <a:p>
                <a:pPr lvl="1"/>
                <a14:m>
                  <m:oMath xmlns:m="http://schemas.openxmlformats.org/officeDocument/2006/math">
                    <m:r>
                      <a:rPr lang="en-US" sz="2400">
                        <a:latin typeface="Cambria Math" panose="02040503050406030204" pitchFamily="18" charset="0"/>
                      </a:rPr>
                      <m:t>10+8+10+6+9+20=</m:t>
                    </m:r>
                    <m:borderBox>
                      <m:borderBoxPr>
                        <m:ctrlPr>
                          <a:rPr lang="ar-AE" sz="2400" i="1">
                            <a:latin typeface="Cambria Math" panose="02040503050406030204" pitchFamily="18" charset="0"/>
                          </a:rPr>
                        </m:ctrlPr>
                      </m:borderBoxPr>
                      <m:e>
                        <m:r>
                          <a:rPr lang="ar-AE" sz="2400">
                            <a:latin typeface="Cambria Math" panose="02040503050406030204" pitchFamily="18" charset="0"/>
                          </a:rPr>
                          <m:t>63</m:t>
                        </m:r>
                      </m:e>
                    </m:borderBox>
                  </m:oMath>
                </a14:m>
                <a:endParaRPr lang="ar-AE" sz="2400" dirty="0"/>
              </a:p>
              <a:p>
                <a:endParaRPr lang="en-US" sz="2800" dirty="0"/>
              </a:p>
            </p:txBody>
          </p:sp>
        </mc:Choice>
        <mc:Fallback xmlns="">
          <p:sp>
            <p:nvSpPr>
              <p:cNvPr id="3" name="Content Placeholder 2">
                <a:extLst>
                  <a:ext uri="{FF2B5EF4-FFF2-40B4-BE49-F238E27FC236}">
                    <a16:creationId xmlns:a16="http://schemas.microsoft.com/office/drawing/2014/main" id="{3B8CF150-9710-7A8B-AA0B-ABA452054FE2}"/>
                  </a:ext>
                </a:extLst>
              </p:cNvPr>
              <p:cNvSpPr>
                <a:spLocks noGrp="1" noRot="1" noChangeAspect="1" noMove="1" noResize="1" noEditPoints="1" noAdjustHandles="1" noChangeArrowheads="1" noChangeShapeType="1" noTextEdit="1"/>
              </p:cNvSpPr>
              <p:nvPr>
                <p:ph idx="1"/>
              </p:nvPr>
            </p:nvSpPr>
            <p:spPr>
              <a:xfrm>
                <a:off x="428223" y="1166018"/>
                <a:ext cx="8229600" cy="5310982"/>
              </a:xfrm>
              <a:blipFill>
                <a:blip r:embed="rId2"/>
                <a:stretch>
                  <a:fillRect l="-462" t="-1190"/>
                </a:stretch>
              </a:blipFill>
            </p:spPr>
            <p:txBody>
              <a:bodyPr/>
              <a:lstStyle/>
              <a:p>
                <a:r>
                  <a:rPr lang="en-US">
                    <a:noFill/>
                  </a:rPr>
                  <a:t> </a:t>
                </a:r>
              </a:p>
            </p:txBody>
          </p:sp>
        </mc:Fallback>
      </mc:AlternateContent>
    </p:spTree>
    <p:extLst>
      <p:ext uri="{BB962C8B-B14F-4D97-AF65-F5344CB8AC3E}">
        <p14:creationId xmlns:p14="http://schemas.microsoft.com/office/powerpoint/2010/main" val="2770428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2839-3831-5D62-D5A2-378D7F52AAFF}"/>
              </a:ext>
            </a:extLst>
          </p:cNvPr>
          <p:cNvSpPr>
            <a:spLocks noGrp="1"/>
          </p:cNvSpPr>
          <p:nvPr>
            <p:ph type="title"/>
          </p:nvPr>
        </p:nvSpPr>
        <p:spPr/>
        <p:txBody>
          <a:bodyPr/>
          <a:lstStyle/>
          <a:p>
            <a:r>
              <a:rPr lang="en-US" dirty="0"/>
              <a:t>Class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85F5C4-AAF1-C98F-97A0-FCF33D917DA8}"/>
                  </a:ext>
                </a:extLst>
              </p:cNvPr>
              <p:cNvSpPr>
                <a:spLocks noGrp="1"/>
              </p:cNvSpPr>
              <p:nvPr>
                <p:ph idx="1"/>
              </p:nvPr>
            </p:nvSpPr>
            <p:spPr/>
            <p:txBody>
              <a:bodyPr/>
              <a:lstStyle/>
              <a:p>
                <a:r>
                  <a:rPr lang="en-US" dirty="0"/>
                  <a:t>Remove</a:t>
                </a:r>
              </a:p>
              <a:p>
                <a:pPr lvl="1"/>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en-US" i="1">
                        <a:latin typeface="Cambria Math" panose="02040503050406030204" pitchFamily="18" charset="0"/>
                      </a:rPr>
                      <m:t>𝐶</m:t>
                    </m:r>
                    <m:r>
                      <a:rPr lang="en-US">
                        <a:latin typeface="Cambria Math" panose="02040503050406030204" pitchFamily="18" charset="0"/>
                      </a:rPr>
                      <m:t>=10</m:t>
                    </m:r>
                  </m:oMath>
                </a14:m>
                <a:endParaRPr lang="en-US" dirty="0"/>
              </a:p>
              <a:p>
                <a:pPr lvl="1"/>
                <a14:m>
                  <m:oMath xmlns:m="http://schemas.openxmlformats.org/officeDocument/2006/math">
                    <m:r>
                      <a:rPr lang="en-US" i="1">
                        <a:latin typeface="Cambria Math" panose="02040503050406030204" pitchFamily="18" charset="0"/>
                      </a:rPr>
                      <m:t>𝐹</m:t>
                    </m:r>
                    <m:r>
                      <a:rPr lang="en-US">
                        <a:latin typeface="Cambria Math" panose="02040503050406030204" pitchFamily="18" charset="0"/>
                      </a:rPr>
                      <m:t>→</m:t>
                    </m:r>
                    <m:r>
                      <a:rPr lang="en-US" i="1">
                        <a:latin typeface="Cambria Math" panose="02040503050406030204" pitchFamily="18" charset="0"/>
                      </a:rPr>
                      <m:t>𝐷</m:t>
                    </m:r>
                    <m:r>
                      <a:rPr lang="en-US">
                        <a:latin typeface="Cambria Math" panose="02040503050406030204" pitchFamily="18" charset="0"/>
                      </a:rPr>
                      <m:t>=9</m:t>
                    </m:r>
                  </m:oMath>
                </a14:m>
                <a:endParaRPr lang="en-US" dirty="0"/>
              </a:p>
              <a:p>
                <a:r>
                  <a:rPr lang="en-US" dirty="0"/>
                  <a:t>Add:</a:t>
                </a:r>
              </a:p>
              <a:p>
                <a:pPr lvl="1"/>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en-US" i="1">
                        <a:latin typeface="Cambria Math" panose="02040503050406030204" pitchFamily="18" charset="0"/>
                      </a:rPr>
                      <m:t>𝐹</m:t>
                    </m:r>
                    <m:r>
                      <a:rPr lang="en-US">
                        <a:latin typeface="Cambria Math" panose="02040503050406030204" pitchFamily="18" charset="0"/>
                      </a:rPr>
                      <m:t>=13</m:t>
                    </m:r>
                  </m:oMath>
                </a14:m>
                <a:endParaRPr lang="en-US" dirty="0"/>
              </a:p>
              <a:p>
                <a:pPr lvl="1"/>
                <a14:m>
                  <m:oMath xmlns:m="http://schemas.openxmlformats.org/officeDocument/2006/math">
                    <m:r>
                      <a:rPr lang="en-US" i="1">
                        <a:latin typeface="Cambria Math" panose="02040503050406030204" pitchFamily="18" charset="0"/>
                      </a:rPr>
                      <m:t>𝐶</m:t>
                    </m:r>
                    <m:r>
                      <a:rPr lang="en-US">
                        <a:latin typeface="Cambria Math" panose="02040503050406030204" pitchFamily="18" charset="0"/>
                      </a:rPr>
                      <m:t>→</m:t>
                    </m:r>
                    <m:r>
                      <a:rPr lang="en-US" i="1">
                        <a:latin typeface="Cambria Math" panose="02040503050406030204" pitchFamily="18" charset="0"/>
                      </a:rPr>
                      <m:t>𝐷</m:t>
                    </m:r>
                    <m:r>
                      <a:rPr lang="en-US">
                        <a:latin typeface="Cambria Math" panose="02040503050406030204" pitchFamily="18" charset="0"/>
                      </a:rPr>
                      <m:t>=7</m:t>
                    </m:r>
                  </m:oMath>
                </a14:m>
                <a:endParaRPr lang="en-US" dirty="0"/>
              </a:p>
              <a:p>
                <a:r>
                  <a:rPr lang="en-US" dirty="0"/>
                  <a:t>Old cost: </a:t>
                </a:r>
                <a14:m>
                  <m:oMath xmlns:m="http://schemas.openxmlformats.org/officeDocument/2006/math">
                    <m:r>
                      <a:rPr lang="en-US">
                        <a:latin typeface="Cambria Math" panose="02040503050406030204" pitchFamily="18" charset="0"/>
                      </a:rPr>
                      <m:t>10+9=19</m:t>
                    </m:r>
                  </m:oMath>
                </a14:m>
                <a:br>
                  <a:rPr lang="en-US" dirty="0"/>
                </a:br>
                <a:r>
                  <a:rPr lang="en-US" dirty="0"/>
                  <a:t>New cost: </a:t>
                </a:r>
                <a14:m>
                  <m:oMath xmlns:m="http://schemas.openxmlformats.org/officeDocument/2006/math">
                    <m:r>
                      <a:rPr lang="en-US">
                        <a:latin typeface="Cambria Math" panose="02040503050406030204" pitchFamily="18" charset="0"/>
                      </a:rPr>
                      <m:t>13+7=20</m:t>
                    </m:r>
                  </m:oMath>
                </a14:m>
                <a:r>
                  <a:rPr lang="en-US" dirty="0"/>
                  <a:t>❌ </a:t>
                </a:r>
                <a:r>
                  <a:rPr lang="en-US" dirty="0">
                    <a:solidFill>
                      <a:srgbClr val="FF0000"/>
                    </a:solidFill>
                  </a:rPr>
                  <a:t>(worse → reject)</a:t>
                </a:r>
              </a:p>
              <a:p>
                <a:endParaRPr lang="en-US" dirty="0"/>
              </a:p>
            </p:txBody>
          </p:sp>
        </mc:Choice>
        <mc:Fallback xmlns="">
          <p:sp>
            <p:nvSpPr>
              <p:cNvPr id="3" name="Content Placeholder 2">
                <a:extLst>
                  <a:ext uri="{FF2B5EF4-FFF2-40B4-BE49-F238E27FC236}">
                    <a16:creationId xmlns:a16="http://schemas.microsoft.com/office/drawing/2014/main" id="{3985F5C4-AAF1-C98F-97A0-FCF33D917DA8}"/>
                  </a:ext>
                </a:extLst>
              </p:cNvPr>
              <p:cNvSpPr>
                <a:spLocks noGrp="1" noRot="1" noChangeAspect="1" noMove="1" noResize="1" noEditPoints="1" noAdjustHandles="1" noChangeArrowheads="1" noChangeShapeType="1" noTextEdit="1"/>
              </p:cNvSpPr>
              <p:nvPr>
                <p:ph idx="1"/>
              </p:nvPr>
            </p:nvSpPr>
            <p:spPr>
              <a:blipFill>
                <a:blip r:embed="rId2"/>
                <a:stretch>
                  <a:fillRect l="-772" t="-1681"/>
                </a:stretch>
              </a:blipFill>
            </p:spPr>
            <p:txBody>
              <a:bodyPr/>
              <a:lstStyle/>
              <a:p>
                <a:r>
                  <a:rPr lang="en-US">
                    <a:noFill/>
                  </a:rPr>
                  <a:t> </a:t>
                </a:r>
              </a:p>
            </p:txBody>
          </p:sp>
        </mc:Fallback>
      </mc:AlternateContent>
    </p:spTree>
    <p:extLst>
      <p:ext uri="{BB962C8B-B14F-4D97-AF65-F5344CB8AC3E}">
        <p14:creationId xmlns:p14="http://schemas.microsoft.com/office/powerpoint/2010/main" val="716747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7CC54-DE56-B1B6-9D39-B74B763B8D87}"/>
              </a:ext>
            </a:extLst>
          </p:cNvPr>
          <p:cNvSpPr>
            <a:spLocks noGrp="1"/>
          </p:cNvSpPr>
          <p:nvPr>
            <p:ph type="title"/>
          </p:nvPr>
        </p:nvSpPr>
        <p:spPr/>
        <p:txBody>
          <a:bodyPr/>
          <a:lstStyle/>
          <a:p>
            <a:r>
              <a:rPr lang="en-US" dirty="0"/>
              <a:t>Class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A47572-6536-DF46-BA7C-1B3078D5DD33}"/>
                  </a:ext>
                </a:extLst>
              </p:cNvPr>
              <p:cNvSpPr>
                <a:spLocks noGrp="1"/>
              </p:cNvSpPr>
              <p:nvPr>
                <p:ph idx="1"/>
              </p:nvPr>
            </p:nvSpPr>
            <p:spPr/>
            <p:txBody>
              <a:bodyPr/>
              <a:lstStyle/>
              <a:p>
                <a:r>
                  <a:rPr lang="en-US" dirty="0"/>
                  <a:t>Remove:</a:t>
                </a:r>
              </a:p>
              <a:p>
                <a:pPr lvl="1"/>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𝐸</m:t>
                    </m:r>
                    <m:r>
                      <a:rPr lang="en-US">
                        <a:latin typeface="Cambria Math" panose="02040503050406030204" pitchFamily="18" charset="0"/>
                      </a:rPr>
                      <m:t>=8</m:t>
                    </m:r>
                  </m:oMath>
                </a14:m>
                <a:endParaRPr lang="en-US" dirty="0"/>
              </a:p>
              <a:p>
                <a:pPr lvl="1"/>
                <a14:m>
                  <m:oMath xmlns:m="http://schemas.openxmlformats.org/officeDocument/2006/math">
                    <m:r>
                      <a:rPr lang="en-US" i="1">
                        <a:latin typeface="Cambria Math" panose="02040503050406030204" pitchFamily="18" charset="0"/>
                      </a:rPr>
                      <m:t>𝐷</m:t>
                    </m:r>
                    <m:r>
                      <a:rPr lang="en-US">
                        <a:latin typeface="Cambria Math" panose="02040503050406030204" pitchFamily="18" charset="0"/>
                      </a:rPr>
                      <m:t>→</m:t>
                    </m:r>
                    <m:r>
                      <a:rPr lang="en-US" i="1">
                        <a:latin typeface="Cambria Math" panose="02040503050406030204" pitchFamily="18" charset="0"/>
                      </a:rPr>
                      <m:t>𝐴</m:t>
                    </m:r>
                    <m:r>
                      <a:rPr lang="en-US">
                        <a:latin typeface="Cambria Math" panose="02040503050406030204" pitchFamily="18" charset="0"/>
                      </a:rPr>
                      <m:t>=20</m:t>
                    </m:r>
                  </m:oMath>
                </a14:m>
                <a:endParaRPr lang="en-US" dirty="0"/>
              </a:p>
              <a:p>
                <a:r>
                  <a:rPr lang="en-US" dirty="0"/>
                  <a:t>Add:</a:t>
                </a:r>
              </a:p>
              <a:p>
                <a:pPr lvl="1"/>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𝐷</m:t>
                    </m:r>
                    <m:r>
                      <a:rPr lang="en-US">
                        <a:latin typeface="Cambria Math" panose="02040503050406030204" pitchFamily="18" charset="0"/>
                      </a:rPr>
                      <m:t>=14</m:t>
                    </m:r>
                  </m:oMath>
                </a14:m>
                <a:endParaRPr lang="en-US" dirty="0"/>
              </a:p>
              <a:p>
                <a:pPr lvl="1"/>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en-US" i="1">
                        <a:latin typeface="Cambria Math" panose="02040503050406030204" pitchFamily="18" charset="0"/>
                      </a:rPr>
                      <m:t>𝐴</m:t>
                    </m:r>
                    <m:r>
                      <a:rPr lang="en-US">
                        <a:latin typeface="Cambria Math" panose="02040503050406030204" pitchFamily="18" charset="0"/>
                      </a:rPr>
                      <m:t>=12</m:t>
                    </m:r>
                  </m:oMath>
                </a14:m>
                <a:endParaRPr lang="en-US" dirty="0"/>
              </a:p>
              <a:p>
                <a:r>
                  <a:rPr lang="en-US" dirty="0"/>
                  <a:t>Old cost: </a:t>
                </a:r>
                <a14:m>
                  <m:oMath xmlns:m="http://schemas.openxmlformats.org/officeDocument/2006/math">
                    <m:r>
                      <a:rPr lang="en-US">
                        <a:latin typeface="Cambria Math" panose="02040503050406030204" pitchFamily="18" charset="0"/>
                      </a:rPr>
                      <m:t>8+20=28</m:t>
                    </m:r>
                  </m:oMath>
                </a14:m>
                <a:br>
                  <a:rPr lang="en-US" dirty="0"/>
                </a:br>
                <a:r>
                  <a:rPr lang="en-US" dirty="0"/>
                  <a:t>New cost: </a:t>
                </a:r>
                <a14:m>
                  <m:oMath xmlns:m="http://schemas.openxmlformats.org/officeDocument/2006/math">
                    <m:r>
                      <a:rPr lang="en-US">
                        <a:latin typeface="Cambria Math" panose="02040503050406030204" pitchFamily="18" charset="0"/>
                      </a:rPr>
                      <m:t>14+12=26</m:t>
                    </m:r>
                  </m:oMath>
                </a14:m>
                <a:r>
                  <a:rPr lang="en-US" dirty="0"/>
                  <a:t> </a:t>
                </a:r>
                <a:r>
                  <a:rPr lang="en-US" dirty="0">
                    <a:solidFill>
                      <a:srgbClr val="00B050"/>
                    </a:solidFill>
                  </a:rPr>
                  <a:t>(improvement!)</a:t>
                </a:r>
              </a:p>
              <a:p>
                <a:endParaRPr lang="en-US" dirty="0"/>
              </a:p>
            </p:txBody>
          </p:sp>
        </mc:Choice>
        <mc:Fallback xmlns="">
          <p:sp>
            <p:nvSpPr>
              <p:cNvPr id="3" name="Content Placeholder 2">
                <a:extLst>
                  <a:ext uri="{FF2B5EF4-FFF2-40B4-BE49-F238E27FC236}">
                    <a16:creationId xmlns:a16="http://schemas.microsoft.com/office/drawing/2014/main" id="{4BA47572-6536-DF46-BA7C-1B3078D5DD33}"/>
                  </a:ext>
                </a:extLst>
              </p:cNvPr>
              <p:cNvSpPr>
                <a:spLocks noGrp="1" noRot="1" noChangeAspect="1" noMove="1" noResize="1" noEditPoints="1" noAdjustHandles="1" noChangeArrowheads="1" noChangeShapeType="1" noTextEdit="1"/>
              </p:cNvSpPr>
              <p:nvPr>
                <p:ph idx="1"/>
              </p:nvPr>
            </p:nvSpPr>
            <p:spPr>
              <a:blipFill>
                <a:blip r:embed="rId2"/>
                <a:stretch>
                  <a:fillRect l="-772" t="-1681"/>
                </a:stretch>
              </a:blipFill>
            </p:spPr>
            <p:txBody>
              <a:bodyPr/>
              <a:lstStyle/>
              <a:p>
                <a:r>
                  <a:rPr lang="en-US">
                    <a:noFill/>
                  </a:rPr>
                  <a:t> </a:t>
                </a:r>
              </a:p>
            </p:txBody>
          </p:sp>
        </mc:Fallback>
      </mc:AlternateContent>
    </p:spTree>
    <p:extLst>
      <p:ext uri="{BB962C8B-B14F-4D97-AF65-F5344CB8AC3E}">
        <p14:creationId xmlns:p14="http://schemas.microsoft.com/office/powerpoint/2010/main" val="200084200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A6517E19E6431E4C8A7F2D18BC1C9A95" ma:contentTypeVersion="15" ma:contentTypeDescription="Yeni belge oluşturun." ma:contentTypeScope="" ma:versionID="78c2748d14fd25ae1efbce9d1d6f453f">
  <xsd:schema xmlns:xsd="http://www.w3.org/2001/XMLSchema" xmlns:xs="http://www.w3.org/2001/XMLSchema" xmlns:p="http://schemas.microsoft.com/office/2006/metadata/properties" xmlns:ns3="65edfe5a-496a-4133-a6fa-9b9305227640" xmlns:ns4="9f613a20-c6af-4a69-a0b9-b93c46c5b1f4" targetNamespace="http://schemas.microsoft.com/office/2006/metadata/properties" ma:root="true" ma:fieldsID="727ace8560e388592fb74c59d2b0aae7" ns3:_="" ns4:_="">
    <xsd:import namespace="65edfe5a-496a-4133-a6fa-9b9305227640"/>
    <xsd:import namespace="9f613a20-c6af-4a69-a0b9-b93c46c5b1f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LengthInSecond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edfe5a-496a-4133-a6fa-9b93052276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Length (seconds)" ma:internalName="MediaLengthInSeconds" ma:readOnly="true">
      <xsd:simpleType>
        <xsd:restriction base="dms:Unknow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613a20-c6af-4a69-a0b9-b93c46c5b1f4" elementFormDefault="qualified">
    <xsd:import namespace="http://schemas.microsoft.com/office/2006/documentManagement/types"/>
    <xsd:import namespace="http://schemas.microsoft.com/office/infopath/2007/PartnerControls"/>
    <xsd:element name="SharedWithUsers" ma:index="19" nillable="true" ma:displayName="Paylaşılanla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Ayrıntıları ile Paylaşıldı" ma:internalName="SharedWithDetails" ma:readOnly="true">
      <xsd:simpleType>
        <xsd:restriction base="dms:Note">
          <xsd:maxLength value="255"/>
        </xsd:restriction>
      </xsd:simpleType>
    </xsd:element>
    <xsd:element name="SharingHintHash" ma:index="21" nillable="true" ma:displayName="İpucu Paylaşımı Karması"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A4F30C-9AED-466E-A5AB-20B5D06CFE9D}">
  <ds:schemaRefs>
    <ds:schemaRef ds:uri="http://schemas.microsoft.com/sharepoint/v3/contenttype/forms"/>
  </ds:schemaRefs>
</ds:datastoreItem>
</file>

<file path=customXml/itemProps2.xml><?xml version="1.0" encoding="utf-8"?>
<ds:datastoreItem xmlns:ds="http://schemas.openxmlformats.org/officeDocument/2006/customXml" ds:itemID="{212EBD58-73B9-4E02-A52F-DAED2807E1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edfe5a-496a-4133-a6fa-9b9305227640"/>
    <ds:schemaRef ds:uri="9f613a20-c6af-4a69-a0b9-b93c46c5b1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19A230-CBE2-43C5-A121-FFF727A64B9B}">
  <ds:schemaRefs>
    <ds:schemaRef ds:uri="9f613a20-c6af-4a69-a0b9-b93c46c5b1f4"/>
    <ds:schemaRef ds:uri="http://purl.org/dc/elements/1.1/"/>
    <ds:schemaRef ds:uri="http://schemas.microsoft.com/office/2006/metadata/properties"/>
    <ds:schemaRef ds:uri="65edfe5a-496a-4133-a6fa-9b9305227640"/>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11779</TotalTime>
  <Words>1689</Words>
  <Application>Microsoft Macintosh PowerPoint</Application>
  <PresentationFormat>On-screen Show (4:3)</PresentationFormat>
  <Paragraphs>406</Paragraphs>
  <Slides>26</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宋体</vt:lpstr>
      <vt:lpstr>Arial</vt:lpstr>
      <vt:lpstr>Calibri</vt:lpstr>
      <vt:lpstr>Cambria Math</vt:lpstr>
      <vt:lpstr>Comic Sans MS</vt:lpstr>
      <vt:lpstr>Courier New</vt:lpstr>
      <vt:lpstr>Rockwell Condensed</vt:lpstr>
      <vt:lpstr>Times New Roman</vt:lpstr>
      <vt:lpstr>Wingdings</vt:lpstr>
      <vt:lpstr>Wingdings 2</vt:lpstr>
      <vt:lpstr>Default Design</vt:lpstr>
      <vt:lpstr>INDR 100   INTRODUCTION TO INDUSTRIAL ENGINEERING</vt:lpstr>
      <vt:lpstr>Logistics vs. Supply Chain Management</vt:lpstr>
      <vt:lpstr>Supplier selection problem</vt:lpstr>
      <vt:lpstr>MILP model</vt:lpstr>
      <vt:lpstr>Class Exercise</vt:lpstr>
      <vt:lpstr>Robust Supplier Selection under Correlated Disruptions </vt:lpstr>
      <vt:lpstr>MILP model</vt:lpstr>
      <vt:lpstr>Why Logistics as part of Industrial Eng.?</vt:lpstr>
      <vt:lpstr>Logistics Mission</vt:lpstr>
      <vt:lpstr>PowerPoint Presentation</vt:lpstr>
      <vt:lpstr>Cost distribution within logistics</vt:lpstr>
      <vt:lpstr>Full Truckload Distribution</vt:lpstr>
      <vt:lpstr>Full Truckload Distribution</vt:lpstr>
      <vt:lpstr>Class Exercise</vt:lpstr>
      <vt:lpstr>Class Exercise</vt:lpstr>
      <vt:lpstr>Less Than Truckload (LTL) Distribution</vt:lpstr>
      <vt:lpstr>Travelling salesman problem</vt:lpstr>
      <vt:lpstr>Miller Zemlin Tucker (MTZ) Formulation</vt:lpstr>
      <vt:lpstr>Nearest Neighbor Heuristic</vt:lpstr>
      <vt:lpstr>Nearest Neighbor Heuristic</vt:lpstr>
      <vt:lpstr>2-opt Heuristic for improvement</vt:lpstr>
      <vt:lpstr>2-opt improvement</vt:lpstr>
      <vt:lpstr> Class Exercise</vt:lpstr>
      <vt:lpstr>Class Exercise</vt:lpstr>
      <vt:lpstr>Class Exercise</vt:lpstr>
      <vt:lpstr>Class Exercise</vt:lpstr>
    </vt:vector>
  </TitlesOfParts>
  <Company>KFUPM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HISTORY AND PERSPECTIVE OF INDUSTRIAL ENGINEERING</dc:title>
  <dc:creator>Ceyda Oguz</dc:creator>
  <cp:lastModifiedBy>Barış Yıldız</cp:lastModifiedBy>
  <cp:revision>213</cp:revision>
  <cp:lastPrinted>2018-11-26T07:09:14Z</cp:lastPrinted>
  <dcterms:created xsi:type="dcterms:W3CDTF">2007-09-10T19:43:09Z</dcterms:created>
  <dcterms:modified xsi:type="dcterms:W3CDTF">2026-06-01T11:04:42Z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0x010100A6517E19E6431E4C8A7F2D18BC1C9A95</vt:lpwstr>
  </property>
</Properties>
</file>