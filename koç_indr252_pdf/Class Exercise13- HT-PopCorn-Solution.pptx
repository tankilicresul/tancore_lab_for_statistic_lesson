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893" r:id="rId2"/>
    <p:sldId id="894" r:id="rId3"/>
    <p:sldId id="510" r:id="rId4"/>
    <p:sldId id="895" r:id="rId5"/>
    <p:sldId id="896" r:id="rId6"/>
    <p:sldId id="853" r:id="rId7"/>
    <p:sldId id="897" r:id="rId8"/>
    <p:sldId id="898"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4E728-9B0D-4849-8B4B-6FE943A7C8EB}" type="datetimeFigureOut">
              <a:rPr lang="tr-TR" smtClean="0"/>
              <a:t>7.04.2026</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E55AD-173C-4A18-B3A1-D3FB3A4DD452}" type="slidenum">
              <a:rPr lang="tr-TR" smtClean="0"/>
              <a:t>‹#›</a:t>
            </a:fld>
            <a:endParaRPr lang="tr-TR"/>
          </a:p>
        </p:txBody>
      </p:sp>
    </p:spTree>
    <p:extLst>
      <p:ext uri="{BB962C8B-B14F-4D97-AF65-F5344CB8AC3E}">
        <p14:creationId xmlns:p14="http://schemas.microsoft.com/office/powerpoint/2010/main" val="736294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4B6FE-FFEB-9B86-023F-3193080E7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1B8A5-9C06-4D67-DC3C-48483A56B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F1DE9-15FB-9A28-111A-9AE7A12805F1}"/>
              </a:ext>
            </a:extLst>
          </p:cNvPr>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1145491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EE79-0343-AA39-098A-B69413D7D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C3484-85A9-DD61-3027-EC4532035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FF3A9-1A57-6F71-9874-CCDFADE1B0C2}"/>
              </a:ext>
            </a:extLst>
          </p:cNvPr>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1870897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6639-8CE3-0DEC-745E-91A1494DA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44977-02AF-ACCD-E6C1-A30643792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1B0D0-3884-213E-CEFE-2CAD711AF6F9}"/>
              </a:ext>
            </a:extLst>
          </p:cNvPr>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2349675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EC43-B951-11A3-3889-9123B7691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95B92-EB98-74F9-10F7-B27304C4A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EFDCA-28F4-97CE-B863-D6D0DAF02536}"/>
              </a:ext>
            </a:extLst>
          </p:cNvPr>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376047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338579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6EBF2-16E6-6936-435D-B7CA3880A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05DE-1068-BBFD-9538-6170A8C58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F6CF5-5B07-C4E3-60DE-E86019DA95FF}"/>
              </a:ext>
            </a:extLst>
          </p:cNvPr>
          <p:cNvSpPr>
            <a:spLocks noGrp="1"/>
          </p:cNvSpPr>
          <p:nvPr>
            <p:ph type="body" idx="1"/>
          </p:nvPr>
        </p:nvSpPr>
        <p:spPr/>
        <p:txBody>
          <a:bodyPr/>
          <a:lstStyle/>
          <a:p>
            <a:r>
              <a:rPr lang="tr-TR" dirty="0"/>
              <a:t>-</a:t>
            </a:r>
            <a:endParaRPr lang="en-TR" dirty="0"/>
          </a:p>
        </p:txBody>
      </p:sp>
    </p:spTree>
    <p:extLst>
      <p:ext uri="{BB962C8B-B14F-4D97-AF65-F5344CB8AC3E}">
        <p14:creationId xmlns:p14="http://schemas.microsoft.com/office/powerpoint/2010/main" val="3372977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3F004448-F70F-40A0-8350-EE5D29C22313}" type="slidenum">
              <a:rPr lang="en-US" altLang="en-US" smtClean="0"/>
              <a:pPr>
                <a:defRPr/>
              </a:pPr>
              <a:t>‹#›</a:t>
            </a:fld>
            <a:endParaRPr lang="en-US" alt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827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45EEB44F-D7F5-4DD5-9B0C-55313BDA9ECA}" type="slidenum">
              <a:rPr lang="en-US" altLang="en-US" smtClean="0"/>
              <a:pPr>
                <a:defRPr/>
              </a:pPr>
              <a:t>‹#›</a:t>
            </a:fld>
            <a:endParaRPr lang="en-US" altLang="en-US"/>
          </a:p>
        </p:txBody>
      </p:sp>
    </p:spTree>
    <p:extLst>
      <p:ext uri="{BB962C8B-B14F-4D97-AF65-F5344CB8AC3E}">
        <p14:creationId xmlns:p14="http://schemas.microsoft.com/office/powerpoint/2010/main" val="2854664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7E30D6A-3BC9-4870-ADC5-833EE9BA5F1F}" type="slidenum">
              <a:rPr lang="en-US" altLang="en-US" smtClean="0"/>
              <a:pPr>
                <a:defRPr/>
              </a:pPr>
              <a:t>‹#›</a:t>
            </a:fld>
            <a:endParaRPr lang="en-US" alt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910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6"/>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B19080F2-A867-4C1D-AAFA-C4FD733522EF}" type="slidenum">
              <a:rPr lang="en-US" altLang="en-US" smtClean="0"/>
              <a:pPr>
                <a:defRPr/>
              </a:pPr>
              <a:t>‹#›</a:t>
            </a:fld>
            <a:endParaRPr lang="en-US" altLang="en-US"/>
          </a:p>
        </p:txBody>
      </p:sp>
    </p:spTree>
    <p:extLst>
      <p:ext uri="{BB962C8B-B14F-4D97-AF65-F5344CB8AC3E}">
        <p14:creationId xmlns:p14="http://schemas.microsoft.com/office/powerpoint/2010/main" val="2756996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tr-TR"/>
          </a:p>
        </p:txBody>
      </p:sp>
      <p:sp>
        <p:nvSpPr>
          <p:cNvPr id="8" name="Footer Placeholder 7"/>
          <p:cNvSpPr>
            <a:spLocks noGrp="1"/>
          </p:cNvSpPr>
          <p:nvPr>
            <p:ph type="ftr" sz="quarter" idx="11"/>
          </p:nvPr>
        </p:nvSpPr>
        <p:spPr/>
        <p:txBody>
          <a:bodyPr/>
          <a:lstStyle/>
          <a:p>
            <a:pPr>
              <a:defRPr/>
            </a:pPr>
            <a:endParaRPr lang="tr-TR"/>
          </a:p>
        </p:txBody>
      </p:sp>
      <p:sp>
        <p:nvSpPr>
          <p:cNvPr id="9" name="Slide Number Placeholder 8"/>
          <p:cNvSpPr>
            <a:spLocks noGrp="1"/>
          </p:cNvSpPr>
          <p:nvPr>
            <p:ph type="sldNum" sz="quarter" idx="12"/>
          </p:nvPr>
        </p:nvSpPr>
        <p:spPr/>
        <p:txBody>
          <a:bodyPr/>
          <a:lstStyle/>
          <a:p>
            <a:pPr>
              <a:defRPr/>
            </a:pPr>
            <a:fld id="{9921C8FE-9C9A-44E1-8E02-5C488EE099E5}" type="slidenum">
              <a:rPr lang="en-US" altLang="en-US" smtClean="0"/>
              <a:pPr>
                <a:defRPr/>
              </a:pPr>
              <a:t>‹#›</a:t>
            </a:fld>
            <a:endParaRPr lang="en-US" altLang="en-US"/>
          </a:p>
        </p:txBody>
      </p:sp>
    </p:spTree>
    <p:extLst>
      <p:ext uri="{BB962C8B-B14F-4D97-AF65-F5344CB8AC3E}">
        <p14:creationId xmlns:p14="http://schemas.microsoft.com/office/powerpoint/2010/main" val="1505596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tr-TR"/>
          </a:p>
        </p:txBody>
      </p:sp>
      <p:sp>
        <p:nvSpPr>
          <p:cNvPr id="4" name="Footer Placeholder 3"/>
          <p:cNvSpPr>
            <a:spLocks noGrp="1"/>
          </p:cNvSpPr>
          <p:nvPr>
            <p:ph type="ftr" sz="quarter" idx="11"/>
          </p:nvPr>
        </p:nvSpPr>
        <p:spPr/>
        <p:txBody>
          <a:bodyPr/>
          <a:lstStyle/>
          <a:p>
            <a:pPr>
              <a:defRPr/>
            </a:pPr>
            <a:endParaRPr lang="tr-TR"/>
          </a:p>
        </p:txBody>
      </p:sp>
      <p:sp>
        <p:nvSpPr>
          <p:cNvPr id="5" name="Slide Number Placeholder 4"/>
          <p:cNvSpPr>
            <a:spLocks noGrp="1"/>
          </p:cNvSpPr>
          <p:nvPr>
            <p:ph type="sldNum" sz="quarter" idx="12"/>
          </p:nvPr>
        </p:nvSpPr>
        <p:spPr/>
        <p:txBody>
          <a:bodyPr/>
          <a:lstStyle/>
          <a:p>
            <a:pPr>
              <a:defRPr/>
            </a:pPr>
            <a:fld id="{DD99C13F-BD95-4889-8ABF-495FF03BF4D8}" type="slidenum">
              <a:rPr lang="en-US" altLang="en-US" smtClean="0"/>
              <a:pPr>
                <a:defRPr/>
              </a:pPr>
              <a:t>‹#›</a:t>
            </a:fld>
            <a:endParaRPr lang="en-US" altLang="en-US"/>
          </a:p>
        </p:txBody>
      </p:sp>
    </p:spTree>
    <p:extLst>
      <p:ext uri="{BB962C8B-B14F-4D97-AF65-F5344CB8AC3E}">
        <p14:creationId xmlns:p14="http://schemas.microsoft.com/office/powerpoint/2010/main" val="71853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tr-TR"/>
          </a:p>
        </p:txBody>
      </p:sp>
      <p:sp>
        <p:nvSpPr>
          <p:cNvPr id="9" name="Slide Number Placeholder 8"/>
          <p:cNvSpPr>
            <a:spLocks noGrp="1"/>
          </p:cNvSpPr>
          <p:nvPr>
            <p:ph type="sldNum" sz="quarter" idx="12"/>
          </p:nvPr>
        </p:nvSpPr>
        <p:spPr/>
        <p:txBody>
          <a:bodyPr/>
          <a:lstStyle/>
          <a:p>
            <a:pPr>
              <a:defRPr/>
            </a:pPr>
            <a:fld id="{E25219ED-DEBC-4A86-9ED9-A3CDC3476237}" type="slidenum">
              <a:rPr lang="en-US" altLang="en-US" smtClean="0"/>
              <a:pPr>
                <a:defRPr/>
              </a:pPr>
              <a:t>‹#›</a:t>
            </a:fld>
            <a:endParaRPr lang="en-US" altLang="en-US"/>
          </a:p>
        </p:txBody>
      </p:sp>
    </p:spTree>
    <p:extLst>
      <p:ext uri="{BB962C8B-B14F-4D97-AF65-F5344CB8AC3E}">
        <p14:creationId xmlns:p14="http://schemas.microsoft.com/office/powerpoint/2010/main" val="2540027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pPr>
              <a:defRPr/>
            </a:pPr>
            <a:endParaRPr lang="tr-TR"/>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pPr>
              <a:defRPr/>
            </a:pPr>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500046F5-4856-411D-B7AF-B17529F87B92}" type="slidenum">
              <a:rPr lang="en-US" altLang="en-US" smtClean="0"/>
              <a:pPr>
                <a:defRPr/>
              </a:pPr>
              <a:t>‹#›</a:t>
            </a:fld>
            <a:endParaRPr lang="en-US" altLang="en-US"/>
          </a:p>
        </p:txBody>
      </p:sp>
    </p:spTree>
    <p:extLst>
      <p:ext uri="{BB962C8B-B14F-4D97-AF65-F5344CB8AC3E}">
        <p14:creationId xmlns:p14="http://schemas.microsoft.com/office/powerpoint/2010/main" val="1639714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1806E077-30DD-4EDF-B645-CCB3FD8FD5B1}" type="slidenum">
              <a:rPr lang="en-US" altLang="en-US" smtClean="0"/>
              <a:pPr>
                <a:defRPr/>
              </a:pPr>
              <a:t>‹#›</a:t>
            </a:fld>
            <a:endParaRPr lang="en-US" altLang="en-US"/>
          </a:p>
        </p:txBody>
      </p:sp>
    </p:spTree>
    <p:extLst>
      <p:ext uri="{BB962C8B-B14F-4D97-AF65-F5344CB8AC3E}">
        <p14:creationId xmlns:p14="http://schemas.microsoft.com/office/powerpoint/2010/main" val="1530728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F5CF42CE-B41B-4690-A884-DE9F385FCE4C}" type="slidenum">
              <a:rPr lang="en-US" altLang="en-US" smtClean="0"/>
              <a:pPr>
                <a:defRPr/>
              </a:pPr>
              <a:t>‹#›</a:t>
            </a:fld>
            <a:endParaRPr lang="en-US" altLang="en-US"/>
          </a:p>
        </p:txBody>
      </p:sp>
    </p:spTree>
    <p:extLst>
      <p:ext uri="{BB962C8B-B14F-4D97-AF65-F5344CB8AC3E}">
        <p14:creationId xmlns:p14="http://schemas.microsoft.com/office/powerpoint/2010/main" val="3713782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B03551C1-8D87-4DB9-B2D5-496DA00DE963}" type="slidenum">
              <a:rPr lang="en-US" altLang="en-US" smtClean="0"/>
              <a:pPr>
                <a:defRPr/>
              </a:pPr>
              <a:t>‹#›</a:t>
            </a:fld>
            <a:endParaRPr lang="en-US" altLang="en-US"/>
          </a:p>
        </p:txBody>
      </p:sp>
    </p:spTree>
    <p:extLst>
      <p:ext uri="{BB962C8B-B14F-4D97-AF65-F5344CB8AC3E}">
        <p14:creationId xmlns:p14="http://schemas.microsoft.com/office/powerpoint/2010/main" val="1208446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609600" y="1600201"/>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A33C587D-36BB-42D7-9479-003C316304F8}"/>
              </a:ext>
            </a:extLst>
          </p:cNvPr>
          <p:cNvSpPr>
            <a:spLocks noGrp="1"/>
          </p:cNvSpPr>
          <p:nvPr>
            <p:ph idx="10"/>
          </p:nvPr>
        </p:nvSpPr>
        <p:spPr>
          <a:xfrm>
            <a:off x="3962400" y="16002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DD615186-B36D-4E48-B095-CFED614CF814}"/>
              </a:ext>
            </a:extLst>
          </p:cNvPr>
          <p:cNvSpPr>
            <a:spLocks noGrp="1"/>
          </p:cNvSpPr>
          <p:nvPr>
            <p:ph idx="11"/>
          </p:nvPr>
        </p:nvSpPr>
        <p:spPr>
          <a:xfrm>
            <a:off x="7315200" y="16002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13222B57-3E33-4902-BBA3-8E10892D3A1A}"/>
              </a:ext>
            </a:extLst>
          </p:cNvPr>
          <p:cNvSpPr>
            <a:spLocks noGrp="1"/>
          </p:cNvSpPr>
          <p:nvPr>
            <p:ph idx="12"/>
          </p:nvPr>
        </p:nvSpPr>
        <p:spPr>
          <a:xfrm>
            <a:off x="609600" y="28956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268F5437-03EB-4335-BE37-91A5D8E4F77C}"/>
              </a:ext>
            </a:extLst>
          </p:cNvPr>
          <p:cNvSpPr>
            <a:spLocks noGrp="1"/>
          </p:cNvSpPr>
          <p:nvPr>
            <p:ph idx="13"/>
          </p:nvPr>
        </p:nvSpPr>
        <p:spPr>
          <a:xfrm>
            <a:off x="3962400" y="28956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520B2A37-158D-469C-B81D-81B3192849BF}"/>
              </a:ext>
            </a:extLst>
          </p:cNvPr>
          <p:cNvSpPr>
            <a:spLocks noGrp="1"/>
          </p:cNvSpPr>
          <p:nvPr>
            <p:ph idx="14"/>
          </p:nvPr>
        </p:nvSpPr>
        <p:spPr>
          <a:xfrm>
            <a:off x="7315200" y="28956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82D6E95-860B-4DA8-987A-50806680E03C}"/>
              </a:ext>
            </a:extLst>
          </p:cNvPr>
          <p:cNvSpPr>
            <a:spLocks noGrp="1"/>
          </p:cNvSpPr>
          <p:nvPr>
            <p:ph idx="15"/>
          </p:nvPr>
        </p:nvSpPr>
        <p:spPr>
          <a:xfrm>
            <a:off x="609600" y="42672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1DE5828-09D2-4953-A50B-15AD803F44C9}"/>
              </a:ext>
            </a:extLst>
          </p:cNvPr>
          <p:cNvSpPr>
            <a:spLocks noGrp="1"/>
          </p:cNvSpPr>
          <p:nvPr>
            <p:ph idx="16"/>
          </p:nvPr>
        </p:nvSpPr>
        <p:spPr>
          <a:xfrm>
            <a:off x="3962400" y="42672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344F9716-A9B2-4833-B25A-8C7A514F75CE}"/>
              </a:ext>
            </a:extLst>
          </p:cNvPr>
          <p:cNvSpPr>
            <a:spLocks noGrp="1"/>
          </p:cNvSpPr>
          <p:nvPr>
            <p:ph idx="17"/>
          </p:nvPr>
        </p:nvSpPr>
        <p:spPr>
          <a:xfrm>
            <a:off x="7315200" y="42672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FD43E482-69F6-4E59-95A7-283B9CC5E94F}"/>
              </a:ext>
            </a:extLst>
          </p:cNvPr>
          <p:cNvSpPr>
            <a:spLocks noGrp="1"/>
          </p:cNvSpPr>
          <p:nvPr>
            <p:ph idx="18"/>
          </p:nvPr>
        </p:nvSpPr>
        <p:spPr>
          <a:xfrm>
            <a:off x="609600" y="54864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502E8DFF-C2BC-48E1-BF32-023D671D2E88}"/>
              </a:ext>
            </a:extLst>
          </p:cNvPr>
          <p:cNvSpPr>
            <a:spLocks noGrp="1"/>
          </p:cNvSpPr>
          <p:nvPr>
            <p:ph idx="19"/>
          </p:nvPr>
        </p:nvSpPr>
        <p:spPr>
          <a:xfrm>
            <a:off x="3962400" y="54864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a:extLst>
              <a:ext uri="{FF2B5EF4-FFF2-40B4-BE49-F238E27FC236}">
                <a16:creationId xmlns:a16="http://schemas.microsoft.com/office/drawing/2014/main" id="{2B1A96EF-E057-4A41-AC6E-D979C5DFE57B}"/>
              </a:ext>
            </a:extLst>
          </p:cNvPr>
          <p:cNvSpPr>
            <a:spLocks noGrp="1"/>
          </p:cNvSpPr>
          <p:nvPr>
            <p:ph idx="20"/>
          </p:nvPr>
        </p:nvSpPr>
        <p:spPr>
          <a:xfrm>
            <a:off x="7315200" y="5486400"/>
            <a:ext cx="3048000" cy="990600"/>
          </a:xfrm>
        </p:spPr>
        <p:txBody>
          <a:bodyPr/>
          <a:lstStyle>
            <a:lvl1pPr marL="292608" indent="-292608">
              <a:lnSpc>
                <a:spcPct val="90000"/>
              </a:lnSpc>
              <a:spcBef>
                <a:spcPts val="1000"/>
              </a:spcBef>
              <a:defRPr sz="2800">
                <a:latin typeface="+mn-lt"/>
                <a:cs typeface="Arial" panose="020B0604020202020204" pitchFamily="34" charset="0"/>
              </a:defRPr>
            </a:lvl1pPr>
            <a:lvl2pPr marL="292608" indent="-292608">
              <a:lnSpc>
                <a:spcPct val="90000"/>
              </a:lnSpc>
              <a:spcBef>
                <a:spcPts val="1000"/>
              </a:spcBef>
              <a:defRPr>
                <a:latin typeface="+mn-lt"/>
                <a:cs typeface="Arial" panose="020B0604020202020204" pitchFamily="34" charset="0"/>
              </a:defRPr>
            </a:lvl2pPr>
            <a:lvl3pPr marL="292608" indent="-292608">
              <a:lnSpc>
                <a:spcPct val="90000"/>
              </a:lnSpc>
              <a:spcBef>
                <a:spcPts val="1000"/>
              </a:spcBef>
              <a:defRPr>
                <a:latin typeface="+mn-lt"/>
                <a:cs typeface="Arial" panose="020B0604020202020204" pitchFamily="34" charset="0"/>
              </a:defRPr>
            </a:lvl3pPr>
            <a:lvl4pPr marL="292608" indent="-292608">
              <a:lnSpc>
                <a:spcPct val="90000"/>
              </a:lnSpc>
              <a:spcBef>
                <a:spcPts val="1000"/>
              </a:spcBef>
              <a:defRPr>
                <a:latin typeface="+mn-lt"/>
                <a:cs typeface="Arial" panose="020B0604020202020204" pitchFamily="34" charset="0"/>
              </a:defRPr>
            </a:lvl4pPr>
            <a:lvl5pPr marL="292608" indent="-292608">
              <a:lnSpc>
                <a:spcPct val="90000"/>
              </a:lnSpc>
              <a:spcBef>
                <a:spcPts val="1000"/>
              </a:spcBef>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5890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sz="1800"/>
          </a:p>
        </p:txBody>
      </p:sp>
      <p:sp>
        <p:nvSpPr>
          <p:cNvPr id="9" name="Rectangle 8"/>
          <p:cNvSpPr/>
          <p:nvPr/>
        </p:nvSpPr>
        <p:spPr>
          <a:xfrm>
            <a:off x="1" y="6334316"/>
            <a:ext cx="12192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sz="1800"/>
          </a:p>
        </p:txBody>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4"/>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tr-TR"/>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tr-TR"/>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664F7AA4-9D30-4C01-B5D4-177EC5C82915}" type="slidenum">
              <a:rPr lang="en-US" altLang="en-US" smtClean="0"/>
              <a:pPr>
                <a:defRPr/>
              </a:pPr>
              <a:t>‹#›</a:t>
            </a:fld>
            <a:endParaRPr lang="en-US"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201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Popcorn-poll.xls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812E-1D3B-484E-4A4A-5991F5F89F4B}"/>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35E2B035-FB3B-F352-CED9-2BF232EF8E70}"/>
              </a:ext>
            </a:extLst>
          </p:cNvPr>
          <p:cNvSpPr>
            <a:spLocks noGrp="1"/>
          </p:cNvSpPr>
          <p:nvPr>
            <p:ph type="title"/>
          </p:nvPr>
        </p:nvSpPr>
        <p:spPr/>
        <p:txBody>
          <a:bodyPr/>
          <a:lstStyle/>
          <a:p>
            <a:r>
              <a:rPr lang="en-US" dirty="0"/>
              <a:t>Class Exercise</a:t>
            </a:r>
          </a:p>
        </p:txBody>
      </p:sp>
      <p:sp>
        <p:nvSpPr>
          <p:cNvPr id="16" name="Content Placeholder 15">
            <a:extLst>
              <a:ext uri="{FF2B5EF4-FFF2-40B4-BE49-F238E27FC236}">
                <a16:creationId xmlns:a16="http://schemas.microsoft.com/office/drawing/2014/main" id="{05A94CE2-2F50-C4B6-C046-01BCD8A39AB9}"/>
              </a:ext>
            </a:extLst>
          </p:cNvPr>
          <p:cNvSpPr>
            <a:spLocks noGrp="1"/>
          </p:cNvSpPr>
          <p:nvPr>
            <p:ph idx="1"/>
          </p:nvPr>
        </p:nvSpPr>
        <p:spPr>
          <a:xfrm>
            <a:off x="1598129" y="1844824"/>
            <a:ext cx="8458311" cy="4608512"/>
          </a:xfrm>
        </p:spPr>
        <p:txBody>
          <a:bodyPr>
            <a:normAutofit/>
          </a:bodyPr>
          <a:lstStyle/>
          <a:p>
            <a:pPr>
              <a:lnSpc>
                <a:spcPct val="100000"/>
              </a:lnSpc>
              <a:spcBef>
                <a:spcPts val="0"/>
              </a:spcBef>
            </a:pPr>
            <a:r>
              <a:rPr lang="en-US" sz="1800" dirty="0">
                <a:latin typeface="Calibri" panose="020F0502020204030204" pitchFamily="34" charset="0"/>
                <a:ea typeface="MS Mincho" panose="02020609040205080304" pitchFamily="49" charset="-128"/>
                <a:cs typeface="Times New Roman" panose="02020603050405020304" pitchFamily="18" charset="0"/>
              </a:rPr>
              <a:t>The production manager wants to compare the average weights of popcorns from two production lines. Experience shows that the weights of popcorns can be assumed to be normal. He would like to know whether the true mean of the weights of popcorns from two production lines are different than each other. He obtained the following data:</a:t>
            </a: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r>
              <a:rPr lang="en-US" sz="1800" dirty="0">
                <a:latin typeface="Calibri" panose="020F0502020204030204" pitchFamily="34" charset="0"/>
                <a:ea typeface="MS Mincho" panose="02020609040205080304" pitchFamily="49" charset="-128"/>
                <a:cs typeface="Times New Roman" panose="02020603050405020304" pitchFamily="18" charset="0"/>
              </a:rPr>
              <a:t>Note that the corresponding degrees of freedom is 25 for Case 3.</a:t>
            </a:r>
          </a:p>
          <a:p>
            <a:pPr>
              <a:lnSpc>
                <a:spcPct val="100000"/>
              </a:lnSpc>
              <a:spcBef>
                <a:spcPts val="0"/>
              </a:spcBef>
            </a:pPr>
            <a:endParaRPr lang="en-US" dirty="0"/>
          </a:p>
        </p:txBody>
      </p:sp>
      <p:sp>
        <p:nvSpPr>
          <p:cNvPr id="9" name="TextBox 8">
            <a:extLst>
              <a:ext uri="{FF2B5EF4-FFF2-40B4-BE49-F238E27FC236}">
                <a16:creationId xmlns:a16="http://schemas.microsoft.com/office/drawing/2014/main" id="{F5F08524-57A2-F3DD-BE6A-6E5D99E1536C}"/>
              </a:ext>
            </a:extLst>
          </p:cNvPr>
          <p:cNvSpPr txBox="1"/>
          <p:nvPr/>
        </p:nvSpPr>
        <p:spPr>
          <a:xfrm>
            <a:off x="2346960" y="6360744"/>
            <a:ext cx="1957202" cy="400110"/>
          </a:xfrm>
          <a:prstGeom prst="rect">
            <a:avLst/>
          </a:prstGeom>
          <a:noFill/>
        </p:spPr>
        <p:txBody>
          <a:bodyPr wrap="none" rtlCol="0">
            <a:spAutoFit/>
          </a:bodyPr>
          <a:lstStyle/>
          <a:p>
            <a:pPr defTabSz="457200"/>
            <a:r>
              <a:rPr lang="en-US" sz="2000" dirty="0">
                <a:solidFill>
                  <a:prstClr val="white"/>
                </a:solidFill>
                <a:latin typeface="Calibri" panose="020F0502020204030204"/>
                <a:hlinkClick r:id="rId3" action="ppaction://hlinkfile">
                  <a:extLst>
                    <a:ext uri="{A12FA001-AC4F-418D-AE19-62706E023703}">
                      <ahyp:hlinkClr xmlns:ahyp="http://schemas.microsoft.com/office/drawing/2018/hyperlinkcolor" val="tx"/>
                    </a:ext>
                  </a:extLst>
                </a:hlinkClick>
              </a:rPr>
              <a:t>Popcorn-poll.xlsx</a:t>
            </a:r>
            <a:endParaRPr lang="en-US" sz="2000" dirty="0">
              <a:solidFill>
                <a:prstClr val="white"/>
              </a:solidFill>
              <a:latin typeface="Calibri" panose="020F0502020204030204"/>
            </a:endParaRPr>
          </a:p>
        </p:txBody>
      </p:sp>
      <p:graphicFrame>
        <p:nvGraphicFramePr>
          <p:cNvPr id="2" name="Table 1">
            <a:extLst>
              <a:ext uri="{FF2B5EF4-FFF2-40B4-BE49-F238E27FC236}">
                <a16:creationId xmlns:a16="http://schemas.microsoft.com/office/drawing/2014/main" id="{48A2D35A-4A27-008C-98EE-4E10C980BBF9}"/>
              </a:ext>
            </a:extLst>
          </p:cNvPr>
          <p:cNvGraphicFramePr>
            <a:graphicFrameLocks noGrp="1"/>
          </p:cNvGraphicFramePr>
          <p:nvPr>
            <p:extLst>
              <p:ext uri="{D42A27DB-BD31-4B8C-83A1-F6EECF244321}">
                <p14:modId xmlns:p14="http://schemas.microsoft.com/office/powerpoint/2010/main" val="3612304853"/>
              </p:ext>
            </p:extLst>
          </p:nvPr>
        </p:nvGraphicFramePr>
        <p:xfrm>
          <a:off x="1927413" y="3284984"/>
          <a:ext cx="8273043" cy="1599946"/>
        </p:xfrm>
        <a:graphic>
          <a:graphicData uri="http://schemas.openxmlformats.org/drawingml/2006/table">
            <a:tbl>
              <a:tblPr firstRow="1" firstCol="1" bandRow="1">
                <a:tableStyleId>{5C22544A-7EE6-4342-B048-85BDC9FD1C3A}</a:tableStyleId>
              </a:tblPr>
              <a:tblGrid>
                <a:gridCol w="642012">
                  <a:extLst>
                    <a:ext uri="{9D8B030D-6E8A-4147-A177-3AD203B41FA5}">
                      <a16:colId xmlns:a16="http://schemas.microsoft.com/office/drawing/2014/main" val="1457765095"/>
                    </a:ext>
                  </a:extLst>
                </a:gridCol>
                <a:gridCol w="1909010">
                  <a:extLst>
                    <a:ext uri="{9D8B030D-6E8A-4147-A177-3AD203B41FA5}">
                      <a16:colId xmlns:a16="http://schemas.microsoft.com/office/drawing/2014/main" val="1583538457"/>
                    </a:ext>
                  </a:extLst>
                </a:gridCol>
                <a:gridCol w="2129357">
                  <a:extLst>
                    <a:ext uri="{9D8B030D-6E8A-4147-A177-3AD203B41FA5}">
                      <a16:colId xmlns:a16="http://schemas.microsoft.com/office/drawing/2014/main" val="1751105741"/>
                    </a:ext>
                  </a:extLst>
                </a:gridCol>
                <a:gridCol w="3592664">
                  <a:extLst>
                    <a:ext uri="{9D8B030D-6E8A-4147-A177-3AD203B41FA5}">
                      <a16:colId xmlns:a16="http://schemas.microsoft.com/office/drawing/2014/main" val="907702107"/>
                    </a:ext>
                  </a:extLst>
                </a:gridCol>
              </a:tblGrid>
              <a:tr h="363220">
                <a:tc>
                  <a:txBody>
                    <a:bodyPr/>
                    <a:lstStyle/>
                    <a:p>
                      <a:pPr marL="457200" algn="ctr" fontAlgn="base">
                        <a:lnSpc>
                          <a:spcPct val="115000"/>
                        </a:lnSpc>
                        <a:buNone/>
                      </a:pP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dirty="0">
                          <a:effectLst/>
                        </a:rPr>
                        <a:t>Distribution of the weights</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dirty="0">
                          <a:effectLst/>
                        </a:rPr>
                        <a:t>Sample size </a:t>
                      </a:r>
                    </a:p>
                    <a:p>
                      <a:pPr marL="457200" algn="ctr" fontAlgn="base">
                        <a:lnSpc>
                          <a:spcPct val="115000"/>
                        </a:lnSpc>
                        <a:buNone/>
                      </a:pPr>
                      <a:r>
                        <a:rPr lang="en-US" sz="1600" dirty="0">
                          <a:effectLst/>
                        </a:rPr>
                        <a:t>(n</a:t>
                      </a:r>
                      <a:r>
                        <a:rPr lang="en-US" sz="1600" baseline="-25000" dirty="0">
                          <a:effectLst/>
                        </a:rPr>
                        <a:t>1</a:t>
                      </a:r>
                      <a:r>
                        <a:rPr lang="en-US" sz="1600" dirty="0">
                          <a:effectLst/>
                        </a:rPr>
                        <a:t>, n</a:t>
                      </a:r>
                      <a:r>
                        <a:rPr lang="en-US" sz="1600" baseline="-25000" dirty="0">
                          <a:effectLst/>
                        </a:rPr>
                        <a:t>2</a:t>
                      </a:r>
                      <a:r>
                        <a:rPr lang="en-US" sz="1600" dirty="0">
                          <a:effectLst/>
                        </a:rPr>
                        <a:t>)</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spcAft>
                          <a:spcPts val="1000"/>
                        </a:spcAft>
                        <a:buNone/>
                      </a:pPr>
                      <a:r>
                        <a:rPr lang="en-US" sz="1600" dirty="0">
                          <a:effectLst/>
                        </a:rPr>
                        <a:t>True standard deviation known/unknown ((</a:t>
                      </a:r>
                      <a:r>
                        <a:rPr lang="en-US" sz="1600" dirty="0">
                          <a:effectLst/>
                          <a:latin typeface="Symbol" panose="05050102010706020507" pitchFamily="18" charset="2"/>
                        </a:rPr>
                        <a:t>s</a:t>
                      </a:r>
                      <a:r>
                        <a:rPr lang="en-US" sz="1600" baseline="-25000" dirty="0">
                          <a:effectLst/>
                          <a:latin typeface="Symbol" panose="05050102010706020507" pitchFamily="18" charset="2"/>
                        </a:rPr>
                        <a:t>1</a:t>
                      </a:r>
                      <a:r>
                        <a:rPr lang="en-US" sz="1600" dirty="0">
                          <a:effectLst/>
                          <a:latin typeface="Symbol" panose="05050102010706020507" pitchFamily="18" charset="2"/>
                        </a:rPr>
                        <a:t>, s</a:t>
                      </a:r>
                      <a:r>
                        <a:rPr lang="en-US" sz="1600" baseline="-25000" dirty="0">
                          <a:effectLst/>
                          <a:latin typeface="Symbol" panose="05050102010706020507" pitchFamily="18" charset="2"/>
                        </a:rPr>
                        <a:t>2</a:t>
                      </a:r>
                      <a:r>
                        <a:rPr lang="en-US" sz="1600" dirty="0">
                          <a:effectLst/>
                        </a:rPr>
                        <a:t>)/ (s</a:t>
                      </a:r>
                      <a:r>
                        <a:rPr lang="en-US" sz="1600" baseline="-25000" dirty="0">
                          <a:effectLst/>
                        </a:rPr>
                        <a:t>1</a:t>
                      </a:r>
                      <a:r>
                        <a:rPr lang="en-US" sz="1600" dirty="0">
                          <a:effectLst/>
                        </a:rPr>
                        <a:t>, s</a:t>
                      </a:r>
                      <a:r>
                        <a:rPr lang="en-US" sz="1600" baseline="-25000" dirty="0">
                          <a:effectLst/>
                        </a:rPr>
                        <a:t>2</a:t>
                      </a:r>
                      <a:r>
                        <a:rPr lang="en-US" sz="1600" dirty="0">
                          <a:effectLst/>
                        </a:rPr>
                        <a:t>))</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52947311"/>
                  </a:ext>
                </a:extLst>
              </a:tr>
              <a:tr h="184785">
                <a:tc>
                  <a:txBody>
                    <a:bodyPr/>
                    <a:lstStyle/>
                    <a:p>
                      <a:pPr marL="457200" algn="ctr" fontAlgn="base">
                        <a:lnSpc>
                          <a:spcPct val="115000"/>
                        </a:lnSpc>
                        <a:buNone/>
                      </a:pPr>
                      <a:r>
                        <a:rPr lang="en-US" sz="1600" dirty="0">
                          <a:effectLst/>
                        </a:rPr>
                        <a:t>1</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dirty="0">
                          <a:effectLst/>
                        </a:rPr>
                        <a:t>Normal</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dirty="0">
                          <a:effectLst/>
                        </a:rPr>
                        <a:t>(12, 16)</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spcAft>
                          <a:spcPts val="1000"/>
                        </a:spcAft>
                        <a:buNone/>
                      </a:pPr>
                      <a:r>
                        <a:rPr lang="en-US" sz="1600" dirty="0">
                          <a:effectLst/>
                        </a:rPr>
                        <a:t>(</a:t>
                      </a:r>
                      <a:r>
                        <a:rPr lang="en-US" sz="1600" dirty="0">
                          <a:effectLst/>
                          <a:latin typeface="Symbol" panose="05050102010706020507" pitchFamily="18" charset="2"/>
                        </a:rPr>
                        <a:t>s</a:t>
                      </a:r>
                      <a:r>
                        <a:rPr lang="en-US" sz="1600" baseline="-25000" dirty="0">
                          <a:effectLst/>
                          <a:latin typeface="Symbol" panose="05050102010706020507" pitchFamily="18" charset="2"/>
                        </a:rPr>
                        <a:t>1</a:t>
                      </a:r>
                      <a:r>
                        <a:rPr lang="en-US" sz="1600" dirty="0">
                          <a:effectLst/>
                          <a:latin typeface="Symbol" panose="05050102010706020507" pitchFamily="18" charset="2"/>
                        </a:rPr>
                        <a:t>, s</a:t>
                      </a:r>
                      <a:r>
                        <a:rPr lang="en-US" sz="1600" baseline="-25000" dirty="0">
                          <a:effectLst/>
                          <a:latin typeface="Symbol" panose="05050102010706020507" pitchFamily="18" charset="2"/>
                        </a:rPr>
                        <a:t>2</a:t>
                      </a:r>
                      <a:r>
                        <a:rPr lang="en-US" sz="1600" dirty="0">
                          <a:effectLst/>
                        </a:rPr>
                        <a:t>) = (0.5, 0.6)</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31236276"/>
                  </a:ext>
                </a:extLst>
              </a:tr>
              <a:tr h="178435">
                <a:tc>
                  <a:txBody>
                    <a:bodyPr/>
                    <a:lstStyle/>
                    <a:p>
                      <a:pPr marL="457200" algn="ctr" fontAlgn="base">
                        <a:lnSpc>
                          <a:spcPct val="115000"/>
                        </a:lnSpc>
                        <a:buNone/>
                      </a:pPr>
                      <a:r>
                        <a:rPr lang="en-US" sz="1600" dirty="0">
                          <a:effectLst/>
                        </a:rPr>
                        <a:t>2</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dirty="0">
                          <a:effectLst/>
                        </a:rPr>
                        <a:t>Unknown</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a:effectLst/>
                        </a:rPr>
                        <a:t>(12, 16)</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spcAft>
                          <a:spcPts val="1000"/>
                        </a:spcAft>
                        <a:buNone/>
                      </a:pPr>
                      <a:r>
                        <a:rPr lang="en-US" sz="1600" dirty="0">
                          <a:effectLst/>
                        </a:rPr>
                        <a:t>(s</a:t>
                      </a:r>
                      <a:r>
                        <a:rPr lang="en-US" sz="1600" baseline="-25000" dirty="0">
                          <a:effectLst/>
                        </a:rPr>
                        <a:t>1</a:t>
                      </a:r>
                      <a:r>
                        <a:rPr lang="en-US" sz="1600" dirty="0">
                          <a:effectLst/>
                        </a:rPr>
                        <a:t>, s</a:t>
                      </a:r>
                      <a:r>
                        <a:rPr lang="en-US" sz="1600" baseline="-25000" dirty="0">
                          <a:effectLst/>
                        </a:rPr>
                        <a:t>2</a:t>
                      </a:r>
                      <a:r>
                        <a:rPr lang="en-US" sz="1600" dirty="0">
                          <a:effectLst/>
                        </a:rPr>
                        <a:t>) = (0.5, 0.6)</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06479044"/>
                  </a:ext>
                </a:extLst>
              </a:tr>
              <a:tr h="178435">
                <a:tc>
                  <a:txBody>
                    <a:bodyPr/>
                    <a:lstStyle/>
                    <a:p>
                      <a:pPr marL="457200" algn="ctr" fontAlgn="base">
                        <a:lnSpc>
                          <a:spcPct val="115000"/>
                        </a:lnSpc>
                        <a:buNone/>
                      </a:pPr>
                      <a:r>
                        <a:rPr lang="en-US" sz="1600" dirty="0">
                          <a:effectLst/>
                        </a:rPr>
                        <a:t>3</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a:effectLst/>
                        </a:rPr>
                        <a:t>Normal</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a:effectLst/>
                        </a:rPr>
                        <a:t>(12, 16)</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spcAft>
                          <a:spcPts val="1000"/>
                        </a:spcAft>
                        <a:buNone/>
                      </a:pPr>
                      <a:r>
                        <a:rPr lang="en-US" sz="1600">
                          <a:effectLst/>
                        </a:rPr>
                        <a:t>(s</a:t>
                      </a:r>
                      <a:r>
                        <a:rPr lang="en-US" sz="1600" baseline="-25000">
                          <a:effectLst/>
                        </a:rPr>
                        <a:t>1</a:t>
                      </a:r>
                      <a:r>
                        <a:rPr lang="en-US" sz="1600">
                          <a:effectLst/>
                        </a:rPr>
                        <a:t>, s</a:t>
                      </a:r>
                      <a:r>
                        <a:rPr lang="en-US" sz="1600" baseline="-25000">
                          <a:effectLst/>
                        </a:rPr>
                        <a:t>2</a:t>
                      </a:r>
                      <a:r>
                        <a:rPr lang="en-US" sz="1600">
                          <a:effectLst/>
                        </a:rPr>
                        <a:t>) = (0.5, 0.6)</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97109237"/>
                  </a:ext>
                </a:extLst>
              </a:tr>
              <a:tr h="171450">
                <a:tc>
                  <a:txBody>
                    <a:bodyPr/>
                    <a:lstStyle/>
                    <a:p>
                      <a:pPr marL="457200" algn="ctr" fontAlgn="base">
                        <a:lnSpc>
                          <a:spcPct val="115000"/>
                        </a:lnSpc>
                        <a:buNone/>
                      </a:pPr>
                      <a:r>
                        <a:rPr lang="en-US" sz="1600" dirty="0">
                          <a:effectLst/>
                        </a:rPr>
                        <a:t>4</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a:effectLst/>
                        </a:rPr>
                        <a:t>Unknown</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buNone/>
                      </a:pPr>
                      <a:r>
                        <a:rPr lang="en-US" sz="1600">
                          <a:effectLst/>
                        </a:rPr>
                        <a:t>(42, 46)</a:t>
                      </a:r>
                      <a:endParaRPr lang="tr-TR" sz="16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457200" algn="ctr" fontAlgn="base">
                        <a:lnSpc>
                          <a:spcPct val="115000"/>
                        </a:lnSpc>
                        <a:spcAft>
                          <a:spcPts val="1000"/>
                        </a:spcAft>
                        <a:buNone/>
                      </a:pPr>
                      <a:r>
                        <a:rPr lang="en-US" sz="1600" dirty="0">
                          <a:effectLst/>
                        </a:rPr>
                        <a:t>(s</a:t>
                      </a:r>
                      <a:r>
                        <a:rPr lang="en-US" sz="1600" baseline="-25000" dirty="0">
                          <a:effectLst/>
                        </a:rPr>
                        <a:t>1</a:t>
                      </a:r>
                      <a:r>
                        <a:rPr lang="en-US" sz="1600" dirty="0">
                          <a:effectLst/>
                        </a:rPr>
                        <a:t>, s</a:t>
                      </a:r>
                      <a:r>
                        <a:rPr lang="en-US" sz="1600" baseline="-25000" dirty="0">
                          <a:effectLst/>
                        </a:rPr>
                        <a:t>2</a:t>
                      </a:r>
                      <a:r>
                        <a:rPr lang="en-US" sz="1600" dirty="0">
                          <a:effectLst/>
                        </a:rPr>
                        <a:t>) = (0.5, 0.6)</a:t>
                      </a:r>
                      <a:endParaRPr lang="tr-TR"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41250107"/>
                  </a:ext>
                </a:extLst>
              </a:tr>
            </a:tbl>
          </a:graphicData>
        </a:graphic>
      </p:graphicFrame>
    </p:spTree>
    <p:extLst>
      <p:ext uri="{BB962C8B-B14F-4D97-AF65-F5344CB8AC3E}">
        <p14:creationId xmlns:p14="http://schemas.microsoft.com/office/powerpoint/2010/main" val="36176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2E94-769A-780D-C1F2-40255D079585}"/>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7974DCBC-515D-091D-73A4-92F64F8654B7}"/>
              </a:ext>
            </a:extLst>
          </p:cNvPr>
          <p:cNvSpPr>
            <a:spLocks noGrp="1"/>
          </p:cNvSpPr>
          <p:nvPr>
            <p:ph type="title"/>
          </p:nvPr>
        </p:nvSpPr>
        <p:spPr/>
        <p:txBody>
          <a:bodyPr/>
          <a:lstStyle/>
          <a:p>
            <a:r>
              <a:rPr lang="en-US" dirty="0"/>
              <a:t>Class Exercise – (1)</a:t>
            </a:r>
          </a:p>
        </p:txBody>
      </p:sp>
      <mc:AlternateContent xmlns:mc="http://schemas.openxmlformats.org/markup-compatibility/2006" xmlns:a14="http://schemas.microsoft.com/office/drawing/2010/main">
        <mc:Choice Requires="a14">
          <p:sp>
            <p:nvSpPr>
              <p:cNvPr id="16" name="Content Placeholder 15">
                <a:extLst>
                  <a:ext uri="{FF2B5EF4-FFF2-40B4-BE49-F238E27FC236}">
                    <a16:creationId xmlns:a16="http://schemas.microsoft.com/office/drawing/2014/main" id="{35BA9132-4AA6-B9FA-59FF-FDB67DC68851}"/>
                  </a:ext>
                </a:extLst>
              </p:cNvPr>
              <p:cNvSpPr>
                <a:spLocks noGrp="1"/>
              </p:cNvSpPr>
              <p:nvPr>
                <p:ph idx="1"/>
              </p:nvPr>
            </p:nvSpPr>
            <p:spPr>
              <a:xfrm>
                <a:off x="1097280" y="1817392"/>
                <a:ext cx="9912096" cy="4608512"/>
              </a:xfrm>
            </p:spPr>
            <p:txBody>
              <a:bodyPr>
                <a:normAutofit/>
              </a:bodyPr>
              <a:lstStyle/>
              <a:p>
                <a:pPr fontAlgn="base"/>
                <a:r>
                  <a:rPr lang="en-US" dirty="0">
                    <a:solidFill>
                      <a:schemeClr val="accent2"/>
                    </a:solidFill>
                  </a:rPr>
                  <a:t>Distribution of the weights: Normal</a:t>
                </a:r>
                <a:endParaRPr lang="tr-TR" dirty="0">
                  <a:solidFill>
                    <a:schemeClr val="accent2"/>
                  </a:solidFill>
                </a:endParaRPr>
              </a:p>
              <a:p>
                <a:pPr fontAlgn="base"/>
                <a:r>
                  <a:rPr lang="en-US" dirty="0">
                    <a:solidFill>
                      <a:schemeClr val="accent2"/>
                    </a:solidFill>
                  </a:rPr>
                  <a:t>Sample size (n</a:t>
                </a:r>
                <a:r>
                  <a:rPr lang="en-US" baseline="-25000" dirty="0">
                    <a:solidFill>
                      <a:schemeClr val="accent2"/>
                    </a:solidFill>
                  </a:rPr>
                  <a:t>1</a:t>
                </a:r>
                <a:r>
                  <a:rPr lang="en-US" dirty="0">
                    <a:solidFill>
                      <a:schemeClr val="accent2"/>
                    </a:solidFill>
                  </a:rPr>
                  <a:t>, n</a:t>
                </a:r>
                <a:r>
                  <a:rPr lang="en-US" baseline="-25000" dirty="0">
                    <a:solidFill>
                      <a:schemeClr val="accent2"/>
                    </a:solidFill>
                  </a:rPr>
                  <a:t>2</a:t>
                </a:r>
                <a:r>
                  <a:rPr lang="en-US" dirty="0">
                    <a:solidFill>
                      <a:schemeClr val="accent2"/>
                    </a:solidFill>
                  </a:rPr>
                  <a:t>): (12, 16)</a:t>
                </a:r>
              </a:p>
              <a:p>
                <a:pPr fontAlgn="base"/>
                <a:r>
                  <a:rPr lang="en-US" dirty="0">
                    <a:solidFill>
                      <a:schemeClr val="accent2"/>
                    </a:solidFill>
                  </a:rPr>
                  <a:t>(</a:t>
                </a:r>
                <a:r>
                  <a:rPr lang="en-US" dirty="0">
                    <a:solidFill>
                      <a:schemeClr val="accent2"/>
                    </a:solidFill>
                    <a:latin typeface="Symbol" panose="05050102010706020507" pitchFamily="18" charset="2"/>
                  </a:rPr>
                  <a:t>s</a:t>
                </a:r>
                <a:r>
                  <a:rPr lang="en-US" baseline="-25000" dirty="0">
                    <a:solidFill>
                      <a:schemeClr val="accent2"/>
                    </a:solidFill>
                    <a:latin typeface="Symbol" panose="05050102010706020507" pitchFamily="18" charset="2"/>
                  </a:rPr>
                  <a:t>1</a:t>
                </a:r>
                <a:r>
                  <a:rPr lang="en-US" dirty="0">
                    <a:solidFill>
                      <a:schemeClr val="accent2"/>
                    </a:solidFill>
                    <a:latin typeface="Symbol" panose="05050102010706020507" pitchFamily="18" charset="2"/>
                  </a:rPr>
                  <a:t>, s</a:t>
                </a:r>
                <a:r>
                  <a:rPr lang="en-US" baseline="-25000" dirty="0">
                    <a:solidFill>
                      <a:schemeClr val="accent2"/>
                    </a:solidFill>
                    <a:latin typeface="Symbol" panose="05050102010706020507" pitchFamily="18" charset="2"/>
                  </a:rPr>
                  <a:t>2</a:t>
                </a:r>
                <a:r>
                  <a:rPr lang="en-US" dirty="0">
                    <a:solidFill>
                      <a:schemeClr val="accent2"/>
                    </a:solidFill>
                  </a:rPr>
                  <a:t>) = (0.5, 0.6)</a:t>
                </a:r>
              </a:p>
              <a:p>
                <a:pPr fontAlgn="base"/>
                <a:endParaRPr lang="en-US" dirty="0">
                  <a:solidFill>
                    <a:schemeClr val="accent2"/>
                  </a:solidFill>
                  <a:latin typeface="Calibri" panose="020F0502020204030204" pitchFamily="34" charset="0"/>
                  <a:ea typeface="MS Mincho" panose="02020609040205080304" pitchFamily="49" charset="-128"/>
                  <a:cs typeface="Times New Roman" panose="02020603050405020304" pitchFamily="18" charset="0"/>
                </a:endParaRPr>
              </a:p>
              <a:p>
                <a:pPr fontAlgn="base"/>
                <a:r>
                  <a:rPr lang="en-US" dirty="0">
                    <a:solidFill>
                      <a:schemeClr val="accent2"/>
                    </a:solidFill>
                    <a:latin typeface="Calibri" panose="020F0502020204030204" pitchFamily="34" charset="0"/>
                    <a:ea typeface="MS Mincho" panose="02020609040205080304" pitchFamily="49" charset="-128"/>
                    <a:cs typeface="Times New Roman" panose="02020603050405020304" pitchFamily="18" charset="0"/>
                  </a:rPr>
                  <a:t>Test statistic=</a:t>
                </a:r>
                <a14:m>
                  <m:oMath xmlns:m="http://schemas.openxmlformats.org/officeDocument/2006/math">
                    <m:r>
                      <a:rPr lang="en-US" sz="2400" b="0" i="0" smtClean="0">
                        <a:latin typeface="Cambria Math" panose="02040503050406030204" pitchFamily="18" charset="0"/>
                      </a:rPr>
                      <m:t> </m:t>
                    </m:r>
                    <m:f>
                      <m:fPr>
                        <m:ctrlPr>
                          <a:rPr lang="tr-TR" sz="2400" i="1" smtClean="0">
                            <a:latin typeface="Cambria Math" panose="02040503050406030204" pitchFamily="18" charset="0"/>
                          </a:rPr>
                        </m:ctrlPr>
                      </m:fPr>
                      <m:num>
                        <m:acc>
                          <m:accPr>
                            <m:chr m:val="̄"/>
                            <m:ctrlPr>
                              <a:rPr lang="tr-TR" sz="2400" i="1">
                                <a:latin typeface="Cambria Math" panose="02040503050406030204" pitchFamily="18" charset="0"/>
                              </a:rPr>
                            </m:ctrlPr>
                          </m:accPr>
                          <m:e>
                            <m:r>
                              <a:rPr lang="tr-TR" sz="2400" i="1">
                                <a:latin typeface="Cambria Math" panose="02040503050406030204" pitchFamily="18" charset="0"/>
                              </a:rPr>
                              <m:t>𝑋</m:t>
                            </m:r>
                          </m:e>
                        </m:acc>
                        <m:r>
                          <a:rPr lang="tr-TR" sz="2400" i="1">
                            <a:latin typeface="Cambria Math" panose="02040503050406030204" pitchFamily="18" charset="0"/>
                          </a:rPr>
                          <m:t>−</m:t>
                        </m:r>
                        <m:acc>
                          <m:accPr>
                            <m:chr m:val="̄"/>
                            <m:ctrlPr>
                              <a:rPr lang="tr-TR" sz="2400" i="1">
                                <a:latin typeface="Cambria Math" panose="02040503050406030204" pitchFamily="18" charset="0"/>
                              </a:rPr>
                            </m:ctrlPr>
                          </m:accPr>
                          <m:e>
                            <m:r>
                              <a:rPr lang="tr-TR" sz="2400" i="1">
                                <a:latin typeface="Cambria Math" panose="02040503050406030204" pitchFamily="18" charset="0"/>
                              </a:rPr>
                              <m:t>𝑌</m:t>
                            </m:r>
                          </m:e>
                        </m:acc>
                      </m:num>
                      <m:den>
                        <m:rad>
                          <m:radPr>
                            <m:degHide m:val="on"/>
                            <m:ctrlPr>
                              <a:rPr lang="tr-TR" sz="2400" i="1">
                                <a:latin typeface="Cambria Math" panose="02040503050406030204" pitchFamily="18" charset="0"/>
                              </a:rPr>
                            </m:ctrlPr>
                          </m:radPr>
                          <m:deg/>
                          <m:e>
                            <m:f>
                              <m:fPr>
                                <m:ctrlPr>
                                  <a:rPr lang="tr-TR" sz="2400" i="1">
                                    <a:latin typeface="Cambria Math" panose="02040503050406030204" pitchFamily="18" charset="0"/>
                                  </a:rPr>
                                </m:ctrlPr>
                              </m:fPr>
                              <m:num>
                                <m:sSubSup>
                                  <m:sSubSupPr>
                                    <m:ctrlPr>
                                      <a:rPr lang="tr-TR" sz="2400" i="1">
                                        <a:latin typeface="Cambria Math" panose="02040503050406030204" pitchFamily="18" charset="0"/>
                                      </a:rPr>
                                    </m:ctrlPr>
                                  </m:sSubSupPr>
                                  <m:e>
                                    <m:r>
                                      <a:rPr lang="tr-TR" sz="2400" i="1">
                                        <a:latin typeface="Cambria Math" panose="02040503050406030204" pitchFamily="18" charset="0"/>
                                      </a:rPr>
                                      <m:t>𝜎</m:t>
                                    </m:r>
                                  </m:e>
                                  <m:sub>
                                    <m:r>
                                      <a:rPr lang="tr-TR" sz="2400" i="1">
                                        <a:latin typeface="Cambria Math" panose="02040503050406030204" pitchFamily="18" charset="0"/>
                                      </a:rPr>
                                      <m:t>𝑋</m:t>
                                    </m:r>
                                  </m:sub>
                                  <m:sup>
                                    <m:r>
                                      <a:rPr lang="tr-TR" sz="2400" i="1">
                                        <a:latin typeface="Cambria Math" panose="02040503050406030204" pitchFamily="18" charset="0"/>
                                      </a:rPr>
                                      <m:t>2</m:t>
                                    </m:r>
                                  </m:sup>
                                </m:sSubSup>
                              </m:num>
                              <m:den>
                                <m:sSub>
                                  <m:sSubPr>
                                    <m:ctrlPr>
                                      <a:rPr lang="tr-TR" sz="2400" i="1">
                                        <a:latin typeface="Cambria Math" panose="02040503050406030204" pitchFamily="18" charset="0"/>
                                      </a:rPr>
                                    </m:ctrlPr>
                                  </m:sSubPr>
                                  <m:e>
                                    <m:r>
                                      <a:rPr lang="tr-TR" sz="2400" i="1">
                                        <a:latin typeface="Cambria Math" panose="02040503050406030204" pitchFamily="18" charset="0"/>
                                      </a:rPr>
                                      <m:t>𝑛</m:t>
                                    </m:r>
                                  </m:e>
                                  <m:sub>
                                    <m:r>
                                      <a:rPr lang="tr-TR" sz="2400" i="1">
                                        <a:latin typeface="Cambria Math" panose="02040503050406030204" pitchFamily="18" charset="0"/>
                                      </a:rPr>
                                      <m:t>𝑋</m:t>
                                    </m:r>
                                  </m:sub>
                                </m:sSub>
                              </m:den>
                            </m:f>
                            <m:r>
                              <a:rPr lang="tr-TR" sz="2400" i="1">
                                <a:latin typeface="Cambria Math" panose="02040503050406030204" pitchFamily="18" charset="0"/>
                              </a:rPr>
                              <m:t>+</m:t>
                            </m:r>
                            <m:f>
                              <m:fPr>
                                <m:ctrlPr>
                                  <a:rPr lang="tr-TR" sz="2400" i="1">
                                    <a:latin typeface="Cambria Math" panose="02040503050406030204" pitchFamily="18" charset="0"/>
                                  </a:rPr>
                                </m:ctrlPr>
                              </m:fPr>
                              <m:num>
                                <m:sSubSup>
                                  <m:sSubSupPr>
                                    <m:ctrlPr>
                                      <a:rPr lang="tr-TR" sz="2400" i="1">
                                        <a:latin typeface="Cambria Math" panose="02040503050406030204" pitchFamily="18" charset="0"/>
                                      </a:rPr>
                                    </m:ctrlPr>
                                  </m:sSubSupPr>
                                  <m:e>
                                    <m:r>
                                      <a:rPr lang="tr-TR" sz="2400" i="1">
                                        <a:latin typeface="Cambria Math" panose="02040503050406030204" pitchFamily="18" charset="0"/>
                                      </a:rPr>
                                      <m:t>𝜎</m:t>
                                    </m:r>
                                  </m:e>
                                  <m:sub>
                                    <m:r>
                                      <a:rPr lang="tr-TR" sz="2400" i="1">
                                        <a:latin typeface="Cambria Math" panose="02040503050406030204" pitchFamily="18" charset="0"/>
                                      </a:rPr>
                                      <m:t>𝑌</m:t>
                                    </m:r>
                                  </m:sub>
                                  <m:sup>
                                    <m:r>
                                      <a:rPr lang="tr-TR" sz="2400" i="1">
                                        <a:latin typeface="Cambria Math" panose="02040503050406030204" pitchFamily="18" charset="0"/>
                                      </a:rPr>
                                      <m:t>2</m:t>
                                    </m:r>
                                  </m:sup>
                                </m:sSubSup>
                              </m:num>
                              <m:den>
                                <m:sSub>
                                  <m:sSubPr>
                                    <m:ctrlPr>
                                      <a:rPr lang="tr-TR" sz="2400" i="1">
                                        <a:latin typeface="Cambria Math" panose="02040503050406030204" pitchFamily="18" charset="0"/>
                                      </a:rPr>
                                    </m:ctrlPr>
                                  </m:sSubPr>
                                  <m:e>
                                    <m:r>
                                      <a:rPr lang="tr-TR" sz="2400" i="1">
                                        <a:latin typeface="Cambria Math" panose="02040503050406030204" pitchFamily="18" charset="0"/>
                                      </a:rPr>
                                      <m:t>𝑛</m:t>
                                    </m:r>
                                  </m:e>
                                  <m:sub>
                                    <m:r>
                                      <a:rPr lang="tr-TR" sz="2400" i="1">
                                        <a:latin typeface="Cambria Math" panose="02040503050406030204" pitchFamily="18" charset="0"/>
                                      </a:rPr>
                                      <m:t>𝑌</m:t>
                                    </m:r>
                                  </m:sub>
                                </m:sSub>
                              </m:den>
                            </m:f>
                          </m:e>
                        </m:rad>
                      </m:den>
                    </m:f>
                    <m:r>
                      <a:rPr lang="tr-TR" sz="2400" i="1">
                        <a:latin typeface="Cambria Math" panose="02040503050406030204" pitchFamily="18" charset="0"/>
                      </a:rPr>
                      <m:t>=</m:t>
                    </m:r>
                    <m:f>
                      <m:fPr>
                        <m:ctrlPr>
                          <a:rPr lang="tr-TR" sz="2400" i="1">
                            <a:latin typeface="Cambria Math" panose="02040503050406030204" pitchFamily="18" charset="0"/>
                          </a:rPr>
                        </m:ctrlPr>
                      </m:fPr>
                      <m:num>
                        <m:r>
                          <a:rPr lang="tr-TR" sz="2400" i="1">
                            <a:latin typeface="Cambria Math" panose="02040503050406030204" pitchFamily="18" charset="0"/>
                          </a:rPr>
                          <m:t>5.2−5.6</m:t>
                        </m:r>
                      </m:num>
                      <m:den>
                        <m:rad>
                          <m:radPr>
                            <m:degHide m:val="on"/>
                            <m:ctrlPr>
                              <a:rPr lang="tr-TR" sz="2400" i="1">
                                <a:latin typeface="Cambria Math" panose="02040503050406030204" pitchFamily="18" charset="0"/>
                              </a:rPr>
                            </m:ctrlPr>
                          </m:radPr>
                          <m:deg/>
                          <m:e>
                            <m:f>
                              <m:fPr>
                                <m:ctrlPr>
                                  <a:rPr lang="tr-TR" sz="2400" i="1">
                                    <a:latin typeface="Cambria Math" panose="02040503050406030204" pitchFamily="18" charset="0"/>
                                  </a:rPr>
                                </m:ctrlPr>
                              </m:fPr>
                              <m:num>
                                <m:sSup>
                                  <m:sSupPr>
                                    <m:ctrlPr>
                                      <a:rPr lang="tr-TR" sz="2400" i="1">
                                        <a:latin typeface="Cambria Math" panose="02040503050406030204" pitchFamily="18" charset="0"/>
                                      </a:rPr>
                                    </m:ctrlPr>
                                  </m:sSupPr>
                                  <m:e>
                                    <m:r>
                                      <a:rPr lang="tr-TR" sz="2400" i="1">
                                        <a:latin typeface="Cambria Math" panose="02040503050406030204" pitchFamily="18" charset="0"/>
                                      </a:rPr>
                                      <m:t>0.5</m:t>
                                    </m:r>
                                  </m:e>
                                  <m:sup>
                                    <m:r>
                                      <a:rPr lang="tr-TR" sz="2400" i="1">
                                        <a:latin typeface="Cambria Math" panose="02040503050406030204" pitchFamily="18" charset="0"/>
                                      </a:rPr>
                                      <m:t>2</m:t>
                                    </m:r>
                                  </m:sup>
                                </m:sSup>
                              </m:num>
                              <m:den>
                                <m:r>
                                  <a:rPr lang="tr-TR" sz="2400" i="1">
                                    <a:latin typeface="Cambria Math" panose="02040503050406030204" pitchFamily="18" charset="0"/>
                                  </a:rPr>
                                  <m:t>12</m:t>
                                </m:r>
                              </m:den>
                            </m:f>
                            <m:r>
                              <a:rPr lang="tr-TR" sz="2400" i="1">
                                <a:latin typeface="Cambria Math" panose="02040503050406030204" pitchFamily="18" charset="0"/>
                              </a:rPr>
                              <m:t>+</m:t>
                            </m:r>
                            <m:f>
                              <m:fPr>
                                <m:ctrlPr>
                                  <a:rPr lang="tr-TR" sz="2400" i="1">
                                    <a:latin typeface="Cambria Math" panose="02040503050406030204" pitchFamily="18" charset="0"/>
                                  </a:rPr>
                                </m:ctrlPr>
                              </m:fPr>
                              <m:num>
                                <m:sSup>
                                  <m:sSupPr>
                                    <m:ctrlPr>
                                      <a:rPr lang="tr-TR" sz="2400" i="1">
                                        <a:latin typeface="Cambria Math" panose="02040503050406030204" pitchFamily="18" charset="0"/>
                                      </a:rPr>
                                    </m:ctrlPr>
                                  </m:sSupPr>
                                  <m:e>
                                    <m:r>
                                      <a:rPr lang="tr-TR" sz="2400" i="1">
                                        <a:latin typeface="Cambria Math" panose="02040503050406030204" pitchFamily="18" charset="0"/>
                                      </a:rPr>
                                      <m:t>0.6</m:t>
                                    </m:r>
                                  </m:e>
                                  <m:sup>
                                    <m:r>
                                      <a:rPr lang="tr-TR" sz="2400" i="1">
                                        <a:latin typeface="Cambria Math" panose="02040503050406030204" pitchFamily="18" charset="0"/>
                                      </a:rPr>
                                      <m:t>2</m:t>
                                    </m:r>
                                  </m:sup>
                                </m:sSup>
                              </m:num>
                              <m:den>
                                <m:r>
                                  <a:rPr lang="tr-TR" sz="2400" i="1">
                                    <a:latin typeface="Cambria Math" panose="02040503050406030204" pitchFamily="18" charset="0"/>
                                  </a:rPr>
                                  <m:t>16</m:t>
                                </m:r>
                              </m:den>
                            </m:f>
                          </m:e>
                        </m:rad>
                      </m:den>
                    </m:f>
                    <m:r>
                      <a:rPr lang="en-US" sz="2400" b="0" i="1" smtClean="0">
                        <a:latin typeface="Cambria Math" panose="02040503050406030204" pitchFamily="18" charset="0"/>
                      </a:rPr>
                      <m:t>=−1.9696</m:t>
                    </m:r>
                  </m:oMath>
                </a14:m>
                <a:endParaRPr lang="en-US" dirty="0"/>
              </a:p>
              <a:p>
                <a:pPr fontAlgn="base"/>
                <a:endParaRPr lang="en-US" dirty="0"/>
              </a:p>
              <a:p>
                <a:pPr fontAlgn="base"/>
                <a:r>
                  <a:rPr lang="en-US" dirty="0"/>
                  <a:t>The p-value: 2*P(Z&gt;|-1.97|)=2(1-0.9756)=2*0.02444=0.04889&lt;0.05 </a:t>
                </a:r>
                <a:r>
                  <a:rPr lang="en-US" dirty="0">
                    <a:solidFill>
                      <a:srgbClr val="FF0000"/>
                    </a:solidFill>
                    <a:sym typeface="Wingdings" panose="05000000000000000000" pitchFamily="2" charset="2"/>
                  </a:rPr>
                  <a:t> </a:t>
                </a:r>
                <a:r>
                  <a:rPr lang="en-US" dirty="0">
                    <a:solidFill>
                      <a:srgbClr val="FF0000"/>
                    </a:solidFill>
                  </a:rPr>
                  <a:t>Reject H0 at </a:t>
                </a:r>
                <a:r>
                  <a:rPr lang="en-US" dirty="0">
                    <a:solidFill>
                      <a:srgbClr val="FF0000"/>
                    </a:solidFill>
                    <a:latin typeface="Symbol" panose="05050102010706020507" pitchFamily="18" charset="2"/>
                  </a:rPr>
                  <a:t>a</a:t>
                </a:r>
                <a:r>
                  <a:rPr lang="en-US" dirty="0">
                    <a:solidFill>
                      <a:srgbClr val="FF0000"/>
                    </a:solidFill>
                  </a:rPr>
                  <a:t>=5%.</a:t>
                </a:r>
              </a:p>
              <a:p>
                <a:pPr lvl="8" fontAlgn="base"/>
                <a:endParaRPr lang="tr-TR" dirty="0"/>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dirty="0"/>
              </a:p>
            </p:txBody>
          </p:sp>
        </mc:Choice>
        <mc:Fallback xmlns="">
          <p:sp>
            <p:nvSpPr>
              <p:cNvPr id="16" name="Content Placeholder 15">
                <a:extLst>
                  <a:ext uri="{FF2B5EF4-FFF2-40B4-BE49-F238E27FC236}">
                    <a16:creationId xmlns:a16="http://schemas.microsoft.com/office/drawing/2014/main" id="{35BA9132-4AA6-B9FA-59FF-FDB67DC68851}"/>
                  </a:ext>
                </a:extLst>
              </p:cNvPr>
              <p:cNvSpPr>
                <a:spLocks noGrp="1" noRot="1" noChangeAspect="1" noMove="1" noResize="1" noEditPoints="1" noAdjustHandles="1" noChangeArrowheads="1" noChangeShapeType="1" noTextEdit="1"/>
              </p:cNvSpPr>
              <p:nvPr>
                <p:ph idx="1"/>
              </p:nvPr>
            </p:nvSpPr>
            <p:spPr>
              <a:xfrm>
                <a:off x="1097280" y="1817392"/>
                <a:ext cx="9912096" cy="4608512"/>
              </a:xfrm>
              <a:blipFill>
                <a:blip r:embed="rId3"/>
                <a:stretch>
                  <a:fillRect l="-615" t="-1323"/>
                </a:stretch>
              </a:blipFill>
            </p:spPr>
            <p:txBody>
              <a:bodyPr/>
              <a:lstStyle/>
              <a:p>
                <a:r>
                  <a:rPr lang="tr-TR">
                    <a:noFill/>
                  </a:rPr>
                  <a:t> </a:t>
                </a:r>
              </a:p>
            </p:txBody>
          </p:sp>
        </mc:Fallback>
      </mc:AlternateContent>
      <p:sp>
        <p:nvSpPr>
          <p:cNvPr id="2" name="TextBox 1">
            <a:extLst>
              <a:ext uri="{FF2B5EF4-FFF2-40B4-BE49-F238E27FC236}">
                <a16:creationId xmlns:a16="http://schemas.microsoft.com/office/drawing/2014/main" id="{B600F227-C778-6E7A-877A-977C2ED5902F}"/>
              </a:ext>
            </a:extLst>
          </p:cNvPr>
          <p:cNvSpPr txBox="1"/>
          <p:nvPr/>
        </p:nvSpPr>
        <p:spPr>
          <a:xfrm>
            <a:off x="8119872" y="5724144"/>
            <a:ext cx="3296736" cy="400110"/>
          </a:xfrm>
          <a:prstGeom prst="rect">
            <a:avLst/>
          </a:prstGeom>
          <a:noFill/>
        </p:spPr>
        <p:txBody>
          <a:bodyPr wrap="none" rtlCol="0">
            <a:spAutoFit/>
          </a:bodyPr>
          <a:lstStyle/>
          <a:p>
            <a:r>
              <a:rPr lang="en-US" sz="2000" dirty="0">
                <a:solidFill>
                  <a:srgbClr val="FF0000"/>
                </a:solidFill>
                <a:sym typeface="Wingdings" panose="05000000000000000000" pitchFamily="2" charset="2"/>
              </a:rPr>
              <a:t> </a:t>
            </a:r>
            <a:r>
              <a:rPr lang="en-US" sz="2000" dirty="0">
                <a:solidFill>
                  <a:srgbClr val="FF0000"/>
                </a:solidFill>
              </a:rPr>
              <a:t>Cannot reject H0 at </a:t>
            </a:r>
            <a:r>
              <a:rPr lang="en-US" sz="2000" dirty="0">
                <a:solidFill>
                  <a:srgbClr val="FF0000"/>
                </a:solidFill>
                <a:latin typeface="Symbol" panose="05050102010706020507" pitchFamily="18" charset="2"/>
              </a:rPr>
              <a:t>a</a:t>
            </a:r>
            <a:r>
              <a:rPr lang="en-US" sz="2000" dirty="0">
                <a:solidFill>
                  <a:srgbClr val="FF0000"/>
                </a:solidFill>
              </a:rPr>
              <a:t>=1%. </a:t>
            </a:r>
            <a:endParaRPr lang="tr-TR" sz="2000" dirty="0">
              <a:solidFill>
                <a:srgbClr val="FF0000"/>
              </a:solidFill>
            </a:endParaRPr>
          </a:p>
        </p:txBody>
      </p:sp>
    </p:spTree>
    <p:extLst>
      <p:ext uri="{BB962C8B-B14F-4D97-AF65-F5344CB8AC3E}">
        <p14:creationId xmlns:p14="http://schemas.microsoft.com/office/powerpoint/2010/main" val="119546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Content Placeholder 5">
            <a:extLst>
              <a:ext uri="{FF2B5EF4-FFF2-40B4-BE49-F238E27FC236}">
                <a16:creationId xmlns:a16="http://schemas.microsoft.com/office/drawing/2014/main" id="{90B1DAC7-222B-4F44-97DD-448CA14E259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9823" r="2361"/>
          <a:stretch/>
        </p:blipFill>
        <p:spPr>
          <a:xfrm>
            <a:off x="3719736" y="1013018"/>
            <a:ext cx="7039488" cy="5987288"/>
          </a:xfrm>
        </p:spPr>
      </p:pic>
      <p:sp>
        <p:nvSpPr>
          <p:cNvPr id="4" name="Slide Number Placeholder 3">
            <a:extLst>
              <a:ext uri="{FF2B5EF4-FFF2-40B4-BE49-F238E27FC236}">
                <a16:creationId xmlns:a16="http://schemas.microsoft.com/office/drawing/2014/main" id="{14AB6865-D4F0-4AF8-8FDC-FD6D814D314C}"/>
              </a:ext>
            </a:extLst>
          </p:cNvPr>
          <p:cNvSpPr>
            <a:spLocks noGrp="1"/>
          </p:cNvSpPr>
          <p:nvPr>
            <p:ph type="sldNum" sz="quarter" idx="12"/>
          </p:nvPr>
        </p:nvSpPr>
        <p:spPr>
          <a:xfrm>
            <a:off x="8949345" y="6459787"/>
            <a:ext cx="984019"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45EEB44F-D7F5-4DD5-9B0C-55313BDA9ECA}" type="slidenum">
              <a:rPr lang="en-US" altLang="en-US" smtClean="0"/>
              <a:pPr>
                <a:defRPr/>
              </a:pPr>
              <a:t>3</a:t>
            </a:fld>
            <a:endParaRPr lang="en-US" altLang="en-US">
              <a:solidFill>
                <a:srgbClr val="FFFFFF"/>
              </a:solidFill>
            </a:endParaRPr>
          </a:p>
        </p:txBody>
      </p:sp>
      <p:pic>
        <p:nvPicPr>
          <p:cNvPr id="5" name="Content Placeholder 5">
            <a:extLst>
              <a:ext uri="{FF2B5EF4-FFF2-40B4-BE49-F238E27FC236}">
                <a16:creationId xmlns:a16="http://schemas.microsoft.com/office/drawing/2014/main" id="{5F8B007E-3786-4AB4-B0B6-2ACB0F275A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0" t="8832" r="31907" b="69298"/>
          <a:stretch/>
        </p:blipFill>
        <p:spPr>
          <a:xfrm>
            <a:off x="1415480" y="2708920"/>
            <a:ext cx="2304256" cy="1584176"/>
          </a:xfrm>
          <a:prstGeom prst="rect">
            <a:avLst/>
          </a:prstGeom>
        </p:spPr>
      </p:pic>
      <p:pic>
        <p:nvPicPr>
          <p:cNvPr id="6" name="Content Placeholder 5">
            <a:extLst>
              <a:ext uri="{FF2B5EF4-FFF2-40B4-BE49-F238E27FC236}">
                <a16:creationId xmlns:a16="http://schemas.microsoft.com/office/drawing/2014/main" id="{2156AF77-911D-412C-BE65-C8AB33C4D1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85" b="91053"/>
          <a:stretch/>
        </p:blipFill>
        <p:spPr>
          <a:xfrm>
            <a:off x="4215057" y="364896"/>
            <a:ext cx="6048846" cy="648122"/>
          </a:xfrm>
          <a:prstGeom prst="rect">
            <a:avLst/>
          </a:prstGeom>
        </p:spPr>
      </p:pic>
      <p:sp>
        <p:nvSpPr>
          <p:cNvPr id="2" name="Rectangle 1">
            <a:extLst>
              <a:ext uri="{FF2B5EF4-FFF2-40B4-BE49-F238E27FC236}">
                <a16:creationId xmlns:a16="http://schemas.microsoft.com/office/drawing/2014/main" id="{219D00D5-A22F-162A-CC67-3918E1BDABA4}"/>
              </a:ext>
            </a:extLst>
          </p:cNvPr>
          <p:cNvSpPr/>
          <p:nvPr/>
        </p:nvSpPr>
        <p:spPr>
          <a:xfrm>
            <a:off x="3867912" y="4293096"/>
            <a:ext cx="6803136" cy="178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Rectangle 2">
            <a:extLst>
              <a:ext uri="{FF2B5EF4-FFF2-40B4-BE49-F238E27FC236}">
                <a16:creationId xmlns:a16="http://schemas.microsoft.com/office/drawing/2014/main" id="{AB1E466B-10A3-21C2-F4CF-1BD7B092B936}"/>
              </a:ext>
            </a:extLst>
          </p:cNvPr>
          <p:cNvSpPr/>
          <p:nvPr/>
        </p:nvSpPr>
        <p:spPr>
          <a:xfrm>
            <a:off x="8750808" y="1179576"/>
            <a:ext cx="576072" cy="55504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4FDE-29A4-F165-C1CE-223F987B84D7}"/>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12F2DA57-705E-53A8-681D-5AB6B670FEAC}"/>
              </a:ext>
            </a:extLst>
          </p:cNvPr>
          <p:cNvSpPr>
            <a:spLocks noGrp="1"/>
          </p:cNvSpPr>
          <p:nvPr>
            <p:ph type="title"/>
          </p:nvPr>
        </p:nvSpPr>
        <p:spPr/>
        <p:txBody>
          <a:bodyPr/>
          <a:lstStyle/>
          <a:p>
            <a:r>
              <a:rPr lang="en-US" dirty="0"/>
              <a:t>Class Exercise – (2)</a:t>
            </a:r>
          </a:p>
        </p:txBody>
      </p:sp>
      <p:sp>
        <p:nvSpPr>
          <p:cNvPr id="16" name="Content Placeholder 15">
            <a:extLst>
              <a:ext uri="{FF2B5EF4-FFF2-40B4-BE49-F238E27FC236}">
                <a16:creationId xmlns:a16="http://schemas.microsoft.com/office/drawing/2014/main" id="{F67BDC2C-25AD-C598-7CD3-841D0A108116}"/>
              </a:ext>
            </a:extLst>
          </p:cNvPr>
          <p:cNvSpPr>
            <a:spLocks noGrp="1"/>
          </p:cNvSpPr>
          <p:nvPr>
            <p:ph idx="1"/>
          </p:nvPr>
        </p:nvSpPr>
        <p:spPr>
          <a:xfrm>
            <a:off x="2207569" y="1844824"/>
            <a:ext cx="7848871" cy="4608512"/>
          </a:xfrm>
        </p:spPr>
        <p:txBody>
          <a:bodyPr>
            <a:normAutofit/>
          </a:bodyPr>
          <a:lstStyle/>
          <a:p>
            <a:pPr fontAlgn="base"/>
            <a:r>
              <a:rPr lang="en-US" dirty="0">
                <a:solidFill>
                  <a:schemeClr val="accent2"/>
                </a:solidFill>
              </a:rPr>
              <a:t>Distribution of the weights: Unknown</a:t>
            </a:r>
            <a:endParaRPr lang="tr-TR" dirty="0">
              <a:solidFill>
                <a:schemeClr val="accent2"/>
              </a:solidFill>
            </a:endParaRPr>
          </a:p>
          <a:p>
            <a:pPr fontAlgn="base"/>
            <a:r>
              <a:rPr lang="en-US" dirty="0">
                <a:solidFill>
                  <a:schemeClr val="accent2"/>
                </a:solidFill>
              </a:rPr>
              <a:t>Sample size (n</a:t>
            </a:r>
            <a:r>
              <a:rPr lang="en-US" baseline="-25000" dirty="0">
                <a:solidFill>
                  <a:schemeClr val="accent2"/>
                </a:solidFill>
              </a:rPr>
              <a:t>1</a:t>
            </a:r>
            <a:r>
              <a:rPr lang="en-US" dirty="0">
                <a:solidFill>
                  <a:schemeClr val="accent2"/>
                </a:solidFill>
              </a:rPr>
              <a:t>, n</a:t>
            </a:r>
            <a:r>
              <a:rPr lang="en-US" baseline="-25000" dirty="0">
                <a:solidFill>
                  <a:schemeClr val="accent2"/>
                </a:solidFill>
              </a:rPr>
              <a:t>2</a:t>
            </a:r>
            <a:r>
              <a:rPr lang="en-US" dirty="0">
                <a:solidFill>
                  <a:schemeClr val="accent2"/>
                </a:solidFill>
              </a:rPr>
              <a:t>): (12, 16)</a:t>
            </a:r>
          </a:p>
          <a:p>
            <a:pPr fontAlgn="base"/>
            <a:r>
              <a:rPr lang="en-US" dirty="0">
                <a:solidFill>
                  <a:schemeClr val="accent2"/>
                </a:solidFill>
              </a:rPr>
              <a:t>(s</a:t>
            </a:r>
            <a:r>
              <a:rPr lang="en-US" baseline="-25000" dirty="0">
                <a:solidFill>
                  <a:schemeClr val="accent2"/>
                </a:solidFill>
              </a:rPr>
              <a:t>1</a:t>
            </a:r>
            <a:r>
              <a:rPr lang="en-US" dirty="0">
                <a:solidFill>
                  <a:schemeClr val="accent2"/>
                </a:solidFill>
              </a:rPr>
              <a:t>, s</a:t>
            </a:r>
            <a:r>
              <a:rPr lang="en-US" baseline="-25000" dirty="0">
                <a:solidFill>
                  <a:schemeClr val="accent2"/>
                </a:solidFill>
              </a:rPr>
              <a:t>2</a:t>
            </a:r>
            <a:r>
              <a:rPr lang="en-US" dirty="0">
                <a:solidFill>
                  <a:schemeClr val="accent2"/>
                </a:solidFill>
              </a:rPr>
              <a:t>) = (0.5, 0.6)</a:t>
            </a:r>
            <a:endParaRPr lang="tr-TR" dirty="0">
              <a:solidFill>
                <a:schemeClr val="accent2"/>
              </a:solidFill>
              <a:latin typeface="Calibri" panose="020F0502020204030204" pitchFamily="34" charset="0"/>
              <a:ea typeface="MS Mincho" panose="02020609040205080304" pitchFamily="49" charset="-128"/>
              <a:cs typeface="Times New Roman" panose="02020603050405020304" pitchFamily="18" charset="0"/>
            </a:endParaRPr>
          </a:p>
          <a:p>
            <a:pPr fontAlgn="base"/>
            <a:endParaRPr lang="en-US" sz="1800" dirty="0"/>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dirty="0"/>
          </a:p>
        </p:txBody>
      </p:sp>
      <p:sp>
        <p:nvSpPr>
          <p:cNvPr id="2" name="TextBox 1">
            <a:extLst>
              <a:ext uri="{FF2B5EF4-FFF2-40B4-BE49-F238E27FC236}">
                <a16:creationId xmlns:a16="http://schemas.microsoft.com/office/drawing/2014/main" id="{B3737234-A335-C6B9-48EE-0C6677B1A556}"/>
              </a:ext>
            </a:extLst>
          </p:cNvPr>
          <p:cNvSpPr txBox="1"/>
          <p:nvPr/>
        </p:nvSpPr>
        <p:spPr>
          <a:xfrm>
            <a:off x="1097280" y="3918247"/>
            <a:ext cx="10594182" cy="461665"/>
          </a:xfrm>
          <a:prstGeom prst="rect">
            <a:avLst/>
          </a:prstGeom>
          <a:noFill/>
        </p:spPr>
        <p:txBody>
          <a:bodyPr wrap="none" rtlCol="0">
            <a:spAutoFit/>
          </a:bodyPr>
          <a:lstStyle/>
          <a:p>
            <a:pPr defTabSz="457200"/>
            <a:r>
              <a:rPr lang="en-US" sz="2400" dirty="0">
                <a:solidFill>
                  <a:srgbClr val="FF0000"/>
                </a:solidFill>
                <a:latin typeface="Calibri" panose="020F0502020204030204"/>
              </a:rPr>
              <a:t>Cannot carry out the test since we do not know the distribution of the test statistic.</a:t>
            </a:r>
            <a:endParaRPr lang="tr-TR" sz="2400" dirty="0">
              <a:solidFill>
                <a:srgbClr val="FF0000"/>
              </a:solidFill>
              <a:latin typeface="Calibri" panose="020F0502020204030204"/>
            </a:endParaRPr>
          </a:p>
        </p:txBody>
      </p:sp>
    </p:spTree>
    <p:extLst>
      <p:ext uri="{BB962C8B-B14F-4D97-AF65-F5344CB8AC3E}">
        <p14:creationId xmlns:p14="http://schemas.microsoft.com/office/powerpoint/2010/main" val="302880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41EE-D777-80BA-1616-EFAEEE2D1540}"/>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EF099FEA-3BD6-5CBE-612C-6C709ECAC607}"/>
              </a:ext>
            </a:extLst>
          </p:cNvPr>
          <p:cNvSpPr>
            <a:spLocks noGrp="1"/>
          </p:cNvSpPr>
          <p:nvPr>
            <p:ph type="title"/>
          </p:nvPr>
        </p:nvSpPr>
        <p:spPr>
          <a:xfrm>
            <a:off x="1592397" y="262118"/>
            <a:ext cx="7543800" cy="1450757"/>
          </a:xfrm>
        </p:spPr>
        <p:txBody>
          <a:bodyPr>
            <a:normAutofit/>
          </a:bodyPr>
          <a:lstStyle/>
          <a:p>
            <a:r>
              <a:rPr lang="en-US" sz="4400" dirty="0"/>
              <a:t>Class Exercise – (3)</a:t>
            </a:r>
            <a:br>
              <a:rPr lang="en-US" sz="4400" dirty="0"/>
            </a:br>
            <a:endParaRPr lang="en-US" sz="4400" dirty="0"/>
          </a:p>
        </p:txBody>
      </p:sp>
      <mc:AlternateContent xmlns:mc="http://schemas.openxmlformats.org/markup-compatibility/2006" xmlns:a14="http://schemas.microsoft.com/office/drawing/2010/main">
        <mc:Choice Requires="a14">
          <p:sp>
            <p:nvSpPr>
              <p:cNvPr id="16" name="Content Placeholder 15">
                <a:extLst>
                  <a:ext uri="{FF2B5EF4-FFF2-40B4-BE49-F238E27FC236}">
                    <a16:creationId xmlns:a16="http://schemas.microsoft.com/office/drawing/2014/main" id="{4E9C6DFA-98BE-E195-AFD8-49E787A84567}"/>
                  </a:ext>
                </a:extLst>
              </p:cNvPr>
              <p:cNvSpPr>
                <a:spLocks noGrp="1"/>
              </p:cNvSpPr>
              <p:nvPr>
                <p:ph idx="1"/>
              </p:nvPr>
            </p:nvSpPr>
            <p:spPr>
              <a:xfrm>
                <a:off x="1487489" y="1844824"/>
                <a:ext cx="4359587" cy="4726572"/>
              </a:xfrm>
              <a:solidFill>
                <a:schemeClr val="bg1"/>
              </a:solidFill>
            </p:spPr>
            <p:txBody>
              <a:bodyPr>
                <a:normAutofit/>
              </a:bodyPr>
              <a:lstStyle/>
              <a:p>
                <a:pPr fontAlgn="base"/>
                <a:r>
                  <a:rPr lang="en-US" sz="2200" dirty="0">
                    <a:solidFill>
                      <a:schemeClr val="accent2"/>
                    </a:solidFill>
                  </a:rPr>
                  <a:t>Distribution of the weights: Normal</a:t>
                </a:r>
                <a:endParaRPr lang="tr-TR" sz="2200" dirty="0">
                  <a:solidFill>
                    <a:schemeClr val="accent2"/>
                  </a:solidFill>
                </a:endParaRPr>
              </a:p>
              <a:p>
                <a:pPr fontAlgn="base"/>
                <a:r>
                  <a:rPr lang="en-US" sz="2200" dirty="0">
                    <a:solidFill>
                      <a:schemeClr val="accent2"/>
                    </a:solidFill>
                  </a:rPr>
                  <a:t>Sample size (n</a:t>
                </a:r>
                <a:r>
                  <a:rPr lang="en-US" sz="2200" baseline="-25000" dirty="0">
                    <a:solidFill>
                      <a:schemeClr val="accent2"/>
                    </a:solidFill>
                  </a:rPr>
                  <a:t>1</a:t>
                </a:r>
                <a:r>
                  <a:rPr lang="en-US" sz="2200" dirty="0">
                    <a:solidFill>
                      <a:schemeClr val="accent2"/>
                    </a:solidFill>
                  </a:rPr>
                  <a:t>, n</a:t>
                </a:r>
                <a:r>
                  <a:rPr lang="en-US" sz="2200" baseline="-25000" dirty="0">
                    <a:solidFill>
                      <a:schemeClr val="accent2"/>
                    </a:solidFill>
                  </a:rPr>
                  <a:t>2</a:t>
                </a:r>
                <a:r>
                  <a:rPr lang="en-US" sz="2200" dirty="0">
                    <a:solidFill>
                      <a:schemeClr val="accent2"/>
                    </a:solidFill>
                  </a:rPr>
                  <a:t>): (12, 16)</a:t>
                </a:r>
              </a:p>
              <a:p>
                <a:pPr fontAlgn="base"/>
                <a:r>
                  <a:rPr lang="en-US" sz="2200" dirty="0">
                    <a:solidFill>
                      <a:schemeClr val="accent2"/>
                    </a:solidFill>
                  </a:rPr>
                  <a:t>(s</a:t>
                </a:r>
                <a:r>
                  <a:rPr lang="en-US" sz="2200" baseline="-25000" dirty="0">
                    <a:solidFill>
                      <a:schemeClr val="accent2"/>
                    </a:solidFill>
                  </a:rPr>
                  <a:t>1</a:t>
                </a:r>
                <a:r>
                  <a:rPr lang="en-US" sz="2200" dirty="0">
                    <a:solidFill>
                      <a:schemeClr val="accent2"/>
                    </a:solidFill>
                  </a:rPr>
                  <a:t>, s</a:t>
                </a:r>
                <a:r>
                  <a:rPr lang="en-US" sz="2200" baseline="-25000" dirty="0">
                    <a:solidFill>
                      <a:schemeClr val="accent2"/>
                    </a:solidFill>
                  </a:rPr>
                  <a:t>2</a:t>
                </a:r>
                <a:r>
                  <a:rPr lang="en-US" sz="2200" dirty="0">
                    <a:solidFill>
                      <a:schemeClr val="accent2"/>
                    </a:solidFill>
                  </a:rPr>
                  <a:t>) = (0.5, 0.6)</a:t>
                </a:r>
                <a:endParaRPr lang="tr-TR" sz="2200" dirty="0">
                  <a:solidFill>
                    <a:schemeClr val="accent2"/>
                  </a:solidFill>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fontAlgn="base"/>
                <a:r>
                  <a:rPr lang="en-US" dirty="0">
                    <a:solidFill>
                      <a:schemeClr val="accent2"/>
                    </a:solidFill>
                    <a:latin typeface="Calibri" panose="020F0502020204030204" pitchFamily="34" charset="0"/>
                    <a:ea typeface="MS Mincho" panose="02020609040205080304" pitchFamily="49" charset="-128"/>
                    <a:cs typeface="Times New Roman" panose="02020603050405020304" pitchFamily="18" charset="0"/>
                  </a:rPr>
                  <a:t>Test statistic=</a:t>
                </a:r>
                <a:endParaRPr lang="tr-TR" dirty="0">
                  <a:solidFill>
                    <a:schemeClr val="accent2"/>
                  </a:solidFill>
                  <a:latin typeface="Calibri" panose="020F0502020204030204" pitchFamily="34" charset="0"/>
                  <a:ea typeface="MS Mincho" panose="02020609040205080304" pitchFamily="49" charset="-128"/>
                  <a:cs typeface="Times New Roman" panose="02020603050405020304" pitchFamily="18" charset="0"/>
                </a:endParaRPr>
              </a:p>
              <a:p>
                <a:pPr fontAlgn="base"/>
                <a:endParaRPr lang="tr-TR" dirty="0"/>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f>
                        <m:fPr>
                          <m:ctrlPr>
                            <a:rPr lang="tr-TR" i="1">
                              <a:latin typeface="Cambria Math" panose="02040503050406030204" pitchFamily="18" charset="0"/>
                            </a:rPr>
                          </m:ctrlPr>
                        </m:fPr>
                        <m:num>
                          <m:acc>
                            <m:accPr>
                              <m:chr m:val="̄"/>
                              <m:ctrlPr>
                                <a:rPr lang="tr-TR" i="1">
                                  <a:latin typeface="Cambria Math" panose="02040503050406030204" pitchFamily="18" charset="0"/>
                                </a:rPr>
                              </m:ctrlPr>
                            </m:accPr>
                            <m:e>
                              <m:r>
                                <a:rPr lang="tr-TR" i="1">
                                  <a:latin typeface="Cambria Math" panose="02040503050406030204" pitchFamily="18" charset="0"/>
                                </a:rPr>
                                <m:t>𝑋</m:t>
                              </m:r>
                            </m:e>
                          </m:acc>
                          <m:r>
                            <a:rPr lang="tr-TR" i="1">
                              <a:latin typeface="Cambria Math" panose="02040503050406030204" pitchFamily="18" charset="0"/>
                            </a:rPr>
                            <m:t>−</m:t>
                          </m:r>
                          <m:acc>
                            <m:accPr>
                              <m:chr m:val="̄"/>
                              <m:ctrlPr>
                                <a:rPr lang="tr-TR" i="1">
                                  <a:latin typeface="Cambria Math" panose="02040503050406030204" pitchFamily="18" charset="0"/>
                                </a:rPr>
                              </m:ctrlPr>
                            </m:accPr>
                            <m:e>
                              <m:r>
                                <a:rPr lang="tr-TR" i="1">
                                  <a:latin typeface="Cambria Math" panose="02040503050406030204" pitchFamily="18" charset="0"/>
                                </a:rPr>
                                <m:t>𝑌</m:t>
                              </m:r>
                            </m:e>
                          </m:acc>
                        </m:num>
                        <m:den>
                          <m:rad>
                            <m:radPr>
                              <m:degHide m:val="on"/>
                              <m:ctrlPr>
                                <a:rPr lang="tr-TR" i="1">
                                  <a:latin typeface="Cambria Math" panose="02040503050406030204" pitchFamily="18" charset="0"/>
                                </a:rPr>
                              </m:ctrlPr>
                            </m:radPr>
                            <m:deg/>
                            <m:e>
                              <m:f>
                                <m:fPr>
                                  <m:ctrlPr>
                                    <a:rPr lang="tr-TR" i="1">
                                      <a:latin typeface="Cambria Math" panose="02040503050406030204" pitchFamily="18" charset="0"/>
                                    </a:rPr>
                                  </m:ctrlPr>
                                </m:fPr>
                                <m:num>
                                  <m:sSubSup>
                                    <m:sSubSupPr>
                                      <m:ctrlPr>
                                        <a:rPr lang="tr-TR" i="1">
                                          <a:latin typeface="Cambria Math" panose="02040503050406030204" pitchFamily="18" charset="0"/>
                                        </a:rPr>
                                      </m:ctrlPr>
                                    </m:sSubSupPr>
                                    <m:e>
                                      <m:r>
                                        <a:rPr lang="en-US" b="0" i="1" smtClean="0">
                                          <a:latin typeface="Cambria Math" panose="02040503050406030204" pitchFamily="18" charset="0"/>
                                        </a:rPr>
                                        <m:t>𝑠</m:t>
                                      </m:r>
                                    </m:e>
                                    <m:sub>
                                      <m:r>
                                        <a:rPr lang="tr-TR" i="1">
                                          <a:latin typeface="Cambria Math" panose="02040503050406030204" pitchFamily="18" charset="0"/>
                                        </a:rPr>
                                        <m:t>𝑋</m:t>
                                      </m:r>
                                    </m:sub>
                                    <m:sup>
                                      <m:r>
                                        <a:rPr lang="tr-TR" i="1">
                                          <a:latin typeface="Cambria Math" panose="02040503050406030204" pitchFamily="18" charset="0"/>
                                        </a:rPr>
                                        <m:t>2</m:t>
                                      </m:r>
                                    </m:sup>
                                  </m:sSubSup>
                                </m:num>
                                <m:den>
                                  <m:sSub>
                                    <m:sSubPr>
                                      <m:ctrlPr>
                                        <a:rPr lang="tr-TR" i="1">
                                          <a:latin typeface="Cambria Math" panose="02040503050406030204" pitchFamily="18" charset="0"/>
                                        </a:rPr>
                                      </m:ctrlPr>
                                    </m:sSubPr>
                                    <m:e>
                                      <m:r>
                                        <a:rPr lang="tr-TR" i="1">
                                          <a:latin typeface="Cambria Math" panose="02040503050406030204" pitchFamily="18" charset="0"/>
                                        </a:rPr>
                                        <m:t>𝑛</m:t>
                                      </m:r>
                                    </m:e>
                                    <m:sub>
                                      <m:r>
                                        <a:rPr lang="tr-TR" i="1">
                                          <a:latin typeface="Cambria Math" panose="02040503050406030204" pitchFamily="18" charset="0"/>
                                        </a:rPr>
                                        <m:t>𝑋</m:t>
                                      </m:r>
                                    </m:sub>
                                  </m:sSub>
                                </m:den>
                              </m:f>
                              <m:r>
                                <a:rPr lang="tr-TR" i="1">
                                  <a:latin typeface="Cambria Math" panose="02040503050406030204" pitchFamily="18" charset="0"/>
                                </a:rPr>
                                <m:t>+</m:t>
                              </m:r>
                              <m:f>
                                <m:fPr>
                                  <m:ctrlPr>
                                    <a:rPr lang="tr-TR" i="1">
                                      <a:latin typeface="Cambria Math" panose="02040503050406030204" pitchFamily="18" charset="0"/>
                                    </a:rPr>
                                  </m:ctrlPr>
                                </m:fPr>
                                <m:num>
                                  <m:sSubSup>
                                    <m:sSubSupPr>
                                      <m:ctrlPr>
                                        <a:rPr lang="tr-TR" i="1">
                                          <a:latin typeface="Cambria Math" panose="02040503050406030204" pitchFamily="18" charset="0"/>
                                        </a:rPr>
                                      </m:ctrlPr>
                                    </m:sSubSupPr>
                                    <m:e>
                                      <m:r>
                                        <a:rPr lang="en-US" b="0" i="1" smtClean="0">
                                          <a:latin typeface="Cambria Math" panose="02040503050406030204" pitchFamily="18" charset="0"/>
                                        </a:rPr>
                                        <m:t>𝑠</m:t>
                                      </m:r>
                                    </m:e>
                                    <m:sub>
                                      <m:r>
                                        <a:rPr lang="tr-TR" i="1">
                                          <a:latin typeface="Cambria Math" panose="02040503050406030204" pitchFamily="18" charset="0"/>
                                        </a:rPr>
                                        <m:t>𝑌</m:t>
                                      </m:r>
                                    </m:sub>
                                    <m:sup>
                                      <m:r>
                                        <a:rPr lang="tr-TR" i="1">
                                          <a:latin typeface="Cambria Math" panose="02040503050406030204" pitchFamily="18" charset="0"/>
                                        </a:rPr>
                                        <m:t>2</m:t>
                                      </m:r>
                                    </m:sup>
                                  </m:sSubSup>
                                </m:num>
                                <m:den>
                                  <m:sSub>
                                    <m:sSubPr>
                                      <m:ctrlPr>
                                        <a:rPr lang="tr-TR" i="1">
                                          <a:latin typeface="Cambria Math" panose="02040503050406030204" pitchFamily="18" charset="0"/>
                                        </a:rPr>
                                      </m:ctrlPr>
                                    </m:sSubPr>
                                    <m:e>
                                      <m:r>
                                        <a:rPr lang="tr-TR" i="1">
                                          <a:latin typeface="Cambria Math" panose="02040503050406030204" pitchFamily="18" charset="0"/>
                                        </a:rPr>
                                        <m:t>𝑛</m:t>
                                      </m:r>
                                    </m:e>
                                    <m:sub>
                                      <m:r>
                                        <a:rPr lang="tr-TR" i="1">
                                          <a:latin typeface="Cambria Math" panose="02040503050406030204" pitchFamily="18" charset="0"/>
                                        </a:rPr>
                                        <m:t>𝑌</m:t>
                                      </m:r>
                                    </m:sub>
                                  </m:sSub>
                                </m:den>
                              </m:f>
                            </m:e>
                          </m:rad>
                        </m:den>
                      </m:f>
                      <m:r>
                        <a:rPr lang="tr-TR" i="1">
                          <a:latin typeface="Cambria Math" panose="02040503050406030204" pitchFamily="18" charset="0"/>
                        </a:rPr>
                        <m:t>=</m:t>
                      </m:r>
                      <m:f>
                        <m:fPr>
                          <m:ctrlPr>
                            <a:rPr lang="tr-TR" i="1">
                              <a:latin typeface="Cambria Math" panose="02040503050406030204" pitchFamily="18" charset="0"/>
                            </a:rPr>
                          </m:ctrlPr>
                        </m:fPr>
                        <m:num>
                          <m:r>
                            <a:rPr lang="tr-TR" i="1">
                              <a:latin typeface="Cambria Math" panose="02040503050406030204" pitchFamily="18" charset="0"/>
                            </a:rPr>
                            <m:t>5.2−5.6</m:t>
                          </m:r>
                        </m:num>
                        <m:den>
                          <m:rad>
                            <m:radPr>
                              <m:degHide m:val="on"/>
                              <m:ctrlPr>
                                <a:rPr lang="tr-TR" i="1">
                                  <a:latin typeface="Cambria Math" panose="02040503050406030204" pitchFamily="18" charset="0"/>
                                </a:rPr>
                              </m:ctrlPr>
                            </m:radPr>
                            <m:deg/>
                            <m:e>
                              <m:f>
                                <m:fPr>
                                  <m:ctrlPr>
                                    <a:rPr lang="tr-TR" i="1">
                                      <a:latin typeface="Cambria Math" panose="02040503050406030204" pitchFamily="18" charset="0"/>
                                    </a:rPr>
                                  </m:ctrlPr>
                                </m:fPr>
                                <m:num>
                                  <m:sSup>
                                    <m:sSupPr>
                                      <m:ctrlPr>
                                        <a:rPr lang="tr-TR" i="1">
                                          <a:latin typeface="Cambria Math" panose="02040503050406030204" pitchFamily="18" charset="0"/>
                                        </a:rPr>
                                      </m:ctrlPr>
                                    </m:sSupPr>
                                    <m:e>
                                      <m:r>
                                        <a:rPr lang="tr-TR" i="1">
                                          <a:latin typeface="Cambria Math" panose="02040503050406030204" pitchFamily="18" charset="0"/>
                                        </a:rPr>
                                        <m:t>0.5</m:t>
                                      </m:r>
                                    </m:e>
                                    <m:sup>
                                      <m:r>
                                        <a:rPr lang="tr-TR" i="1">
                                          <a:latin typeface="Cambria Math" panose="02040503050406030204" pitchFamily="18" charset="0"/>
                                        </a:rPr>
                                        <m:t>2</m:t>
                                      </m:r>
                                    </m:sup>
                                  </m:sSup>
                                </m:num>
                                <m:den>
                                  <m:r>
                                    <a:rPr lang="tr-TR" i="1">
                                      <a:latin typeface="Cambria Math" panose="02040503050406030204" pitchFamily="18" charset="0"/>
                                    </a:rPr>
                                    <m:t>12</m:t>
                                  </m:r>
                                </m:den>
                              </m:f>
                              <m:r>
                                <a:rPr lang="tr-TR" i="1">
                                  <a:latin typeface="Cambria Math" panose="02040503050406030204" pitchFamily="18" charset="0"/>
                                </a:rPr>
                                <m:t>+</m:t>
                              </m:r>
                              <m:f>
                                <m:fPr>
                                  <m:ctrlPr>
                                    <a:rPr lang="tr-TR" i="1">
                                      <a:latin typeface="Cambria Math" panose="02040503050406030204" pitchFamily="18" charset="0"/>
                                    </a:rPr>
                                  </m:ctrlPr>
                                </m:fPr>
                                <m:num>
                                  <m:sSup>
                                    <m:sSupPr>
                                      <m:ctrlPr>
                                        <a:rPr lang="tr-TR" i="1">
                                          <a:latin typeface="Cambria Math" panose="02040503050406030204" pitchFamily="18" charset="0"/>
                                        </a:rPr>
                                      </m:ctrlPr>
                                    </m:sSupPr>
                                    <m:e>
                                      <m:r>
                                        <a:rPr lang="tr-TR" i="1">
                                          <a:latin typeface="Cambria Math" panose="02040503050406030204" pitchFamily="18" charset="0"/>
                                        </a:rPr>
                                        <m:t>0.6</m:t>
                                      </m:r>
                                    </m:e>
                                    <m:sup>
                                      <m:r>
                                        <a:rPr lang="tr-TR" i="1">
                                          <a:latin typeface="Cambria Math" panose="02040503050406030204" pitchFamily="18" charset="0"/>
                                        </a:rPr>
                                        <m:t>2</m:t>
                                      </m:r>
                                    </m:sup>
                                  </m:sSup>
                                </m:num>
                                <m:den>
                                  <m:r>
                                    <a:rPr lang="tr-TR" i="1">
                                      <a:latin typeface="Cambria Math" panose="02040503050406030204" pitchFamily="18" charset="0"/>
                                    </a:rPr>
                                    <m:t>16</m:t>
                                  </m:r>
                                </m:den>
                              </m:f>
                            </m:e>
                          </m:rad>
                        </m:den>
                      </m:f>
                      <m:r>
                        <a:rPr lang="en-US" i="1">
                          <a:latin typeface="Cambria Math" panose="02040503050406030204" pitchFamily="18" charset="0"/>
                        </a:rPr>
                        <m:t>=−1.9696</m:t>
                      </m:r>
                    </m:oMath>
                  </m:oMathPara>
                </a14:m>
                <a:endParaRPr lang="tr-TR" dirty="0"/>
              </a:p>
              <a:p>
                <a:pPr marL="0" indent="0" fontAlgn="base">
                  <a:buNone/>
                </a:pPr>
                <a:endParaRPr lang="en-US" dirty="0"/>
              </a:p>
            </p:txBody>
          </p:sp>
        </mc:Choice>
        <mc:Fallback xmlns="">
          <p:sp>
            <p:nvSpPr>
              <p:cNvPr id="16" name="Content Placeholder 15">
                <a:extLst>
                  <a:ext uri="{FF2B5EF4-FFF2-40B4-BE49-F238E27FC236}">
                    <a16:creationId xmlns:a16="http://schemas.microsoft.com/office/drawing/2014/main" id="{4E9C6DFA-98BE-E195-AFD8-49E787A84567}"/>
                  </a:ext>
                </a:extLst>
              </p:cNvPr>
              <p:cNvSpPr>
                <a:spLocks noGrp="1" noRot="1" noChangeAspect="1" noMove="1" noResize="1" noEditPoints="1" noAdjustHandles="1" noChangeArrowheads="1" noChangeShapeType="1" noTextEdit="1"/>
              </p:cNvSpPr>
              <p:nvPr>
                <p:ph idx="1"/>
              </p:nvPr>
            </p:nvSpPr>
            <p:spPr>
              <a:xfrm>
                <a:off x="1487489" y="1844824"/>
                <a:ext cx="4359587" cy="4726572"/>
              </a:xfrm>
              <a:blipFill>
                <a:blip r:embed="rId3"/>
                <a:stretch>
                  <a:fillRect l="-1818" t="-1677"/>
                </a:stretch>
              </a:blipFill>
            </p:spPr>
            <p:txBody>
              <a:bodyPr/>
              <a:lstStyle/>
              <a:p>
                <a:r>
                  <a:rPr lang="tr-TR">
                    <a:noFill/>
                  </a:rPr>
                  <a:t> </a:t>
                </a:r>
              </a:p>
            </p:txBody>
          </p:sp>
        </mc:Fallback>
      </mc:AlternateContent>
      <p:pic>
        <p:nvPicPr>
          <p:cNvPr id="2" name="Content Placeholder 5">
            <a:extLst>
              <a:ext uri="{FF2B5EF4-FFF2-40B4-BE49-F238E27FC236}">
                <a16:creationId xmlns:a16="http://schemas.microsoft.com/office/drawing/2014/main" id="{E93049AA-78E4-AB59-A378-9A6357CFAD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6537"/>
          <a:stretch>
            <a:fillRect/>
          </a:stretch>
        </p:blipFill>
        <p:spPr bwMode="auto">
          <a:xfrm>
            <a:off x="5735639" y="-26988"/>
            <a:ext cx="4968875"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213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D408C19-CF52-4B6D-B3E8-70F6920FA384}"/>
              </a:ext>
            </a:extLst>
          </p:cNvPr>
          <p:cNvSpPr>
            <a:spLocks noGrp="1"/>
          </p:cNvSpPr>
          <p:nvPr>
            <p:ph type="title"/>
          </p:nvPr>
        </p:nvSpPr>
        <p:spPr>
          <a:xfrm>
            <a:off x="1524000" y="297665"/>
            <a:ext cx="7543800" cy="1450757"/>
          </a:xfrm>
        </p:spPr>
        <p:txBody>
          <a:bodyPr>
            <a:normAutofit/>
          </a:bodyPr>
          <a:lstStyle/>
          <a:p>
            <a:r>
              <a:rPr lang="en-US" sz="4400" dirty="0"/>
              <a:t>Class Exercise – (3)</a:t>
            </a:r>
          </a:p>
        </p:txBody>
      </p:sp>
      <p:pic>
        <p:nvPicPr>
          <p:cNvPr id="18" name="Content Placeholder 5">
            <a:extLst>
              <a:ext uri="{FF2B5EF4-FFF2-40B4-BE49-F238E27FC236}">
                <a16:creationId xmlns:a16="http://schemas.microsoft.com/office/drawing/2014/main" id="{B4B51BD0-380D-4576-B94E-A28C834ED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537"/>
          <a:stretch>
            <a:fillRect/>
          </a:stretch>
        </p:blipFill>
        <p:spPr bwMode="auto">
          <a:xfrm>
            <a:off x="5735639" y="-26988"/>
            <a:ext cx="4968875"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E54926C0-58FA-4C08-9B9C-055986B39A06}"/>
              </a:ext>
            </a:extLst>
          </p:cNvPr>
          <p:cNvSpPr txBox="1"/>
          <p:nvPr/>
        </p:nvSpPr>
        <p:spPr>
          <a:xfrm>
            <a:off x="539683" y="3055036"/>
            <a:ext cx="4112928" cy="430887"/>
          </a:xfrm>
          <a:prstGeom prst="rect">
            <a:avLst/>
          </a:prstGeom>
          <a:noFill/>
        </p:spPr>
        <p:txBody>
          <a:bodyPr wrap="square">
            <a:spAutoFit/>
          </a:bodyPr>
          <a:lstStyle/>
          <a:p>
            <a:pPr defTabSz="457200"/>
            <a:r>
              <a:rPr lang="en-US" sz="2200" dirty="0">
                <a:solidFill>
                  <a:prstClr val="black"/>
                </a:solidFill>
                <a:latin typeface="Calibri" panose="020F0502020204030204" pitchFamily="34" charset="0"/>
                <a:ea typeface="MS Mincho" panose="02020609040205080304" pitchFamily="49" charset="-128"/>
                <a:cs typeface="Times New Roman" panose="02020603050405020304" pitchFamily="18" charset="0"/>
              </a:rPr>
              <a:t>The degrees of freedom is 25.</a:t>
            </a:r>
          </a:p>
        </p:txBody>
      </p:sp>
      <p:sp>
        <p:nvSpPr>
          <p:cNvPr id="13" name="TextBox 12">
            <a:extLst>
              <a:ext uri="{FF2B5EF4-FFF2-40B4-BE49-F238E27FC236}">
                <a16:creationId xmlns:a16="http://schemas.microsoft.com/office/drawing/2014/main" id="{F3A610A8-C21D-499C-9248-C3D62096CEB6}"/>
              </a:ext>
            </a:extLst>
          </p:cNvPr>
          <p:cNvSpPr txBox="1"/>
          <p:nvPr/>
        </p:nvSpPr>
        <p:spPr>
          <a:xfrm>
            <a:off x="573892" y="3566595"/>
            <a:ext cx="4962327" cy="400110"/>
          </a:xfrm>
          <a:prstGeom prst="rect">
            <a:avLst/>
          </a:prstGeom>
          <a:noFill/>
        </p:spPr>
        <p:txBody>
          <a:bodyPr wrap="square">
            <a:spAutoFit/>
          </a:bodyPr>
          <a:lstStyle/>
          <a:p>
            <a:pPr defTabSz="457200" fontAlgn="base"/>
            <a:r>
              <a:rPr lang="en-US" sz="2000" dirty="0">
                <a:solidFill>
                  <a:srgbClr val="2683C6"/>
                </a:solidFill>
                <a:latin typeface="Calibri" panose="020F0502020204030204" pitchFamily="34" charset="0"/>
                <a:ea typeface="MS Mincho" panose="02020609040205080304" pitchFamily="49" charset="-128"/>
                <a:cs typeface="Times New Roman" panose="02020603050405020304" pitchFamily="18" charset="0"/>
              </a:rPr>
              <a:t>Test statistic=-1.9696</a:t>
            </a:r>
            <a:endParaRPr lang="tr-TR" sz="2000" dirty="0">
              <a:solidFill>
                <a:srgbClr val="2683C6"/>
              </a:solidFill>
              <a:latin typeface="Calibri" panose="020F0502020204030204" pitchFamily="34" charset="0"/>
              <a:ea typeface="MS Mincho" panose="02020609040205080304" pitchFamily="49" charset="-128"/>
              <a:cs typeface="Times New Roman" panose="02020603050405020304" pitchFamily="18" charset="0"/>
            </a:endParaRPr>
          </a:p>
        </p:txBody>
      </p:sp>
      <p:sp>
        <p:nvSpPr>
          <p:cNvPr id="7" name="Rectangle 6">
            <a:extLst>
              <a:ext uri="{FF2B5EF4-FFF2-40B4-BE49-F238E27FC236}">
                <a16:creationId xmlns:a16="http://schemas.microsoft.com/office/drawing/2014/main" id="{F386B623-E75B-45AB-B249-5FD091A30531}"/>
              </a:ext>
            </a:extLst>
          </p:cNvPr>
          <p:cNvSpPr/>
          <p:nvPr/>
        </p:nvSpPr>
        <p:spPr>
          <a:xfrm>
            <a:off x="5445312" y="5192648"/>
            <a:ext cx="5222689" cy="1805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AF10E1AC-7753-4637-9F90-AFC8CAA3B5B0}"/>
              </a:ext>
            </a:extLst>
          </p:cNvPr>
          <p:cNvSpPr txBox="1"/>
          <p:nvPr/>
        </p:nvSpPr>
        <p:spPr>
          <a:xfrm>
            <a:off x="573892" y="1947040"/>
            <a:ext cx="4591664" cy="1107996"/>
          </a:xfrm>
          <a:prstGeom prst="rect">
            <a:avLst/>
          </a:prstGeom>
          <a:noFill/>
        </p:spPr>
        <p:txBody>
          <a:bodyPr wrap="square">
            <a:spAutoFit/>
          </a:bodyPr>
          <a:lstStyle/>
          <a:p>
            <a:pPr defTabSz="457200" fontAlgn="base"/>
            <a:r>
              <a:rPr lang="en-US" sz="2200" dirty="0">
                <a:solidFill>
                  <a:srgbClr val="2683C6"/>
                </a:solidFill>
                <a:latin typeface="Calibri" panose="020F0502020204030204"/>
              </a:rPr>
              <a:t>Distribution of the weights: Normal</a:t>
            </a:r>
            <a:endParaRPr lang="tr-TR" sz="2200" dirty="0">
              <a:solidFill>
                <a:srgbClr val="2683C6"/>
              </a:solidFill>
              <a:latin typeface="Calibri" panose="020F0502020204030204"/>
            </a:endParaRPr>
          </a:p>
          <a:p>
            <a:pPr defTabSz="457200" fontAlgn="base"/>
            <a:r>
              <a:rPr lang="en-US" sz="2200" dirty="0">
                <a:solidFill>
                  <a:srgbClr val="2683C6"/>
                </a:solidFill>
                <a:latin typeface="Calibri" panose="020F0502020204030204"/>
              </a:rPr>
              <a:t>Sample size (n</a:t>
            </a:r>
            <a:r>
              <a:rPr lang="en-US" sz="2200" baseline="-25000" dirty="0">
                <a:solidFill>
                  <a:srgbClr val="2683C6"/>
                </a:solidFill>
                <a:latin typeface="Calibri" panose="020F0502020204030204"/>
              </a:rPr>
              <a:t>1</a:t>
            </a:r>
            <a:r>
              <a:rPr lang="en-US" sz="2200" dirty="0">
                <a:solidFill>
                  <a:srgbClr val="2683C6"/>
                </a:solidFill>
                <a:latin typeface="Calibri" panose="020F0502020204030204"/>
              </a:rPr>
              <a:t>, n</a:t>
            </a:r>
            <a:r>
              <a:rPr lang="en-US" sz="2200" baseline="-25000" dirty="0">
                <a:solidFill>
                  <a:srgbClr val="2683C6"/>
                </a:solidFill>
                <a:latin typeface="Calibri" panose="020F0502020204030204"/>
              </a:rPr>
              <a:t>2</a:t>
            </a:r>
            <a:r>
              <a:rPr lang="en-US" sz="2200" dirty="0">
                <a:solidFill>
                  <a:srgbClr val="2683C6"/>
                </a:solidFill>
                <a:latin typeface="Calibri" panose="020F0502020204030204"/>
              </a:rPr>
              <a:t>): (12, 16)</a:t>
            </a:r>
          </a:p>
          <a:p>
            <a:pPr defTabSz="457200" fontAlgn="base"/>
            <a:r>
              <a:rPr lang="en-US" sz="2200" dirty="0">
                <a:solidFill>
                  <a:srgbClr val="2683C6"/>
                </a:solidFill>
                <a:latin typeface="Calibri" panose="020F0502020204030204"/>
              </a:rPr>
              <a:t>(s</a:t>
            </a:r>
            <a:r>
              <a:rPr lang="en-US" sz="2200" baseline="-25000" dirty="0">
                <a:solidFill>
                  <a:srgbClr val="2683C6"/>
                </a:solidFill>
                <a:latin typeface="Calibri" panose="020F0502020204030204"/>
              </a:rPr>
              <a:t>1</a:t>
            </a:r>
            <a:r>
              <a:rPr lang="en-US" sz="2200" dirty="0">
                <a:solidFill>
                  <a:srgbClr val="2683C6"/>
                </a:solidFill>
                <a:latin typeface="Calibri" panose="020F0502020204030204"/>
              </a:rPr>
              <a:t>, s</a:t>
            </a:r>
            <a:r>
              <a:rPr lang="en-US" sz="2200" baseline="-25000" dirty="0">
                <a:solidFill>
                  <a:srgbClr val="2683C6"/>
                </a:solidFill>
                <a:latin typeface="Calibri" panose="020F0502020204030204"/>
              </a:rPr>
              <a:t>2</a:t>
            </a:r>
            <a:r>
              <a:rPr lang="en-US" sz="2200" dirty="0">
                <a:solidFill>
                  <a:srgbClr val="2683C6"/>
                </a:solidFill>
                <a:latin typeface="Calibri" panose="020F0502020204030204"/>
              </a:rPr>
              <a:t>) = (0.5, 0.6)</a:t>
            </a:r>
            <a:endParaRPr lang="tr-TR" sz="2200" dirty="0">
              <a:solidFill>
                <a:srgbClr val="2683C6"/>
              </a:solidFill>
              <a:latin typeface="Calibri" panose="020F0502020204030204" pitchFamily="34" charset="0"/>
              <a:ea typeface="MS Mincho" panose="02020609040205080304" pitchFamily="49" charset="-128"/>
              <a:cs typeface="Times New Roman" panose="02020603050405020304" pitchFamily="18" charset="0"/>
            </a:endParaRPr>
          </a:p>
        </p:txBody>
      </p:sp>
      <p:sp>
        <p:nvSpPr>
          <p:cNvPr id="2" name="Rectangle 1">
            <a:extLst>
              <a:ext uri="{FF2B5EF4-FFF2-40B4-BE49-F238E27FC236}">
                <a16:creationId xmlns:a16="http://schemas.microsoft.com/office/drawing/2014/main" id="{D504141D-F5DE-96C4-1FAC-568895D96431}"/>
              </a:ext>
            </a:extLst>
          </p:cNvPr>
          <p:cNvSpPr/>
          <p:nvPr/>
        </p:nvSpPr>
        <p:spPr>
          <a:xfrm>
            <a:off x="7537084" y="1748422"/>
            <a:ext cx="883015" cy="51095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TextBox 2">
            <a:extLst>
              <a:ext uri="{FF2B5EF4-FFF2-40B4-BE49-F238E27FC236}">
                <a16:creationId xmlns:a16="http://schemas.microsoft.com/office/drawing/2014/main" id="{403ADD6C-0CD0-5A92-97FB-BBDBECB06E21}"/>
              </a:ext>
            </a:extLst>
          </p:cNvPr>
          <p:cNvSpPr txBox="1"/>
          <p:nvPr/>
        </p:nvSpPr>
        <p:spPr>
          <a:xfrm>
            <a:off x="539683" y="4016599"/>
            <a:ext cx="4962327" cy="400110"/>
          </a:xfrm>
          <a:prstGeom prst="rect">
            <a:avLst/>
          </a:prstGeom>
          <a:noFill/>
        </p:spPr>
        <p:txBody>
          <a:bodyPr wrap="square">
            <a:spAutoFit/>
          </a:bodyPr>
          <a:lstStyle/>
          <a:p>
            <a:pPr defTabSz="457200" fontAlgn="base"/>
            <a:r>
              <a:rPr lang="en-US" sz="2000" dirty="0">
                <a:solidFill>
                  <a:srgbClr val="2683C6"/>
                </a:solidFill>
                <a:latin typeface="Calibri" panose="020F0502020204030204" pitchFamily="34" charset="0"/>
                <a:ea typeface="MS Mincho" panose="02020609040205080304" pitchFamily="49" charset="-128"/>
                <a:cs typeface="Times New Roman" panose="02020603050405020304" pitchFamily="18" charset="0"/>
              </a:rPr>
              <a:t>1.708&lt;1.9696&lt;2.060</a:t>
            </a:r>
            <a:endParaRPr lang="tr-TR" sz="2000" dirty="0">
              <a:solidFill>
                <a:srgbClr val="2683C6"/>
              </a:solidFill>
              <a:latin typeface="Calibri" panose="020F0502020204030204" pitchFamily="34" charset="0"/>
              <a:ea typeface="MS Mincho" panose="02020609040205080304" pitchFamily="49" charset="-128"/>
              <a:cs typeface="Times New Roman" panose="02020603050405020304" pitchFamily="18" charset="0"/>
            </a:endParaRPr>
          </a:p>
        </p:txBody>
      </p:sp>
      <p:sp>
        <p:nvSpPr>
          <p:cNvPr id="5" name="TextBox 4">
            <a:extLst>
              <a:ext uri="{FF2B5EF4-FFF2-40B4-BE49-F238E27FC236}">
                <a16:creationId xmlns:a16="http://schemas.microsoft.com/office/drawing/2014/main" id="{3E209E59-8BCE-7F27-9FEA-25127976A329}"/>
              </a:ext>
            </a:extLst>
          </p:cNvPr>
          <p:cNvSpPr txBox="1"/>
          <p:nvPr/>
        </p:nvSpPr>
        <p:spPr>
          <a:xfrm>
            <a:off x="604696" y="4593919"/>
            <a:ext cx="3251916" cy="430887"/>
          </a:xfrm>
          <a:prstGeom prst="rect">
            <a:avLst/>
          </a:prstGeom>
          <a:noFill/>
        </p:spPr>
        <p:txBody>
          <a:bodyPr wrap="none" rtlCol="0">
            <a:spAutoFit/>
          </a:bodyPr>
          <a:lstStyle/>
          <a:p>
            <a:r>
              <a:rPr lang="en-US" sz="2200" dirty="0"/>
              <a:t>2*0.025 &lt; p value &lt; 2*0.05</a:t>
            </a:r>
            <a:endParaRPr lang="tr-TR" sz="2200" dirty="0"/>
          </a:p>
        </p:txBody>
      </p:sp>
      <p:sp>
        <p:nvSpPr>
          <p:cNvPr id="6" name="TextBox 5">
            <a:extLst>
              <a:ext uri="{FF2B5EF4-FFF2-40B4-BE49-F238E27FC236}">
                <a16:creationId xmlns:a16="http://schemas.microsoft.com/office/drawing/2014/main" id="{F6CAD79C-3183-2DCD-9D00-1D9E20A09A7A}"/>
              </a:ext>
            </a:extLst>
          </p:cNvPr>
          <p:cNvSpPr txBox="1"/>
          <p:nvPr/>
        </p:nvSpPr>
        <p:spPr>
          <a:xfrm>
            <a:off x="1026381" y="5055584"/>
            <a:ext cx="2541786" cy="430887"/>
          </a:xfrm>
          <a:prstGeom prst="rect">
            <a:avLst/>
          </a:prstGeom>
          <a:noFill/>
        </p:spPr>
        <p:txBody>
          <a:bodyPr wrap="none" rtlCol="0">
            <a:spAutoFit/>
          </a:bodyPr>
          <a:lstStyle/>
          <a:p>
            <a:r>
              <a:rPr lang="en-US" sz="2200" dirty="0"/>
              <a:t>0.05 &lt; p value &lt; 0.10</a:t>
            </a:r>
            <a:endParaRPr lang="tr-TR" sz="2200" dirty="0"/>
          </a:p>
        </p:txBody>
      </p:sp>
      <p:sp>
        <p:nvSpPr>
          <p:cNvPr id="8" name="TextBox 7">
            <a:extLst>
              <a:ext uri="{FF2B5EF4-FFF2-40B4-BE49-F238E27FC236}">
                <a16:creationId xmlns:a16="http://schemas.microsoft.com/office/drawing/2014/main" id="{3FB4C6C0-0F8D-DE61-6C72-F621AEAFEF18}"/>
              </a:ext>
            </a:extLst>
          </p:cNvPr>
          <p:cNvSpPr txBox="1"/>
          <p:nvPr/>
        </p:nvSpPr>
        <p:spPr>
          <a:xfrm>
            <a:off x="592705" y="5517249"/>
            <a:ext cx="3275897" cy="707886"/>
          </a:xfrm>
          <a:prstGeom prst="rect">
            <a:avLst/>
          </a:prstGeom>
          <a:noFill/>
        </p:spPr>
        <p:txBody>
          <a:bodyPr wrap="none" rtlCol="0">
            <a:spAutoFit/>
          </a:bodyPr>
          <a:lstStyle/>
          <a:p>
            <a:pPr marL="342900" indent="-342900">
              <a:buFont typeface="Wingdings" panose="05000000000000000000" pitchFamily="2" charset="2"/>
              <a:buChar char="à"/>
            </a:pPr>
            <a:r>
              <a:rPr lang="en-US" sz="2000" dirty="0">
                <a:solidFill>
                  <a:srgbClr val="FF0000"/>
                </a:solidFill>
              </a:rPr>
              <a:t>Cannot reject H0 at </a:t>
            </a:r>
            <a:r>
              <a:rPr lang="en-US" sz="2000" dirty="0">
                <a:solidFill>
                  <a:srgbClr val="FF0000"/>
                </a:solidFill>
                <a:latin typeface="Symbol" panose="05050102010706020507" pitchFamily="18" charset="2"/>
              </a:rPr>
              <a:t>a</a:t>
            </a:r>
            <a:r>
              <a:rPr lang="en-US" sz="2000" dirty="0">
                <a:solidFill>
                  <a:srgbClr val="FF0000"/>
                </a:solidFill>
              </a:rPr>
              <a:t>=5%.</a:t>
            </a:r>
          </a:p>
          <a:p>
            <a:pPr marL="342900" indent="-342900">
              <a:buFont typeface="Wingdings" panose="05000000000000000000" pitchFamily="2" charset="2"/>
              <a:buChar char="à"/>
            </a:pPr>
            <a:r>
              <a:rPr lang="en-US" sz="2000" dirty="0">
                <a:solidFill>
                  <a:srgbClr val="FF0000"/>
                </a:solidFill>
              </a:rPr>
              <a:t>Reject H0 at </a:t>
            </a:r>
            <a:r>
              <a:rPr lang="en-US" sz="2000" dirty="0">
                <a:solidFill>
                  <a:srgbClr val="FF0000"/>
                </a:solidFill>
                <a:latin typeface="Symbol" panose="05050102010706020507" pitchFamily="18" charset="2"/>
              </a:rPr>
              <a:t>a</a:t>
            </a:r>
            <a:r>
              <a:rPr lang="en-US" sz="2000" dirty="0">
                <a:solidFill>
                  <a:srgbClr val="FF0000"/>
                </a:solidFill>
              </a:rPr>
              <a:t>=10%.</a:t>
            </a:r>
            <a:endParaRPr lang="tr-TR" sz="2000" dirty="0">
              <a:solidFill>
                <a:srgbClr val="FF0000"/>
              </a:solidFill>
            </a:endParaRPr>
          </a:p>
        </p:txBody>
      </p:sp>
    </p:spTree>
    <p:extLst>
      <p:ext uri="{BB962C8B-B14F-4D97-AF65-F5344CB8AC3E}">
        <p14:creationId xmlns:p14="http://schemas.microsoft.com/office/powerpoint/2010/main" val="219314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635E-F581-6E97-4370-B3DF73BF94D2}"/>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B405CDC4-0105-9FDC-5FF1-786C0C407CB7}"/>
              </a:ext>
            </a:extLst>
          </p:cNvPr>
          <p:cNvSpPr>
            <a:spLocks noGrp="1"/>
          </p:cNvSpPr>
          <p:nvPr>
            <p:ph type="title"/>
          </p:nvPr>
        </p:nvSpPr>
        <p:spPr/>
        <p:txBody>
          <a:bodyPr/>
          <a:lstStyle/>
          <a:p>
            <a:r>
              <a:rPr lang="en-US" dirty="0"/>
              <a:t>Class Exercise – (4)</a:t>
            </a:r>
          </a:p>
        </p:txBody>
      </p:sp>
      <mc:AlternateContent xmlns:mc="http://schemas.openxmlformats.org/markup-compatibility/2006" xmlns:a14="http://schemas.microsoft.com/office/drawing/2010/main">
        <mc:Choice Requires="a14">
          <p:sp>
            <p:nvSpPr>
              <p:cNvPr id="16" name="Content Placeholder 15">
                <a:extLst>
                  <a:ext uri="{FF2B5EF4-FFF2-40B4-BE49-F238E27FC236}">
                    <a16:creationId xmlns:a16="http://schemas.microsoft.com/office/drawing/2014/main" id="{77C21E00-E92C-0F52-9248-163A74E22977}"/>
                  </a:ext>
                </a:extLst>
              </p:cNvPr>
              <p:cNvSpPr>
                <a:spLocks noGrp="1"/>
              </p:cNvSpPr>
              <p:nvPr>
                <p:ph idx="1"/>
              </p:nvPr>
            </p:nvSpPr>
            <p:spPr>
              <a:xfrm>
                <a:off x="1097281" y="1962883"/>
                <a:ext cx="6025896" cy="4608512"/>
              </a:xfrm>
            </p:spPr>
            <p:txBody>
              <a:bodyPr>
                <a:normAutofit/>
              </a:bodyPr>
              <a:lstStyle/>
              <a:p>
                <a:pPr fontAlgn="base"/>
                <a:r>
                  <a:rPr lang="en-US" sz="1800" dirty="0">
                    <a:solidFill>
                      <a:schemeClr val="accent2"/>
                    </a:solidFill>
                  </a:rPr>
                  <a:t>Distribution of the weights: Unknown</a:t>
                </a:r>
                <a:endParaRPr lang="tr-TR" sz="1800" dirty="0">
                  <a:solidFill>
                    <a:schemeClr val="accent2"/>
                  </a:solidFill>
                </a:endParaRPr>
              </a:p>
              <a:p>
                <a:pPr fontAlgn="base"/>
                <a:r>
                  <a:rPr lang="en-US" sz="1800" dirty="0">
                    <a:solidFill>
                      <a:schemeClr val="accent2"/>
                    </a:solidFill>
                  </a:rPr>
                  <a:t>Sample size (n</a:t>
                </a:r>
                <a:r>
                  <a:rPr lang="en-US" sz="1800" baseline="-25000" dirty="0">
                    <a:solidFill>
                      <a:schemeClr val="accent2"/>
                    </a:solidFill>
                  </a:rPr>
                  <a:t>1</a:t>
                </a:r>
                <a:r>
                  <a:rPr lang="en-US" sz="1800" dirty="0">
                    <a:solidFill>
                      <a:schemeClr val="accent2"/>
                    </a:solidFill>
                  </a:rPr>
                  <a:t>, n</a:t>
                </a:r>
                <a:r>
                  <a:rPr lang="en-US" sz="1800" baseline="-25000" dirty="0">
                    <a:solidFill>
                      <a:schemeClr val="accent2"/>
                    </a:solidFill>
                  </a:rPr>
                  <a:t>2</a:t>
                </a:r>
                <a:r>
                  <a:rPr lang="en-US" sz="1800" dirty="0">
                    <a:solidFill>
                      <a:schemeClr val="accent2"/>
                    </a:solidFill>
                  </a:rPr>
                  <a:t>): (42, 46)</a:t>
                </a:r>
              </a:p>
              <a:p>
                <a:pPr fontAlgn="base"/>
                <a:r>
                  <a:rPr lang="en-US" sz="1800" dirty="0">
                    <a:solidFill>
                      <a:schemeClr val="accent2"/>
                    </a:solidFill>
                  </a:rPr>
                  <a:t>(s</a:t>
                </a:r>
                <a:r>
                  <a:rPr lang="en-US" sz="1800" baseline="-25000" dirty="0">
                    <a:solidFill>
                      <a:schemeClr val="accent2"/>
                    </a:solidFill>
                  </a:rPr>
                  <a:t>1</a:t>
                </a:r>
                <a:r>
                  <a:rPr lang="en-US" sz="1800" dirty="0">
                    <a:solidFill>
                      <a:schemeClr val="accent2"/>
                    </a:solidFill>
                  </a:rPr>
                  <a:t>, s</a:t>
                </a:r>
                <a:r>
                  <a:rPr lang="en-US" sz="1800" baseline="-25000" dirty="0">
                    <a:solidFill>
                      <a:schemeClr val="accent2"/>
                    </a:solidFill>
                  </a:rPr>
                  <a:t>2</a:t>
                </a:r>
                <a:r>
                  <a:rPr lang="en-US" sz="1800" dirty="0">
                    <a:solidFill>
                      <a:schemeClr val="accent2"/>
                    </a:solidFill>
                  </a:rPr>
                  <a:t>) = (0.5, 0.6)</a:t>
                </a:r>
                <a:endParaRPr lang="tr-TR" sz="1800" dirty="0">
                  <a:solidFill>
                    <a:schemeClr val="accent2"/>
                  </a:solidFill>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a:lnSpc>
                    <a:spcPct val="100000"/>
                  </a:lnSpc>
                  <a:spcBef>
                    <a:spcPts val="0"/>
                  </a:spcBef>
                </a:pPr>
                <a:endParaRPr lang="en-US" sz="1800" dirty="0">
                  <a:latin typeface="Calibri" panose="020F0502020204030204" pitchFamily="34" charset="0"/>
                  <a:ea typeface="MS Mincho" panose="02020609040205080304" pitchFamily="49" charset="-128"/>
                  <a:cs typeface="Times New Roman" panose="02020603050405020304" pitchFamily="18" charset="0"/>
                </a:endParaRPr>
              </a:p>
              <a:p>
                <a:pPr fontAlgn="base"/>
                <a:r>
                  <a:rPr lang="en-US" dirty="0"/>
                  <a:t>Test Statistic=</a:t>
                </a:r>
                <a:r>
                  <a:rPr lang="tr-TR" dirty="0"/>
                  <a:t> </a:t>
                </a:r>
                <a14:m>
                  <m:oMath xmlns:m="http://schemas.openxmlformats.org/officeDocument/2006/math">
                    <m:f>
                      <m:fPr>
                        <m:ctrlPr>
                          <a:rPr lang="tr-TR" sz="2400" i="1">
                            <a:latin typeface="Cambria Math" panose="02040503050406030204" pitchFamily="18" charset="0"/>
                          </a:rPr>
                        </m:ctrlPr>
                      </m:fPr>
                      <m:num>
                        <m:acc>
                          <m:accPr>
                            <m:chr m:val="̄"/>
                            <m:ctrlPr>
                              <a:rPr lang="tr-TR" sz="2400" i="1">
                                <a:latin typeface="Cambria Math" panose="02040503050406030204" pitchFamily="18" charset="0"/>
                              </a:rPr>
                            </m:ctrlPr>
                          </m:accPr>
                          <m:e>
                            <m:r>
                              <a:rPr lang="tr-TR" sz="2400" i="1">
                                <a:latin typeface="Cambria Math" panose="02040503050406030204" pitchFamily="18" charset="0"/>
                              </a:rPr>
                              <m:t>𝑋</m:t>
                            </m:r>
                          </m:e>
                        </m:acc>
                        <m:r>
                          <a:rPr lang="tr-TR" sz="2400" i="1">
                            <a:latin typeface="Cambria Math" panose="02040503050406030204" pitchFamily="18" charset="0"/>
                          </a:rPr>
                          <m:t>−</m:t>
                        </m:r>
                        <m:acc>
                          <m:accPr>
                            <m:chr m:val="̄"/>
                            <m:ctrlPr>
                              <a:rPr lang="tr-TR" sz="2400" i="1">
                                <a:latin typeface="Cambria Math" panose="02040503050406030204" pitchFamily="18" charset="0"/>
                              </a:rPr>
                            </m:ctrlPr>
                          </m:accPr>
                          <m:e>
                            <m:r>
                              <a:rPr lang="tr-TR" sz="2400" i="1">
                                <a:latin typeface="Cambria Math" panose="02040503050406030204" pitchFamily="18" charset="0"/>
                              </a:rPr>
                              <m:t>𝑌</m:t>
                            </m:r>
                          </m:e>
                        </m:acc>
                      </m:num>
                      <m:den>
                        <m:rad>
                          <m:radPr>
                            <m:degHide m:val="on"/>
                            <m:ctrlPr>
                              <a:rPr lang="tr-TR" sz="2400" i="1">
                                <a:latin typeface="Cambria Math" panose="02040503050406030204" pitchFamily="18" charset="0"/>
                              </a:rPr>
                            </m:ctrlPr>
                          </m:radPr>
                          <m:deg/>
                          <m:e>
                            <m:f>
                              <m:fPr>
                                <m:ctrlPr>
                                  <a:rPr lang="tr-TR" sz="2400" i="1">
                                    <a:latin typeface="Cambria Math" panose="02040503050406030204" pitchFamily="18" charset="0"/>
                                  </a:rPr>
                                </m:ctrlPr>
                              </m:fPr>
                              <m:num>
                                <m:sSubSup>
                                  <m:sSubSupPr>
                                    <m:ctrlPr>
                                      <a:rPr lang="tr-TR" sz="2400" i="1">
                                        <a:latin typeface="Cambria Math" panose="02040503050406030204" pitchFamily="18" charset="0"/>
                                      </a:rPr>
                                    </m:ctrlPr>
                                  </m:sSubSupPr>
                                  <m:e>
                                    <m:r>
                                      <a:rPr lang="en-US" sz="2400" i="1">
                                        <a:latin typeface="Cambria Math" panose="02040503050406030204" pitchFamily="18" charset="0"/>
                                      </a:rPr>
                                      <m:t>𝑠</m:t>
                                    </m:r>
                                  </m:e>
                                  <m:sub>
                                    <m:r>
                                      <a:rPr lang="tr-TR" sz="2400" i="1">
                                        <a:latin typeface="Cambria Math" panose="02040503050406030204" pitchFamily="18" charset="0"/>
                                      </a:rPr>
                                      <m:t>𝑋</m:t>
                                    </m:r>
                                  </m:sub>
                                  <m:sup>
                                    <m:r>
                                      <a:rPr lang="tr-TR" sz="2400" i="1">
                                        <a:latin typeface="Cambria Math" panose="02040503050406030204" pitchFamily="18" charset="0"/>
                                      </a:rPr>
                                      <m:t>2</m:t>
                                    </m:r>
                                  </m:sup>
                                </m:sSubSup>
                              </m:num>
                              <m:den>
                                <m:sSub>
                                  <m:sSubPr>
                                    <m:ctrlPr>
                                      <a:rPr lang="tr-TR" sz="2400" i="1">
                                        <a:latin typeface="Cambria Math" panose="02040503050406030204" pitchFamily="18" charset="0"/>
                                      </a:rPr>
                                    </m:ctrlPr>
                                  </m:sSubPr>
                                  <m:e>
                                    <m:r>
                                      <a:rPr lang="tr-TR" sz="2400" i="1">
                                        <a:latin typeface="Cambria Math" panose="02040503050406030204" pitchFamily="18" charset="0"/>
                                      </a:rPr>
                                      <m:t>𝑛</m:t>
                                    </m:r>
                                  </m:e>
                                  <m:sub>
                                    <m:r>
                                      <a:rPr lang="tr-TR" sz="2400" i="1">
                                        <a:latin typeface="Cambria Math" panose="02040503050406030204" pitchFamily="18" charset="0"/>
                                      </a:rPr>
                                      <m:t>𝑋</m:t>
                                    </m:r>
                                  </m:sub>
                                </m:sSub>
                              </m:den>
                            </m:f>
                            <m:r>
                              <a:rPr lang="tr-TR" sz="2400" i="1">
                                <a:latin typeface="Cambria Math" panose="02040503050406030204" pitchFamily="18" charset="0"/>
                              </a:rPr>
                              <m:t>+</m:t>
                            </m:r>
                            <m:f>
                              <m:fPr>
                                <m:ctrlPr>
                                  <a:rPr lang="tr-TR" sz="2400" i="1">
                                    <a:latin typeface="Cambria Math" panose="02040503050406030204" pitchFamily="18" charset="0"/>
                                  </a:rPr>
                                </m:ctrlPr>
                              </m:fPr>
                              <m:num>
                                <m:sSubSup>
                                  <m:sSubSupPr>
                                    <m:ctrlPr>
                                      <a:rPr lang="tr-TR" sz="2400" i="1">
                                        <a:latin typeface="Cambria Math" panose="02040503050406030204" pitchFamily="18" charset="0"/>
                                      </a:rPr>
                                    </m:ctrlPr>
                                  </m:sSubSupPr>
                                  <m:e>
                                    <m:r>
                                      <a:rPr lang="en-US" sz="2400" i="1">
                                        <a:latin typeface="Cambria Math" panose="02040503050406030204" pitchFamily="18" charset="0"/>
                                      </a:rPr>
                                      <m:t>𝑠</m:t>
                                    </m:r>
                                  </m:e>
                                  <m:sub>
                                    <m:r>
                                      <a:rPr lang="tr-TR" sz="2400" i="1">
                                        <a:latin typeface="Cambria Math" panose="02040503050406030204" pitchFamily="18" charset="0"/>
                                      </a:rPr>
                                      <m:t>𝑌</m:t>
                                    </m:r>
                                  </m:sub>
                                  <m:sup>
                                    <m:r>
                                      <a:rPr lang="tr-TR" sz="2400" i="1">
                                        <a:latin typeface="Cambria Math" panose="02040503050406030204" pitchFamily="18" charset="0"/>
                                      </a:rPr>
                                      <m:t>2</m:t>
                                    </m:r>
                                  </m:sup>
                                </m:sSubSup>
                              </m:num>
                              <m:den>
                                <m:sSub>
                                  <m:sSubPr>
                                    <m:ctrlPr>
                                      <a:rPr lang="tr-TR" sz="2400" i="1">
                                        <a:latin typeface="Cambria Math" panose="02040503050406030204" pitchFamily="18" charset="0"/>
                                      </a:rPr>
                                    </m:ctrlPr>
                                  </m:sSubPr>
                                  <m:e>
                                    <m:r>
                                      <a:rPr lang="tr-TR" sz="2400" i="1">
                                        <a:latin typeface="Cambria Math" panose="02040503050406030204" pitchFamily="18" charset="0"/>
                                      </a:rPr>
                                      <m:t>𝑛</m:t>
                                    </m:r>
                                  </m:e>
                                  <m:sub>
                                    <m:r>
                                      <a:rPr lang="tr-TR" sz="2400" i="1">
                                        <a:latin typeface="Cambria Math" panose="02040503050406030204" pitchFamily="18" charset="0"/>
                                      </a:rPr>
                                      <m:t>𝑌</m:t>
                                    </m:r>
                                  </m:sub>
                                </m:sSub>
                              </m:den>
                            </m:f>
                          </m:e>
                        </m:rad>
                      </m:den>
                    </m:f>
                    <m:r>
                      <a:rPr lang="tr-TR" sz="2400" i="1">
                        <a:latin typeface="Cambria Math" panose="02040503050406030204" pitchFamily="18" charset="0"/>
                      </a:rPr>
                      <m:t>=</m:t>
                    </m:r>
                    <m:f>
                      <m:fPr>
                        <m:ctrlPr>
                          <a:rPr lang="tr-TR" sz="2400" i="1">
                            <a:latin typeface="Cambria Math" panose="02040503050406030204" pitchFamily="18" charset="0"/>
                          </a:rPr>
                        </m:ctrlPr>
                      </m:fPr>
                      <m:num>
                        <m:r>
                          <a:rPr lang="tr-TR" sz="2400" i="1">
                            <a:latin typeface="Cambria Math" panose="02040503050406030204" pitchFamily="18" charset="0"/>
                          </a:rPr>
                          <m:t>5.2−5.6</m:t>
                        </m:r>
                      </m:num>
                      <m:den>
                        <m:rad>
                          <m:radPr>
                            <m:degHide m:val="on"/>
                            <m:ctrlPr>
                              <a:rPr lang="tr-TR" sz="2400" i="1">
                                <a:latin typeface="Cambria Math" panose="02040503050406030204" pitchFamily="18" charset="0"/>
                              </a:rPr>
                            </m:ctrlPr>
                          </m:radPr>
                          <m:deg/>
                          <m:e>
                            <m:f>
                              <m:fPr>
                                <m:ctrlPr>
                                  <a:rPr lang="tr-TR" sz="2400" i="1">
                                    <a:latin typeface="Cambria Math" panose="02040503050406030204" pitchFamily="18" charset="0"/>
                                  </a:rPr>
                                </m:ctrlPr>
                              </m:fPr>
                              <m:num>
                                <m:sSup>
                                  <m:sSupPr>
                                    <m:ctrlPr>
                                      <a:rPr lang="tr-TR" sz="2400" i="1">
                                        <a:latin typeface="Cambria Math" panose="02040503050406030204" pitchFamily="18" charset="0"/>
                                      </a:rPr>
                                    </m:ctrlPr>
                                  </m:sSupPr>
                                  <m:e>
                                    <m:r>
                                      <a:rPr lang="tr-TR" sz="2400" i="1">
                                        <a:latin typeface="Cambria Math" panose="02040503050406030204" pitchFamily="18" charset="0"/>
                                      </a:rPr>
                                      <m:t>0.5</m:t>
                                    </m:r>
                                  </m:e>
                                  <m:sup>
                                    <m:r>
                                      <a:rPr lang="tr-TR" sz="2400" i="1">
                                        <a:latin typeface="Cambria Math" panose="02040503050406030204" pitchFamily="18" charset="0"/>
                                      </a:rPr>
                                      <m:t>2</m:t>
                                    </m:r>
                                  </m:sup>
                                </m:sSup>
                              </m:num>
                              <m:den>
                                <m:r>
                                  <a:rPr lang="en-US" sz="2400" i="1">
                                    <a:latin typeface="Cambria Math" panose="02040503050406030204" pitchFamily="18" charset="0"/>
                                  </a:rPr>
                                  <m:t>4</m:t>
                                </m:r>
                                <m:r>
                                  <a:rPr lang="tr-TR" sz="2400" i="1">
                                    <a:latin typeface="Cambria Math" panose="02040503050406030204" pitchFamily="18" charset="0"/>
                                  </a:rPr>
                                  <m:t>2</m:t>
                                </m:r>
                              </m:den>
                            </m:f>
                            <m:r>
                              <a:rPr lang="tr-TR" sz="2400" i="1">
                                <a:latin typeface="Cambria Math" panose="02040503050406030204" pitchFamily="18" charset="0"/>
                              </a:rPr>
                              <m:t>+</m:t>
                            </m:r>
                            <m:f>
                              <m:fPr>
                                <m:ctrlPr>
                                  <a:rPr lang="tr-TR" sz="2400" i="1">
                                    <a:latin typeface="Cambria Math" panose="02040503050406030204" pitchFamily="18" charset="0"/>
                                  </a:rPr>
                                </m:ctrlPr>
                              </m:fPr>
                              <m:num>
                                <m:sSup>
                                  <m:sSupPr>
                                    <m:ctrlPr>
                                      <a:rPr lang="tr-TR" sz="2400" i="1">
                                        <a:latin typeface="Cambria Math" panose="02040503050406030204" pitchFamily="18" charset="0"/>
                                      </a:rPr>
                                    </m:ctrlPr>
                                  </m:sSupPr>
                                  <m:e>
                                    <m:r>
                                      <a:rPr lang="tr-TR" sz="2400" i="1">
                                        <a:latin typeface="Cambria Math" panose="02040503050406030204" pitchFamily="18" charset="0"/>
                                      </a:rPr>
                                      <m:t>0.6</m:t>
                                    </m:r>
                                  </m:e>
                                  <m:sup>
                                    <m:r>
                                      <a:rPr lang="tr-TR" sz="2400" i="1">
                                        <a:latin typeface="Cambria Math" panose="02040503050406030204" pitchFamily="18" charset="0"/>
                                      </a:rPr>
                                      <m:t>2</m:t>
                                    </m:r>
                                  </m:sup>
                                </m:sSup>
                              </m:num>
                              <m:den>
                                <m:r>
                                  <a:rPr lang="en-US" sz="2400" i="1">
                                    <a:latin typeface="Cambria Math" panose="02040503050406030204" pitchFamily="18" charset="0"/>
                                  </a:rPr>
                                  <m:t>4</m:t>
                                </m:r>
                                <m:r>
                                  <a:rPr lang="tr-TR" sz="2400" i="1">
                                    <a:latin typeface="Cambria Math" panose="02040503050406030204" pitchFamily="18" charset="0"/>
                                  </a:rPr>
                                  <m:t>6</m:t>
                                </m:r>
                              </m:den>
                            </m:f>
                          </m:e>
                        </m:rad>
                      </m:den>
                    </m:f>
                    <m:r>
                      <a:rPr lang="en-US" sz="2400" i="1">
                        <a:latin typeface="Cambria Math" panose="02040503050406030204" pitchFamily="18" charset="0"/>
                      </a:rPr>
                      <m:t>= </m:t>
                    </m:r>
                  </m:oMath>
                </a14:m>
                <a:r>
                  <a:rPr lang="en-US" dirty="0"/>
                  <a:t>-3.49</a:t>
                </a:r>
                <a:endParaRPr lang="tr-TR" dirty="0"/>
              </a:p>
              <a:p>
                <a:pPr>
                  <a:lnSpc>
                    <a:spcPct val="100000"/>
                  </a:lnSpc>
                  <a:spcBef>
                    <a:spcPts val="0"/>
                  </a:spcBef>
                </a:pPr>
                <a:endParaRPr lang="en-US" dirty="0"/>
              </a:p>
              <a:p>
                <a:pPr>
                  <a:lnSpc>
                    <a:spcPct val="100000"/>
                  </a:lnSpc>
                  <a:spcBef>
                    <a:spcPts val="0"/>
                  </a:spcBef>
                </a:pPr>
                <a:r>
                  <a:rPr lang="en-US" dirty="0"/>
                  <a:t>Test Stat is approximately normal by the CLT since both sample sizes are greater than 40</a:t>
                </a:r>
              </a:p>
            </p:txBody>
          </p:sp>
        </mc:Choice>
        <mc:Fallback xmlns="">
          <p:sp>
            <p:nvSpPr>
              <p:cNvPr id="16" name="Content Placeholder 15">
                <a:extLst>
                  <a:ext uri="{FF2B5EF4-FFF2-40B4-BE49-F238E27FC236}">
                    <a16:creationId xmlns:a16="http://schemas.microsoft.com/office/drawing/2014/main" id="{77C21E00-E92C-0F52-9248-163A74E22977}"/>
                  </a:ext>
                </a:extLst>
              </p:cNvPr>
              <p:cNvSpPr>
                <a:spLocks noGrp="1" noRot="1" noChangeAspect="1" noMove="1" noResize="1" noEditPoints="1" noAdjustHandles="1" noChangeArrowheads="1" noChangeShapeType="1" noTextEdit="1"/>
              </p:cNvSpPr>
              <p:nvPr>
                <p:ph idx="1"/>
              </p:nvPr>
            </p:nvSpPr>
            <p:spPr>
              <a:xfrm>
                <a:off x="1097281" y="1962883"/>
                <a:ext cx="6025896" cy="4608512"/>
              </a:xfrm>
              <a:blipFill>
                <a:blip r:embed="rId3"/>
                <a:stretch>
                  <a:fillRect l="-1011" t="-1323"/>
                </a:stretch>
              </a:blipFill>
            </p:spPr>
            <p:txBody>
              <a:bodyPr/>
              <a:lstStyle/>
              <a:p>
                <a:r>
                  <a:rPr lang="tr-TR">
                    <a:noFill/>
                  </a:rPr>
                  <a:t> </a:t>
                </a:r>
              </a:p>
            </p:txBody>
          </p:sp>
        </mc:Fallback>
      </mc:AlternateContent>
      <p:sp>
        <p:nvSpPr>
          <p:cNvPr id="3" name="TextBox 2">
            <a:extLst>
              <a:ext uri="{FF2B5EF4-FFF2-40B4-BE49-F238E27FC236}">
                <a16:creationId xmlns:a16="http://schemas.microsoft.com/office/drawing/2014/main" id="{09E095C8-5DDD-9954-15DC-88EBBE9BD66B}"/>
              </a:ext>
            </a:extLst>
          </p:cNvPr>
          <p:cNvSpPr txBox="1"/>
          <p:nvPr/>
        </p:nvSpPr>
        <p:spPr>
          <a:xfrm>
            <a:off x="7501128" y="2859177"/>
            <a:ext cx="3593591" cy="2308324"/>
          </a:xfrm>
          <a:prstGeom prst="rect">
            <a:avLst/>
          </a:prstGeom>
          <a:noFill/>
        </p:spPr>
        <p:txBody>
          <a:bodyPr wrap="square">
            <a:spAutoFit/>
          </a:bodyPr>
          <a:lstStyle/>
          <a:p>
            <a:pPr fontAlgn="base"/>
            <a:r>
              <a:rPr lang="en-US" dirty="0">
                <a:solidFill>
                  <a:srgbClr val="FF0000"/>
                </a:solidFill>
              </a:rPr>
              <a:t>The p-value: </a:t>
            </a:r>
          </a:p>
          <a:p>
            <a:pPr fontAlgn="base"/>
            <a:r>
              <a:rPr lang="en-US">
                <a:solidFill>
                  <a:srgbClr val="FF0000"/>
                </a:solidFill>
              </a:rPr>
              <a:t>2</a:t>
            </a:r>
            <a:r>
              <a:rPr lang="en-US" dirty="0">
                <a:solidFill>
                  <a:srgbClr val="FF0000"/>
                </a:solidFill>
              </a:rPr>
              <a:t>*P(Z&gt;| -3.49 |)=2(1-0.9998)=2*0.0002=0.0004</a:t>
            </a:r>
            <a:r>
              <a:rPr lang="en-US">
                <a:solidFill>
                  <a:srgbClr val="FF0000"/>
                </a:solidFill>
              </a:rPr>
              <a:t>, </a:t>
            </a:r>
          </a:p>
          <a:p>
            <a:pPr fontAlgn="base"/>
            <a:r>
              <a:rPr lang="en-US">
                <a:solidFill>
                  <a:srgbClr val="FF0000"/>
                </a:solidFill>
              </a:rPr>
              <a:t>which </a:t>
            </a:r>
            <a:r>
              <a:rPr lang="en-US" dirty="0">
                <a:solidFill>
                  <a:srgbClr val="FF0000"/>
                </a:solidFill>
              </a:rPr>
              <a:t>is smaller than all plausible significance levels </a:t>
            </a:r>
          </a:p>
          <a:p>
            <a:pPr fontAlgn="base"/>
            <a:endParaRPr lang="en-US" dirty="0">
              <a:solidFill>
                <a:srgbClr val="FF0000"/>
              </a:solidFill>
            </a:endParaRPr>
          </a:p>
          <a:p>
            <a:pPr fontAlgn="base"/>
            <a:r>
              <a:rPr lang="en-US" dirty="0">
                <a:solidFill>
                  <a:srgbClr val="FF0000"/>
                </a:solidFill>
                <a:sym typeface="Wingdings" panose="05000000000000000000" pitchFamily="2" charset="2"/>
              </a:rPr>
              <a:t> </a:t>
            </a:r>
            <a:r>
              <a:rPr lang="en-US" dirty="0">
                <a:solidFill>
                  <a:srgbClr val="FF0000"/>
                </a:solidFill>
              </a:rPr>
              <a:t>Reject H0 at </a:t>
            </a:r>
            <a:r>
              <a:rPr lang="en-US" dirty="0">
                <a:solidFill>
                  <a:srgbClr val="FF0000"/>
                </a:solidFill>
                <a:latin typeface="Symbol" panose="05050102010706020507" pitchFamily="18" charset="2"/>
              </a:rPr>
              <a:t>a</a:t>
            </a:r>
            <a:r>
              <a:rPr lang="en-US" dirty="0">
                <a:solidFill>
                  <a:srgbClr val="FF0000"/>
                </a:solidFill>
              </a:rPr>
              <a:t>=1%.</a:t>
            </a:r>
          </a:p>
          <a:p>
            <a:pPr lvl="8" fontAlgn="base"/>
            <a:endParaRPr lang="tr-TR" dirty="0">
              <a:solidFill>
                <a:srgbClr val="FF0000"/>
              </a:solidFill>
            </a:endParaRPr>
          </a:p>
        </p:txBody>
      </p:sp>
    </p:spTree>
    <p:extLst>
      <p:ext uri="{BB962C8B-B14F-4D97-AF65-F5344CB8AC3E}">
        <p14:creationId xmlns:p14="http://schemas.microsoft.com/office/powerpoint/2010/main" val="259540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D390A-1834-8355-4968-93C3A936AB78}"/>
            </a:ext>
          </a:extLst>
        </p:cNvPr>
        <p:cNvGrpSpPr/>
        <p:nvPr/>
      </p:nvGrpSpPr>
      <p:grpSpPr>
        <a:xfrm>
          <a:off x="0" y="0"/>
          <a:ext cx="0" cy="0"/>
          <a:chOff x="0" y="0"/>
          <a:chExt cx="0" cy="0"/>
        </a:xfrm>
      </p:grpSpPr>
      <p:pic>
        <p:nvPicPr>
          <p:cNvPr id="30722" name="Content Placeholder 5">
            <a:extLst>
              <a:ext uri="{FF2B5EF4-FFF2-40B4-BE49-F238E27FC236}">
                <a16:creationId xmlns:a16="http://schemas.microsoft.com/office/drawing/2014/main" id="{B58A4587-576C-C3DB-2D6F-C3E76F77018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9823" r="2361"/>
          <a:stretch/>
        </p:blipFill>
        <p:spPr>
          <a:xfrm>
            <a:off x="3719736" y="1013018"/>
            <a:ext cx="7039488" cy="5987288"/>
          </a:xfrm>
        </p:spPr>
      </p:pic>
      <p:sp>
        <p:nvSpPr>
          <p:cNvPr id="4" name="Slide Number Placeholder 3">
            <a:extLst>
              <a:ext uri="{FF2B5EF4-FFF2-40B4-BE49-F238E27FC236}">
                <a16:creationId xmlns:a16="http://schemas.microsoft.com/office/drawing/2014/main" id="{DDA42CCD-09D2-B519-85A0-F482C32AA80A}"/>
              </a:ext>
            </a:extLst>
          </p:cNvPr>
          <p:cNvSpPr>
            <a:spLocks noGrp="1"/>
          </p:cNvSpPr>
          <p:nvPr>
            <p:ph type="sldNum" sz="quarter" idx="12"/>
          </p:nvPr>
        </p:nvSpPr>
        <p:spPr>
          <a:xfrm>
            <a:off x="8949345" y="6459787"/>
            <a:ext cx="984019"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45EEB44F-D7F5-4DD5-9B0C-55313BDA9ECA}" type="slidenum">
              <a:rPr lang="en-US" altLang="en-US" smtClean="0"/>
              <a:pPr>
                <a:defRPr/>
              </a:pPr>
              <a:t>8</a:t>
            </a:fld>
            <a:endParaRPr lang="en-US" altLang="en-US">
              <a:solidFill>
                <a:srgbClr val="FFFFFF"/>
              </a:solidFill>
            </a:endParaRPr>
          </a:p>
        </p:txBody>
      </p:sp>
      <p:pic>
        <p:nvPicPr>
          <p:cNvPr id="5" name="Content Placeholder 5">
            <a:extLst>
              <a:ext uri="{FF2B5EF4-FFF2-40B4-BE49-F238E27FC236}">
                <a16:creationId xmlns:a16="http://schemas.microsoft.com/office/drawing/2014/main" id="{178F3800-869E-481D-E840-B6201EF4E8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0" t="8832" r="31907" b="69298"/>
          <a:stretch/>
        </p:blipFill>
        <p:spPr>
          <a:xfrm>
            <a:off x="1415480" y="2708920"/>
            <a:ext cx="2304256" cy="1584176"/>
          </a:xfrm>
          <a:prstGeom prst="rect">
            <a:avLst/>
          </a:prstGeom>
        </p:spPr>
      </p:pic>
      <p:pic>
        <p:nvPicPr>
          <p:cNvPr id="6" name="Content Placeholder 5">
            <a:extLst>
              <a:ext uri="{FF2B5EF4-FFF2-40B4-BE49-F238E27FC236}">
                <a16:creationId xmlns:a16="http://schemas.microsoft.com/office/drawing/2014/main" id="{B72ADB3D-1251-9F4F-2DA3-054C14ADC7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85" b="91053"/>
          <a:stretch/>
        </p:blipFill>
        <p:spPr>
          <a:xfrm>
            <a:off x="4215057" y="364896"/>
            <a:ext cx="6048846" cy="648122"/>
          </a:xfrm>
          <a:prstGeom prst="rect">
            <a:avLst/>
          </a:prstGeom>
        </p:spPr>
      </p:pic>
      <p:sp>
        <p:nvSpPr>
          <p:cNvPr id="2" name="Rectangle 1">
            <a:extLst>
              <a:ext uri="{FF2B5EF4-FFF2-40B4-BE49-F238E27FC236}">
                <a16:creationId xmlns:a16="http://schemas.microsoft.com/office/drawing/2014/main" id="{71F479EC-F0E7-DA62-5120-C1C316E17AB5}"/>
              </a:ext>
            </a:extLst>
          </p:cNvPr>
          <p:cNvSpPr/>
          <p:nvPr/>
        </p:nvSpPr>
        <p:spPr>
          <a:xfrm>
            <a:off x="3719736" y="6563905"/>
            <a:ext cx="6803136" cy="178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Rectangle 2">
            <a:extLst>
              <a:ext uri="{FF2B5EF4-FFF2-40B4-BE49-F238E27FC236}">
                <a16:creationId xmlns:a16="http://schemas.microsoft.com/office/drawing/2014/main" id="{5CF76515-713D-470B-872C-00468F13A221}"/>
              </a:ext>
            </a:extLst>
          </p:cNvPr>
          <p:cNvSpPr/>
          <p:nvPr/>
        </p:nvSpPr>
        <p:spPr>
          <a:xfrm>
            <a:off x="9933364" y="1191817"/>
            <a:ext cx="576072" cy="55504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607742178"/>
      </p:ext>
    </p:extLst>
  </p:cSld>
  <p:clrMapOvr>
    <a:masterClrMapping/>
  </p:clrMapOvr>
</p:sld>
</file>

<file path=ppt/theme/theme1.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523</Words>
  <Application>Microsoft Office PowerPoint</Application>
  <PresentationFormat>Widescreen</PresentationFormat>
  <Paragraphs>89</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Calibri</vt:lpstr>
      <vt:lpstr>Calibri Light</vt:lpstr>
      <vt:lpstr>Cambria Math</vt:lpstr>
      <vt:lpstr>Symbol</vt:lpstr>
      <vt:lpstr>Wingdings</vt:lpstr>
      <vt:lpstr>1_Retrospect</vt:lpstr>
      <vt:lpstr>Class Exercise</vt:lpstr>
      <vt:lpstr>Class Exercise – (1)</vt:lpstr>
      <vt:lpstr>PowerPoint Presentation</vt:lpstr>
      <vt:lpstr>Class Exercise – (2)</vt:lpstr>
      <vt:lpstr>Class Exercise – (3) </vt:lpstr>
      <vt:lpstr>Class Exercise – (3)</vt:lpstr>
      <vt:lpstr>Class Exercise –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Lerzan Örmeci</dc:creator>
  <cp:lastModifiedBy>Lerzan Örmeci</cp:lastModifiedBy>
  <cp:revision>4</cp:revision>
  <cp:lastPrinted>2025-12-03T18:59:44Z</cp:lastPrinted>
  <dcterms:created xsi:type="dcterms:W3CDTF">2025-12-03T18:40:04Z</dcterms:created>
  <dcterms:modified xsi:type="dcterms:W3CDTF">2026-04-07T06:35:10Z</dcterms:modified>
</cp:coreProperties>
</file>